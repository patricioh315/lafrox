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7.svg" ContentType="image/svg+xml"/>
  <Override PartName="/ppt/media/image20.svg" ContentType="image/svg+xml"/>
  <Override PartName="/ppt/media/image21.svg" ContentType="image/svg+xml"/>
  <Override PartName="/ppt/media/image3.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5.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79" r:id="rId26"/>
    <p:sldId id="280" r:id="rId27"/>
    <p:sldId id="284" r:id="rId31"/>
    <p:sldId id="291" r:id="rId42"/>
    <p:sldId id="285" r:id="rId32"/>
    <p:sldId id="292" r:id="rId43"/>
    <p:sldId id="293" r:id="rId4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6" Type="http://schemas.openxmlformats.org/officeDocument/2006/relationships/slide" Target="slides/slide25.xml"/><Relationship Id="rId27" Type="http://schemas.openxmlformats.org/officeDocument/2006/relationships/slide" Target="slides/slide26.xml"/><Relationship Id="rId31" Type="http://schemas.openxmlformats.org/officeDocument/2006/relationships/slide" Target="slides/slide30.xml"/><Relationship Id="rId32" Type="http://schemas.openxmlformats.org/officeDocument/2006/relationships/slide" Target="slides/slide32.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1.xml"/><Relationship Id="rId43" Type="http://schemas.openxmlformats.org/officeDocument/2006/relationships/slide" Target="slides/slide33.xml"/><Relationship Id="rId4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590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(Transición automática.)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Gantt mes a mes. En gris, los congelamientos de septiembre y diciembre. La fila de Calidad muestra las certificaciones de cada etapa en los meses 9–10 y 16–17, siempre fuera de un congelamiento, y la restauración mensual de respaldos desde el mes 13, cuando hay datos reales. Migración en los meses 7 a 12; H7 en el mes 16 y H12 en el 21, cada uno con su reversión. Abajo, los riesgos en su mes estimado. (T-14, T-15, T-18, SD9 Fig. 9.9 y Tablas 9.11–9.12, SD8 Anexo 8.B)</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Siete puertas, de G0 a G6, ordenadas por costo: G0 a G2 corren en minutos sobre cada cambio; G5 dos veces en el contrato. En G2 bloquean las métricas de código: cobertura ≥ 70 % de negocio y 80 % global, complejidad ≤ 10, acoplamiento ≤ 20 clases y duplicación ≤ 3 %. Nadie puede levantar un bloqueo: se corrige o no se avanza, y el Líder de Calidad puede vetar. La aceptación exige las seis condiciones copulativas del Art. 17.3. (SD9 Fig. 9.3, Tablas 9.4 y 9.7, SD7)</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svg"/><Relationship Id="rId4" Type="http://schemas.openxmlformats.org/officeDocument/2006/relationships/image" Target="../media/image11.sv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Gantt de implementación</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Meses 1–24 · congelamientos, certificaciones, reversión y riesgos a la vista</a:t>
            </a:r>
          </a:p>
        </p:txBody>
      </p:sp>
      <p:sp>
        <p:nvSpPr>
          <p:cNvPr id="51" name="Rectangle 50"/>
          <p:cNvSpPr/>
          <p:nvPr/>
        </p:nvSpPr>
        <p:spPr>
          <a:xfrm>
            <a:off x="776097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TextBox 51"/>
          <p:cNvSpPr txBox="1"/>
          <p:nvPr/>
        </p:nvSpPr>
        <p:spPr>
          <a:xfrm>
            <a:off x="766953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3" name="Rectangle 52"/>
          <p:cNvSpPr/>
          <p:nvPr/>
        </p:nvSpPr>
        <p:spPr>
          <a:xfrm>
            <a:off x="944118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4" name="TextBox 53"/>
          <p:cNvSpPr txBox="1"/>
          <p:nvPr/>
        </p:nvSpPr>
        <p:spPr>
          <a:xfrm>
            <a:off x="934974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5" name="Rectangle 54"/>
          <p:cNvSpPr/>
          <p:nvPr/>
        </p:nvSpPr>
        <p:spPr>
          <a:xfrm>
            <a:off x="1448180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439036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7" name="Rectangle 56"/>
          <p:cNvSpPr/>
          <p:nvPr/>
        </p:nvSpPr>
        <p:spPr>
          <a:xfrm>
            <a:off x="1616201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 name="TextBox 57"/>
          <p:cNvSpPr txBox="1"/>
          <p:nvPr/>
        </p:nvSpPr>
        <p:spPr>
          <a:xfrm>
            <a:off x="1607057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9" name="TextBox 58"/>
          <p:cNvSpPr txBox="1"/>
          <p:nvPr/>
        </p:nvSpPr>
        <p:spPr>
          <a:xfrm>
            <a:off x="731520" y="3017520"/>
            <a:ext cx="3017520" cy="292608"/>
          </a:xfrm>
          <a:prstGeom prst="rect">
            <a:avLst/>
          </a:prstGeom>
          <a:noFill/>
        </p:spPr>
        <p:txBody>
          <a:bodyPr wrap="square" lIns="0" rIns="0" tIns="0" bIns="0" anchor="t">
            <a:spAutoFit/>
          </a:bodyPr>
          <a:lstStyle/>
          <a:p>
            <a:pPr algn="l"/>
            <a:r>
              <a:rPr sz="1400" b="0">
                <a:solidFill>
                  <a:srgbClr val="606060"/>
                </a:solidFill>
                <a:latin typeface="Inter"/>
              </a:rPr>
              <a:t>Gris = congelamiento</a:t>
            </a:r>
          </a:p>
        </p:txBody>
      </p:sp>
      <p:sp>
        <p:nvSpPr>
          <p:cNvPr id="60" name="TextBox 59"/>
          <p:cNvSpPr txBox="1"/>
          <p:nvPr/>
        </p:nvSpPr>
        <p:spPr>
          <a:xfrm>
            <a:off x="731520" y="338328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Diseño e infraestructura</a:t>
            </a:r>
          </a:p>
        </p:txBody>
      </p:sp>
      <p:sp>
        <p:nvSpPr>
          <p:cNvPr id="61" name="!!gv_0"/>
          <p:cNvSpPr/>
          <p:nvPr/>
        </p:nvSpPr>
        <p:spPr>
          <a:xfrm>
            <a:off x="3840480" y="3383280"/>
            <a:ext cx="18288" cy="292608"/>
          </a:xfrm>
          <a:prstGeom prst="roundRect">
            <a:avLst>
              <a:gd name="adj" fmla="val 30000"/>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731520" y="3767328"/>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E1</a:t>
            </a:r>
          </a:p>
        </p:txBody>
      </p:sp>
      <p:sp>
        <p:nvSpPr>
          <p:cNvPr id="63" name="!!gv_1"/>
          <p:cNvSpPr/>
          <p:nvPr/>
        </p:nvSpPr>
        <p:spPr>
          <a:xfrm>
            <a:off x="6080760" y="3767328"/>
            <a:ext cx="18288"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4" name="TextBox 63"/>
          <p:cNvSpPr txBox="1"/>
          <p:nvPr/>
        </p:nvSpPr>
        <p:spPr>
          <a:xfrm>
            <a:off x="731520" y="415137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Migración de datos</a:t>
            </a:r>
          </a:p>
        </p:txBody>
      </p:sp>
      <p:sp>
        <p:nvSpPr>
          <p:cNvPr id="65" name="!!gv_2"/>
          <p:cNvSpPr/>
          <p:nvPr/>
        </p:nvSpPr>
        <p:spPr>
          <a:xfrm>
            <a:off x="7200900" y="4151376"/>
            <a:ext cx="18288"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 name="TextBox 65"/>
          <p:cNvSpPr txBox="1"/>
          <p:nvPr/>
        </p:nvSpPr>
        <p:spPr>
          <a:xfrm>
            <a:off x="731520" y="453542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E1</a:t>
            </a:r>
          </a:p>
        </p:txBody>
      </p:sp>
      <p:sp>
        <p:nvSpPr>
          <p:cNvPr id="67" name="!!gv_3"/>
          <p:cNvSpPr/>
          <p:nvPr/>
        </p:nvSpPr>
        <p:spPr>
          <a:xfrm>
            <a:off x="10561320" y="4535424"/>
            <a:ext cx="18288" cy="292608"/>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731520" y="491947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E2</a:t>
            </a:r>
          </a:p>
        </p:txBody>
      </p:sp>
      <p:sp>
        <p:nvSpPr>
          <p:cNvPr id="69" name="!!gv_4"/>
          <p:cNvSpPr/>
          <p:nvPr/>
        </p:nvSpPr>
        <p:spPr>
          <a:xfrm>
            <a:off x="10561320" y="4919472"/>
            <a:ext cx="18288" cy="29260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0" name="TextBox 69"/>
          <p:cNvSpPr txBox="1"/>
          <p:nvPr/>
        </p:nvSpPr>
        <p:spPr>
          <a:xfrm>
            <a:off x="731520" y="530352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E2</a:t>
            </a:r>
          </a:p>
        </p:txBody>
      </p:sp>
      <p:sp>
        <p:nvSpPr>
          <p:cNvPr id="71" name="!!gv_5"/>
          <p:cNvSpPr/>
          <p:nvPr/>
        </p:nvSpPr>
        <p:spPr>
          <a:xfrm>
            <a:off x="13921739" y="5303520"/>
            <a:ext cx="18288" cy="292608"/>
          </a:xfrm>
          <a:prstGeom prst="roundRect">
            <a:avLst>
              <a:gd name="adj" fmla="val 3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2" name="TextBox 71"/>
          <p:cNvSpPr txBox="1"/>
          <p:nvPr/>
        </p:nvSpPr>
        <p:spPr>
          <a:xfrm>
            <a:off x="731520" y="5687568"/>
            <a:ext cx="3017520" cy="292608"/>
          </a:xfrm>
          <a:prstGeom prst="rect">
            <a:avLst/>
          </a:prstGeom>
          <a:noFill/>
        </p:spPr>
        <p:txBody>
          <a:bodyPr wrap="square" lIns="0" rIns="0" tIns="0" bIns="0" anchor="ctr">
            <a:spAutoFit/>
          </a:bodyPr>
          <a:lstStyle/>
          <a:p>
            <a:pPr algn="l"/>
            <a:r>
              <a:rPr sz="1400" b="1">
                <a:solidFill>
                  <a:srgbClr val="B84A0F"/>
                </a:solidFill>
                <a:latin typeface="Inter SemiBold"/>
              </a:rPr>
              <a:t>Calidad</a:t>
            </a:r>
          </a:p>
        </p:txBody>
      </p:sp>
      <p:sp>
        <p:nvSpPr>
          <p:cNvPr id="73" name="!!gv_6"/>
          <p:cNvSpPr/>
          <p:nvPr/>
        </p:nvSpPr>
        <p:spPr>
          <a:xfrm>
            <a:off x="10561320" y="5779008"/>
            <a:ext cx="18288" cy="109728"/>
          </a:xfrm>
          <a:prstGeom prst="roundRect">
            <a:avLst>
              <a:gd name="adj" fmla="val 30000"/>
            </a:avLst>
          </a:prstGeom>
          <a:solidFill>
            <a:srgbClr val="F3C9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4" name="!!gv_7"/>
          <p:cNvSpPr/>
          <p:nvPr/>
        </p:nvSpPr>
        <p:spPr>
          <a:xfrm>
            <a:off x="8321040" y="5687568"/>
            <a:ext cx="18288"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5" name="!!gv_8"/>
          <p:cNvSpPr/>
          <p:nvPr/>
        </p:nvSpPr>
        <p:spPr>
          <a:xfrm>
            <a:off x="12241530" y="5687568"/>
            <a:ext cx="18288"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6" name="TextBox 75"/>
          <p:cNvSpPr txBox="1"/>
          <p:nvPr/>
        </p:nvSpPr>
        <p:spPr>
          <a:xfrm>
            <a:off x="731520" y="607161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Gestión del cambio</a:t>
            </a:r>
          </a:p>
        </p:txBody>
      </p:sp>
      <p:sp>
        <p:nvSpPr>
          <p:cNvPr id="77" name="!!gv_9"/>
          <p:cNvSpPr/>
          <p:nvPr/>
        </p:nvSpPr>
        <p:spPr>
          <a:xfrm>
            <a:off x="4400550" y="6071616"/>
            <a:ext cx="18288" cy="292608"/>
          </a:xfrm>
          <a:prstGeom prst="roundRect">
            <a:avLst>
              <a:gd name="adj" fmla="val 3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 name="TextBox 77"/>
          <p:cNvSpPr txBox="1"/>
          <p:nvPr/>
        </p:nvSpPr>
        <p:spPr>
          <a:xfrm>
            <a:off x="731520" y="645566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Operación → m56</a:t>
            </a:r>
          </a:p>
        </p:txBody>
      </p:sp>
      <p:sp>
        <p:nvSpPr>
          <p:cNvPr id="79" name="!!gv_10"/>
          <p:cNvSpPr/>
          <p:nvPr/>
        </p:nvSpPr>
        <p:spPr>
          <a:xfrm>
            <a:off x="15041880" y="6455664"/>
            <a:ext cx="18288" cy="292608"/>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0" name="TextBox 79"/>
          <p:cNvSpPr txBox="1"/>
          <p:nvPr/>
        </p:nvSpPr>
        <p:spPr>
          <a:xfrm>
            <a:off x="731520" y="683971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Cambios de software</a:t>
            </a:r>
          </a:p>
        </p:txBody>
      </p:sp>
      <p:sp>
        <p:nvSpPr>
          <p:cNvPr id="81" name="TextBox 80"/>
          <p:cNvSpPr txBox="1"/>
          <p:nvPr/>
        </p:nvSpPr>
        <p:spPr>
          <a:xfrm>
            <a:off x="731520" y="7223760"/>
            <a:ext cx="3017520" cy="457200"/>
          </a:xfrm>
          <a:prstGeom prst="rect">
            <a:avLst/>
          </a:prstGeom>
          <a:noFill/>
        </p:spPr>
        <p:txBody>
          <a:bodyPr wrap="square" lIns="0" rIns="0" tIns="0" bIns="0" anchor="ctr">
            <a:spAutoFit/>
          </a:bodyPr>
          <a:lstStyle/>
          <a:p>
            <a:pPr algn="l"/>
            <a:r>
              <a:rPr sz="1400" b="1">
                <a:solidFill>
                  <a:srgbClr val="111111"/>
                </a:solidFill>
                <a:latin typeface="Inter SemiBold"/>
              </a:rPr>
              <a:t>Hitos</a:t>
            </a:r>
          </a:p>
        </p:txBody>
      </p:sp>
      <p:sp>
        <p:nvSpPr>
          <p:cNvPr id="82" name="TextBox 81"/>
          <p:cNvSpPr txBox="1"/>
          <p:nvPr/>
        </p:nvSpPr>
        <p:spPr>
          <a:xfrm>
            <a:off x="731520" y="7772400"/>
            <a:ext cx="3017520" cy="292608"/>
          </a:xfrm>
          <a:prstGeom prst="rect">
            <a:avLst/>
          </a:prstGeom>
          <a:noFill/>
        </p:spPr>
        <p:txBody>
          <a:bodyPr wrap="square" lIns="0" rIns="0" tIns="0" bIns="0" anchor="ctr">
            <a:spAutoFit/>
          </a:bodyPr>
          <a:lstStyle/>
          <a:p>
            <a:pPr algn="l"/>
            <a:r>
              <a:rPr sz="1400" b="1">
                <a:solidFill>
                  <a:srgbClr val="E8641B"/>
                </a:solidFill>
                <a:latin typeface="Inter SemiBold"/>
              </a:rPr>
              <a:t>Riesgos</a:t>
            </a:r>
          </a:p>
        </p:txBody>
      </p:sp>
      <p:cxnSp>
        <p:nvCxnSpPr>
          <p:cNvPr id="83" name="Connector 82"/>
          <p:cNvCxnSpPr/>
          <p:nvPr/>
        </p:nvCxnSpPr>
        <p:spPr>
          <a:xfrm>
            <a:off x="3840480" y="8174736"/>
            <a:ext cx="13441680" cy="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8404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a:t>
            </a:r>
          </a:p>
        </p:txBody>
      </p:sp>
      <p:sp>
        <p:nvSpPr>
          <p:cNvPr id="85" name="TextBox 84"/>
          <p:cNvSpPr txBox="1"/>
          <p:nvPr/>
        </p:nvSpPr>
        <p:spPr>
          <a:xfrm>
            <a:off x="44005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a:t>
            </a:r>
          </a:p>
        </p:txBody>
      </p:sp>
      <p:sp>
        <p:nvSpPr>
          <p:cNvPr id="86" name="TextBox 85"/>
          <p:cNvSpPr txBox="1"/>
          <p:nvPr/>
        </p:nvSpPr>
        <p:spPr>
          <a:xfrm>
            <a:off x="49606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3</a:t>
            </a:r>
          </a:p>
        </p:txBody>
      </p:sp>
      <p:sp>
        <p:nvSpPr>
          <p:cNvPr id="87" name="TextBox 86"/>
          <p:cNvSpPr txBox="1"/>
          <p:nvPr/>
        </p:nvSpPr>
        <p:spPr>
          <a:xfrm>
            <a:off x="55206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4</a:t>
            </a:r>
          </a:p>
        </p:txBody>
      </p:sp>
      <p:sp>
        <p:nvSpPr>
          <p:cNvPr id="88" name="TextBox 87"/>
          <p:cNvSpPr txBox="1"/>
          <p:nvPr/>
        </p:nvSpPr>
        <p:spPr>
          <a:xfrm>
            <a:off x="608076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5</a:t>
            </a:r>
          </a:p>
        </p:txBody>
      </p:sp>
      <p:sp>
        <p:nvSpPr>
          <p:cNvPr id="89" name="TextBox 88"/>
          <p:cNvSpPr txBox="1"/>
          <p:nvPr/>
        </p:nvSpPr>
        <p:spPr>
          <a:xfrm>
            <a:off x="664082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6</a:t>
            </a:r>
          </a:p>
        </p:txBody>
      </p:sp>
      <p:sp>
        <p:nvSpPr>
          <p:cNvPr id="90" name="TextBox 89"/>
          <p:cNvSpPr txBox="1"/>
          <p:nvPr/>
        </p:nvSpPr>
        <p:spPr>
          <a:xfrm>
            <a:off x="72009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7</a:t>
            </a:r>
          </a:p>
        </p:txBody>
      </p:sp>
      <p:sp>
        <p:nvSpPr>
          <p:cNvPr id="91" name="TextBox 90"/>
          <p:cNvSpPr txBox="1"/>
          <p:nvPr/>
        </p:nvSpPr>
        <p:spPr>
          <a:xfrm>
            <a:off x="77609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8</a:t>
            </a:r>
          </a:p>
        </p:txBody>
      </p:sp>
      <p:sp>
        <p:nvSpPr>
          <p:cNvPr id="92" name="TextBox 91"/>
          <p:cNvSpPr txBox="1"/>
          <p:nvPr/>
        </p:nvSpPr>
        <p:spPr>
          <a:xfrm>
            <a:off x="832104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9</a:t>
            </a:r>
          </a:p>
        </p:txBody>
      </p:sp>
      <p:sp>
        <p:nvSpPr>
          <p:cNvPr id="93" name="TextBox 92"/>
          <p:cNvSpPr txBox="1"/>
          <p:nvPr/>
        </p:nvSpPr>
        <p:spPr>
          <a:xfrm>
            <a:off x="88811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10</a:t>
            </a:r>
          </a:p>
        </p:txBody>
      </p:sp>
      <p:sp>
        <p:nvSpPr>
          <p:cNvPr id="94" name="TextBox 93"/>
          <p:cNvSpPr txBox="1"/>
          <p:nvPr/>
        </p:nvSpPr>
        <p:spPr>
          <a:xfrm>
            <a:off x="94411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11</a:t>
            </a:r>
          </a:p>
        </p:txBody>
      </p:sp>
      <p:sp>
        <p:nvSpPr>
          <p:cNvPr id="95" name="TextBox 94"/>
          <p:cNvSpPr txBox="1"/>
          <p:nvPr/>
        </p:nvSpPr>
        <p:spPr>
          <a:xfrm>
            <a:off x="100012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12</a:t>
            </a:r>
          </a:p>
        </p:txBody>
      </p:sp>
      <p:sp>
        <p:nvSpPr>
          <p:cNvPr id="96" name="TextBox 95"/>
          <p:cNvSpPr txBox="1"/>
          <p:nvPr/>
        </p:nvSpPr>
        <p:spPr>
          <a:xfrm>
            <a:off x="105613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13</a:t>
            </a:r>
          </a:p>
        </p:txBody>
      </p:sp>
      <p:sp>
        <p:nvSpPr>
          <p:cNvPr id="97" name="TextBox 96"/>
          <p:cNvSpPr txBox="1"/>
          <p:nvPr/>
        </p:nvSpPr>
        <p:spPr>
          <a:xfrm>
            <a:off x="111213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14</a:t>
            </a:r>
          </a:p>
        </p:txBody>
      </p:sp>
      <p:sp>
        <p:nvSpPr>
          <p:cNvPr id="98" name="TextBox 97"/>
          <p:cNvSpPr txBox="1"/>
          <p:nvPr/>
        </p:nvSpPr>
        <p:spPr>
          <a:xfrm>
            <a:off x="1168145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15</a:t>
            </a:r>
          </a:p>
        </p:txBody>
      </p:sp>
      <p:sp>
        <p:nvSpPr>
          <p:cNvPr id="99" name="TextBox 98"/>
          <p:cNvSpPr txBox="1"/>
          <p:nvPr/>
        </p:nvSpPr>
        <p:spPr>
          <a:xfrm>
            <a:off x="1224153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16</a:t>
            </a:r>
          </a:p>
        </p:txBody>
      </p:sp>
      <p:sp>
        <p:nvSpPr>
          <p:cNvPr id="100" name="TextBox 99"/>
          <p:cNvSpPr txBox="1"/>
          <p:nvPr/>
        </p:nvSpPr>
        <p:spPr>
          <a:xfrm>
            <a:off x="128016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17</a:t>
            </a:r>
          </a:p>
        </p:txBody>
      </p:sp>
      <p:sp>
        <p:nvSpPr>
          <p:cNvPr id="101" name="TextBox 100"/>
          <p:cNvSpPr txBox="1"/>
          <p:nvPr/>
        </p:nvSpPr>
        <p:spPr>
          <a:xfrm>
            <a:off x="133616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18</a:t>
            </a:r>
          </a:p>
        </p:txBody>
      </p:sp>
      <p:sp>
        <p:nvSpPr>
          <p:cNvPr id="102" name="TextBox 101"/>
          <p:cNvSpPr txBox="1"/>
          <p:nvPr/>
        </p:nvSpPr>
        <p:spPr>
          <a:xfrm>
            <a:off x="1392173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19</a:t>
            </a:r>
          </a:p>
        </p:txBody>
      </p:sp>
      <p:sp>
        <p:nvSpPr>
          <p:cNvPr id="103" name="TextBox 102"/>
          <p:cNvSpPr txBox="1"/>
          <p:nvPr/>
        </p:nvSpPr>
        <p:spPr>
          <a:xfrm>
            <a:off x="144818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20</a:t>
            </a:r>
          </a:p>
        </p:txBody>
      </p:sp>
      <p:sp>
        <p:nvSpPr>
          <p:cNvPr id="104" name="TextBox 103"/>
          <p:cNvSpPr txBox="1"/>
          <p:nvPr/>
        </p:nvSpPr>
        <p:spPr>
          <a:xfrm>
            <a:off x="150418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21</a:t>
            </a:r>
          </a:p>
        </p:txBody>
      </p:sp>
      <p:sp>
        <p:nvSpPr>
          <p:cNvPr id="105" name="TextBox 104"/>
          <p:cNvSpPr txBox="1"/>
          <p:nvPr/>
        </p:nvSpPr>
        <p:spPr>
          <a:xfrm>
            <a:off x="156019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22</a:t>
            </a:r>
          </a:p>
        </p:txBody>
      </p:sp>
      <p:sp>
        <p:nvSpPr>
          <p:cNvPr id="106" name="TextBox 105"/>
          <p:cNvSpPr txBox="1"/>
          <p:nvPr/>
        </p:nvSpPr>
        <p:spPr>
          <a:xfrm>
            <a:off x="1616201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23</a:t>
            </a:r>
          </a:p>
        </p:txBody>
      </p:sp>
      <p:sp>
        <p:nvSpPr>
          <p:cNvPr id="107" name="TextBox 106"/>
          <p:cNvSpPr txBox="1"/>
          <p:nvPr/>
        </p:nvSpPr>
        <p:spPr>
          <a:xfrm>
            <a:off x="1672208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24</a:t>
            </a:r>
          </a:p>
        </p:txBody>
      </p:sp>
      <p:sp>
        <p:nvSpPr>
          <p:cNvPr id="108"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p:transition spd="med" advTm="100">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Gantt de implementación</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Meses 1–24 · congelamientos, certificaciones, reversión y riesgos a la vista</a:t>
            </a:r>
          </a:p>
        </p:txBody>
      </p:sp>
      <p:sp>
        <p:nvSpPr>
          <p:cNvPr id="51" name="Rectangle 50"/>
          <p:cNvSpPr/>
          <p:nvPr/>
        </p:nvSpPr>
        <p:spPr>
          <a:xfrm>
            <a:off x="776097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TextBox 51"/>
          <p:cNvSpPr txBox="1"/>
          <p:nvPr/>
        </p:nvSpPr>
        <p:spPr>
          <a:xfrm>
            <a:off x="766953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3" name="Rectangle 52"/>
          <p:cNvSpPr/>
          <p:nvPr/>
        </p:nvSpPr>
        <p:spPr>
          <a:xfrm>
            <a:off x="944118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4" name="TextBox 53"/>
          <p:cNvSpPr txBox="1"/>
          <p:nvPr/>
        </p:nvSpPr>
        <p:spPr>
          <a:xfrm>
            <a:off x="934974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5" name="Rectangle 54"/>
          <p:cNvSpPr/>
          <p:nvPr/>
        </p:nvSpPr>
        <p:spPr>
          <a:xfrm>
            <a:off x="1448180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439036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7" name="Rectangle 56"/>
          <p:cNvSpPr/>
          <p:nvPr/>
        </p:nvSpPr>
        <p:spPr>
          <a:xfrm>
            <a:off x="1616201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 name="TextBox 57"/>
          <p:cNvSpPr txBox="1"/>
          <p:nvPr/>
        </p:nvSpPr>
        <p:spPr>
          <a:xfrm>
            <a:off x="1607057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9" name="TextBox 58"/>
          <p:cNvSpPr txBox="1"/>
          <p:nvPr/>
        </p:nvSpPr>
        <p:spPr>
          <a:xfrm>
            <a:off x="731520" y="3017520"/>
            <a:ext cx="3017520" cy="292608"/>
          </a:xfrm>
          <a:prstGeom prst="rect">
            <a:avLst/>
          </a:prstGeom>
          <a:noFill/>
        </p:spPr>
        <p:txBody>
          <a:bodyPr wrap="square" lIns="0" rIns="0" tIns="0" bIns="0" anchor="t">
            <a:spAutoFit/>
          </a:bodyPr>
          <a:lstStyle/>
          <a:p>
            <a:pPr algn="l"/>
            <a:r>
              <a:rPr sz="1400" b="0">
                <a:solidFill>
                  <a:srgbClr val="606060"/>
                </a:solidFill>
                <a:latin typeface="Inter"/>
              </a:rPr>
              <a:t>Gris = congelamiento</a:t>
            </a:r>
          </a:p>
        </p:txBody>
      </p:sp>
      <p:sp>
        <p:nvSpPr>
          <p:cNvPr id="60" name="TextBox 59"/>
          <p:cNvSpPr txBox="1"/>
          <p:nvPr/>
        </p:nvSpPr>
        <p:spPr>
          <a:xfrm>
            <a:off x="731520" y="338328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Diseño e infraestructura</a:t>
            </a:r>
          </a:p>
        </p:txBody>
      </p:sp>
      <p:sp>
        <p:nvSpPr>
          <p:cNvPr id="61" name="!!gv_0"/>
          <p:cNvSpPr/>
          <p:nvPr/>
        </p:nvSpPr>
        <p:spPr>
          <a:xfrm>
            <a:off x="3840480" y="3383280"/>
            <a:ext cx="6720840" cy="292608"/>
          </a:xfrm>
          <a:prstGeom prst="roundRect">
            <a:avLst>
              <a:gd name="adj" fmla="val 30000"/>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731520" y="3767328"/>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E1</a:t>
            </a:r>
          </a:p>
        </p:txBody>
      </p:sp>
      <p:sp>
        <p:nvSpPr>
          <p:cNvPr id="63" name="!!gv_1"/>
          <p:cNvSpPr/>
          <p:nvPr/>
        </p:nvSpPr>
        <p:spPr>
          <a:xfrm>
            <a:off x="6080760" y="3767328"/>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4" name="TextBox 63"/>
          <p:cNvSpPr txBox="1"/>
          <p:nvPr/>
        </p:nvSpPr>
        <p:spPr>
          <a:xfrm>
            <a:off x="731520" y="415137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Migración de datos</a:t>
            </a:r>
          </a:p>
        </p:txBody>
      </p:sp>
      <p:sp>
        <p:nvSpPr>
          <p:cNvPr id="65" name="!!gv_2"/>
          <p:cNvSpPr/>
          <p:nvPr/>
        </p:nvSpPr>
        <p:spPr>
          <a:xfrm>
            <a:off x="7200900" y="4151376"/>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 name="TextBox 65"/>
          <p:cNvSpPr txBox="1"/>
          <p:nvPr/>
        </p:nvSpPr>
        <p:spPr>
          <a:xfrm>
            <a:off x="731520" y="453542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E1</a:t>
            </a:r>
          </a:p>
        </p:txBody>
      </p:sp>
      <p:sp>
        <p:nvSpPr>
          <p:cNvPr id="67" name="!!gv_3"/>
          <p:cNvSpPr/>
          <p:nvPr/>
        </p:nvSpPr>
        <p:spPr>
          <a:xfrm>
            <a:off x="10561320" y="4535424"/>
            <a:ext cx="1680210" cy="292608"/>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0561320" y="4535424"/>
            <a:ext cx="1680210" cy="292608"/>
          </a:xfrm>
          <a:prstGeom prst="rect">
            <a:avLst/>
          </a:prstGeom>
          <a:noFill/>
        </p:spPr>
        <p:txBody>
          <a:bodyPr wrap="square" lIns="0" rIns="0" tIns="0" bIns="0" anchor="ctr">
            <a:spAutoFit/>
          </a:bodyPr>
          <a:lstStyle/>
          <a:p>
            <a:pPr algn="ctr"/>
            <a:r>
              <a:rPr sz="1300" b="1">
                <a:solidFill>
                  <a:srgbClr val="111111"/>
                </a:solidFill>
                <a:latin typeface="Inter SemiBold"/>
              </a:rPr>
              <a:t>Olas 1·2·3</a:t>
            </a:r>
          </a:p>
        </p:txBody>
      </p:sp>
      <p:sp>
        <p:nvSpPr>
          <p:cNvPr id="69" name="TextBox 68"/>
          <p:cNvSpPr txBox="1"/>
          <p:nvPr/>
        </p:nvSpPr>
        <p:spPr>
          <a:xfrm>
            <a:off x="731520" y="491947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E2</a:t>
            </a:r>
          </a:p>
        </p:txBody>
      </p:sp>
      <p:sp>
        <p:nvSpPr>
          <p:cNvPr id="70" name="!!gv_4"/>
          <p:cNvSpPr/>
          <p:nvPr/>
        </p:nvSpPr>
        <p:spPr>
          <a:xfrm>
            <a:off x="10561320" y="4919472"/>
            <a:ext cx="3360420" cy="29260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731520" y="530352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E2</a:t>
            </a:r>
          </a:p>
        </p:txBody>
      </p:sp>
      <p:sp>
        <p:nvSpPr>
          <p:cNvPr id="72" name="!!gv_5"/>
          <p:cNvSpPr/>
          <p:nvPr/>
        </p:nvSpPr>
        <p:spPr>
          <a:xfrm>
            <a:off x="13921739" y="5303520"/>
            <a:ext cx="1120139" cy="292608"/>
          </a:xfrm>
          <a:prstGeom prst="roundRect">
            <a:avLst>
              <a:gd name="adj" fmla="val 3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3" name="TextBox 72"/>
          <p:cNvSpPr txBox="1"/>
          <p:nvPr/>
        </p:nvSpPr>
        <p:spPr>
          <a:xfrm>
            <a:off x="731520" y="5687568"/>
            <a:ext cx="3017520" cy="292608"/>
          </a:xfrm>
          <a:prstGeom prst="rect">
            <a:avLst/>
          </a:prstGeom>
          <a:noFill/>
        </p:spPr>
        <p:txBody>
          <a:bodyPr wrap="square" lIns="0" rIns="0" tIns="0" bIns="0" anchor="ctr">
            <a:spAutoFit/>
          </a:bodyPr>
          <a:lstStyle/>
          <a:p>
            <a:pPr algn="l"/>
            <a:r>
              <a:rPr sz="1400" b="1">
                <a:solidFill>
                  <a:srgbClr val="B84A0F"/>
                </a:solidFill>
                <a:latin typeface="Inter SemiBold"/>
              </a:rPr>
              <a:t>Calidad</a:t>
            </a:r>
          </a:p>
        </p:txBody>
      </p:sp>
      <p:sp>
        <p:nvSpPr>
          <p:cNvPr id="74" name="!!gv_6"/>
          <p:cNvSpPr/>
          <p:nvPr/>
        </p:nvSpPr>
        <p:spPr>
          <a:xfrm>
            <a:off x="10561320" y="5779008"/>
            <a:ext cx="6720840" cy="109728"/>
          </a:xfrm>
          <a:prstGeom prst="roundRect">
            <a:avLst>
              <a:gd name="adj" fmla="val 30000"/>
            </a:avLst>
          </a:prstGeom>
          <a:solidFill>
            <a:srgbClr val="F3C9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5" name="!!gv_7"/>
          <p:cNvSpPr/>
          <p:nvPr/>
        </p:nvSpPr>
        <p:spPr>
          <a:xfrm>
            <a:off x="832104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6" name="!!gv_8"/>
          <p:cNvSpPr/>
          <p:nvPr/>
        </p:nvSpPr>
        <p:spPr>
          <a:xfrm>
            <a:off x="1224153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832104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8" name="TextBox 77"/>
          <p:cNvSpPr txBox="1"/>
          <p:nvPr/>
        </p:nvSpPr>
        <p:spPr>
          <a:xfrm>
            <a:off x="1224153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9" name="TextBox 78"/>
          <p:cNvSpPr txBox="1"/>
          <p:nvPr/>
        </p:nvSpPr>
        <p:spPr>
          <a:xfrm>
            <a:off x="13361670" y="5687568"/>
            <a:ext cx="1400174" cy="292608"/>
          </a:xfrm>
          <a:prstGeom prst="rect">
            <a:avLst/>
          </a:prstGeom>
          <a:noFill/>
        </p:spPr>
        <p:txBody>
          <a:bodyPr wrap="square" lIns="0" rIns="0" tIns="0" bIns="0" anchor="ctr">
            <a:spAutoFit/>
          </a:bodyPr>
          <a:lstStyle/>
          <a:p>
            <a:pPr algn="ctr"/>
            <a:r>
              <a:rPr sz="1300" b="1">
                <a:solidFill>
                  <a:srgbClr val="B84A0F"/>
                </a:solidFill>
                <a:latin typeface="Inter SemiBold"/>
              </a:rPr>
              <a:t>restauración</a:t>
            </a:r>
          </a:p>
        </p:txBody>
      </p:sp>
      <p:sp>
        <p:nvSpPr>
          <p:cNvPr id="80" name="TextBox 79"/>
          <p:cNvSpPr txBox="1"/>
          <p:nvPr/>
        </p:nvSpPr>
        <p:spPr>
          <a:xfrm>
            <a:off x="731520" y="607161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Gestión del cambio</a:t>
            </a:r>
          </a:p>
        </p:txBody>
      </p:sp>
      <p:sp>
        <p:nvSpPr>
          <p:cNvPr id="81" name="!!gv_9"/>
          <p:cNvSpPr/>
          <p:nvPr/>
        </p:nvSpPr>
        <p:spPr>
          <a:xfrm>
            <a:off x="4400550" y="6071616"/>
            <a:ext cx="11201399" cy="292608"/>
          </a:xfrm>
          <a:prstGeom prst="roundRect">
            <a:avLst>
              <a:gd name="adj" fmla="val 3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2" name="TextBox 81"/>
          <p:cNvSpPr txBox="1"/>
          <p:nvPr/>
        </p:nvSpPr>
        <p:spPr>
          <a:xfrm>
            <a:off x="731520" y="645566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Operación → m56</a:t>
            </a:r>
          </a:p>
        </p:txBody>
      </p:sp>
      <p:sp>
        <p:nvSpPr>
          <p:cNvPr id="83" name="!!gv_10"/>
          <p:cNvSpPr/>
          <p:nvPr/>
        </p:nvSpPr>
        <p:spPr>
          <a:xfrm>
            <a:off x="15041880" y="6455664"/>
            <a:ext cx="2240279" cy="292608"/>
          </a:xfrm>
          <a:prstGeom prst="homePlate">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4" name="TextBox 83"/>
          <p:cNvSpPr txBox="1"/>
          <p:nvPr/>
        </p:nvSpPr>
        <p:spPr>
          <a:xfrm>
            <a:off x="731520" y="683971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Cambios de software</a:t>
            </a:r>
          </a:p>
        </p:txBody>
      </p:sp>
      <p:sp>
        <p:nvSpPr>
          <p:cNvPr id="85" name="TextBox 84"/>
          <p:cNvSpPr txBox="1"/>
          <p:nvPr/>
        </p:nvSpPr>
        <p:spPr>
          <a:xfrm>
            <a:off x="731520" y="7223760"/>
            <a:ext cx="3017520" cy="457200"/>
          </a:xfrm>
          <a:prstGeom prst="rect">
            <a:avLst/>
          </a:prstGeom>
          <a:noFill/>
        </p:spPr>
        <p:txBody>
          <a:bodyPr wrap="square" lIns="0" rIns="0" tIns="0" bIns="0" anchor="ctr">
            <a:spAutoFit/>
          </a:bodyPr>
          <a:lstStyle/>
          <a:p>
            <a:pPr algn="l"/>
            <a:r>
              <a:rPr sz="1400" b="1">
                <a:solidFill>
                  <a:srgbClr val="111111"/>
                </a:solidFill>
                <a:latin typeface="Inter SemiBold"/>
              </a:rPr>
              <a:t>Hitos</a:t>
            </a:r>
          </a:p>
        </p:txBody>
      </p:sp>
      <p:sp>
        <p:nvSpPr>
          <p:cNvPr id="86" name="TextBox 85"/>
          <p:cNvSpPr txBox="1"/>
          <p:nvPr/>
        </p:nvSpPr>
        <p:spPr>
          <a:xfrm>
            <a:off x="731520" y="7772400"/>
            <a:ext cx="3017520" cy="292608"/>
          </a:xfrm>
          <a:prstGeom prst="rect">
            <a:avLst/>
          </a:prstGeom>
          <a:noFill/>
        </p:spPr>
        <p:txBody>
          <a:bodyPr wrap="square" lIns="0" rIns="0" tIns="0" bIns="0" anchor="ctr">
            <a:spAutoFit/>
          </a:bodyPr>
          <a:lstStyle/>
          <a:p>
            <a:pPr algn="l"/>
            <a:r>
              <a:rPr sz="1400" b="1">
                <a:solidFill>
                  <a:srgbClr val="E8641B"/>
                </a:solidFill>
                <a:latin typeface="Inter SemiBold"/>
              </a:rPr>
              <a:t>Riesgos</a:t>
            </a:r>
          </a:p>
        </p:txBody>
      </p:sp>
      <p:cxnSp>
        <p:nvCxnSpPr>
          <p:cNvPr id="87" name="Connector 86"/>
          <p:cNvCxnSpPr/>
          <p:nvPr/>
        </p:nvCxnSpPr>
        <p:spPr>
          <a:xfrm>
            <a:off x="3840480" y="8174736"/>
            <a:ext cx="13441680" cy="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8404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a:t>
            </a:r>
          </a:p>
        </p:txBody>
      </p:sp>
      <p:sp>
        <p:nvSpPr>
          <p:cNvPr id="89" name="TextBox 88"/>
          <p:cNvSpPr txBox="1"/>
          <p:nvPr/>
        </p:nvSpPr>
        <p:spPr>
          <a:xfrm>
            <a:off x="44005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a:t>
            </a:r>
          </a:p>
        </p:txBody>
      </p:sp>
      <p:sp>
        <p:nvSpPr>
          <p:cNvPr id="90" name="TextBox 89"/>
          <p:cNvSpPr txBox="1"/>
          <p:nvPr/>
        </p:nvSpPr>
        <p:spPr>
          <a:xfrm>
            <a:off x="49606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3</a:t>
            </a:r>
          </a:p>
        </p:txBody>
      </p:sp>
      <p:sp>
        <p:nvSpPr>
          <p:cNvPr id="91" name="TextBox 90"/>
          <p:cNvSpPr txBox="1"/>
          <p:nvPr/>
        </p:nvSpPr>
        <p:spPr>
          <a:xfrm>
            <a:off x="55206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4</a:t>
            </a:r>
          </a:p>
        </p:txBody>
      </p:sp>
      <p:sp>
        <p:nvSpPr>
          <p:cNvPr id="92" name="TextBox 91"/>
          <p:cNvSpPr txBox="1"/>
          <p:nvPr/>
        </p:nvSpPr>
        <p:spPr>
          <a:xfrm>
            <a:off x="608076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5</a:t>
            </a:r>
          </a:p>
        </p:txBody>
      </p:sp>
      <p:sp>
        <p:nvSpPr>
          <p:cNvPr id="93" name="TextBox 92"/>
          <p:cNvSpPr txBox="1"/>
          <p:nvPr/>
        </p:nvSpPr>
        <p:spPr>
          <a:xfrm>
            <a:off x="664082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6</a:t>
            </a:r>
          </a:p>
        </p:txBody>
      </p:sp>
      <p:sp>
        <p:nvSpPr>
          <p:cNvPr id="94" name="TextBox 93"/>
          <p:cNvSpPr txBox="1"/>
          <p:nvPr/>
        </p:nvSpPr>
        <p:spPr>
          <a:xfrm>
            <a:off x="72009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7</a:t>
            </a:r>
          </a:p>
        </p:txBody>
      </p:sp>
      <p:sp>
        <p:nvSpPr>
          <p:cNvPr id="95" name="TextBox 94"/>
          <p:cNvSpPr txBox="1"/>
          <p:nvPr/>
        </p:nvSpPr>
        <p:spPr>
          <a:xfrm>
            <a:off x="77609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8</a:t>
            </a:r>
          </a:p>
        </p:txBody>
      </p:sp>
      <p:sp>
        <p:nvSpPr>
          <p:cNvPr id="96" name="TextBox 95"/>
          <p:cNvSpPr txBox="1"/>
          <p:nvPr/>
        </p:nvSpPr>
        <p:spPr>
          <a:xfrm>
            <a:off x="832104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9</a:t>
            </a:r>
          </a:p>
        </p:txBody>
      </p:sp>
      <p:sp>
        <p:nvSpPr>
          <p:cNvPr id="97" name="TextBox 96"/>
          <p:cNvSpPr txBox="1"/>
          <p:nvPr/>
        </p:nvSpPr>
        <p:spPr>
          <a:xfrm>
            <a:off x="88811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10</a:t>
            </a:r>
          </a:p>
        </p:txBody>
      </p:sp>
      <p:sp>
        <p:nvSpPr>
          <p:cNvPr id="98" name="TextBox 97"/>
          <p:cNvSpPr txBox="1"/>
          <p:nvPr/>
        </p:nvSpPr>
        <p:spPr>
          <a:xfrm>
            <a:off x="94411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11</a:t>
            </a:r>
          </a:p>
        </p:txBody>
      </p:sp>
      <p:sp>
        <p:nvSpPr>
          <p:cNvPr id="99" name="TextBox 98"/>
          <p:cNvSpPr txBox="1"/>
          <p:nvPr/>
        </p:nvSpPr>
        <p:spPr>
          <a:xfrm>
            <a:off x="100012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12</a:t>
            </a:r>
          </a:p>
        </p:txBody>
      </p:sp>
      <p:sp>
        <p:nvSpPr>
          <p:cNvPr id="100" name="TextBox 99"/>
          <p:cNvSpPr txBox="1"/>
          <p:nvPr/>
        </p:nvSpPr>
        <p:spPr>
          <a:xfrm>
            <a:off x="105613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13</a:t>
            </a:r>
          </a:p>
        </p:txBody>
      </p:sp>
      <p:sp>
        <p:nvSpPr>
          <p:cNvPr id="101" name="TextBox 100"/>
          <p:cNvSpPr txBox="1"/>
          <p:nvPr/>
        </p:nvSpPr>
        <p:spPr>
          <a:xfrm>
            <a:off x="111213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14</a:t>
            </a:r>
          </a:p>
        </p:txBody>
      </p:sp>
      <p:sp>
        <p:nvSpPr>
          <p:cNvPr id="102" name="TextBox 101"/>
          <p:cNvSpPr txBox="1"/>
          <p:nvPr/>
        </p:nvSpPr>
        <p:spPr>
          <a:xfrm>
            <a:off x="1168145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15</a:t>
            </a:r>
          </a:p>
        </p:txBody>
      </p:sp>
      <p:sp>
        <p:nvSpPr>
          <p:cNvPr id="103" name="TextBox 102"/>
          <p:cNvSpPr txBox="1"/>
          <p:nvPr/>
        </p:nvSpPr>
        <p:spPr>
          <a:xfrm>
            <a:off x="1224153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16</a:t>
            </a:r>
          </a:p>
        </p:txBody>
      </p:sp>
      <p:sp>
        <p:nvSpPr>
          <p:cNvPr id="104" name="TextBox 103"/>
          <p:cNvSpPr txBox="1"/>
          <p:nvPr/>
        </p:nvSpPr>
        <p:spPr>
          <a:xfrm>
            <a:off x="128016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17</a:t>
            </a:r>
          </a:p>
        </p:txBody>
      </p:sp>
      <p:sp>
        <p:nvSpPr>
          <p:cNvPr id="105" name="TextBox 104"/>
          <p:cNvSpPr txBox="1"/>
          <p:nvPr/>
        </p:nvSpPr>
        <p:spPr>
          <a:xfrm>
            <a:off x="133616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18</a:t>
            </a:r>
          </a:p>
        </p:txBody>
      </p:sp>
      <p:sp>
        <p:nvSpPr>
          <p:cNvPr id="106" name="TextBox 105"/>
          <p:cNvSpPr txBox="1"/>
          <p:nvPr/>
        </p:nvSpPr>
        <p:spPr>
          <a:xfrm>
            <a:off x="1392173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19</a:t>
            </a:r>
          </a:p>
        </p:txBody>
      </p:sp>
      <p:sp>
        <p:nvSpPr>
          <p:cNvPr id="107" name="TextBox 106"/>
          <p:cNvSpPr txBox="1"/>
          <p:nvPr/>
        </p:nvSpPr>
        <p:spPr>
          <a:xfrm>
            <a:off x="144818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20</a:t>
            </a:r>
          </a:p>
        </p:txBody>
      </p:sp>
      <p:sp>
        <p:nvSpPr>
          <p:cNvPr id="108" name="TextBox 107"/>
          <p:cNvSpPr txBox="1"/>
          <p:nvPr/>
        </p:nvSpPr>
        <p:spPr>
          <a:xfrm>
            <a:off x="150418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21</a:t>
            </a:r>
          </a:p>
        </p:txBody>
      </p:sp>
      <p:sp>
        <p:nvSpPr>
          <p:cNvPr id="109" name="TextBox 108"/>
          <p:cNvSpPr txBox="1"/>
          <p:nvPr/>
        </p:nvSpPr>
        <p:spPr>
          <a:xfrm>
            <a:off x="156019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22</a:t>
            </a:r>
          </a:p>
        </p:txBody>
      </p:sp>
      <p:sp>
        <p:nvSpPr>
          <p:cNvPr id="110" name="TextBox 109"/>
          <p:cNvSpPr txBox="1"/>
          <p:nvPr/>
        </p:nvSpPr>
        <p:spPr>
          <a:xfrm>
            <a:off x="1616201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23</a:t>
            </a:r>
          </a:p>
        </p:txBody>
      </p:sp>
      <p:sp>
        <p:nvSpPr>
          <p:cNvPr id="111" name="TextBox 110"/>
          <p:cNvSpPr txBox="1"/>
          <p:nvPr/>
        </p:nvSpPr>
        <p:spPr>
          <a:xfrm>
            <a:off x="1672208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24</a:t>
            </a:r>
          </a:p>
        </p:txBody>
      </p:sp>
      <p:sp>
        <p:nvSpPr>
          <p:cNvPr id="112" name="Rounded Rectangle 111"/>
          <p:cNvSpPr/>
          <p:nvPr/>
        </p:nvSpPr>
        <p:spPr>
          <a:xfrm>
            <a:off x="944118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E1</a:t>
            </a:r>
          </a:p>
        </p:txBody>
      </p:sp>
      <p:sp>
        <p:nvSpPr>
          <p:cNvPr id="113" name="Rounded Rectangle 112"/>
          <p:cNvSpPr/>
          <p:nvPr/>
        </p:nvSpPr>
        <p:spPr>
          <a:xfrm>
            <a:off x="1280160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E2</a:t>
            </a:r>
          </a:p>
        </p:txBody>
      </p:sp>
      <p:sp>
        <p:nvSpPr>
          <p:cNvPr id="114" name="Diamond 113"/>
          <p:cNvSpPr/>
          <p:nvPr/>
        </p:nvSpPr>
        <p:spPr>
          <a:xfrm>
            <a:off x="45708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5" name="TextBox 114"/>
          <p:cNvSpPr txBox="1"/>
          <p:nvPr/>
        </p:nvSpPr>
        <p:spPr>
          <a:xfrm>
            <a:off x="44005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a:t>
            </a:r>
          </a:p>
        </p:txBody>
      </p:sp>
      <p:sp>
        <p:nvSpPr>
          <p:cNvPr id="116" name="Diamond 115"/>
          <p:cNvSpPr/>
          <p:nvPr/>
        </p:nvSpPr>
        <p:spPr>
          <a:xfrm>
            <a:off x="56909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7" name="TextBox 116"/>
          <p:cNvSpPr txBox="1"/>
          <p:nvPr/>
        </p:nvSpPr>
        <p:spPr>
          <a:xfrm>
            <a:off x="55206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H2</a:t>
            </a:r>
          </a:p>
        </p:txBody>
      </p:sp>
      <p:sp>
        <p:nvSpPr>
          <p:cNvPr id="118" name="Diamond 117"/>
          <p:cNvSpPr/>
          <p:nvPr/>
        </p:nvSpPr>
        <p:spPr>
          <a:xfrm>
            <a:off x="681113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9" name="TextBox 118"/>
          <p:cNvSpPr txBox="1"/>
          <p:nvPr/>
        </p:nvSpPr>
        <p:spPr>
          <a:xfrm>
            <a:off x="664082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H3</a:t>
            </a:r>
          </a:p>
        </p:txBody>
      </p:sp>
      <p:sp>
        <p:nvSpPr>
          <p:cNvPr id="120" name="Diamond 119"/>
          <p:cNvSpPr/>
          <p:nvPr/>
        </p:nvSpPr>
        <p:spPr>
          <a:xfrm>
            <a:off x="905141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1" name="TextBox 120"/>
          <p:cNvSpPr txBox="1"/>
          <p:nvPr/>
        </p:nvSpPr>
        <p:spPr>
          <a:xfrm>
            <a:off x="888110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H4</a:t>
            </a:r>
          </a:p>
        </p:txBody>
      </p:sp>
      <p:sp>
        <p:nvSpPr>
          <p:cNvPr id="122" name="Diamond 121"/>
          <p:cNvSpPr/>
          <p:nvPr/>
        </p:nvSpPr>
        <p:spPr>
          <a:xfrm>
            <a:off x="101715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3" name="TextBox 122"/>
          <p:cNvSpPr txBox="1"/>
          <p:nvPr/>
        </p:nvSpPr>
        <p:spPr>
          <a:xfrm>
            <a:off x="100012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H5</a:t>
            </a:r>
          </a:p>
        </p:txBody>
      </p:sp>
      <p:sp>
        <p:nvSpPr>
          <p:cNvPr id="124" name="Diamond 123"/>
          <p:cNvSpPr/>
          <p:nvPr/>
        </p:nvSpPr>
        <p:spPr>
          <a:xfrm>
            <a:off x="1073162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5" name="TextBox 124"/>
          <p:cNvSpPr txBox="1"/>
          <p:nvPr/>
        </p:nvSpPr>
        <p:spPr>
          <a:xfrm>
            <a:off x="1056132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H6</a:t>
            </a:r>
          </a:p>
        </p:txBody>
      </p:sp>
      <p:sp>
        <p:nvSpPr>
          <p:cNvPr id="126" name="Diamond 125"/>
          <p:cNvSpPr/>
          <p:nvPr/>
        </p:nvSpPr>
        <p:spPr>
          <a:xfrm>
            <a:off x="112916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7" name="TextBox 126"/>
          <p:cNvSpPr txBox="1"/>
          <p:nvPr/>
        </p:nvSpPr>
        <p:spPr>
          <a:xfrm>
            <a:off x="111213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H8</a:t>
            </a:r>
          </a:p>
        </p:txBody>
      </p:sp>
      <p:sp>
        <p:nvSpPr>
          <p:cNvPr id="128" name="Diamond 127"/>
          <p:cNvSpPr/>
          <p:nvPr/>
        </p:nvSpPr>
        <p:spPr>
          <a:xfrm>
            <a:off x="12411837"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9" name="TextBox 128"/>
          <p:cNvSpPr txBox="1"/>
          <p:nvPr/>
        </p:nvSpPr>
        <p:spPr>
          <a:xfrm>
            <a:off x="1224153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H7</a:t>
            </a:r>
          </a:p>
        </p:txBody>
      </p:sp>
      <p:sp>
        <p:nvSpPr>
          <p:cNvPr id="130" name="Diamond 129"/>
          <p:cNvSpPr/>
          <p:nvPr/>
        </p:nvSpPr>
        <p:spPr>
          <a:xfrm>
            <a:off x="1297190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1" name="TextBox 130"/>
          <p:cNvSpPr txBox="1"/>
          <p:nvPr/>
        </p:nvSpPr>
        <p:spPr>
          <a:xfrm>
            <a:off x="1280160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H9</a:t>
            </a:r>
          </a:p>
        </p:txBody>
      </p:sp>
      <p:sp>
        <p:nvSpPr>
          <p:cNvPr id="132" name="Diamond 131"/>
          <p:cNvSpPr/>
          <p:nvPr/>
        </p:nvSpPr>
        <p:spPr>
          <a:xfrm>
            <a:off x="1353197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3" name="TextBox 132"/>
          <p:cNvSpPr txBox="1"/>
          <p:nvPr/>
        </p:nvSpPr>
        <p:spPr>
          <a:xfrm>
            <a:off x="1336167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H10</a:t>
            </a:r>
          </a:p>
        </p:txBody>
      </p:sp>
      <p:sp>
        <p:nvSpPr>
          <p:cNvPr id="134" name="Diamond 133"/>
          <p:cNvSpPr/>
          <p:nvPr/>
        </p:nvSpPr>
        <p:spPr>
          <a:xfrm>
            <a:off x="1409204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5" name="TextBox 134"/>
          <p:cNvSpPr txBox="1"/>
          <p:nvPr/>
        </p:nvSpPr>
        <p:spPr>
          <a:xfrm>
            <a:off x="1392173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H11</a:t>
            </a:r>
          </a:p>
        </p:txBody>
      </p:sp>
      <p:sp>
        <p:nvSpPr>
          <p:cNvPr id="136" name="Diamond 135"/>
          <p:cNvSpPr/>
          <p:nvPr/>
        </p:nvSpPr>
        <p:spPr>
          <a:xfrm>
            <a:off x="15212186"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7" name="TextBox 136"/>
          <p:cNvSpPr txBox="1"/>
          <p:nvPr/>
        </p:nvSpPr>
        <p:spPr>
          <a:xfrm>
            <a:off x="1504188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H12</a:t>
            </a:r>
          </a:p>
        </p:txBody>
      </p:sp>
      <p:sp>
        <p:nvSpPr>
          <p:cNvPr id="138" name="Oval 137"/>
          <p:cNvSpPr/>
          <p:nvPr/>
        </p:nvSpPr>
        <p:spPr>
          <a:xfrm>
            <a:off x="45342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39" name="Oval 138"/>
          <p:cNvSpPr/>
          <p:nvPr/>
        </p:nvSpPr>
        <p:spPr>
          <a:xfrm>
            <a:off x="565442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0" name="Oval 139"/>
          <p:cNvSpPr/>
          <p:nvPr/>
        </p:nvSpPr>
        <p:spPr>
          <a:xfrm>
            <a:off x="677456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1" name="Oval 140"/>
          <p:cNvSpPr/>
          <p:nvPr/>
        </p:nvSpPr>
        <p:spPr>
          <a:xfrm>
            <a:off x="789470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2</a:t>
            </a:r>
          </a:p>
        </p:txBody>
      </p:sp>
      <p:sp>
        <p:nvSpPr>
          <p:cNvPr id="142" name="Oval 141"/>
          <p:cNvSpPr/>
          <p:nvPr/>
        </p:nvSpPr>
        <p:spPr>
          <a:xfrm>
            <a:off x="957491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4</a:t>
            </a:r>
          </a:p>
        </p:txBody>
      </p:sp>
      <p:sp>
        <p:nvSpPr>
          <p:cNvPr id="143" name="Oval 142"/>
          <p:cNvSpPr/>
          <p:nvPr/>
        </p:nvSpPr>
        <p:spPr>
          <a:xfrm>
            <a:off x="101349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4" name="TextBox 143"/>
          <p:cNvSpPr txBox="1"/>
          <p:nvPr/>
        </p:nvSpPr>
        <p:spPr>
          <a:xfrm>
            <a:off x="3840480" y="8522208"/>
            <a:ext cx="10789920" cy="320040"/>
          </a:xfrm>
          <a:prstGeom prst="rect">
            <a:avLst/>
          </a:prstGeom>
          <a:noFill/>
        </p:spPr>
        <p:txBody>
          <a:bodyPr wrap="square" lIns="0" rIns="0" tIns="0" bIns="0" anchor="t">
            <a:spAutoFit/>
          </a:bodyPr>
          <a:lstStyle/>
          <a:p>
            <a:pPr algn="l"/>
            <a:r>
              <a:rPr sz="1400" b="1">
                <a:solidFill>
                  <a:srgbClr val="E8641B"/>
                </a:solidFill>
                <a:latin typeface="Inter SemiBold"/>
              </a:rPr>
              <a:t>Riesgos: m2 R-001 · m4 R-014 · m6 R-006 · m8 R-005, R-011 · m11 R-003, R-013, R-015, R-016 · m12 R-012</a:t>
            </a:r>
          </a:p>
        </p:txBody>
      </p:sp>
      <p:sp>
        <p:nvSpPr>
          <p:cNvPr id="14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p14="http://schemas.microsoft.com/office/powerpoint/2010/main">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8" name="TextBox 8"/>
          <p:cNvSpPr txBox="1"/>
          <p:nvPr/>
        </p:nvSpPr>
        <p:spPr>
          <a:xfrm>
            <a:off x="9389512" y="1188720"/>
            <a:ext cx="5486400" cy="2377440"/>
          </a:xfrm>
          <a:prstGeom prst="rect">
            <a:avLst/>
          </a:prstGeom>
        </p:spPr>
        <p:txBody>
          <a:bodyPr lIns="0" tIns="0" rIns="0" bIns="0" rtlCol="0" anchor="t">
            <a:spAutoFit/>
          </a:bodyPr>
          <a:lstStyle/>
          <a:p>
            <a:pPr algn="l">
              <a:lnSpc>
                <a:spcPct val="90000"/>
              </a:lnSpc>
            </a:pPr>
            <a:r>
              <a:rPr lang="en-US" sz="6000" b="1">
                <a:solidFill>
                  <a:srgbClr val="111111"/>
                </a:solidFill>
                <a:latin typeface="Inter SemiBold"/>
                <a:ea typeface="Inter SemiBold"/>
                <a:cs typeface="Inter SemiBold"/>
                <a:sym typeface="Inter SemiBold"/>
              </a:rPr>
              <a:t>Normas y leyes</a:t>
            </a:r>
          </a:p>
        </p:txBody>
      </p:sp>
      <p:sp>
        <p:nvSpPr>
          <p:cNvPr id="11" name="!!brand"/>
          <p:cNvSpPr txBox="1"/>
          <p:nvPr/>
        </p:nvSpPr>
        <p:spPr>
          <a:xfrm>
            <a:off x="13217409" y="1000125"/>
            <a:ext cx="3328659" cy="297180"/>
          </a:xfrm>
          <a:prstGeom prst="rect">
            <a:avLst/>
          </a:prstGeom>
        </p:spPr>
        <p:txBody>
          <a:bodyPr lIns="0" tIns="0" rIns="0" bIns="0" rtlCol="0" anchor="t">
            <a:spAutoFit/>
          </a:bodyPr>
          <a:lstStyle/>
          <a:p>
            <a:pPr algn="r">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5"/>
          <a:stretch>
            <a:fillRect/>
          </a:stretch>
        </p:blipFill>
        <p:spPr>
          <a:xfrm>
            <a:off x="16706088" y="850392"/>
            <a:ext cx="551723" cy="566928"/>
          </a:xfrm>
          <a:prstGeom prst="rect">
            <a:avLst/>
          </a:prstGeom>
        </p:spPr>
      </p:pic>
      <p:sp>
        <p:nvSpPr>
          <p:cNvPr id="13" name="TextBox 12"/>
          <p:cNvSpPr txBox="1"/>
          <p:nvPr/>
        </p:nvSpPr>
        <p:spPr>
          <a:xfrm>
            <a:off x="731520" y="1280160"/>
            <a:ext cx="8229600" cy="320040"/>
          </a:xfrm>
          <a:prstGeom prst="rect">
            <a:avLst/>
          </a:prstGeom>
          <a:noFill/>
        </p:spPr>
        <p:txBody>
          <a:bodyPr wrap="square" lIns="0" rIns="0" tIns="0" bIns="0" anchor="t">
            <a:spAutoFit/>
          </a:bodyPr>
          <a:lstStyle/>
          <a:p>
            <a:pPr algn="l"/>
            <a:r>
              <a:rPr sz="1600" b="1">
                <a:solidFill>
                  <a:srgbClr val="E8641B"/>
                </a:solidFill>
                <a:latin typeface="Inter SemiBold"/>
              </a:rPr>
              <a:t>NORMA → CÓMO SE ACREDITA</a:t>
            </a:r>
          </a:p>
        </p:txBody>
      </p:sp>
      <p:sp>
        <p:nvSpPr>
          <p:cNvPr id="14" name="Rounded Rectangle 13"/>
          <p:cNvSpPr/>
          <p:nvPr/>
        </p:nvSpPr>
        <p:spPr>
          <a:xfrm>
            <a:off x="731520" y="169164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5" name="TextBox 14"/>
          <p:cNvSpPr txBox="1"/>
          <p:nvPr/>
        </p:nvSpPr>
        <p:spPr>
          <a:xfrm>
            <a:off x="914400" y="169164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25010</a:t>
            </a:r>
          </a:p>
        </p:txBody>
      </p:sp>
      <p:sp>
        <p:nvSpPr>
          <p:cNvPr id="16" name="TextBox 15"/>
          <p:cNvSpPr txBox="1"/>
          <p:nvPr/>
        </p:nvSpPr>
        <p:spPr>
          <a:xfrm>
            <a:off x="3657600" y="1691640"/>
            <a:ext cx="5166360" cy="786384"/>
          </a:xfrm>
          <a:prstGeom prst="rect">
            <a:avLst/>
          </a:prstGeom>
          <a:noFill/>
        </p:spPr>
        <p:txBody>
          <a:bodyPr wrap="square" lIns="0" rIns="0" tIns="0" bIns="0" anchor="ctr">
            <a:spAutoFit/>
          </a:bodyPr>
          <a:lstStyle/>
          <a:p>
            <a:pPr algn="l"/>
            <a:r>
              <a:rPr sz="1700" b="0">
                <a:solidFill>
                  <a:srgbClr val="3C3C3C"/>
                </a:solidFill>
                <a:latin typeface="Inter"/>
              </a:rPr>
              <a:t>8 características con umbral</a:t>
            </a:r>
          </a:p>
        </p:txBody>
      </p:sp>
      <p:sp>
        <p:nvSpPr>
          <p:cNvPr id="17" name="Rounded Rectangle 16"/>
          <p:cNvSpPr/>
          <p:nvPr/>
        </p:nvSpPr>
        <p:spPr>
          <a:xfrm>
            <a:off x="731520" y="258775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 name="TextBox 17"/>
          <p:cNvSpPr txBox="1"/>
          <p:nvPr/>
        </p:nvSpPr>
        <p:spPr>
          <a:xfrm>
            <a:off x="914400" y="258775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25012</a:t>
            </a:r>
          </a:p>
        </p:txBody>
      </p:sp>
      <p:sp>
        <p:nvSpPr>
          <p:cNvPr id="19" name="TextBox 18"/>
          <p:cNvSpPr txBox="1"/>
          <p:nvPr/>
        </p:nvSpPr>
        <p:spPr>
          <a:xfrm>
            <a:off x="3657600" y="2587752"/>
            <a:ext cx="5166360" cy="786384"/>
          </a:xfrm>
          <a:prstGeom prst="rect">
            <a:avLst/>
          </a:prstGeom>
          <a:noFill/>
        </p:spPr>
        <p:txBody>
          <a:bodyPr wrap="square" lIns="0" rIns="0" tIns="0" bIns="0" anchor="ctr">
            <a:spAutoFit/>
          </a:bodyPr>
          <a:lstStyle/>
          <a:p>
            <a:pPr algn="l"/>
            <a:r>
              <a:rPr sz="1700" b="0">
                <a:solidFill>
                  <a:srgbClr val="3C3C3C"/>
                </a:solidFill>
                <a:latin typeface="Inter"/>
              </a:rPr>
              <a:t>Datos medidos y conciliados</a:t>
            </a:r>
          </a:p>
        </p:txBody>
      </p:sp>
      <p:sp>
        <p:nvSpPr>
          <p:cNvPr id="20" name="Rounded Rectangle 19"/>
          <p:cNvSpPr/>
          <p:nvPr/>
        </p:nvSpPr>
        <p:spPr>
          <a:xfrm>
            <a:off x="731520" y="3483864"/>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1" name="TextBox 20"/>
          <p:cNvSpPr txBox="1"/>
          <p:nvPr/>
        </p:nvSpPr>
        <p:spPr>
          <a:xfrm>
            <a:off x="914400" y="3483864"/>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29119</a:t>
            </a:r>
          </a:p>
        </p:txBody>
      </p:sp>
      <p:sp>
        <p:nvSpPr>
          <p:cNvPr id="22" name="TextBox 21"/>
          <p:cNvSpPr txBox="1"/>
          <p:nvPr/>
        </p:nvSpPr>
        <p:spPr>
          <a:xfrm>
            <a:off x="3657600" y="3483864"/>
            <a:ext cx="5166360" cy="786384"/>
          </a:xfrm>
          <a:prstGeom prst="rect">
            <a:avLst/>
          </a:prstGeom>
          <a:noFill/>
        </p:spPr>
        <p:txBody>
          <a:bodyPr wrap="square" lIns="0" rIns="0" tIns="0" bIns="0" anchor="ctr">
            <a:spAutoFit/>
          </a:bodyPr>
          <a:lstStyle/>
          <a:p>
            <a:pPr algn="l"/>
            <a:r>
              <a:rPr sz="1700" b="0">
                <a:solidFill>
                  <a:srgbClr val="3C3C3C"/>
                </a:solidFill>
                <a:latin typeface="Inter"/>
              </a:rPr>
              <a:t>Proceso de pruebas en 3 niveles</a:t>
            </a:r>
          </a:p>
        </p:txBody>
      </p:sp>
      <p:sp>
        <p:nvSpPr>
          <p:cNvPr id="23" name="Rounded Rectangle 22"/>
          <p:cNvSpPr/>
          <p:nvPr/>
        </p:nvSpPr>
        <p:spPr>
          <a:xfrm>
            <a:off x="731520" y="4379976"/>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4" name="TextBox 23"/>
          <p:cNvSpPr txBox="1"/>
          <p:nvPr/>
        </p:nvSpPr>
        <p:spPr>
          <a:xfrm>
            <a:off x="914400" y="4379976"/>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PMBOK cap. 8</a:t>
            </a:r>
          </a:p>
        </p:txBody>
      </p:sp>
      <p:sp>
        <p:nvSpPr>
          <p:cNvPr id="25" name="TextBox 24"/>
          <p:cNvSpPr txBox="1"/>
          <p:nvPr/>
        </p:nvSpPr>
        <p:spPr>
          <a:xfrm>
            <a:off x="3657600" y="4379976"/>
            <a:ext cx="5166360" cy="786384"/>
          </a:xfrm>
          <a:prstGeom prst="rect">
            <a:avLst/>
          </a:prstGeom>
          <a:noFill/>
        </p:spPr>
        <p:txBody>
          <a:bodyPr wrap="square" lIns="0" rIns="0" tIns="0" bIns="0" anchor="ctr">
            <a:spAutoFit/>
          </a:bodyPr>
          <a:lstStyle/>
          <a:p>
            <a:pPr algn="l"/>
            <a:r>
              <a:rPr sz="1700" b="0">
                <a:solidFill>
                  <a:srgbClr val="3C3C3C"/>
                </a:solidFill>
                <a:latin typeface="Inter"/>
              </a:rPr>
              <a:t>Planificar, gestionar y controlar</a:t>
            </a:r>
          </a:p>
        </p:txBody>
      </p:sp>
      <p:sp>
        <p:nvSpPr>
          <p:cNvPr id="26" name="Rounded Rectangle 25"/>
          <p:cNvSpPr/>
          <p:nvPr/>
        </p:nvSpPr>
        <p:spPr>
          <a:xfrm>
            <a:off x="731520" y="5276088"/>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7" name="TextBox 26"/>
          <p:cNvSpPr txBox="1"/>
          <p:nvPr/>
        </p:nvSpPr>
        <p:spPr>
          <a:xfrm>
            <a:off x="914400" y="5276088"/>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WCAG 2.2 AA</a:t>
            </a:r>
          </a:p>
        </p:txBody>
      </p:sp>
      <p:sp>
        <p:nvSpPr>
          <p:cNvPr id="28" name="TextBox 27"/>
          <p:cNvSpPr txBox="1"/>
          <p:nvPr/>
        </p:nvSpPr>
        <p:spPr>
          <a:xfrm>
            <a:off x="3657600" y="5276088"/>
            <a:ext cx="5166360" cy="786384"/>
          </a:xfrm>
          <a:prstGeom prst="rect">
            <a:avLst/>
          </a:prstGeom>
          <a:noFill/>
        </p:spPr>
        <p:txBody>
          <a:bodyPr wrap="square" lIns="0" rIns="0" tIns="0" bIns="0" anchor="ctr">
            <a:spAutoFit/>
          </a:bodyPr>
          <a:lstStyle/>
          <a:p>
            <a:pPr algn="l"/>
            <a:r>
              <a:rPr sz="1700" b="0">
                <a:solidFill>
                  <a:srgbClr val="3C3C3C"/>
                </a:solidFill>
                <a:latin typeface="Inter"/>
              </a:rPr>
              <a:t>Herramienta + revisión manual</a:t>
            </a:r>
          </a:p>
        </p:txBody>
      </p:sp>
      <p:sp>
        <p:nvSpPr>
          <p:cNvPr id="29" name="Rounded Rectangle 28"/>
          <p:cNvSpPr/>
          <p:nvPr/>
        </p:nvSpPr>
        <p:spPr>
          <a:xfrm>
            <a:off x="731520" y="617220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0" name="TextBox 29"/>
          <p:cNvSpPr txBox="1"/>
          <p:nvPr/>
        </p:nvSpPr>
        <p:spPr>
          <a:xfrm>
            <a:off x="914400" y="617220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OWASP</a:t>
            </a:r>
          </a:p>
        </p:txBody>
      </p:sp>
      <p:sp>
        <p:nvSpPr>
          <p:cNvPr id="31" name="TextBox 30"/>
          <p:cNvSpPr txBox="1"/>
          <p:nvPr/>
        </p:nvSpPr>
        <p:spPr>
          <a:xfrm>
            <a:off x="3657600" y="6172200"/>
            <a:ext cx="5166360" cy="786384"/>
          </a:xfrm>
          <a:prstGeom prst="rect">
            <a:avLst/>
          </a:prstGeom>
          <a:noFill/>
        </p:spPr>
        <p:txBody>
          <a:bodyPr wrap="square" lIns="0" rIns="0" tIns="0" bIns="0" anchor="ctr">
            <a:spAutoFit/>
          </a:bodyPr>
          <a:lstStyle/>
          <a:p>
            <a:pPr algn="l"/>
            <a:r>
              <a:rPr sz="1700" b="0">
                <a:solidFill>
                  <a:srgbClr val="3C3C3C"/>
                </a:solidFill>
                <a:latin typeface="Inter"/>
              </a:rPr>
              <a:t>Análisis estático y dinámico</a:t>
            </a:r>
          </a:p>
        </p:txBody>
      </p:sp>
      <p:sp>
        <p:nvSpPr>
          <p:cNvPr id="32" name="Rounded Rectangle 31"/>
          <p:cNvSpPr/>
          <p:nvPr/>
        </p:nvSpPr>
        <p:spPr>
          <a:xfrm>
            <a:off x="731520" y="706831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3" name="TextBox 32"/>
          <p:cNvSpPr txBox="1"/>
          <p:nvPr/>
        </p:nvSpPr>
        <p:spPr>
          <a:xfrm>
            <a:off x="914400" y="706831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 9001</a:t>
            </a:r>
          </a:p>
        </p:txBody>
      </p:sp>
      <p:sp>
        <p:nvSpPr>
          <p:cNvPr id="34" name="TextBox 33"/>
          <p:cNvSpPr txBox="1"/>
          <p:nvPr/>
        </p:nvSpPr>
        <p:spPr>
          <a:xfrm>
            <a:off x="3657600" y="7068312"/>
            <a:ext cx="5166360" cy="786384"/>
          </a:xfrm>
          <a:prstGeom prst="rect">
            <a:avLst/>
          </a:prstGeom>
          <a:noFill/>
        </p:spPr>
        <p:txBody>
          <a:bodyPr wrap="square" lIns="0" rIns="0" tIns="0" bIns="0" anchor="ctr">
            <a:spAutoFit/>
          </a:bodyPr>
          <a:lstStyle/>
          <a:p>
            <a:pPr algn="l"/>
            <a:r>
              <a:rPr sz="1700" b="0">
                <a:solidFill>
                  <a:srgbClr val="3C3C3C"/>
                </a:solidFill>
                <a:latin typeface="Inter"/>
              </a:rPr>
              <a:t>Marco de auditoría</a:t>
            </a:r>
          </a:p>
        </p:txBody>
      </p:sp>
      <p:sp>
        <p:nvSpPr>
          <p:cNvPr id="35" name="Rounded Rectangle 34"/>
          <p:cNvSpPr/>
          <p:nvPr/>
        </p:nvSpPr>
        <p:spPr>
          <a:xfrm>
            <a:off x="731520" y="7964423"/>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TextBox 35"/>
          <p:cNvSpPr txBox="1"/>
          <p:nvPr/>
        </p:nvSpPr>
        <p:spPr>
          <a:xfrm>
            <a:off x="914400" y="7964423"/>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CMMI-DEV N3</a:t>
            </a:r>
          </a:p>
        </p:txBody>
      </p:sp>
      <p:sp>
        <p:nvSpPr>
          <p:cNvPr id="37" name="TextBox 36"/>
          <p:cNvSpPr txBox="1"/>
          <p:nvPr/>
        </p:nvSpPr>
        <p:spPr>
          <a:xfrm>
            <a:off x="3657600" y="7964423"/>
            <a:ext cx="5166360" cy="786384"/>
          </a:xfrm>
          <a:prstGeom prst="rect">
            <a:avLst/>
          </a:prstGeom>
          <a:noFill/>
        </p:spPr>
        <p:txBody>
          <a:bodyPr wrap="square" lIns="0" rIns="0" tIns="0" bIns="0" anchor="ctr">
            <a:spAutoFit/>
          </a:bodyPr>
          <a:lstStyle/>
          <a:p>
            <a:pPr algn="l"/>
            <a:r>
              <a:rPr sz="1700" b="0">
                <a:solidFill>
                  <a:srgbClr val="3C3C3C"/>
                </a:solidFill>
                <a:latin typeface="Inter"/>
              </a:rPr>
              <a:t>Madurez del proceso</a:t>
            </a:r>
          </a:p>
        </p:txBody>
      </p:sp>
      <p:sp>
        <p:nvSpPr>
          <p:cNvPr id="38" name="TextBox 37"/>
          <p:cNvSpPr txBox="1"/>
          <p:nvPr/>
        </p:nvSpPr>
        <p:spPr>
          <a:xfrm>
            <a:off x="9390888" y="3657600"/>
            <a:ext cx="5303520" cy="320040"/>
          </a:xfrm>
          <a:prstGeom prst="rect">
            <a:avLst/>
          </a:prstGeom>
          <a:noFill/>
        </p:spPr>
        <p:txBody>
          <a:bodyPr wrap="square" lIns="0" rIns="0" tIns="0" bIns="0" anchor="t">
            <a:spAutoFit/>
          </a:bodyPr>
          <a:lstStyle/>
          <a:p>
            <a:pPr algn="l"/>
            <a:r>
              <a:rPr sz="1600" b="1">
                <a:solidFill>
                  <a:srgbClr val="E8641B"/>
                </a:solidFill>
                <a:latin typeface="Inter SemiBold"/>
              </a:rPr>
              <a:t>LEYES</a:t>
            </a:r>
          </a:p>
        </p:txBody>
      </p:sp>
      <p:sp>
        <p:nvSpPr>
          <p:cNvPr id="39" name="TextBox 38"/>
          <p:cNvSpPr txBox="1"/>
          <p:nvPr/>
        </p:nvSpPr>
        <p:spPr>
          <a:xfrm>
            <a:off x="9390888" y="40690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Decreto 977</a:t>
            </a:r>
          </a:p>
        </p:txBody>
      </p:sp>
      <p:sp>
        <p:nvSpPr>
          <p:cNvPr id="40" name="TextBox 39"/>
          <p:cNvSpPr txBox="1"/>
          <p:nvPr/>
        </p:nvSpPr>
        <p:spPr>
          <a:xfrm>
            <a:off x="9390888" y="4434840"/>
            <a:ext cx="5303520" cy="457200"/>
          </a:xfrm>
          <a:prstGeom prst="rect">
            <a:avLst/>
          </a:prstGeom>
          <a:noFill/>
        </p:spPr>
        <p:txBody>
          <a:bodyPr wrap="square" lIns="0" rIns="0" tIns="0" bIns="0" anchor="t">
            <a:spAutoFit/>
          </a:bodyPr>
          <a:lstStyle/>
          <a:p>
            <a:pPr algn="l"/>
            <a:r>
              <a:rPr sz="1600" b="0">
                <a:solidFill>
                  <a:srgbClr val="3C3C3C"/>
                </a:solidFill>
                <a:latin typeface="Inter"/>
              </a:rPr>
              <a:t>≤ −18 °C registrado y retiro expedito</a:t>
            </a:r>
          </a:p>
        </p:txBody>
      </p:sp>
      <p:sp>
        <p:nvSpPr>
          <p:cNvPr id="41" name="TextBox 40"/>
          <p:cNvSpPr txBox="1"/>
          <p:nvPr/>
        </p:nvSpPr>
        <p:spPr>
          <a:xfrm>
            <a:off x="9390888" y="49834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SII · DTE</a:t>
            </a:r>
          </a:p>
        </p:txBody>
      </p:sp>
      <p:sp>
        <p:nvSpPr>
          <p:cNvPr id="42" name="TextBox 41"/>
          <p:cNvSpPr txBox="1"/>
          <p:nvPr/>
        </p:nvSpPr>
        <p:spPr>
          <a:xfrm>
            <a:off x="9390888" y="5349240"/>
            <a:ext cx="5303520" cy="457200"/>
          </a:xfrm>
          <a:prstGeom prst="rect">
            <a:avLst/>
          </a:prstGeom>
          <a:noFill/>
        </p:spPr>
        <p:txBody>
          <a:bodyPr wrap="square" lIns="0" rIns="0" tIns="0" bIns="0" anchor="t">
            <a:spAutoFit/>
          </a:bodyPr>
          <a:lstStyle/>
          <a:p>
            <a:pPr algn="l"/>
            <a:r>
              <a:rPr sz="1600" b="0">
                <a:solidFill>
                  <a:srgbClr val="3C3C3C"/>
                </a:solidFill>
                <a:latin typeface="Inter"/>
              </a:rPr>
              <a:t>Guía electrónica y acuse de recibo</a:t>
            </a:r>
          </a:p>
        </p:txBody>
      </p:sp>
      <p:sp>
        <p:nvSpPr>
          <p:cNvPr id="43" name="TextBox 42"/>
          <p:cNvSpPr txBox="1"/>
          <p:nvPr/>
        </p:nvSpPr>
        <p:spPr>
          <a:xfrm>
            <a:off x="9390888" y="58978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Art. 25 bis</a:t>
            </a:r>
          </a:p>
        </p:txBody>
      </p:sp>
      <p:sp>
        <p:nvSpPr>
          <p:cNvPr id="44" name="TextBox 43"/>
          <p:cNvSpPr txBox="1"/>
          <p:nvPr/>
        </p:nvSpPr>
        <p:spPr>
          <a:xfrm>
            <a:off x="9390888" y="6263640"/>
            <a:ext cx="5303520" cy="457200"/>
          </a:xfrm>
          <a:prstGeom prst="rect">
            <a:avLst/>
          </a:prstGeom>
          <a:noFill/>
        </p:spPr>
        <p:txBody>
          <a:bodyPr wrap="square" lIns="0" rIns="0" tIns="0" bIns="0" anchor="t">
            <a:spAutoFit/>
          </a:bodyPr>
          <a:lstStyle/>
          <a:p>
            <a:pPr algn="l"/>
            <a:r>
              <a:rPr sz="1600" b="0">
                <a:solidFill>
                  <a:srgbClr val="3C3C3C"/>
                </a:solidFill>
                <a:latin typeface="Inter"/>
              </a:rPr>
              <a:t>Jornada de conductores en el ruteo</a:t>
            </a:r>
          </a:p>
        </p:txBody>
      </p:sp>
      <p:sp>
        <p:nvSpPr>
          <p:cNvPr id="45" name="TextBox 44"/>
          <p:cNvSpPr txBox="1"/>
          <p:nvPr/>
        </p:nvSpPr>
        <p:spPr>
          <a:xfrm>
            <a:off x="9390888" y="68122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Ley 21.719</a:t>
            </a:r>
          </a:p>
        </p:txBody>
      </p:sp>
      <p:sp>
        <p:nvSpPr>
          <p:cNvPr id="46" name="TextBox 45"/>
          <p:cNvSpPr txBox="1"/>
          <p:nvPr/>
        </p:nvSpPr>
        <p:spPr>
          <a:xfrm>
            <a:off x="9390888" y="7178040"/>
            <a:ext cx="5303520" cy="457200"/>
          </a:xfrm>
          <a:prstGeom prst="rect">
            <a:avLst/>
          </a:prstGeom>
          <a:noFill/>
        </p:spPr>
        <p:txBody>
          <a:bodyPr wrap="square" lIns="0" rIns="0" tIns="0" bIns="0" anchor="t">
            <a:spAutoFit/>
          </a:bodyPr>
          <a:lstStyle/>
          <a:p>
            <a:pPr algn="l"/>
            <a:r>
              <a:rPr sz="1600" b="0">
                <a:solidFill>
                  <a:srgbClr val="3C3C3C"/>
                </a:solidFill>
                <a:latin typeface="Inter"/>
              </a:rPr>
              <a:t>Datos personales, desde dic-2026</a:t>
            </a:r>
          </a:p>
        </p:txBody>
      </p:sp>
      <p:sp>
        <p:nvSpPr>
          <p:cNvPr id="47" name="TextBox 46"/>
          <p:cNvSpPr txBox="1"/>
          <p:nvPr/>
        </p:nvSpPr>
        <p:spPr>
          <a:xfrm>
            <a:off x="9390888" y="7726679"/>
            <a:ext cx="5303520" cy="347472"/>
          </a:xfrm>
          <a:prstGeom prst="rect">
            <a:avLst/>
          </a:prstGeom>
          <a:noFill/>
        </p:spPr>
        <p:txBody>
          <a:bodyPr wrap="square" lIns="0" rIns="0" tIns="0" bIns="0" anchor="t">
            <a:spAutoFit/>
          </a:bodyPr>
          <a:lstStyle/>
          <a:p>
            <a:pPr algn="l"/>
            <a:r>
              <a:rPr sz="1800" b="1">
                <a:solidFill>
                  <a:srgbClr val="111111"/>
                </a:solidFill>
                <a:latin typeface="Inter SemiBold"/>
              </a:rPr>
              <a:t>GS1 · EDI</a:t>
            </a:r>
          </a:p>
        </p:txBody>
      </p:sp>
      <p:sp>
        <p:nvSpPr>
          <p:cNvPr id="48" name="TextBox 47"/>
          <p:cNvSpPr txBox="1"/>
          <p:nvPr/>
        </p:nvSpPr>
        <p:spPr>
          <a:xfrm>
            <a:off x="9390888" y="8092440"/>
            <a:ext cx="5303520" cy="457200"/>
          </a:xfrm>
          <a:prstGeom prst="rect">
            <a:avLst/>
          </a:prstGeom>
          <a:noFill/>
        </p:spPr>
        <p:txBody>
          <a:bodyPr wrap="square" lIns="0" rIns="0" tIns="0" bIns="0" anchor="t">
            <a:spAutoFit/>
          </a:bodyPr>
          <a:lstStyle/>
          <a:p>
            <a:pPr algn="l"/>
            <a:r>
              <a:rPr sz="1600" b="0">
                <a:solidFill>
                  <a:srgbClr val="3C3C3C"/>
                </a:solidFill>
                <a:latin typeface="Inter"/>
              </a:rPr>
              <a:t>GTIN, GLN y SSCC</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28</a:t>
            </a: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Calidad del producto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4 objetivos medibles · 8 características ISO/IEC 25010, cada una con su umbral</a:t>
            </a:r>
          </a:p>
        </p:txBody>
      </p:sp>
      <p:sp>
        <p:nvSpPr>
          <p:cNvPr id="51" name="Rounded Rectangle 50"/>
          <p:cNvSpPr/>
          <p:nvPr/>
        </p:nvSpPr>
        <p:spPr>
          <a:xfrm>
            <a:off x="91440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100 %</a:t>
            </a:r>
          </a:p>
          <a:p>
            <a:pPr algn="l"/>
            <a:r>
              <a:rPr sz="1500" b="0">
                <a:solidFill>
                  <a:srgbClr val="FFFFFF"/>
                </a:solidFill>
                <a:latin typeface="Inter"/>
              </a:rPr>
              <a:t>requisitos con prueba aprobada</a:t>
            </a:r>
          </a:p>
        </p:txBody>
      </p:sp>
      <p:sp>
        <p:nvSpPr>
          <p:cNvPr id="52" name="Rounded Rectangle 51"/>
          <p:cNvSpPr/>
          <p:nvPr/>
        </p:nvSpPr>
        <p:spPr>
          <a:xfrm>
            <a:off x="507492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a:t>
            </a:r>
          </a:p>
          <a:p>
            <a:pPr algn="l"/>
            <a:r>
              <a:rPr sz="1500" b="0">
                <a:solidFill>
                  <a:srgbClr val="FFFFFF"/>
                </a:solidFill>
                <a:latin typeface="Inter"/>
              </a:rPr>
              <a:t>defectos críticos o altos al cierre</a:t>
            </a:r>
          </a:p>
        </p:txBody>
      </p:sp>
      <p:sp>
        <p:nvSpPr>
          <p:cNvPr id="53" name="Rounded Rectangle 52"/>
          <p:cNvSpPr/>
          <p:nvPr/>
        </p:nvSpPr>
        <p:spPr>
          <a:xfrm>
            <a:off x="923544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 min</a:t>
            </a:r>
          </a:p>
          <a:p>
            <a:pPr algn="l"/>
            <a:r>
              <a:rPr sz="1500" b="0">
                <a:solidFill>
                  <a:srgbClr val="FFFFFF"/>
                </a:solidFill>
                <a:latin typeface="Inter"/>
              </a:rPr>
              <a:t>de caída entre 05:30 y 07:00</a:t>
            </a:r>
          </a:p>
        </p:txBody>
      </p:sp>
      <p:sp>
        <p:nvSpPr>
          <p:cNvPr id="54" name="Rounded Rectangle 53"/>
          <p:cNvSpPr/>
          <p:nvPr/>
        </p:nvSpPr>
        <p:spPr>
          <a:xfrm>
            <a:off x="13395959"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16 de 16</a:t>
            </a:r>
          </a:p>
          <a:p>
            <a:pPr algn="l"/>
            <a:r>
              <a:rPr sz="1500" b="0">
                <a:solidFill>
                  <a:srgbClr val="FFFFFF"/>
                </a:solidFill>
                <a:latin typeface="Inter"/>
              </a:rPr>
              <a:t>resultados del Caso</a:t>
            </a:r>
          </a:p>
        </p:txBody>
      </p:sp>
      <p:sp>
        <p:nvSpPr>
          <p:cNvPr id="55" name="Rounded Rectangle 54"/>
          <p:cNvSpPr/>
          <p:nvPr/>
        </p:nvSpPr>
        <p:spPr>
          <a:xfrm>
            <a:off x="91440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14300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Funcionalidad</a:t>
            </a:r>
          </a:p>
        </p:txBody>
      </p:sp>
      <p:sp>
        <p:nvSpPr>
          <p:cNvPr id="57" name="TextBox 56"/>
          <p:cNvSpPr txBox="1"/>
          <p:nvPr/>
        </p:nvSpPr>
        <p:spPr>
          <a:xfrm>
            <a:off x="114300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100 % de requisitos probados</a:t>
            </a:r>
          </a:p>
        </p:txBody>
      </p:sp>
      <p:sp>
        <p:nvSpPr>
          <p:cNvPr id="58" name="Rounded Rectangle 57"/>
          <p:cNvSpPr/>
          <p:nvPr/>
        </p:nvSpPr>
        <p:spPr>
          <a:xfrm>
            <a:off x="5074920" y="470916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 name="TextBox 58"/>
          <p:cNvSpPr txBox="1"/>
          <p:nvPr/>
        </p:nvSpPr>
        <p:spPr>
          <a:xfrm>
            <a:off x="5303520" y="487375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Desempeño</a:t>
            </a:r>
          </a:p>
        </p:txBody>
      </p:sp>
      <p:sp>
        <p:nvSpPr>
          <p:cNvPr id="60" name="TextBox 59"/>
          <p:cNvSpPr txBox="1"/>
          <p:nvPr/>
        </p:nvSpPr>
        <p:spPr>
          <a:xfrm>
            <a:off x="5303520" y="5367528"/>
            <a:ext cx="3566160" cy="822960"/>
          </a:xfrm>
          <a:prstGeom prst="rect">
            <a:avLst/>
          </a:prstGeom>
          <a:noFill/>
        </p:spPr>
        <p:txBody>
          <a:bodyPr wrap="square" lIns="0" rIns="0" tIns="0" bIns="0" anchor="t">
            <a:spAutoFit/>
          </a:bodyPr>
          <a:lstStyle/>
          <a:p>
            <a:pPr algn="l"/>
            <a:r>
              <a:rPr sz="1600" b="0">
                <a:solidFill>
                  <a:srgbClr val="FFFFFF"/>
                </a:solidFill>
                <a:latin typeface="Inter"/>
              </a:rPr>
              <a:t>p95: preparación ≤ 1 s · preventa ≤ 1,5 s</a:t>
            </a:r>
          </a:p>
        </p:txBody>
      </p:sp>
      <p:sp>
        <p:nvSpPr>
          <p:cNvPr id="61" name="Rounded Rectangle 60"/>
          <p:cNvSpPr/>
          <p:nvPr/>
        </p:nvSpPr>
        <p:spPr>
          <a:xfrm>
            <a:off x="923544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946404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Compatibilidad</a:t>
            </a:r>
          </a:p>
        </p:txBody>
      </p:sp>
      <p:sp>
        <p:nvSpPr>
          <p:cNvPr id="63" name="TextBox 62"/>
          <p:cNvSpPr txBox="1"/>
          <p:nvPr/>
        </p:nvSpPr>
        <p:spPr>
          <a:xfrm>
            <a:off x="946404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15 de 15 integraciones</a:t>
            </a:r>
          </a:p>
        </p:txBody>
      </p:sp>
      <p:sp>
        <p:nvSpPr>
          <p:cNvPr id="64" name="Rounded Rectangle 63"/>
          <p:cNvSpPr/>
          <p:nvPr/>
        </p:nvSpPr>
        <p:spPr>
          <a:xfrm>
            <a:off x="13395959"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 name="TextBox 64"/>
          <p:cNvSpPr txBox="1"/>
          <p:nvPr/>
        </p:nvSpPr>
        <p:spPr>
          <a:xfrm>
            <a:off x="13624559"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Usabilidad</a:t>
            </a:r>
          </a:p>
        </p:txBody>
      </p:sp>
      <p:sp>
        <p:nvSpPr>
          <p:cNvPr id="66" name="TextBox 65"/>
          <p:cNvSpPr txBox="1"/>
          <p:nvPr/>
        </p:nvSpPr>
        <p:spPr>
          <a:xfrm>
            <a:off x="13624559" y="5367528"/>
            <a:ext cx="3566160" cy="822960"/>
          </a:xfrm>
          <a:prstGeom prst="rect">
            <a:avLst/>
          </a:prstGeom>
          <a:noFill/>
        </p:spPr>
        <p:txBody>
          <a:bodyPr wrap="square" lIns="0" rIns="0" tIns="0" bIns="0" anchor="t">
            <a:spAutoFit/>
          </a:bodyPr>
          <a:lstStyle/>
          <a:p>
            <a:pPr algn="l"/>
            <a:r>
              <a:rPr sz="1600" b="0">
                <a:solidFill>
                  <a:srgbClr val="3C3C3C"/>
                </a:solidFill>
                <a:latin typeface="Inter"/>
              </a:rPr>
              <a:t>WCAG 2.2 AA · guantes a −22 °C</a:t>
            </a:r>
          </a:p>
        </p:txBody>
      </p:sp>
      <p:sp>
        <p:nvSpPr>
          <p:cNvPr id="67" name="Rounded Rectangle 66"/>
          <p:cNvSpPr/>
          <p:nvPr/>
        </p:nvSpPr>
        <p:spPr>
          <a:xfrm>
            <a:off x="914400" y="649224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143000" y="665683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Fiabilidad</a:t>
            </a:r>
          </a:p>
        </p:txBody>
      </p:sp>
      <p:sp>
        <p:nvSpPr>
          <p:cNvPr id="69" name="TextBox 68"/>
          <p:cNvSpPr txBox="1"/>
          <p:nvPr/>
        </p:nvSpPr>
        <p:spPr>
          <a:xfrm>
            <a:off x="1143000" y="7150608"/>
            <a:ext cx="3566160" cy="822960"/>
          </a:xfrm>
          <a:prstGeom prst="rect">
            <a:avLst/>
          </a:prstGeom>
          <a:noFill/>
        </p:spPr>
        <p:txBody>
          <a:bodyPr wrap="square" lIns="0" rIns="0" tIns="0" bIns="0" anchor="t">
            <a:spAutoFit/>
          </a:bodyPr>
          <a:lstStyle/>
          <a:p>
            <a:pPr algn="l"/>
            <a:r>
              <a:rPr sz="1600" b="0">
                <a:solidFill>
                  <a:srgbClr val="FFFFFF"/>
                </a:solidFill>
                <a:latin typeface="Inter"/>
              </a:rPr>
              <a:t>≥ 99,9 % · RTO ≤ 4 h · RPO ≤ 15 min</a:t>
            </a:r>
          </a:p>
        </p:txBody>
      </p:sp>
      <p:sp>
        <p:nvSpPr>
          <p:cNvPr id="70" name="Rounded Rectangle 69"/>
          <p:cNvSpPr/>
          <p:nvPr/>
        </p:nvSpPr>
        <p:spPr>
          <a:xfrm>
            <a:off x="507492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530352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Seguridad</a:t>
            </a:r>
          </a:p>
        </p:txBody>
      </p:sp>
      <p:sp>
        <p:nvSpPr>
          <p:cNvPr id="72" name="TextBox 71"/>
          <p:cNvSpPr txBox="1"/>
          <p:nvPr/>
        </p:nvSpPr>
        <p:spPr>
          <a:xfrm>
            <a:off x="530352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0 hallazgos críticos o altos</a:t>
            </a:r>
          </a:p>
        </p:txBody>
      </p:sp>
      <p:sp>
        <p:nvSpPr>
          <p:cNvPr id="73" name="Rounded Rectangle 72"/>
          <p:cNvSpPr/>
          <p:nvPr/>
        </p:nvSpPr>
        <p:spPr>
          <a:xfrm>
            <a:off x="923544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4" name="TextBox 73"/>
          <p:cNvSpPr txBox="1"/>
          <p:nvPr/>
        </p:nvSpPr>
        <p:spPr>
          <a:xfrm>
            <a:off x="946404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Mantenibilidad</a:t>
            </a:r>
          </a:p>
        </p:txBody>
      </p:sp>
      <p:sp>
        <p:nvSpPr>
          <p:cNvPr id="75" name="TextBox 74"/>
          <p:cNvSpPr txBox="1"/>
          <p:nvPr/>
        </p:nvSpPr>
        <p:spPr>
          <a:xfrm>
            <a:off x="946404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Cobertura 70 % negocio · 80 % global</a:t>
            </a:r>
          </a:p>
        </p:txBody>
      </p:sp>
      <p:sp>
        <p:nvSpPr>
          <p:cNvPr id="76" name="Rounded Rectangle 75"/>
          <p:cNvSpPr/>
          <p:nvPr/>
        </p:nvSpPr>
        <p:spPr>
          <a:xfrm>
            <a:off x="13395959"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13624559"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Portabilidad</a:t>
            </a:r>
          </a:p>
        </p:txBody>
      </p:sp>
      <p:sp>
        <p:nvSpPr>
          <p:cNvPr id="78" name="TextBox 77"/>
          <p:cNvSpPr txBox="1"/>
          <p:nvPr/>
        </p:nvSpPr>
        <p:spPr>
          <a:xfrm>
            <a:off x="13624559" y="7150608"/>
            <a:ext cx="3566160" cy="822960"/>
          </a:xfrm>
          <a:prstGeom prst="rect">
            <a:avLst/>
          </a:prstGeom>
          <a:noFill/>
        </p:spPr>
        <p:txBody>
          <a:bodyPr wrap="square" lIns="0" rIns="0" tIns="0" bIns="0" anchor="t">
            <a:spAutoFit/>
          </a:bodyPr>
          <a:lstStyle/>
          <a:p>
            <a:pPr algn="l"/>
            <a:r>
              <a:rPr sz="1600" b="0">
                <a:solidFill>
                  <a:srgbClr val="3C3C3C"/>
                </a:solidFill>
                <a:latin typeface="Inter"/>
              </a:rPr>
              <a:t>Mismo artefacto de QA a Producción</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p:transition spd="med">
    <p:push dir="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Calidad que bloquea</a:t>
            </a:r>
          </a:p>
        </p:txBody>
      </p:sp>
      <p:sp>
        <p:nvSpPr>
          <p:cNvPr id="12" name="TextBox 11"/>
          <p:cNvSpPr txBox="1"/>
          <p:nvPr/>
        </p:nvSpPr>
        <p:spPr>
          <a:xfrm>
            <a:off x="1435608" y="4800600"/>
            <a:ext cx="7589520" cy="548640"/>
          </a:xfrm>
          <a:prstGeom prst="rect">
            <a:avLst/>
          </a:prstGeom>
          <a:noFill/>
        </p:spPr>
        <p:txBody>
          <a:bodyPr wrap="square" lIns="0" rIns="0" tIns="0" bIns="0" anchor="t">
            <a:spAutoFit/>
          </a:bodyPr>
          <a:lstStyle/>
          <a:p>
            <a:pPr algn="l"/>
            <a:r>
              <a:rPr sz="2800" b="1">
                <a:solidFill>
                  <a:srgbClr val="3C3C3C"/>
                </a:solidFill>
                <a:latin typeface="Inter SemiBold"/>
              </a:rPr>
              <a:t>7 puertas. Sin excepciones.</a:t>
            </a:r>
          </a:p>
        </p:txBody>
      </p:sp>
      <p:sp>
        <p:nvSpPr>
          <p:cNvPr id="13" name="TextBox 12"/>
          <p:cNvSpPr txBox="1"/>
          <p:nvPr/>
        </p:nvSpPr>
        <p:spPr>
          <a:xfrm>
            <a:off x="1435608" y="5394960"/>
            <a:ext cx="7589520" cy="411480"/>
          </a:xfrm>
          <a:prstGeom prst="rect">
            <a:avLst/>
          </a:prstGeom>
          <a:noFill/>
        </p:spPr>
        <p:txBody>
          <a:bodyPr wrap="square" lIns="0" rIns="0" tIns="0" bIns="0" anchor="t">
            <a:spAutoFit/>
          </a:bodyPr>
          <a:lstStyle/>
          <a:p>
            <a:pPr algn="l"/>
            <a:r>
              <a:rPr sz="1800" b="1">
                <a:solidFill>
                  <a:srgbClr val="E8641B"/>
                </a:solidFill>
                <a:latin typeface="Inter SemiBold"/>
              </a:rPr>
              <a:t>Calidad puede vetar una promoción</a:t>
            </a:r>
          </a:p>
        </p:txBody>
      </p:sp>
      <p:sp>
        <p:nvSpPr>
          <p:cNvPr id="14" name="TextBox 13"/>
          <p:cNvSpPr txBox="1"/>
          <p:nvPr/>
        </p:nvSpPr>
        <p:spPr>
          <a:xfrm>
            <a:off x="1435608" y="5943600"/>
            <a:ext cx="7680960" cy="320040"/>
          </a:xfrm>
          <a:prstGeom prst="rect">
            <a:avLst/>
          </a:prstGeom>
          <a:noFill/>
        </p:spPr>
        <p:txBody>
          <a:bodyPr wrap="square" lIns="0" rIns="0" tIns="0" bIns="0" anchor="t">
            <a:spAutoFit/>
          </a:bodyPr>
          <a:lstStyle/>
          <a:p>
            <a:pPr algn="l"/>
            <a:r>
              <a:rPr sz="1500" b="1">
                <a:solidFill>
                  <a:srgbClr val="E8641B"/>
                </a:solidFill>
                <a:latin typeface="Inter SemiBold"/>
              </a:rPr>
              <a:t>ART. 17.3 · 6 CONDICIONES PARA ACEPTAR</a:t>
            </a:r>
          </a:p>
        </p:txBody>
      </p:sp>
      <p:sp>
        <p:nvSpPr>
          <p:cNvPr id="15" name="Oval 14"/>
          <p:cNvSpPr/>
          <p:nvPr/>
        </p:nvSpPr>
        <p:spPr>
          <a:xfrm>
            <a:off x="143560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1</a:t>
            </a:r>
          </a:p>
        </p:txBody>
      </p:sp>
      <p:sp>
        <p:nvSpPr>
          <p:cNvPr id="16" name="TextBox 15"/>
          <p:cNvSpPr txBox="1"/>
          <p:nvPr/>
        </p:nvSpPr>
        <p:spPr>
          <a:xfrm>
            <a:off x="198424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0 incidentes críticos</a:t>
            </a:r>
          </a:p>
        </p:txBody>
      </p:sp>
      <p:sp>
        <p:nvSpPr>
          <p:cNvPr id="17" name="Oval 16"/>
          <p:cNvSpPr/>
          <p:nvPr/>
        </p:nvSpPr>
        <p:spPr>
          <a:xfrm>
            <a:off x="536752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2</a:t>
            </a:r>
          </a:p>
        </p:txBody>
      </p:sp>
      <p:sp>
        <p:nvSpPr>
          <p:cNvPr id="18" name="TextBox 17"/>
          <p:cNvSpPr txBox="1"/>
          <p:nvPr/>
        </p:nvSpPr>
        <p:spPr>
          <a:xfrm>
            <a:off x="591616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4 semanas de volumen real</a:t>
            </a:r>
          </a:p>
        </p:txBody>
      </p:sp>
      <p:sp>
        <p:nvSpPr>
          <p:cNvPr id="19" name="Oval 18"/>
          <p:cNvSpPr/>
          <p:nvPr/>
        </p:nvSpPr>
        <p:spPr>
          <a:xfrm>
            <a:off x="143560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3</a:t>
            </a:r>
          </a:p>
        </p:txBody>
      </p:sp>
      <p:sp>
        <p:nvSpPr>
          <p:cNvPr id="20" name="TextBox 19"/>
          <p:cNvSpPr txBox="1"/>
          <p:nvPr/>
        </p:nvSpPr>
        <p:spPr>
          <a:xfrm>
            <a:off x="198424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caída en despacho</a:t>
            </a:r>
          </a:p>
        </p:txBody>
      </p:sp>
      <p:sp>
        <p:nvSpPr>
          <p:cNvPr id="21" name="Oval 20"/>
          <p:cNvSpPr/>
          <p:nvPr/>
        </p:nvSpPr>
        <p:spPr>
          <a:xfrm>
            <a:off x="536752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4</a:t>
            </a:r>
          </a:p>
        </p:txBody>
      </p:sp>
      <p:sp>
        <p:nvSpPr>
          <p:cNvPr id="22" name="TextBox 21"/>
          <p:cNvSpPr txBox="1"/>
          <p:nvPr/>
        </p:nvSpPr>
        <p:spPr>
          <a:xfrm>
            <a:off x="591616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diferencias sin explicar</a:t>
            </a:r>
          </a:p>
        </p:txBody>
      </p:sp>
      <p:sp>
        <p:nvSpPr>
          <p:cNvPr id="23" name="Oval 22"/>
          <p:cNvSpPr/>
          <p:nvPr/>
        </p:nvSpPr>
        <p:spPr>
          <a:xfrm>
            <a:off x="143560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5</a:t>
            </a:r>
          </a:p>
        </p:txBody>
      </p:sp>
      <p:sp>
        <p:nvSpPr>
          <p:cNvPr id="24" name="TextBox 23"/>
          <p:cNvSpPr txBox="1"/>
          <p:nvPr/>
        </p:nvSpPr>
        <p:spPr>
          <a:xfrm>
            <a:off x="198424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100 % usuarios certificados</a:t>
            </a:r>
          </a:p>
        </p:txBody>
      </p:sp>
      <p:sp>
        <p:nvSpPr>
          <p:cNvPr id="25" name="Oval 24"/>
          <p:cNvSpPr/>
          <p:nvPr/>
        </p:nvSpPr>
        <p:spPr>
          <a:xfrm>
            <a:off x="536752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6</a:t>
            </a:r>
          </a:p>
        </p:txBody>
      </p:sp>
      <p:sp>
        <p:nvSpPr>
          <p:cNvPr id="26" name="TextBox 25"/>
          <p:cNvSpPr txBox="1"/>
          <p:nvPr/>
        </p:nvSpPr>
        <p:spPr>
          <a:xfrm>
            <a:off x="591616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Acta de la Contraparte</a:t>
            </a:r>
          </a:p>
        </p:txBody>
      </p:sp>
      <p:sp>
        <p:nvSpPr>
          <p:cNvPr id="27" name="Rounded Rectangle 26"/>
          <p:cNvSpPr/>
          <p:nvPr/>
        </p:nvSpPr>
        <p:spPr>
          <a:xfrm>
            <a:off x="9509760" y="91440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8" name="Rounded Rectangle 27"/>
          <p:cNvSpPr/>
          <p:nvPr/>
        </p:nvSpPr>
        <p:spPr>
          <a:xfrm>
            <a:off x="9646920" y="10515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G0</a:t>
            </a:r>
          </a:p>
        </p:txBody>
      </p:sp>
      <p:sp>
        <p:nvSpPr>
          <p:cNvPr id="29" name="TextBox 28"/>
          <p:cNvSpPr txBox="1"/>
          <p:nvPr/>
        </p:nvSpPr>
        <p:spPr>
          <a:xfrm>
            <a:off x="10561320" y="98755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Compromiso local</a:t>
            </a:r>
          </a:p>
        </p:txBody>
      </p:sp>
      <p:sp>
        <p:nvSpPr>
          <p:cNvPr id="30" name="TextBox 29"/>
          <p:cNvSpPr txBox="1"/>
          <p:nvPr/>
        </p:nvSpPr>
        <p:spPr>
          <a:xfrm>
            <a:off x="10561320" y="1417320"/>
            <a:ext cx="6675120" cy="384048"/>
          </a:xfrm>
          <a:prstGeom prst="rect">
            <a:avLst/>
          </a:prstGeom>
          <a:noFill/>
        </p:spPr>
        <p:txBody>
          <a:bodyPr wrap="square" lIns="0" rIns="0" tIns="0" bIns="0" anchor="t">
            <a:spAutoFit/>
          </a:bodyPr>
          <a:lstStyle/>
          <a:p>
            <a:pPr algn="l"/>
            <a:r>
              <a:rPr sz="1600" b="0">
                <a:solidFill>
                  <a:srgbClr val="606060"/>
                </a:solidFill>
                <a:latin typeface="Inter"/>
              </a:rPr>
              <a:t>Formato y pruebas del módulo</a:t>
            </a:r>
          </a:p>
        </p:txBody>
      </p:sp>
      <p:sp>
        <p:nvSpPr>
          <p:cNvPr id="31" name="Rounded Rectangle 30"/>
          <p:cNvSpPr/>
          <p:nvPr/>
        </p:nvSpPr>
        <p:spPr>
          <a:xfrm>
            <a:off x="9509760" y="201168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2" name="Rounded Rectangle 31"/>
          <p:cNvSpPr/>
          <p:nvPr/>
        </p:nvSpPr>
        <p:spPr>
          <a:xfrm>
            <a:off x="9646920" y="21488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G1</a:t>
            </a:r>
          </a:p>
        </p:txBody>
      </p:sp>
      <p:sp>
        <p:nvSpPr>
          <p:cNvPr id="33" name="TextBox 32"/>
          <p:cNvSpPr txBox="1"/>
          <p:nvPr/>
        </p:nvSpPr>
        <p:spPr>
          <a:xfrm>
            <a:off x="10561320" y="208483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Solicitud de fusión</a:t>
            </a:r>
          </a:p>
        </p:txBody>
      </p:sp>
      <p:sp>
        <p:nvSpPr>
          <p:cNvPr id="34" name="TextBox 33"/>
          <p:cNvSpPr txBox="1"/>
          <p:nvPr/>
        </p:nvSpPr>
        <p:spPr>
          <a:xfrm>
            <a:off x="10561320" y="2514600"/>
            <a:ext cx="6675120" cy="384048"/>
          </a:xfrm>
          <a:prstGeom prst="rect">
            <a:avLst/>
          </a:prstGeom>
          <a:noFill/>
        </p:spPr>
        <p:txBody>
          <a:bodyPr wrap="square" lIns="0" rIns="0" tIns="0" bIns="0" anchor="t">
            <a:spAutoFit/>
          </a:bodyPr>
          <a:lstStyle/>
          <a:p>
            <a:pPr algn="l"/>
            <a:r>
              <a:rPr sz="1600" b="0">
                <a:solidFill>
                  <a:srgbClr val="606060"/>
                </a:solidFill>
                <a:latin typeface="Inter"/>
              </a:rPr>
              <a:t>Revisión por pares · secretos</a:t>
            </a:r>
          </a:p>
        </p:txBody>
      </p:sp>
      <p:sp>
        <p:nvSpPr>
          <p:cNvPr id="35" name="Rounded Rectangle 34"/>
          <p:cNvSpPr/>
          <p:nvPr/>
        </p:nvSpPr>
        <p:spPr>
          <a:xfrm>
            <a:off x="9509760" y="310896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Rounded Rectangle 35"/>
          <p:cNvSpPr/>
          <p:nvPr/>
        </p:nvSpPr>
        <p:spPr>
          <a:xfrm>
            <a:off x="9646920" y="324612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G2</a:t>
            </a:r>
          </a:p>
        </p:txBody>
      </p:sp>
      <p:sp>
        <p:nvSpPr>
          <p:cNvPr id="37" name="TextBox 36"/>
          <p:cNvSpPr txBox="1"/>
          <p:nvPr/>
        </p:nvSpPr>
        <p:spPr>
          <a:xfrm>
            <a:off x="10561320" y="318211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Integración continua</a:t>
            </a:r>
          </a:p>
        </p:txBody>
      </p:sp>
      <p:sp>
        <p:nvSpPr>
          <p:cNvPr id="38" name="TextBox 37"/>
          <p:cNvSpPr txBox="1"/>
          <p:nvPr/>
        </p:nvSpPr>
        <p:spPr>
          <a:xfrm>
            <a:off x="10561320" y="3611880"/>
            <a:ext cx="6675120" cy="384048"/>
          </a:xfrm>
          <a:prstGeom prst="rect">
            <a:avLst/>
          </a:prstGeom>
          <a:noFill/>
        </p:spPr>
        <p:txBody>
          <a:bodyPr wrap="square" lIns="0" rIns="0" tIns="0" bIns="0" anchor="t">
            <a:spAutoFit/>
          </a:bodyPr>
          <a:lstStyle/>
          <a:p>
            <a:pPr algn="l"/>
            <a:r>
              <a:rPr sz="1500" b="0">
                <a:solidFill>
                  <a:srgbClr val="606060"/>
                </a:solidFill>
                <a:latin typeface="Inter"/>
              </a:rPr>
              <a:t>Cobertura ≥ 70/80 % · complejidad ≤ 10 · duplicación ≤ 3 %</a:t>
            </a:r>
          </a:p>
        </p:txBody>
      </p:sp>
      <p:sp>
        <p:nvSpPr>
          <p:cNvPr id="39" name="Rounded Rectangle 38"/>
          <p:cNvSpPr/>
          <p:nvPr/>
        </p:nvSpPr>
        <p:spPr>
          <a:xfrm>
            <a:off x="9509760" y="420624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0" name="Rounded Rectangle 39"/>
          <p:cNvSpPr/>
          <p:nvPr/>
        </p:nvSpPr>
        <p:spPr>
          <a:xfrm>
            <a:off x="9646920" y="434340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G3</a:t>
            </a:r>
          </a:p>
        </p:txBody>
      </p:sp>
      <p:sp>
        <p:nvSpPr>
          <p:cNvPr id="41" name="TextBox 40"/>
          <p:cNvSpPr txBox="1"/>
          <p:nvPr/>
        </p:nvSpPr>
        <p:spPr>
          <a:xfrm>
            <a:off x="10561320" y="427939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Promoción a QA</a:t>
            </a:r>
          </a:p>
        </p:txBody>
      </p:sp>
      <p:sp>
        <p:nvSpPr>
          <p:cNvPr id="42" name="TextBox 41"/>
          <p:cNvSpPr txBox="1"/>
          <p:nvPr/>
        </p:nvSpPr>
        <p:spPr>
          <a:xfrm>
            <a:off x="10561320" y="4709159"/>
            <a:ext cx="6675120" cy="384048"/>
          </a:xfrm>
          <a:prstGeom prst="rect">
            <a:avLst/>
          </a:prstGeom>
          <a:noFill/>
        </p:spPr>
        <p:txBody>
          <a:bodyPr wrap="square" lIns="0" rIns="0" tIns="0" bIns="0" anchor="t">
            <a:spAutoFit/>
          </a:bodyPr>
          <a:lstStyle/>
          <a:p>
            <a:pPr algn="l"/>
            <a:r>
              <a:rPr sz="1600" b="0">
                <a:solidFill>
                  <a:srgbClr val="606060"/>
                </a:solidFill>
                <a:latin typeface="Inter"/>
              </a:rPr>
              <a:t>Sin vulnerabilidades altas ni regresión de p95</a:t>
            </a:r>
          </a:p>
        </p:txBody>
      </p:sp>
      <p:sp>
        <p:nvSpPr>
          <p:cNvPr id="43" name="Rounded Rectangle 42"/>
          <p:cNvSpPr/>
          <p:nvPr/>
        </p:nvSpPr>
        <p:spPr>
          <a:xfrm>
            <a:off x="9509760" y="530352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4" name="Rounded Rectangle 43"/>
          <p:cNvSpPr/>
          <p:nvPr/>
        </p:nvSpPr>
        <p:spPr>
          <a:xfrm>
            <a:off x="9646920" y="544068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G4</a:t>
            </a:r>
          </a:p>
        </p:txBody>
      </p:sp>
      <p:sp>
        <p:nvSpPr>
          <p:cNvPr id="45" name="TextBox 44"/>
          <p:cNvSpPr txBox="1"/>
          <p:nvPr/>
        </p:nvSpPr>
        <p:spPr>
          <a:xfrm>
            <a:off x="10561320" y="537667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Preproducción</a:t>
            </a:r>
          </a:p>
        </p:txBody>
      </p:sp>
      <p:sp>
        <p:nvSpPr>
          <p:cNvPr id="46" name="TextBox 45"/>
          <p:cNvSpPr txBox="1"/>
          <p:nvPr/>
        </p:nvSpPr>
        <p:spPr>
          <a:xfrm>
            <a:off x="10561320" y="5806440"/>
            <a:ext cx="6675120" cy="384048"/>
          </a:xfrm>
          <a:prstGeom prst="rect">
            <a:avLst/>
          </a:prstGeom>
          <a:noFill/>
        </p:spPr>
        <p:txBody>
          <a:bodyPr wrap="square" lIns="0" rIns="0" tIns="0" bIns="0" anchor="t">
            <a:spAutoFit/>
          </a:bodyPr>
          <a:lstStyle/>
          <a:p>
            <a:pPr algn="l"/>
            <a:r>
              <a:rPr sz="1600" b="0">
                <a:solidFill>
                  <a:srgbClr val="606060"/>
                </a:solidFill>
                <a:latin typeface="Inter"/>
              </a:rPr>
              <a:t>Regresión · DAST · WCAG</a:t>
            </a:r>
          </a:p>
        </p:txBody>
      </p:sp>
      <p:sp>
        <p:nvSpPr>
          <p:cNvPr id="47" name="Rounded Rectangle 46"/>
          <p:cNvSpPr/>
          <p:nvPr/>
        </p:nvSpPr>
        <p:spPr>
          <a:xfrm>
            <a:off x="9509760" y="6400800"/>
            <a:ext cx="7863840" cy="96012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 name="Rounded Rectangle 47"/>
          <p:cNvSpPr/>
          <p:nvPr/>
        </p:nvSpPr>
        <p:spPr>
          <a:xfrm>
            <a:off x="9646920" y="65379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G5</a:t>
            </a:r>
          </a:p>
        </p:txBody>
      </p:sp>
      <p:sp>
        <p:nvSpPr>
          <p:cNvPr id="49" name="TextBox 48"/>
          <p:cNvSpPr txBox="1"/>
          <p:nvPr/>
        </p:nvSpPr>
        <p:spPr>
          <a:xfrm>
            <a:off x="10561320" y="6473952"/>
            <a:ext cx="6675120" cy="411480"/>
          </a:xfrm>
          <a:prstGeom prst="rect">
            <a:avLst/>
          </a:prstGeom>
          <a:noFill/>
        </p:spPr>
        <p:txBody>
          <a:bodyPr wrap="square" lIns="0" rIns="0" tIns="0" bIns="0" anchor="t">
            <a:spAutoFit/>
          </a:bodyPr>
          <a:lstStyle/>
          <a:p>
            <a:pPr algn="l"/>
            <a:r>
              <a:rPr sz="1900" b="1">
                <a:solidFill>
                  <a:srgbClr val="FFFFFF"/>
                </a:solidFill>
                <a:latin typeface="Inter SemiBold"/>
              </a:rPr>
              <a:t>Entrada a Producción</a:t>
            </a:r>
          </a:p>
        </p:txBody>
      </p:sp>
      <p:sp>
        <p:nvSpPr>
          <p:cNvPr id="50" name="TextBox 49"/>
          <p:cNvSpPr txBox="1"/>
          <p:nvPr/>
        </p:nvSpPr>
        <p:spPr>
          <a:xfrm>
            <a:off x="10561320" y="6903720"/>
            <a:ext cx="6675120" cy="384048"/>
          </a:xfrm>
          <a:prstGeom prst="rect">
            <a:avLst/>
          </a:prstGeom>
          <a:noFill/>
        </p:spPr>
        <p:txBody>
          <a:bodyPr wrap="square" lIns="0" rIns="0" tIns="0" bIns="0" anchor="t">
            <a:spAutoFit/>
          </a:bodyPr>
          <a:lstStyle/>
          <a:p>
            <a:pPr algn="l"/>
            <a:r>
              <a:rPr sz="1600" b="0">
                <a:solidFill>
                  <a:srgbClr val="C7C7C7"/>
                </a:solidFill>
                <a:latin typeface="Inter"/>
              </a:rPr>
              <a:t>Pruebas habilitantes · reversión ensayada</a:t>
            </a:r>
          </a:p>
        </p:txBody>
      </p:sp>
      <p:sp>
        <p:nvSpPr>
          <p:cNvPr id="51" name="Rounded Rectangle 50"/>
          <p:cNvSpPr/>
          <p:nvPr/>
        </p:nvSpPr>
        <p:spPr>
          <a:xfrm>
            <a:off x="9509760" y="7498079"/>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Rounded Rectangle 51"/>
          <p:cNvSpPr/>
          <p:nvPr/>
        </p:nvSpPr>
        <p:spPr>
          <a:xfrm>
            <a:off x="9646920" y="76352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G6</a:t>
            </a:r>
          </a:p>
        </p:txBody>
      </p:sp>
      <p:sp>
        <p:nvSpPr>
          <p:cNvPr id="53" name="TextBox 52"/>
          <p:cNvSpPr txBox="1"/>
          <p:nvPr/>
        </p:nvSpPr>
        <p:spPr>
          <a:xfrm>
            <a:off x="10561320" y="7571231"/>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Producción supervisada</a:t>
            </a:r>
          </a:p>
        </p:txBody>
      </p:sp>
      <p:sp>
        <p:nvSpPr>
          <p:cNvPr id="54" name="TextBox 53"/>
          <p:cNvSpPr txBox="1"/>
          <p:nvPr/>
        </p:nvSpPr>
        <p:spPr>
          <a:xfrm>
            <a:off x="10561320" y="8001000"/>
            <a:ext cx="6675120" cy="384048"/>
          </a:xfrm>
          <a:prstGeom prst="rect">
            <a:avLst/>
          </a:prstGeom>
          <a:noFill/>
        </p:spPr>
        <p:txBody>
          <a:bodyPr wrap="square" lIns="0" rIns="0" tIns="0" bIns="0" anchor="t">
            <a:spAutoFit/>
          </a:bodyPr>
          <a:lstStyle/>
          <a:p>
            <a:pPr algn="l"/>
            <a:r>
              <a:rPr sz="1600" b="0">
                <a:solidFill>
                  <a:srgbClr val="606060"/>
                </a:solidFill>
                <a:latin typeface="Inter"/>
              </a:rPr>
              <a:t>Canario · presupuesto de error</a:t>
            </a:r>
          </a:p>
        </p:txBody>
      </p:sp>
      <p:sp>
        <p:nvSpPr>
          <p:cNvPr id="5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Pruebas: del código al terreno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12 tipos de prueba · todas terminan en un número o en una firma</a:t>
            </a:r>
          </a:p>
        </p:txBody>
      </p:sp>
      <p:sp>
        <p:nvSpPr>
          <p:cNvPr id="51" name="Rounded Rectangle 50"/>
          <p:cNvSpPr/>
          <p:nvPr/>
        </p:nvSpPr>
        <p:spPr>
          <a:xfrm>
            <a:off x="914400" y="3246120"/>
            <a:ext cx="3154680" cy="56692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Desarrollo</a:t>
            </a:r>
          </a:p>
        </p:txBody>
      </p:sp>
      <p:sp>
        <p:nvSpPr>
          <p:cNvPr id="52" name="Rounded Rectangle 51"/>
          <p:cNvSpPr/>
          <p:nvPr/>
        </p:nvSpPr>
        <p:spPr>
          <a:xfrm>
            <a:off x="914400"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Unitarias y componente</a:t>
            </a:r>
          </a:p>
        </p:txBody>
      </p:sp>
      <p:sp>
        <p:nvSpPr>
          <p:cNvPr id="53" name="Rounded Rectangle 52"/>
          <p:cNvSpPr/>
          <p:nvPr/>
        </p:nvSpPr>
        <p:spPr>
          <a:xfrm>
            <a:off x="914400"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Contratos de API</a:t>
            </a:r>
          </a:p>
        </p:txBody>
      </p:sp>
      <p:cxnSp>
        <p:nvCxnSpPr>
          <p:cNvPr id="54" name="Connector 53"/>
          <p:cNvCxnSpPr/>
          <p:nvPr/>
        </p:nvCxnSpPr>
        <p:spPr>
          <a:xfrm>
            <a:off x="4069080"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242816" y="3246120"/>
            <a:ext cx="3154680" cy="566928"/>
          </a:xfrm>
          <a:prstGeom prst="roundRect">
            <a:avLst>
              <a:gd name="adj" fmla="val 2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QA</a:t>
            </a:r>
          </a:p>
        </p:txBody>
      </p:sp>
      <p:sp>
        <p:nvSpPr>
          <p:cNvPr id="56" name="Rounded Rectangle 55"/>
          <p:cNvSpPr/>
          <p:nvPr/>
        </p:nvSpPr>
        <p:spPr>
          <a:xfrm>
            <a:off x="4242816"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Integración de 15 flujos</a:t>
            </a:r>
          </a:p>
        </p:txBody>
      </p:sp>
      <p:sp>
        <p:nvSpPr>
          <p:cNvPr id="57" name="Rounded Rectangle 56"/>
          <p:cNvSpPr/>
          <p:nvPr/>
        </p:nvSpPr>
        <p:spPr>
          <a:xfrm>
            <a:off x="4242816"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Sistema y regresión</a:t>
            </a:r>
          </a:p>
        </p:txBody>
      </p:sp>
      <p:sp>
        <p:nvSpPr>
          <p:cNvPr id="58" name="Rounded Rectangle 57"/>
          <p:cNvSpPr/>
          <p:nvPr/>
        </p:nvSpPr>
        <p:spPr>
          <a:xfrm>
            <a:off x="4242816"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DAST y accesibilidad</a:t>
            </a:r>
          </a:p>
        </p:txBody>
      </p:sp>
      <p:cxnSp>
        <p:nvCxnSpPr>
          <p:cNvPr id="59" name="Connector 58"/>
          <p:cNvCxnSpPr/>
          <p:nvPr/>
        </p:nvCxnSpPr>
        <p:spPr>
          <a:xfrm>
            <a:off x="7397496"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571232" y="3246120"/>
            <a:ext cx="3154680" cy="56692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Preproducción</a:t>
            </a:r>
          </a:p>
        </p:txBody>
      </p:sp>
      <p:sp>
        <p:nvSpPr>
          <p:cNvPr id="61" name="Rounded Rectangle 60"/>
          <p:cNvSpPr/>
          <p:nvPr/>
        </p:nvSpPr>
        <p:spPr>
          <a:xfrm>
            <a:off x="7571232"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Aceptación de usuario</a:t>
            </a:r>
          </a:p>
        </p:txBody>
      </p:sp>
      <p:sp>
        <p:nvSpPr>
          <p:cNvPr id="62" name="Rounded Rectangle 61"/>
          <p:cNvSpPr/>
          <p:nvPr/>
        </p:nvSpPr>
        <p:spPr>
          <a:xfrm>
            <a:off x="7571232"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Carga 1,5× y estrés</a:t>
            </a:r>
          </a:p>
        </p:txBody>
      </p:sp>
      <p:sp>
        <p:nvSpPr>
          <p:cNvPr id="63" name="Rounded Rectangle 62"/>
          <p:cNvSpPr/>
          <p:nvPr/>
        </p:nvSpPr>
        <p:spPr>
          <a:xfrm>
            <a:off x="7571232"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Resiliencia: sitios 24 h</a:t>
            </a:r>
          </a:p>
        </p:txBody>
      </p:sp>
      <p:sp>
        <p:nvSpPr>
          <p:cNvPr id="64" name="Rounded Rectangle 63"/>
          <p:cNvSpPr/>
          <p:nvPr/>
        </p:nvSpPr>
        <p:spPr>
          <a:xfrm>
            <a:off x="7571232" y="585215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Migración y despliegue</a:t>
            </a:r>
          </a:p>
        </p:txBody>
      </p:sp>
      <p:sp>
        <p:nvSpPr>
          <p:cNvPr id="65" name="Rounded Rectangle 64"/>
          <p:cNvSpPr/>
          <p:nvPr/>
        </p:nvSpPr>
        <p:spPr>
          <a:xfrm>
            <a:off x="7571232" y="649224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Intrusión por un tercero</a:t>
            </a:r>
          </a:p>
        </p:txBody>
      </p:sp>
      <p:cxnSp>
        <p:nvCxnSpPr>
          <p:cNvPr id="66" name="Connector 65"/>
          <p:cNvCxnSpPr/>
          <p:nvPr/>
        </p:nvCxnSpPr>
        <p:spPr>
          <a:xfrm>
            <a:off x="10725912"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10899648" y="3246120"/>
            <a:ext cx="3154680" cy="566928"/>
          </a:xfrm>
          <a:prstGeom prst="roundRect">
            <a:avLst>
              <a:gd name="adj" fmla="val 2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Terreno</a:t>
            </a:r>
          </a:p>
        </p:txBody>
      </p:sp>
      <p:sp>
        <p:nvSpPr>
          <p:cNvPr id="68" name="Rounded Rectangle 67"/>
          <p:cNvSpPr/>
          <p:nvPr/>
        </p:nvSpPr>
        <p:spPr>
          <a:xfrm>
            <a:off x="10899648"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14 h sin señal</a:t>
            </a:r>
          </a:p>
        </p:txBody>
      </p:sp>
      <p:sp>
        <p:nvSpPr>
          <p:cNvPr id="69" name="Rounded Rectangle 68"/>
          <p:cNvSpPr/>
          <p:nvPr/>
        </p:nvSpPr>
        <p:spPr>
          <a:xfrm>
            <a:off x="10899648"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−22 °C con guantes</a:t>
            </a:r>
          </a:p>
        </p:txBody>
      </p:sp>
      <p:sp>
        <p:nvSpPr>
          <p:cNvPr id="70" name="Rounded Rectangle 69"/>
          <p:cNvSpPr/>
          <p:nvPr/>
        </p:nvSpPr>
        <p:spPr>
          <a:xfrm>
            <a:off x="10899648"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Lluvia · &gt; 34 °C · una mano</a:t>
            </a:r>
          </a:p>
        </p:txBody>
      </p:sp>
      <p:cxnSp>
        <p:nvCxnSpPr>
          <p:cNvPr id="71" name="Connector 70"/>
          <p:cNvCxnSpPr/>
          <p:nvPr/>
        </p:nvCxnSpPr>
        <p:spPr>
          <a:xfrm>
            <a:off x="14054328"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4228064" y="3246120"/>
            <a:ext cx="3154680" cy="566928"/>
          </a:xfrm>
          <a:prstGeom prst="roundRect">
            <a:avLst>
              <a:gd name="adj" fmla="val 2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Producción</a:t>
            </a:r>
          </a:p>
        </p:txBody>
      </p:sp>
      <p:sp>
        <p:nvSpPr>
          <p:cNvPr id="73" name="Rounded Rectangle 72"/>
          <p:cNvSpPr/>
          <p:nvPr/>
        </p:nvSpPr>
        <p:spPr>
          <a:xfrm>
            <a:off x="14228064"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Recuperación: RTO ≤ 4 h</a:t>
            </a:r>
          </a:p>
        </p:txBody>
      </p:sp>
      <p:sp>
        <p:nvSpPr>
          <p:cNvPr id="74" name="Rounded Rectangle 73"/>
          <p:cNvSpPr/>
          <p:nvPr/>
        </p:nvSpPr>
        <p:spPr>
          <a:xfrm>
            <a:off x="14228064"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Marcha blanca: indicadores diarios</a:t>
            </a:r>
          </a:p>
        </p:txBody>
      </p:sp>
      <p:sp>
        <p:nvSpPr>
          <p:cNvPr id="75" name="Rounded Rectangle 74"/>
          <p:cNvSpPr/>
          <p:nvPr/>
        </p:nvSpPr>
        <p:spPr>
          <a:xfrm>
            <a:off x="91440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1.316 casos</a:t>
            </a:r>
          </a:p>
          <a:p>
            <a:pPr algn="l"/>
            <a:r>
              <a:rPr sz="1500" b="0">
                <a:solidFill>
                  <a:srgbClr val="3C3C3C"/>
                </a:solidFill>
                <a:latin typeface="Inter"/>
              </a:rPr>
              <a:t>80 % automatizados</a:t>
            </a:r>
          </a:p>
        </p:txBody>
      </p:sp>
      <p:sp>
        <p:nvSpPr>
          <p:cNvPr id="76" name="Rounded Rectangle 75"/>
          <p:cNvSpPr/>
          <p:nvPr/>
        </p:nvSpPr>
        <p:spPr>
          <a:xfrm>
            <a:off x="507492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21,99 TPS</a:t>
            </a:r>
          </a:p>
          <a:p>
            <a:pPr algn="l"/>
            <a:r>
              <a:rPr sz="1500" b="0">
                <a:solidFill>
                  <a:srgbClr val="3C3C3C"/>
                </a:solidFill>
                <a:latin typeface="Inter"/>
              </a:rPr>
              <a:t>carga = 1,5 × peak de septiembre</a:t>
            </a:r>
          </a:p>
        </p:txBody>
      </p:sp>
      <p:sp>
        <p:nvSpPr>
          <p:cNvPr id="77" name="Rounded Rectangle 76"/>
          <p:cNvSpPr/>
          <p:nvPr/>
        </p:nvSpPr>
        <p:spPr>
          <a:xfrm>
            <a:off x="923544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4,4 h</a:t>
            </a:r>
          </a:p>
          <a:p>
            <a:pPr algn="l"/>
            <a:r>
              <a:rPr sz="1500" b="0">
                <a:solidFill>
                  <a:srgbClr val="3C3C3C"/>
                </a:solidFill>
                <a:latin typeface="Inter"/>
              </a:rPr>
              <a:t>regresión completa, en una noche</a:t>
            </a:r>
          </a:p>
        </p:txBody>
      </p:sp>
      <p:sp>
        <p:nvSpPr>
          <p:cNvPr id="78" name="Rounded Rectangle 77"/>
          <p:cNvSpPr/>
          <p:nvPr/>
        </p:nvSpPr>
        <p:spPr>
          <a:xfrm>
            <a:off x="13395959"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0 datos reales</a:t>
            </a:r>
          </a:p>
          <a:p>
            <a:pPr algn="l"/>
            <a:r>
              <a:rPr sz="1500" b="0">
                <a:solidFill>
                  <a:srgbClr val="3C3C3C"/>
                </a:solidFill>
                <a:latin typeface="Inter"/>
              </a:rPr>
              <a:t>en pruebas sin anonimizar</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p:transition spd="med">
    <p:push dir="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Trazabilidad y mejora</a:t>
            </a:r>
          </a:p>
        </p:txBody>
      </p:sp>
      <p:sp>
        <p:nvSpPr>
          <p:cNvPr id="12" name="TextBox 11"/>
          <p:cNvSpPr txBox="1"/>
          <p:nvPr/>
        </p:nvSpPr>
        <p:spPr>
          <a:xfrm>
            <a:off x="9418320" y="457200"/>
            <a:ext cx="8138160" cy="320040"/>
          </a:xfrm>
          <a:prstGeom prst="rect">
            <a:avLst/>
          </a:prstGeom>
          <a:noFill/>
        </p:spPr>
        <p:txBody>
          <a:bodyPr wrap="square" lIns="0" rIns="0" tIns="0" bIns="0" anchor="t">
            <a:spAutoFit/>
          </a:bodyPr>
          <a:lstStyle/>
          <a:p>
            <a:pPr algn="l"/>
            <a:r>
              <a:rPr sz="1400" b="1">
                <a:solidFill>
                  <a:srgbClr val="E8641B"/>
                </a:solidFill>
                <a:latin typeface="Inter SemiBold"/>
              </a:rPr>
              <a:t>DE EXTREMO A EXTREMO · EJEMPLO: RETIRO EN &lt; 2 H</a:t>
            </a:r>
          </a:p>
        </p:txBody>
      </p:sp>
      <p:sp>
        <p:nvSpPr>
          <p:cNvPr id="13" name="Rounded Rectangle 12"/>
          <p:cNvSpPr/>
          <p:nvPr/>
        </p:nvSpPr>
        <p:spPr>
          <a:xfrm>
            <a:off x="9418320" y="86868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Origen</a:t>
            </a:r>
          </a:p>
        </p:txBody>
      </p:sp>
      <p:sp>
        <p:nvSpPr>
          <p:cNvPr id="14" name="Rounded Rectangle 13"/>
          <p:cNvSpPr/>
          <p:nvPr/>
        </p:nvSpPr>
        <p:spPr>
          <a:xfrm>
            <a:off x="11932920" y="86868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Retiro sanitario en &lt; 2 h</a:t>
            </a:r>
          </a:p>
        </p:txBody>
      </p:sp>
      <p:cxnSp>
        <p:nvCxnSpPr>
          <p:cNvPr id="15" name="Connector 14"/>
          <p:cNvCxnSpPr/>
          <p:nvPr/>
        </p:nvCxnSpPr>
        <p:spPr>
          <a:xfrm>
            <a:off x="10607040" y="161848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418320" y="185623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Requisito</a:t>
            </a:r>
          </a:p>
        </p:txBody>
      </p:sp>
      <p:sp>
        <p:nvSpPr>
          <p:cNvPr id="17" name="Rounded Rectangle 16"/>
          <p:cNvSpPr/>
          <p:nvPr/>
        </p:nvSpPr>
        <p:spPr>
          <a:xfrm>
            <a:off x="11932920" y="185623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RF-09.01 trazabilidad</a:t>
            </a:r>
          </a:p>
        </p:txBody>
      </p:sp>
      <p:cxnSp>
        <p:nvCxnSpPr>
          <p:cNvPr id="18" name="Connector 17"/>
          <p:cNvCxnSpPr/>
          <p:nvPr/>
        </p:nvCxnSpPr>
        <p:spPr>
          <a:xfrm>
            <a:off x="10607040" y="260604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18320" y="2843784"/>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Componente</a:t>
            </a:r>
          </a:p>
        </p:txBody>
      </p:sp>
      <p:sp>
        <p:nvSpPr>
          <p:cNvPr id="20" name="Rounded Rectangle 19"/>
          <p:cNvSpPr/>
          <p:nvPr/>
        </p:nvSpPr>
        <p:spPr>
          <a:xfrm>
            <a:off x="11932920" y="284378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M9 Calidad y trazabilidad</a:t>
            </a:r>
          </a:p>
        </p:txBody>
      </p:sp>
      <p:cxnSp>
        <p:nvCxnSpPr>
          <p:cNvPr id="21" name="Connector 20"/>
          <p:cNvCxnSpPr/>
          <p:nvPr/>
        </p:nvCxnSpPr>
        <p:spPr>
          <a:xfrm>
            <a:off x="10607040" y="3593592"/>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0" y="3831336"/>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Paquete EDT</a:t>
            </a:r>
          </a:p>
        </p:txBody>
      </p:sp>
      <p:sp>
        <p:nvSpPr>
          <p:cNvPr id="23" name="Rounded Rectangle 22"/>
          <p:cNvSpPr/>
          <p:nvPr/>
        </p:nvSpPr>
        <p:spPr>
          <a:xfrm>
            <a:off x="11932920" y="3831336"/>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3.4.4 Cadena de frío y retiro</a:t>
            </a:r>
          </a:p>
        </p:txBody>
      </p:sp>
      <p:cxnSp>
        <p:nvCxnSpPr>
          <p:cNvPr id="24" name="Connector 23"/>
          <p:cNvCxnSpPr/>
          <p:nvPr/>
        </p:nvCxnSpPr>
        <p:spPr>
          <a:xfrm>
            <a:off x="10607040" y="4581144"/>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18320" y="4818888"/>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Prueba</a:t>
            </a:r>
          </a:p>
        </p:txBody>
      </p:sp>
      <p:sp>
        <p:nvSpPr>
          <p:cNvPr id="26" name="Rounded Rectangle 25"/>
          <p:cNvSpPr/>
          <p:nvPr/>
        </p:nvSpPr>
        <p:spPr>
          <a:xfrm>
            <a:off x="11932920" y="4818888"/>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Simulacro de retiro</a:t>
            </a:r>
          </a:p>
        </p:txBody>
      </p:sp>
      <p:cxnSp>
        <p:nvCxnSpPr>
          <p:cNvPr id="27" name="Connector 26"/>
          <p:cNvCxnSpPr/>
          <p:nvPr/>
        </p:nvCxnSpPr>
        <p:spPr>
          <a:xfrm>
            <a:off x="10607040" y="5568696"/>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418320" y="580644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Código</a:t>
            </a:r>
          </a:p>
        </p:txBody>
      </p:sp>
      <p:sp>
        <p:nvSpPr>
          <p:cNvPr id="29" name="Rounded Rectangle 28"/>
          <p:cNvSpPr/>
          <p:nvPr/>
        </p:nvSpPr>
        <p:spPr>
          <a:xfrm>
            <a:off x="11932920" y="580644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Fusión con el ID del requisito</a:t>
            </a:r>
          </a:p>
        </p:txBody>
      </p:sp>
      <p:cxnSp>
        <p:nvCxnSpPr>
          <p:cNvPr id="30" name="Connector 29"/>
          <p:cNvCxnSpPr/>
          <p:nvPr/>
        </p:nvCxnSpPr>
        <p:spPr>
          <a:xfrm>
            <a:off x="10607040" y="655624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18320" y="679399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Despliegue</a:t>
            </a:r>
          </a:p>
        </p:txBody>
      </p:sp>
      <p:sp>
        <p:nvSpPr>
          <p:cNvPr id="32" name="Rounded Rectangle 31"/>
          <p:cNvSpPr/>
          <p:nvPr/>
        </p:nvSpPr>
        <p:spPr>
          <a:xfrm>
            <a:off x="11932920" y="679399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Digest de la imagen firmada</a:t>
            </a:r>
          </a:p>
        </p:txBody>
      </p:sp>
      <p:cxnSp>
        <p:nvCxnSpPr>
          <p:cNvPr id="33" name="Connector 32"/>
          <p:cNvCxnSpPr/>
          <p:nvPr/>
        </p:nvCxnSpPr>
        <p:spPr>
          <a:xfrm>
            <a:off x="10607040" y="754380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418320" y="7781544"/>
            <a:ext cx="2377440" cy="74980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Aceptación</a:t>
            </a:r>
          </a:p>
        </p:txBody>
      </p:sp>
      <p:sp>
        <p:nvSpPr>
          <p:cNvPr id="35" name="Rounded Rectangle 34"/>
          <p:cNvSpPr/>
          <p:nvPr/>
        </p:nvSpPr>
        <p:spPr>
          <a:xfrm>
            <a:off x="11932920" y="778154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Acta del H7</a:t>
            </a:r>
          </a:p>
        </p:txBody>
      </p:sp>
      <p:sp>
        <p:nvSpPr>
          <p:cNvPr id="36" name="TextBox 35"/>
          <p:cNvSpPr txBox="1"/>
          <p:nvPr/>
        </p:nvSpPr>
        <p:spPr>
          <a:xfrm>
            <a:off x="1435608" y="457200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MEJORA CONTINUA · PDCA</a:t>
            </a:r>
          </a:p>
        </p:txBody>
      </p:sp>
      <p:sp>
        <p:nvSpPr>
          <p:cNvPr id="37" name="Rounded Rectangle 36"/>
          <p:cNvSpPr/>
          <p:nvPr/>
        </p:nvSpPr>
        <p:spPr>
          <a:xfrm>
            <a:off x="1435608" y="4937760"/>
            <a:ext cx="2011680" cy="960120"/>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Planificar</a:t>
            </a:r>
          </a:p>
          <a:p>
            <a:pPr algn="ctr"/>
            <a:r>
              <a:rPr sz="1400" b="0">
                <a:solidFill>
                  <a:srgbClr val="FFFFFF"/>
                </a:solidFill>
                <a:latin typeface="Inter"/>
              </a:rPr>
              <a:t>causa raíz y dueño</a:t>
            </a:r>
          </a:p>
        </p:txBody>
      </p:sp>
      <p:sp>
        <p:nvSpPr>
          <p:cNvPr id="38" name="Rounded Rectangle 37"/>
          <p:cNvSpPr/>
          <p:nvPr/>
        </p:nvSpPr>
        <p:spPr>
          <a:xfrm>
            <a:off x="3584448" y="493776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Hacer</a:t>
            </a:r>
          </a:p>
          <a:p>
            <a:pPr algn="ctr"/>
            <a:r>
              <a:rPr sz="1400" b="0">
                <a:solidFill>
                  <a:srgbClr val="FFFFFF"/>
                </a:solidFill>
                <a:latin typeface="Inter"/>
              </a:rPr>
              <a:t>corregir proceso</a:t>
            </a:r>
          </a:p>
        </p:txBody>
      </p:sp>
      <p:sp>
        <p:nvSpPr>
          <p:cNvPr id="39" name="Rounded Rectangle 38"/>
          <p:cNvSpPr/>
          <p:nvPr/>
        </p:nvSpPr>
        <p:spPr>
          <a:xfrm>
            <a:off x="1435608" y="603504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Actuar</a:t>
            </a:r>
          </a:p>
          <a:p>
            <a:pPr algn="ctr"/>
            <a:r>
              <a:rPr sz="1400" b="0">
                <a:solidFill>
                  <a:srgbClr val="FFFFFF"/>
                </a:solidFill>
                <a:latin typeface="Inter"/>
              </a:rPr>
              <a:t>cerrar o escalar</a:t>
            </a:r>
          </a:p>
        </p:txBody>
      </p:sp>
      <p:sp>
        <p:nvSpPr>
          <p:cNvPr id="40" name="Rounded Rectangle 39"/>
          <p:cNvSpPr/>
          <p:nvPr/>
        </p:nvSpPr>
        <p:spPr>
          <a:xfrm>
            <a:off x="3584448" y="6035040"/>
            <a:ext cx="2011680" cy="96012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Verificar</a:t>
            </a:r>
          </a:p>
          <a:p>
            <a:pPr algn="ctr"/>
            <a:r>
              <a:rPr sz="1400" b="0">
                <a:solidFill>
                  <a:srgbClr val="FFFFFF"/>
                </a:solidFill>
                <a:latin typeface="Inter"/>
              </a:rPr>
              <a:t>mismo criterio</a:t>
            </a:r>
          </a:p>
        </p:txBody>
      </p:sp>
      <p:sp>
        <p:nvSpPr>
          <p:cNvPr id="41" name="TextBox 40"/>
          <p:cNvSpPr txBox="1"/>
          <p:nvPr/>
        </p:nvSpPr>
        <p:spPr>
          <a:xfrm>
            <a:off x="1435608" y="7086600"/>
            <a:ext cx="4206240" cy="731520"/>
          </a:xfrm>
          <a:prstGeom prst="rect">
            <a:avLst/>
          </a:prstGeom>
          <a:noFill/>
        </p:spPr>
        <p:txBody>
          <a:bodyPr wrap="square" lIns="0" rIns="0" tIns="0" bIns="0" anchor="t">
            <a:spAutoFit/>
          </a:bodyPr>
          <a:lstStyle/>
          <a:p>
            <a:pPr algn="l"/>
            <a:r>
              <a:rPr sz="1600" b="0">
                <a:solidFill>
                  <a:srgbClr val="606060"/>
                </a:solidFill>
                <a:latin typeface="Inter"/>
              </a:rPr>
              <a:t>Diagramas de control · Pareto · causa raíz</a:t>
            </a:r>
          </a:p>
        </p:txBody>
      </p:sp>
      <p:sp>
        <p:nvSpPr>
          <p:cNvPr id="42" name="TextBox 41"/>
          <p:cNvSpPr txBox="1"/>
          <p:nvPr/>
        </p:nvSpPr>
        <p:spPr>
          <a:xfrm>
            <a:off x="5943600" y="4572000"/>
            <a:ext cx="3108960" cy="320040"/>
          </a:xfrm>
          <a:prstGeom prst="rect">
            <a:avLst/>
          </a:prstGeom>
          <a:noFill/>
        </p:spPr>
        <p:txBody>
          <a:bodyPr wrap="square" lIns="0" rIns="0" tIns="0" bIns="0" anchor="t">
            <a:spAutoFit/>
          </a:bodyPr>
          <a:lstStyle/>
          <a:p>
            <a:pPr algn="l"/>
            <a:r>
              <a:rPr sz="1400" b="1">
                <a:solidFill>
                  <a:srgbClr val="E8641B"/>
                </a:solidFill>
                <a:latin typeface="Inter SemiBold"/>
              </a:rPr>
              <a:t>COSTO DE LA CALIDAD</a:t>
            </a:r>
          </a:p>
        </p:txBody>
      </p:sp>
      <p:sp>
        <p:nvSpPr>
          <p:cNvPr id="43" name="TextBox 42"/>
          <p:cNvSpPr txBox="1"/>
          <p:nvPr/>
        </p:nvSpPr>
        <p:spPr>
          <a:xfrm>
            <a:off x="5943600" y="4937760"/>
            <a:ext cx="3108960" cy="548640"/>
          </a:xfrm>
          <a:prstGeom prst="rect">
            <a:avLst/>
          </a:prstGeom>
          <a:noFill/>
        </p:spPr>
        <p:txBody>
          <a:bodyPr wrap="square" lIns="0" rIns="0" tIns="0" bIns="0" anchor="t">
            <a:spAutoFit/>
          </a:bodyPr>
          <a:lstStyle/>
          <a:p>
            <a:pPr algn="l"/>
            <a:r>
              <a:rPr sz="3000" b="1">
                <a:solidFill>
                  <a:srgbClr val="E8641B"/>
                </a:solidFill>
                <a:latin typeface="Inter SemiBold"/>
              </a:rPr>
              <a:t>11.136 HH</a:t>
            </a:r>
          </a:p>
        </p:txBody>
      </p:sp>
      <p:sp>
        <p:nvSpPr>
          <p:cNvPr id="44" name="TextBox 43"/>
          <p:cNvSpPr txBox="1"/>
          <p:nvPr/>
        </p:nvSpPr>
        <p:spPr>
          <a:xfrm>
            <a:off x="5943600" y="5532120"/>
            <a:ext cx="3108960" cy="365760"/>
          </a:xfrm>
          <a:prstGeom prst="rect">
            <a:avLst/>
          </a:prstGeom>
          <a:noFill/>
        </p:spPr>
        <p:txBody>
          <a:bodyPr wrap="square" lIns="0" rIns="0" tIns="0" bIns="0" anchor="t">
            <a:spAutoFit/>
          </a:bodyPr>
          <a:lstStyle/>
          <a:p>
            <a:pPr algn="l"/>
            <a:r>
              <a:rPr sz="1600" b="0">
                <a:solidFill>
                  <a:srgbClr val="606060"/>
                </a:solidFill>
                <a:latin typeface="Inter"/>
              </a:rPr>
              <a:t>5,1 % del total</a:t>
            </a:r>
          </a:p>
        </p:txBody>
      </p:sp>
      <p:sp>
        <p:nvSpPr>
          <p:cNvPr id="45" name="Rectangle 44"/>
          <p:cNvSpPr/>
          <p:nvPr/>
        </p:nvSpPr>
        <p:spPr>
          <a:xfrm>
            <a:off x="5943600" y="6035040"/>
            <a:ext cx="1108984" cy="45720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6" name="Rectangle 45"/>
          <p:cNvSpPr/>
          <p:nvPr/>
        </p:nvSpPr>
        <p:spPr>
          <a:xfrm>
            <a:off x="7052584" y="6035040"/>
            <a:ext cx="1817095" cy="4572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7" name="TextBox 46"/>
          <p:cNvSpPr txBox="1"/>
          <p:nvPr/>
        </p:nvSpPr>
        <p:spPr>
          <a:xfrm>
            <a:off x="5943600" y="6583680"/>
            <a:ext cx="3108960" cy="365760"/>
          </a:xfrm>
          <a:prstGeom prst="rect">
            <a:avLst/>
          </a:prstGeom>
          <a:noFill/>
        </p:spPr>
        <p:txBody>
          <a:bodyPr wrap="square" lIns="0" rIns="0" tIns="0" bIns="0" anchor="t">
            <a:spAutoFit/>
          </a:bodyPr>
          <a:lstStyle/>
          <a:p>
            <a:pPr algn="l"/>
            <a:r>
              <a:rPr sz="1500" b="0">
                <a:solidFill>
                  <a:srgbClr val="F29A5E"/>
                </a:solidFill>
                <a:latin typeface="Inter"/>
              </a:rPr>
              <a:t>■ </a:t>
            </a:r>
            <a:r>
              <a:rPr sz="1500" b="0">
                <a:solidFill>
                  <a:srgbClr val="3C3C3C"/>
                </a:solidFill>
                <a:latin typeface="Inter"/>
              </a:rPr>
              <a:t>Prevención 37,9 %</a:t>
            </a:r>
          </a:p>
        </p:txBody>
      </p:sp>
      <p:sp>
        <p:nvSpPr>
          <p:cNvPr id="48" name="TextBox 47"/>
          <p:cNvSpPr txBox="1"/>
          <p:nvPr/>
        </p:nvSpPr>
        <p:spPr>
          <a:xfrm>
            <a:off x="5943600" y="6949440"/>
            <a:ext cx="3108960" cy="365760"/>
          </a:xfrm>
          <a:prstGeom prst="rect">
            <a:avLst/>
          </a:prstGeom>
          <a:noFill/>
        </p:spPr>
        <p:txBody>
          <a:bodyPr wrap="square" lIns="0" rIns="0" tIns="0" bIns="0" anchor="t">
            <a:spAutoFit/>
          </a:bodyPr>
          <a:lstStyle/>
          <a:p>
            <a:pPr algn="l"/>
            <a:r>
              <a:rPr sz="1500" b="0">
                <a:solidFill>
                  <a:srgbClr val="111111"/>
                </a:solidFill>
                <a:latin typeface="Inter"/>
              </a:rPr>
              <a:t>■ </a:t>
            </a:r>
            <a:r>
              <a:rPr sz="1500" b="0">
                <a:solidFill>
                  <a:srgbClr val="3C3C3C"/>
                </a:solidFill>
                <a:latin typeface="Inter"/>
              </a:rPr>
              <a:t>Evaluación 62,1 %</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p:transition spd="med">
    <p:zoom/>
  </p:transition>
</p:sld>
</file>

<file path=ppt/theme/theme1.xml><?xml version="1.0" encoding="utf-8"?>
<a:theme xmlns:a="http://schemas.openxmlformats.org/drawingml/2006/main" name="Office Theme">
  <a:themeElements>
    <a:clrScheme name="LafroX">
      <a:dk1>
        <a:srgbClr val="111111"/>
      </a:dk1>
      <a:lt1>
        <a:sysClr val="window" lastClr="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LafroX">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5380</Words>
  <Application>Microsoft Office PowerPoint</Application>
  <PresentationFormat>Personalizado</PresentationFormat>
  <Paragraphs>1121</Paragraphs>
  <Slides>35</Slides>
  <Notes>35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Inter Light</vt:lpstr>
      <vt:lpstr>Inter</vt:lpstr>
      <vt:lpstr>Inter SemiBold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LafroX - Plantilla de Presentación</dc:title>
  <cp:lastModifiedBy>Alex Aravena</cp:lastModifiedBy>
  <cp:revision>5</cp:revision>
  <dcterms:created xsi:type="dcterms:W3CDTF">2006-08-16T00:00:00Z</dcterms:created>
  <dcterms:modified xsi:type="dcterms:W3CDTF">2026-10-19T23:44:38Z</dcterms:modified>
  <dc:identifier>DAHYeykrAKU</dc:identifier>
</cp:coreProperties>
</file>