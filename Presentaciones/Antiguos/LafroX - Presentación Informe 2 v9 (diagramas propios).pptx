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dia/v7img1.svg" ContentType="image/svg+xml"/>
  <Override PartName="/ppt/media/v7img10.svg" ContentType="image/svg+xml"/>
  <Override PartName="/ppt/media/v7img11.svg" ContentType="image/svg+xml"/>
  <Override PartName="/ppt/media/v7img12.svg" ContentType="image/svg+xml"/>
  <Override PartName="/ppt/media/v7img13.svg" ContentType="image/svg+xml"/>
  <Override PartName="/ppt/media/v7img14.svg" ContentType="image/svg+xml"/>
  <Override PartName="/ppt/media/v7img15.svg" ContentType="image/svg+xml"/>
  <Override PartName="/ppt/media/v7img16.svg" ContentType="image/svg+xml"/>
  <Override PartName="/ppt/media/v7img17.svg" ContentType="image/svg+xml"/>
  <Override PartName="/ppt/media/v7img18.svg" ContentType="image/svg+xml"/>
  <Override PartName="/ppt/media/v7img19.svg" ContentType="image/svg+xml"/>
  <Override PartName="/ppt/media/v7img2.svg" ContentType="image/svg+xml"/>
  <Override PartName="/ppt/media/v7img3.svg" ContentType="image/svg+xml"/>
  <Override PartName="/ppt/media/v7img4.svg" ContentType="image/svg+xml"/>
  <Override PartName="/ppt/media/v7img5.svg" ContentType="image/svg+xml"/>
  <Override PartName="/ppt/media/v7img6.svg" ContentType="image/svg+xml"/>
  <Override PartName="/ppt/media/v7img7.svg" ContentType="image/svg+xml"/>
  <Override PartName="/ppt/media/v7img8.svg" ContentType="image/svg+xml"/>
  <Override PartName="/ppt/media/v7img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1" r:id="rId44"/>
    <p:sldId id="290" r:id="rId43"/>
    <p:sldId id="303" r:id="rId26"/>
    <p:sldId id="304" r:id="rId69"/>
    <p:sldId id="305" r:id="rId70"/>
    <p:sldId id="306" r:id="rId71"/>
    <p:sldId id="307" r:id="rId72"/>
    <p:sldId id="308" r:id="rId73"/>
    <p:sldId id="309" r:id="rId74"/>
    <p:sldId id="292" r:id="rId45"/>
    <p:sldId id="293" r:id="rId46"/>
    <p:sldId id="294" r:id="rId47"/>
    <p:sldId id="295" r:id="rId48"/>
    <p:sldId id="296" r:id="rId49"/>
    <p:sldId id="297" r:id="rId50"/>
    <p:sldId id="298" r:id="rId51"/>
    <p:sldId id="299" r:id="rId52"/>
    <p:sldId id="300" r:id="rId53"/>
    <p:sldId id="301" r:id="rId54"/>
    <p:sldId id="302" r:id="rId55"/>
  </p:sldIdLst>
  <p:sldSz cy="10287000" cx="18288000"/>
  <p:notesSz cx="6858000" cy="9144000"/>
  <p:embeddedFontLst>
    <p:embeddedFont>
      <p:font typeface="Inter SemiBold"/>
      <p:regular r:id="rId56"/>
      <p:bold r:id="rId57"/>
      <p:italic r:id="rId58"/>
      <p:boldItalic r:id="rId59"/>
    </p:embeddedFont>
    <p:embeddedFont>
      <p:font typeface="Inter Light"/>
      <p:regular r:id="rId60"/>
      <p:bold r:id="rId61"/>
      <p:italic r:id="rId62"/>
      <p:boldItalic r:id="rId63"/>
    </p:embeddedFont>
    <p:embeddedFont>
      <p:font typeface="Int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Mn/eJYygyYAIOBg2whbyUSml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C758-D4A7-4D3F-9BCE-32F5856BC382}">
  <a:tblStyle styleId="{C4A5C758-D4A7-4D3F-9BCE-32F5856BC3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36.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5.xml"/><Relationship Id="rId44" Type="http://schemas.openxmlformats.org/officeDocument/2006/relationships/slide" Target="slides/slide34.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font" Target="fonts/InterSemiBold-regular.fntdata"/><Relationship Id="rId57" Type="http://schemas.openxmlformats.org/officeDocument/2006/relationships/font" Target="fonts/InterSemiBold-bold.fntdata"/><Relationship Id="rId58" Type="http://schemas.openxmlformats.org/officeDocument/2006/relationships/font" Target="fonts/InterSemiBold-italic.fntdata"/><Relationship Id="rId59" Type="http://schemas.openxmlformats.org/officeDocument/2006/relationships/font" Target="fonts/InterSemiBold-boldItalic.fntdata"/><Relationship Id="rId60" Type="http://schemas.openxmlformats.org/officeDocument/2006/relationships/font" Target="fonts/InterLight-regular.fntdata"/><Relationship Id="rId61" Type="http://schemas.openxmlformats.org/officeDocument/2006/relationships/font" Target="fonts/InterLight-bold.fntdata"/><Relationship Id="rId62" Type="http://schemas.openxmlformats.org/officeDocument/2006/relationships/font" Target="fonts/InterLight-italic.fntdata"/><Relationship Id="rId63" Type="http://schemas.openxmlformats.org/officeDocument/2006/relationships/font" Target="fonts/InterLight-boldItalic.fntdata"/><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customschemas.google.com/relationships/presentationmetadata" Target="metadata"/><Relationship Id="rId69" Type="http://schemas.openxmlformats.org/officeDocument/2006/relationships/slide" Target="slides/slide37.xml"/><Relationship Id="rId70" Type="http://schemas.openxmlformats.org/officeDocument/2006/relationships/slide" Target="slides/slide38.xml"/><Relationship Id="rId71" Type="http://schemas.openxmlformats.org/officeDocument/2006/relationships/slide" Target="slides/slide39.xml"/><Relationship Id="rId72" Type="http://schemas.openxmlformats.org/officeDocument/2006/relationships/slide" Target="slides/slide40.xml"/><Relationship Id="rId73" Type="http://schemas.openxmlformats.org/officeDocument/2006/relationships/slide" Target="slides/slide41.xml"/><Relationship Id="rId74"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c7cc306779174be_1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hc7cc306779174be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c7cc306779174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hc7cc306779174be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c7cc306779174be_1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c7cc306779174be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c7cc306779174be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c7cc306779174be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c7cc306779174be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c7cc306779174be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c7cc306779174be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c7cc306779174be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c7cc306779174be_1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c7cc306779174be_1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c7cc306779174be_1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c7cc306779174be_1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c7cc306779174be_1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hc7cc306779174be_1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c7cc306779174be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hc7cc306779174be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hc7cc306779174b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hc7cc306779174b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c7cc306779174be_8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hc7cc306779174be_8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c7cc306779174be_8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hc7cc306779174be_8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hc7cc306779174be_8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hc7cc306779174be_8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c7cc306779174be_8_2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3" name="Google Shape;1003;hc7cc306779174be_8_2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c7cc306779174be_8_3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hc7cc306779174be_8_3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Transición: plan de implantación y las dos marchas blancas con su paso a producción (H7 mes 16 y H12 mes 21). (T-14 §7.2)</a:t>
            </a:r>
          </a:p>
        </p:txBody>
      </p:sp>
      <p:sp>
        <p:nvSpPr>
          <p:cNvPr id="1083" name="Google Shape;1083;hc7cc306779174be_8_3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c7cc306779174be_8_4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hc7cc306779174be_8_4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hc7cc306779174be_8_5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hc7cc306779174be_8_5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hc7cc306779174be_8_5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hc7cc306779174be_8_5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c7cc306779174be_8_6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hc7cc306779174be_8_6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hc7cc306779174be_8_7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3" name="Google Shape;1443;hc7cc306779174be_8_7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Cierre: cierre de la implementación y salida ordenada al término del contrato, con el plan de reversibilidad (meses 54–56). (T-14 §7.2)</a:t>
            </a:r>
          </a:p>
        </p:txBody>
      </p:sp>
      <p:sp>
        <p:nvSpPr>
          <p:cNvPr id="1444" name="Google Shape;1444;hc7cc306779174be_8_7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1" name="Google Shape;15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hc7cc306779174b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hc7cc306779174be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hc7cc306779174be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hc7cc306779174be_6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hc7cc306779174be_6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hc7cc306779174be_6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c7cc306779174be_4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hc7cc306779174be_4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hc7cc306779174be_4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c7cc306779174be_4_9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hc7cc306779174be_4_10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9" name="Google Shape;20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0" name="Google Shape;21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6" name="Google Shape;215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c7cc306779174be_8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c7cc306779174be_8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c7cc306779174be_8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c7cc306779174be_8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c7cc306779174be_8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c7cc306779174be_8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c7cc306779174be_8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c7cc306779174be_8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c7cc306779174be_8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c7cc306779174be_8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c7cc306779174be_8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c7cc306779174be_8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c7cc306779174be_8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c7cc306779174be_8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c7cc306779174be_8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c7cc306779174be_8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c7cc306779174be_8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c7cc306779174be_8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c7cc306779174be_8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c7cc306779174be_8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c7cc306779174be_8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c7cc306779174be_8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c7cc306779174be_8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c7cc306779174be_8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c7cc306779174be_8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c7cc306779174be_8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c7cc306779174be_8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c7cc306779174be_8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c7cc306779174be_8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c7cc306779174be_8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c7cc306779174be_8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c7cc306779174be_8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c7cc306779174be_8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c7cc306779174be_8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c7cc306779174be_8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c7cc306779174be_8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c7cc306779174be_8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c7cc306779174be_8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c7cc306779174be_8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c7cc306779174be_8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c7cc306779174be_8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c7cc306779174be_8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c7cc306779174be_8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c7cc306779174be_8_56"/>
          <p:cNvSpPr/>
          <p:nvPr>
            <p:ph idx="2" type="pic"/>
          </p:nvPr>
        </p:nvSpPr>
        <p:spPr>
          <a:xfrm>
            <a:off x="1792288" y="612775"/>
            <a:ext cx="5486400" cy="4114800"/>
          </a:xfrm>
          <a:prstGeom prst="rect">
            <a:avLst/>
          </a:prstGeom>
          <a:noFill/>
          <a:ln>
            <a:noFill/>
          </a:ln>
        </p:spPr>
      </p:sp>
      <p:sp>
        <p:nvSpPr>
          <p:cNvPr id="139" name="Google Shape;139;hc7cc306779174be_8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c7cc306779174be_8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c7cc306779174be_8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c7cc306779174be_8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c7cc306779174be_8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c7cc306779174be_8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c7cc306779174be_8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c7cc306779174be_8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c7cc306779174be_8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c7cc306779174be_8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c7cc306779174be_8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c7cc306779174be_8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c7cc306779174be_8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c7cc306779174be_8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c7cc306779174be_4_100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c7cc306779174be_4_100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c7cc306779174be_4_100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c7cc306779174be_4_1007"/>
          <p:cNvSpPr txBox="1"/>
          <p:nvPr>
            <p:ph type="ctrTitle"/>
          </p:nvPr>
        </p:nvSpPr>
        <p:spPr>
          <a:xfrm>
            <a:off x="685800" y="2130425"/>
            <a:ext cx="7772400" cy="1470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c7cc306779174be_4_1007"/>
          <p:cNvSpPr txBox="1"/>
          <p:nvPr>
            <p:ph idx="1" type="subTitle"/>
          </p:nvPr>
        </p:nvSpPr>
        <p:spPr>
          <a:xfrm>
            <a:off x="1371600" y="3886200"/>
            <a:ext cx="6400800" cy="1752600"/>
          </a:xfrm>
          <a:prstGeom prst="rect">
            <a:avLst/>
          </a:prstGeom>
          <a:noFill/>
          <a:ln>
            <a:noFill/>
          </a:ln>
        </p:spPr>
        <p:txBody>
          <a:bodyPr anchorCtr="0" anchor="t" bIns="45700" lIns="91450" spcFirstLastPara="1" rIns="91450" wrap="square" tIns="4570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8" name="Google Shape;168;hc7cc306779174be_4_100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hc7cc306779174be_4_100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c7cc306779174be_4_100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c7cc306779174be_4_1013"/>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hc7cc306779174be_4_1013"/>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174" name="Google Shape;174;hc7cc306779174be_4_101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hc7cc306779174be_4_101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hc7cc306779174be_4_101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c7cc306779174be_4_1019"/>
          <p:cNvSpPr txBox="1"/>
          <p:nvPr>
            <p:ph type="title"/>
          </p:nvPr>
        </p:nvSpPr>
        <p:spPr>
          <a:xfrm>
            <a:off x="722313" y="4406900"/>
            <a:ext cx="7772400" cy="1362000"/>
          </a:xfrm>
          <a:prstGeom prst="rect">
            <a:avLst/>
          </a:prstGeom>
          <a:noFill/>
          <a:ln>
            <a:noFill/>
          </a:ln>
        </p:spPr>
        <p:txBody>
          <a:bodyPr anchorCtr="0" anchor="t" bIns="45700" lIns="91450" spcFirstLastPara="1" rIns="91450"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hc7cc306779174be_4_1019"/>
          <p:cNvSpPr txBox="1"/>
          <p:nvPr>
            <p:ph idx="1" type="body"/>
          </p:nvPr>
        </p:nvSpPr>
        <p:spPr>
          <a:xfrm>
            <a:off x="722313" y="2906713"/>
            <a:ext cx="7772400" cy="15000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400"/>
              </a:spcBef>
              <a:spcAft>
                <a:spcPts val="0"/>
              </a:spcAft>
              <a:buClr>
                <a:srgbClr val="888888"/>
              </a:buClr>
              <a:buSzPts val="1600"/>
              <a:buNone/>
              <a:defRPr sz="1600">
                <a:solidFill>
                  <a:srgbClr val="888888"/>
                </a:solidFill>
              </a:defRPr>
            </a:lvl3pPr>
            <a:lvl4pPr indent="-228600" lvl="3" marL="1828800" algn="l">
              <a:spcBef>
                <a:spcPts val="200"/>
              </a:spcBef>
              <a:spcAft>
                <a:spcPts val="0"/>
              </a:spcAft>
              <a:buClr>
                <a:srgbClr val="888888"/>
              </a:buClr>
              <a:buSzPts val="1400"/>
              <a:buNone/>
              <a:defRPr sz="1400">
                <a:solidFill>
                  <a:srgbClr val="888888"/>
                </a:solidFill>
              </a:defRPr>
            </a:lvl4pPr>
            <a:lvl5pPr indent="-228600" lvl="4" marL="2286000" algn="l">
              <a:spcBef>
                <a:spcPts val="200"/>
              </a:spcBef>
              <a:spcAft>
                <a:spcPts val="0"/>
              </a:spcAft>
              <a:buClr>
                <a:srgbClr val="888888"/>
              </a:buClr>
              <a:buSzPts val="1400"/>
              <a:buNone/>
              <a:defRPr sz="1400">
                <a:solidFill>
                  <a:srgbClr val="888888"/>
                </a:solidFill>
              </a:defRPr>
            </a:lvl5pPr>
            <a:lvl6pPr indent="-228600" lvl="5" marL="2743200" algn="l">
              <a:spcBef>
                <a:spcPts val="200"/>
              </a:spcBef>
              <a:spcAft>
                <a:spcPts val="0"/>
              </a:spcAft>
              <a:buClr>
                <a:srgbClr val="888888"/>
              </a:buClr>
              <a:buSzPts val="1400"/>
              <a:buNone/>
              <a:defRPr sz="1400">
                <a:solidFill>
                  <a:srgbClr val="888888"/>
                </a:solidFill>
              </a:defRPr>
            </a:lvl6pPr>
            <a:lvl7pPr indent="-228600" lvl="6" marL="3200400" algn="l">
              <a:spcBef>
                <a:spcPts val="200"/>
              </a:spcBef>
              <a:spcAft>
                <a:spcPts val="0"/>
              </a:spcAft>
              <a:buClr>
                <a:srgbClr val="888888"/>
              </a:buClr>
              <a:buSzPts val="1400"/>
              <a:buNone/>
              <a:defRPr sz="1400">
                <a:solidFill>
                  <a:srgbClr val="888888"/>
                </a:solidFill>
              </a:defRPr>
            </a:lvl7pPr>
            <a:lvl8pPr indent="-228600" lvl="7" marL="3657600" algn="l">
              <a:spcBef>
                <a:spcPts val="200"/>
              </a:spcBef>
              <a:spcAft>
                <a:spcPts val="0"/>
              </a:spcAft>
              <a:buClr>
                <a:srgbClr val="888888"/>
              </a:buClr>
              <a:buSzPts val="1400"/>
              <a:buNone/>
              <a:defRPr sz="1400">
                <a:solidFill>
                  <a:srgbClr val="888888"/>
                </a:solidFill>
              </a:defRPr>
            </a:lvl8pPr>
            <a:lvl9pPr indent="-228600" lvl="8" marL="4114800" algn="l">
              <a:spcBef>
                <a:spcPts val="200"/>
              </a:spcBef>
              <a:spcAft>
                <a:spcPts val="0"/>
              </a:spcAft>
              <a:buClr>
                <a:srgbClr val="888888"/>
              </a:buClr>
              <a:buSzPts val="1400"/>
              <a:buNone/>
              <a:defRPr sz="1400">
                <a:solidFill>
                  <a:srgbClr val="888888"/>
                </a:solidFill>
              </a:defRPr>
            </a:lvl9pPr>
          </a:lstStyle>
          <a:p/>
        </p:txBody>
      </p:sp>
      <p:sp>
        <p:nvSpPr>
          <p:cNvPr id="180" name="Google Shape;180;hc7cc306779174be_4_1019"/>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hc7cc306779174be_4_1019"/>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hc7cc306779174be_4_1019"/>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c7cc306779174be_4_1025"/>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hc7cc306779174be_4_1025"/>
          <p:cNvSpPr txBox="1"/>
          <p:nvPr>
            <p:ph idx="1" type="body"/>
          </p:nvPr>
        </p:nvSpPr>
        <p:spPr>
          <a:xfrm>
            <a:off x="457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6" name="Google Shape;186;hc7cc306779174be_4_1025"/>
          <p:cNvSpPr txBox="1"/>
          <p:nvPr>
            <p:ph idx="2" type="body"/>
          </p:nvPr>
        </p:nvSpPr>
        <p:spPr>
          <a:xfrm>
            <a:off x="4648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7" name="Google Shape;187;hc7cc306779174be_4_1025"/>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hc7cc306779174be_4_1025"/>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c7cc306779174be_4_1025"/>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c7cc306779174be_4_1032"/>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hc7cc306779174be_4_1032"/>
          <p:cNvSpPr txBox="1"/>
          <p:nvPr>
            <p:ph idx="1" type="body"/>
          </p:nvPr>
        </p:nvSpPr>
        <p:spPr>
          <a:xfrm>
            <a:off x="457200" y="1535113"/>
            <a:ext cx="40404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3" name="Google Shape;193;hc7cc306779174be_4_1032"/>
          <p:cNvSpPr txBox="1"/>
          <p:nvPr>
            <p:ph idx="2" type="body"/>
          </p:nvPr>
        </p:nvSpPr>
        <p:spPr>
          <a:xfrm>
            <a:off x="457200" y="2174875"/>
            <a:ext cx="40404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4" name="Google Shape;194;hc7cc306779174be_4_1032"/>
          <p:cNvSpPr txBox="1"/>
          <p:nvPr>
            <p:ph idx="3" type="body"/>
          </p:nvPr>
        </p:nvSpPr>
        <p:spPr>
          <a:xfrm>
            <a:off x="4645025" y="1535113"/>
            <a:ext cx="40416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5" name="Google Shape;195;hc7cc306779174be_4_1032"/>
          <p:cNvSpPr txBox="1"/>
          <p:nvPr>
            <p:ph idx="4" type="body"/>
          </p:nvPr>
        </p:nvSpPr>
        <p:spPr>
          <a:xfrm>
            <a:off x="4645025" y="2174875"/>
            <a:ext cx="40416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6" name="Google Shape;196;hc7cc306779174be_4_1032"/>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hc7cc306779174be_4_1032"/>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hc7cc306779174be_4_1032"/>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c7cc306779174be_4_1041"/>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hc7cc306779174be_4_104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hc7cc306779174be_4_104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hc7cc306779174be_4_104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c7cc306779174be_4_1046"/>
          <p:cNvSpPr txBox="1"/>
          <p:nvPr>
            <p:ph type="title"/>
          </p:nvPr>
        </p:nvSpPr>
        <p:spPr>
          <a:xfrm>
            <a:off x="457200" y="273050"/>
            <a:ext cx="3008400" cy="11622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hc7cc306779174be_4_1046"/>
          <p:cNvSpPr txBox="1"/>
          <p:nvPr>
            <p:ph idx="1" type="body"/>
          </p:nvPr>
        </p:nvSpPr>
        <p:spPr>
          <a:xfrm>
            <a:off x="3575050" y="273050"/>
            <a:ext cx="5112000" cy="5853000"/>
          </a:xfrm>
          <a:prstGeom prst="rect">
            <a:avLst/>
          </a:prstGeom>
          <a:noFill/>
          <a:ln>
            <a:noFill/>
          </a:ln>
        </p:spPr>
        <p:txBody>
          <a:bodyPr anchorCtr="0" anchor="t" bIns="45700" lIns="91450" spcFirstLastPara="1" rIns="9145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4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7" name="Google Shape;207;hc7cc306779174be_4_1046"/>
          <p:cNvSpPr txBox="1"/>
          <p:nvPr>
            <p:ph idx="2" type="body"/>
          </p:nvPr>
        </p:nvSpPr>
        <p:spPr>
          <a:xfrm>
            <a:off x="457200" y="1435100"/>
            <a:ext cx="3008400" cy="46908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08" name="Google Shape;208;hc7cc306779174be_4_104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hc7cc306779174be_4_104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hc7cc306779174be_4_104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c7cc306779174be_4_1053"/>
          <p:cNvSpPr txBox="1"/>
          <p:nvPr>
            <p:ph type="title"/>
          </p:nvPr>
        </p:nvSpPr>
        <p:spPr>
          <a:xfrm>
            <a:off x="1792288" y="4800600"/>
            <a:ext cx="5486400" cy="5670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hc7cc306779174be_4_1053"/>
          <p:cNvSpPr/>
          <p:nvPr>
            <p:ph idx="2" type="pic"/>
          </p:nvPr>
        </p:nvSpPr>
        <p:spPr>
          <a:xfrm>
            <a:off x="1792288" y="612775"/>
            <a:ext cx="5486400" cy="4114800"/>
          </a:xfrm>
          <a:prstGeom prst="rect">
            <a:avLst/>
          </a:prstGeom>
          <a:noFill/>
          <a:ln>
            <a:noFill/>
          </a:ln>
        </p:spPr>
      </p:sp>
      <p:sp>
        <p:nvSpPr>
          <p:cNvPr id="214" name="Google Shape;214;hc7cc306779174be_4_1053"/>
          <p:cNvSpPr txBox="1"/>
          <p:nvPr>
            <p:ph idx="1" type="body"/>
          </p:nvPr>
        </p:nvSpPr>
        <p:spPr>
          <a:xfrm>
            <a:off x="1792288" y="5367338"/>
            <a:ext cx="5486400" cy="8046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15" name="Google Shape;215;hc7cc306779174be_4_105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hc7cc306779174be_4_105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hc7cc306779174be_4_105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c7cc306779174be_4_1060"/>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hc7cc306779174be_4_1060"/>
          <p:cNvSpPr txBox="1"/>
          <p:nvPr>
            <p:ph idx="1" type="body"/>
          </p:nvPr>
        </p:nvSpPr>
        <p:spPr>
          <a:xfrm rot="5400000">
            <a:off x="2309100" y="-251700"/>
            <a:ext cx="4525800" cy="82296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1" name="Google Shape;221;hc7cc306779174be_4_106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hc7cc306779174be_4_106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hc7cc306779174be_4_106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c7cc306779174be_4_1066"/>
          <p:cNvSpPr txBox="1"/>
          <p:nvPr>
            <p:ph type="title"/>
          </p:nvPr>
        </p:nvSpPr>
        <p:spPr>
          <a:xfrm rot="5400000">
            <a:off x="4732200" y="2171838"/>
            <a:ext cx="5851800" cy="20574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hc7cc306779174be_4_1066"/>
          <p:cNvSpPr txBox="1"/>
          <p:nvPr>
            <p:ph idx="1" type="body"/>
          </p:nvPr>
        </p:nvSpPr>
        <p:spPr>
          <a:xfrm rot="5400000">
            <a:off x="541200" y="190638"/>
            <a:ext cx="5851800" cy="6019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7" name="Google Shape;227;hc7cc306779174be_4_10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hc7cc306779174be_4_10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hc7cc306779174be_4_10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c7cc306779174be_8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c7cc306779174be_8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3" name="Google Shape;83;hc7cc306779174be_8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4" name="Google Shape;84;hc7cc306779174be_8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5" name="Google Shape;85;hc7cc306779174be_8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c7cc306779174be_4_997"/>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marR="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hc7cc306779174be_4_997"/>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431800" lvl="0" marL="457200" marR="0" algn="l">
              <a:spcBef>
                <a:spcPts val="60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algn="l">
              <a:spcBef>
                <a:spcPts val="60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algn="l">
              <a:spcBef>
                <a:spcPts val="4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158" name="Google Shape;158;hc7cc306779174be_4_99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marR="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59" name="Google Shape;159;hc7cc306779174be_4_99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marR="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60" name="Google Shape;160;hc7cc306779174be_4_99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spcBef>
                <a:spcPts val="0"/>
              </a:spcBef>
              <a:buNone/>
              <a:defRPr b="0" i="0" sz="1200" u="none" cap="none" strike="noStrike">
                <a:solidFill>
                  <a:srgbClr val="888888"/>
                </a:solidFill>
                <a:latin typeface="Inter"/>
                <a:ea typeface="Inter"/>
                <a:cs typeface="Inter"/>
                <a:sym typeface="Inter"/>
              </a:defRPr>
            </a:lvl1pPr>
            <a:lvl2pPr indent="0" lvl="1" marL="0" marR="0" algn="r">
              <a:spcBef>
                <a:spcPts val="0"/>
              </a:spcBef>
              <a:buNone/>
              <a:defRPr b="0" i="0" sz="1200" u="none" cap="none" strike="noStrike">
                <a:solidFill>
                  <a:srgbClr val="888888"/>
                </a:solidFill>
                <a:latin typeface="Inter"/>
                <a:ea typeface="Inter"/>
                <a:cs typeface="Inter"/>
                <a:sym typeface="Inter"/>
              </a:defRPr>
            </a:lvl2pPr>
            <a:lvl3pPr indent="0" lvl="2" marL="0" marR="0" algn="r">
              <a:spcBef>
                <a:spcPts val="0"/>
              </a:spcBef>
              <a:buNone/>
              <a:defRPr b="0" i="0" sz="1200" u="none" cap="none" strike="noStrike">
                <a:solidFill>
                  <a:srgbClr val="888888"/>
                </a:solidFill>
                <a:latin typeface="Inter"/>
                <a:ea typeface="Inter"/>
                <a:cs typeface="Inter"/>
                <a:sym typeface="Inter"/>
              </a:defRPr>
            </a:lvl3pPr>
            <a:lvl4pPr indent="0" lvl="3" marL="0" marR="0" algn="r">
              <a:spcBef>
                <a:spcPts val="0"/>
              </a:spcBef>
              <a:buNone/>
              <a:defRPr b="0" i="0" sz="1200" u="none" cap="none" strike="noStrike">
                <a:solidFill>
                  <a:srgbClr val="888888"/>
                </a:solidFill>
                <a:latin typeface="Inter"/>
                <a:ea typeface="Inter"/>
                <a:cs typeface="Inter"/>
                <a:sym typeface="Inter"/>
              </a:defRPr>
            </a:lvl4pPr>
            <a:lvl5pPr indent="0" lvl="4" marL="0" marR="0" algn="r">
              <a:spcBef>
                <a:spcPts val="0"/>
              </a:spcBef>
              <a:buNone/>
              <a:defRPr b="0" i="0" sz="1200" u="none" cap="none" strike="noStrike">
                <a:solidFill>
                  <a:srgbClr val="888888"/>
                </a:solidFill>
                <a:latin typeface="Inter"/>
                <a:ea typeface="Inter"/>
                <a:cs typeface="Inter"/>
                <a:sym typeface="Inter"/>
              </a:defRPr>
            </a:lvl5pPr>
            <a:lvl6pPr indent="0" lvl="5" marL="0" marR="0" algn="r">
              <a:spcBef>
                <a:spcPts val="0"/>
              </a:spcBef>
              <a:buNone/>
              <a:defRPr b="0" i="0" sz="1200" u="none" cap="none" strike="noStrike">
                <a:solidFill>
                  <a:srgbClr val="888888"/>
                </a:solidFill>
                <a:latin typeface="Inter"/>
                <a:ea typeface="Inter"/>
                <a:cs typeface="Inter"/>
                <a:sym typeface="Inter"/>
              </a:defRPr>
            </a:lvl6pPr>
            <a:lvl7pPr indent="0" lvl="6" marL="0" marR="0" algn="r">
              <a:spcBef>
                <a:spcPts val="0"/>
              </a:spcBef>
              <a:buNone/>
              <a:defRPr b="0" i="0" sz="1200" u="none" cap="none" strike="noStrike">
                <a:solidFill>
                  <a:srgbClr val="888888"/>
                </a:solidFill>
                <a:latin typeface="Inter"/>
                <a:ea typeface="Inter"/>
                <a:cs typeface="Inter"/>
                <a:sym typeface="Inter"/>
              </a:defRPr>
            </a:lvl7pPr>
            <a:lvl8pPr indent="0" lvl="7" marL="0" marR="0" algn="r">
              <a:spcBef>
                <a:spcPts val="0"/>
              </a:spcBef>
              <a:buNone/>
              <a:defRPr b="0" i="0" sz="1200" u="none" cap="none" strike="noStrike">
                <a:solidFill>
                  <a:srgbClr val="888888"/>
                </a:solidFill>
                <a:latin typeface="Inter"/>
                <a:ea typeface="Inter"/>
                <a:cs typeface="Inter"/>
                <a:sym typeface="Inter"/>
              </a:defRPr>
            </a:lvl8pPr>
            <a:lvl9pPr indent="0" lvl="8" marL="0" marR="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1.svg"/><Relationship Id="rId6" Type="http://schemas.openxmlformats.org/officeDocument/2006/relationships/image" Target="../media/v7img2.svg"/><Relationship Id="rId7" Type="http://schemas.openxmlformats.org/officeDocument/2006/relationships/image" Target="../media/v7img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5.svg"/><Relationship Id="rId6" Type="http://schemas.openxmlformats.org/officeDocument/2006/relationships/image" Target="../media/v7img6.svg"/><Relationship Id="rId7" Type="http://schemas.openxmlformats.org/officeDocument/2006/relationships/image" Target="../media/v7img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v7img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v7img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v7img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2.png"/><Relationship Id="rId9" Type="http://schemas.openxmlformats.org/officeDocument/2006/relationships/image" Target="../media/image3.png"/><Relationship Id="rId10" Type="http://schemas.openxmlformats.org/officeDocument/2006/relationships/image" Target="../media/image7.png"/><Relationship Id="rId11" Type="http://schemas.openxmlformats.org/officeDocument/2006/relationships/image" Target="../media/image18.png"/><Relationship Id="rId12" Type="http://schemas.openxmlformats.org/officeDocument/2006/relationships/image" Target="../media/v7img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51.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 Id="rId4" Type="http://schemas.openxmlformats.org/officeDocument/2006/relationships/image" Target="../media/v7img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3.svg"/><Relationship Id="rId6" Type="http://schemas.openxmlformats.org/officeDocument/2006/relationships/image" Target="../media/v7img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3.svg"/><Relationship Id="rId6" Type="http://schemas.openxmlformats.org/officeDocument/2006/relationships/image" Target="../media/v7img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v7img8.svg"/><Relationship Id="rId4" Type="http://schemas.openxmlformats.org/officeDocument/2006/relationships/image" Target="../media/v7img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v7img8.svg"/><Relationship Id="rId4" Type="http://schemas.openxmlformats.org/officeDocument/2006/relationships/image" Target="../media/v7img5.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v7img8.svg"/><Relationship Id="rId4" Type="http://schemas.openxmlformats.org/officeDocument/2006/relationships/image" Target="../media/v7img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v7img8.svg"/><Relationship Id="rId4" Type="http://schemas.openxmlformats.org/officeDocument/2006/relationships/image" Target="../media/v7img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v7img8.svg"/><Relationship Id="rId4" Type="http://schemas.openxmlformats.org/officeDocument/2006/relationships/image" Target="../media/v7img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v7img8.svg"/><Relationship Id="rId4" Type="http://schemas.openxmlformats.org/officeDocument/2006/relationships/image" Target="../media/v7img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v7img8.svg"/><Relationship Id="rId4" Type="http://schemas.openxmlformats.org/officeDocument/2006/relationships/image" Target="../media/v7img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v7img8.svg"/><Relationship Id="rId4" Type="http://schemas.openxmlformats.org/officeDocument/2006/relationships/image" Target="../media/v7img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v7img8.svg"/><Relationship Id="rId4" Type="http://schemas.openxmlformats.org/officeDocument/2006/relationships/image" Target="../media/v7img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v7img8.svg"/><Relationship Id="rId4" Type="http://schemas.openxmlformats.org/officeDocument/2006/relationships/image" Target="../media/v7img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v7img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image" Target="../media/v7img5.svg"/><Relationship Id="rId6" Type="http://schemas.openxmlformats.org/officeDocument/2006/relationships/image" Target="../media/v7img9.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1.png"/><Relationship Id="rId4" Type="http://schemas.openxmlformats.org/officeDocument/2006/relationships/image" Target="../media/v7img10.svg"/><Relationship Id="rId5" Type="http://schemas.openxmlformats.org/officeDocument/2006/relationships/image" Target="../media/v7img11.svg"/><Relationship Id="rId6" Type="http://schemas.openxmlformats.org/officeDocument/2006/relationships/image" Target="../media/v7img2.svg"/><Relationship Id="rId7" Type="http://schemas.openxmlformats.org/officeDocument/2006/relationships/image" Target="../media/v7img8.svg"/><Relationship Id="rId8" Type="http://schemas.openxmlformats.org/officeDocument/2006/relationships/image" Target="../media/v7img5.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v7img5.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v7img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9.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v7img12.svg"/><Relationship Id="rId4" Type="http://schemas.openxmlformats.org/officeDocument/2006/relationships/image" Target="../media/v7img5.svg"/><Relationship Id="rId5" Type="http://schemas.openxmlformats.org/officeDocument/2006/relationships/image" Target="../media/v7img6.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v7img5.svg"/><Relationship Id="rId4" Type="http://schemas.openxmlformats.org/officeDocument/2006/relationships/image" Target="../media/v7img13.svg"/><Relationship Id="rId5" Type="http://schemas.openxmlformats.org/officeDocument/2006/relationships/image" Target="../media/v7img14.svg"/><Relationship Id="rId6" Type="http://schemas.openxmlformats.org/officeDocument/2006/relationships/image" Target="../media/v7img15.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16.svg"/><Relationship Id="rId7" Type="http://schemas.openxmlformats.org/officeDocument/2006/relationships/image" Target="../media/v7img17.svg"/><Relationship Id="rId8" Type="http://schemas.openxmlformats.org/officeDocument/2006/relationships/image" Target="../media/v7img18.svg"/><Relationship Id="rId9" Type="http://schemas.openxmlformats.org/officeDocument/2006/relationships/image" Target="../media/v7img19.svg"/><Relationship Id="rId10" Type="http://schemas.openxmlformats.org/officeDocument/2006/relationships/image" Target="../media/v7img2.svg"/><Relationship Id="rId11" Type="http://schemas.openxmlformats.org/officeDocument/2006/relationships/image" Target="../media/v7img1.sv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7" name="!!deco_13b10c14_1"/>
          <p:cNvSpPr/>
          <p:nvPr/>
        </p:nvSpPr>
        <p:spPr>
          <a:xfrm flipH="1" rot="10800000">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9"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US" sz="10693">
                <a:solidFill>
                  <a:srgbClr val="FFFFFF"/>
                </a:solidFill>
                <a:latin typeface="Inter"/>
                <a:ea typeface="Inter"/>
                <a:cs typeface="Inter"/>
                <a:sym typeface="Inter"/>
              </a:rPr>
              <a:t>Propuesta</a:t>
            </a:r>
            <a:endParaRPr/>
          </a:p>
        </p:txBody>
      </p:sp>
      <p:sp>
        <p:nvSpPr>
          <p:cNvPr id="241" name="Google Shape;241;p1"/>
          <p:cNvSpPr txBox="1"/>
          <p:nvPr/>
        </p:nvSpPr>
        <p:spPr>
          <a:xfrm>
            <a:off x="1428123" y="3820932"/>
            <a:ext cx="12950077" cy="2374011"/>
          </a:xfrm>
          <a:prstGeom prst="rect">
            <a:avLst/>
          </a:prstGeom>
          <a:noFill/>
          <a:ln>
            <a:noFill/>
          </a:ln>
        </p:spPr>
        <p:txBody>
          <a:bodyPr anchorCtr="0" anchor="t" bIns="0" lIns="0" spcFirstLastPara="1" rIns="0" wrap="square" tIns="0">
            <a:spAutoFit/>
          </a:bodyPr>
          <a:lstStyle/>
          <a:p>
            <a:pPr indent="0" lvl="0" marL="0" marR="0" rtl="0" algn="l">
              <a:lnSpc>
                <a:spcPct val="175014"/>
              </a:lnSpc>
              <a:spcBef>
                <a:spcPts val="0"/>
              </a:spcBef>
              <a:spcAft>
                <a:spcPts val="0"/>
              </a:spcAft>
              <a:buNone/>
            </a:pPr>
            <a:r>
              <a:rPr b="1" lang="en-US" sz="10494">
                <a:solidFill>
                  <a:srgbClr val="FFFFFF"/>
                </a:solidFill>
                <a:latin typeface="Inter SemiBold"/>
                <a:ea typeface="Inter SemiBold"/>
                <a:cs typeface="Inter SemiBold"/>
                <a:sym typeface="Inter SemiBold"/>
              </a:rPr>
              <a:t>Técnica</a:t>
            </a:r>
            <a:endParaRPr/>
          </a:p>
        </p:txBody>
      </p:sp>
      <p:sp>
        <p:nvSpPr>
          <p:cNvPr id="242" name="Google Shape;242;p1"/>
          <p:cNvSpPr txBox="1"/>
          <p:nvPr/>
        </p:nvSpPr>
        <p:spPr>
          <a:xfrm>
            <a:off x="1428123" y="6162459"/>
            <a:ext cx="8734851" cy="1097280"/>
          </a:xfrm>
          <a:prstGeom prst="rect">
            <a:avLst/>
          </a:prstGeom>
          <a:noFill/>
          <a:ln>
            <a:noFill/>
          </a:ln>
        </p:spPr>
        <p:txBody>
          <a:bodyPr anchorCtr="0" anchor="t" bIns="0" lIns="0" spcFirstLastPara="1" rIns="0" wrap="square" tIns="0">
            <a:spAutoFit/>
          </a:bodyPr>
          <a:lstStyle/>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Sistema Integral de Gestión Logística Puelche</a:t>
            </a:r>
            <a:endParaRPr/>
          </a:p>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Licitación TFEP-01/2026 · Distribuidora Puelche S.A.</a:t>
            </a:r>
            <a:endParaRPr/>
          </a:p>
        </p:txBody>
      </p:sp>
      <p:sp>
        <p:nvSpPr>
          <p:cNvPr id="243" name="Google Shape;243;p1"/>
          <p:cNvSpPr txBox="1"/>
          <p:nvPr/>
        </p:nvSpPr>
        <p:spPr>
          <a:xfrm>
            <a:off x="1475324" y="8961120"/>
            <a:ext cx="4041891" cy="3013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800">
                <a:solidFill>
                  <a:srgbClr val="FFFFFF"/>
                </a:solidFill>
                <a:latin typeface="Inter"/>
                <a:ea typeface="Inter"/>
                <a:cs typeface="Inter"/>
                <a:sym typeface="Inter"/>
              </a:rPr>
              <a:t>lafrox.github.io</a:t>
            </a:r>
            <a:endParaRPr/>
          </a:p>
        </p:txBody>
      </p:sp>
      <p:sp>
        <p:nvSpPr>
          <p:cNvPr id="244"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FFFFFF"/>
                </a:solidFill>
                <a:latin typeface="Inter SemiBold"/>
                <a:ea typeface="Inter SemiBold"/>
                <a:cs typeface="Inter SemiBold"/>
                <a:sym typeface="Inter SemiBold"/>
              </a:rPr>
              <a:t>LafroX SpA</a:t>
            </a:r>
            <a:endParaRPr/>
          </a:p>
        </p:txBody>
      </p:sp>
      <p:sp>
        <p:nvSpPr>
          <p:cNvPr id="245" name="Google Shape;245;p1"/>
          <p:cNvSpPr txBox="1"/>
          <p:nvPr/>
        </p:nvSpPr>
        <p:spPr>
          <a:xfrm>
            <a:off x="12763761" y="8961120"/>
            <a:ext cx="4041891"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FFFFFF"/>
                </a:solidFill>
                <a:latin typeface="Inter"/>
                <a:ea typeface="Inter"/>
                <a:cs typeface="Inter"/>
                <a:sym typeface="Inter"/>
              </a:rPr>
              <a:t>Siguiente</a:t>
            </a:r>
            <a:endParaRPr/>
          </a:p>
        </p:txBody>
      </p:sp>
      <p:pic>
        <p:nvPicPr>
          <p:cNvPr descr="Isotipo LafroX" id="246" name="!!logo"/>
          <p:cNvPicPr preferRelativeResize="0"/>
          <p:nvPr/>
        </p:nvPicPr>
        <p:blipFill rotWithShape="1">
          <a:blip r:embed="rId4">
            <a:alphaModFix/>
          </a:blip>
          <a:srcRect b="0" l="0" r="0" t="0"/>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3"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4"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6"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7"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60"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29A5E"/>
                </a:solidFill>
                <a:latin typeface="Inter SemiBold"/>
                <a:ea typeface="Inter SemiBold"/>
                <a:cs typeface="Inter SemiBold"/>
                <a:sym typeface="Inter SemiBold"/>
              </a:rPr>
              <a:t>MARZO 2026 · RETIRO SANITARIO</a:t>
            </a:r>
            <a:endParaRPr/>
          </a:p>
        </p:txBody>
      </p:sp>
      <p:sp>
        <p:nvSpPr>
          <p:cNvPr id="26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63" name="Google Shape;263;p2"/>
          <p:cNvSpPr txBox="1"/>
          <p:nvPr/>
        </p:nvSpPr>
        <p:spPr>
          <a:xfrm>
            <a:off x="1828800" y="5943600"/>
            <a:ext cx="1463040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3400">
                <a:solidFill>
                  <a:srgbClr val="FFFFFF"/>
                </a:solidFill>
                <a:latin typeface="Inter Light"/>
                <a:ea typeface="Inter Light"/>
                <a:cs typeface="Inter Light"/>
                <a:sym typeface="Inter Light"/>
              </a:rPr>
              <a:t>para identificar a los clientes afectados</a:t>
            </a:r>
            <a:endParaRPr/>
          </a:p>
        </p:txBody>
      </p:sp>
      <p:sp>
        <p:nvSpPr>
          <p:cNvPr id="264" name="Google Shape;264;p2"/>
          <p:cNvSpPr txBox="1"/>
          <p:nvPr/>
        </p:nvSpPr>
        <p:spPr>
          <a:xfrm>
            <a:off x="310896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4.800 kg</a:t>
            </a:r>
            <a:endParaRPr/>
          </a:p>
        </p:txBody>
      </p:sp>
      <p:sp>
        <p:nvSpPr>
          <p:cNvPr id="265" name="Google Shape;265;p2"/>
          <p:cNvSpPr txBox="1"/>
          <p:nvPr/>
        </p:nvSpPr>
        <p:spPr>
          <a:xfrm>
            <a:off x="310896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retirados</a:t>
            </a:r>
            <a:endParaRPr/>
          </a:p>
        </p:txBody>
      </p:sp>
      <p:sp>
        <p:nvSpPr>
          <p:cNvPr id="266" name="Google Shape;266;p2"/>
          <p:cNvSpPr txBox="1"/>
          <p:nvPr/>
        </p:nvSpPr>
        <p:spPr>
          <a:xfrm>
            <a:off x="731520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meses</a:t>
            </a:r>
            <a:endParaRPr/>
          </a:p>
        </p:txBody>
      </p:sp>
      <p:sp>
        <p:nvSpPr>
          <p:cNvPr id="267" name="Google Shape;267;p2"/>
          <p:cNvSpPr txBox="1"/>
          <p:nvPr/>
        </p:nvSpPr>
        <p:spPr>
          <a:xfrm>
            <a:off x="731520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suspensión del proveedor</a:t>
            </a:r>
            <a:endParaRPr/>
          </a:p>
        </p:txBody>
      </p:sp>
      <p:sp>
        <p:nvSpPr>
          <p:cNvPr id="268" name="Google Shape;268;p2"/>
          <p:cNvSpPr txBox="1"/>
          <p:nvPr/>
        </p:nvSpPr>
        <p:spPr>
          <a:xfrm>
            <a:off x="1152144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a:t>
            </a:r>
            <a:endParaRPr/>
          </a:p>
        </p:txBody>
      </p:sp>
      <p:sp>
        <p:nvSpPr>
          <p:cNvPr id="269" name="Google Shape;269;p2"/>
          <p:cNvSpPr txBox="1"/>
          <p:nvPr/>
        </p:nvSpPr>
        <p:spPr>
          <a:xfrm>
            <a:off x="1152144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las ventas en riesgo</a:t>
            </a:r>
            <a:endParaRPr/>
          </a:p>
        </p:txBody>
      </p:sp>
      <p:sp>
        <p:nvSpPr>
          <p:cNvPr id="2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01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deco_13b10c14_1"/>
          <p:cNvSpPr/>
          <p:nvPr/>
        </p:nvSpPr>
        <p:spPr>
          <a:xfrm flipH="1" rot="10800000">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Problemática</a:t>
            </a:r>
            <a:endParaRPr/>
          </a:p>
        </p:txBody>
      </p:sp>
      <p:sp>
        <p:nvSpPr>
          <p:cNvPr id="282"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283" name="!!logo"/>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000">
                <a:solidFill>
                  <a:srgbClr val="606060"/>
                </a:solidFill>
                <a:latin typeface="Inter"/>
                <a:ea typeface="Inter"/>
                <a:cs typeface="Inter"/>
                <a:sym typeface="Inter"/>
              </a:rPr>
              <a:t>Tres problemas, una sola causa</a:t>
            </a:r>
            <a:endParaRPr/>
          </a:p>
        </p:txBody>
      </p:sp>
      <p:sp>
        <p:nvSpPr>
          <p:cNvPr id="285" name="Google Shape;285;p3"/>
          <p:cNvSpPr/>
          <p:nvPr/>
        </p:nvSpPr>
        <p:spPr>
          <a:xfrm>
            <a:off x="1472184" y="4434840"/>
            <a:ext cx="7315200" cy="2103120"/>
          </a:xfrm>
          <a:prstGeom prst="roundRect">
            <a:avLst>
              <a:gd fmla="val 8000" name="adj"/>
            </a:avLst>
          </a:prstGeom>
          <a:solidFill>
            <a:srgbClr val="111111"/>
          </a:solidFill>
          <a:ln>
            <a:noFill/>
          </a:ln>
        </p:spPr>
        <p:txBody>
          <a:bodyPr anchorCtr="0" anchor="ctr" bIns="45700" lIns="365750" spcFirstLastPara="1" rIns="365750" wrap="square" tIns="45700">
            <a:noAutofit/>
          </a:bodyPr>
          <a:lstStyle/>
          <a:p>
            <a:pPr indent="0" lvl="0" marL="0" marR="0" rtl="0" algn="l">
              <a:spcBef>
                <a:spcPts val="0"/>
              </a:spcBef>
              <a:spcAft>
                <a:spcPts val="0"/>
              </a:spcAft>
              <a:buNone/>
            </a:pPr>
            <a:r>
              <a:rPr b="1" lang="en-US" sz="1800">
                <a:solidFill>
                  <a:srgbClr val="F29A5E"/>
                </a:solidFill>
                <a:latin typeface="Inter SemiBold"/>
                <a:ea typeface="Inter SemiBold"/>
                <a:cs typeface="Inter SemiBold"/>
                <a:sym typeface="Inter SemiBold"/>
              </a:rPr>
              <a:t>CAUSA RAÍZ</a:t>
            </a:r>
            <a:endParaRPr/>
          </a:p>
          <a:p>
            <a:pPr indent="0" lvl="0" marL="0" marR="0" rtl="0" algn="l">
              <a:spcBef>
                <a:spcPts val="0"/>
              </a:spcBef>
              <a:spcAft>
                <a:spcPts val="0"/>
              </a:spcAft>
              <a:buNone/>
            </a:pPr>
            <a:r>
              <a:rPr b="1" lang="en-US" sz="3000">
                <a:solidFill>
                  <a:srgbClr val="FFFFFF"/>
                </a:solidFill>
                <a:latin typeface="Inter SemiBold"/>
                <a:ea typeface="Inter SemiBold"/>
                <a:cs typeface="Inter SemiBold"/>
                <a:sym typeface="Inter SemiBold"/>
              </a:rPr>
              <a:t>El dato no se registra donde ocurre el hecho.</a:t>
            </a:r>
            <a:endParaRPr/>
          </a:p>
        </p:txBody>
      </p:sp>
      <p:sp>
        <p:nvSpPr>
          <p:cNvPr id="286" name="Google Shape;286;p3"/>
          <p:cNvSpPr/>
          <p:nvPr/>
        </p:nvSpPr>
        <p:spPr>
          <a:xfrm>
            <a:off x="9509760" y="141732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87" name="Google Shape;287;p3"/>
          <p:cNvSpPr txBox="1"/>
          <p:nvPr/>
        </p:nvSpPr>
        <p:spPr>
          <a:xfrm>
            <a:off x="9829800" y="169164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01</a:t>
            </a:r>
            <a:endParaRPr/>
          </a:p>
        </p:txBody>
      </p:sp>
      <p:sp>
        <p:nvSpPr>
          <p:cNvPr id="288" name="Google Shape;288;p3"/>
          <p:cNvSpPr txBox="1"/>
          <p:nvPr/>
        </p:nvSpPr>
        <p:spPr>
          <a:xfrm>
            <a:off x="9829800" y="210312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Habilitación sanitaria en riesgo</a:t>
            </a:r>
            <a:endParaRPr/>
          </a:p>
        </p:txBody>
      </p:sp>
      <p:sp>
        <p:nvSpPr>
          <p:cNvPr id="289" name="Google Shape;289;p3"/>
          <p:cNvSpPr txBox="1"/>
          <p:nvPr/>
        </p:nvSpPr>
        <p:spPr>
          <a:xfrm>
            <a:off x="13167360" y="173736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retiro</a:t>
            </a:r>
            <a:endParaRPr/>
          </a:p>
        </p:txBody>
      </p:sp>
      <p:sp>
        <p:nvSpPr>
          <p:cNvPr id="290" name="!!reloj"/>
          <p:cNvSpPr txBox="1"/>
          <p:nvPr/>
        </p:nvSpPr>
        <p:spPr>
          <a:xfrm>
            <a:off x="12801600" y="210312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9 días</a:t>
            </a:r>
            <a:endParaRPr/>
          </a:p>
        </p:txBody>
      </p:sp>
      <p:cxnSp>
        <p:nvCxnSpPr>
          <p:cNvPr id="291" name="Google Shape;291;p3"/>
          <p:cNvCxnSpPr/>
          <p:nvPr/>
        </p:nvCxnSpPr>
        <p:spPr>
          <a:xfrm flipH="1" rot="10800000">
            <a:off x="8787384" y="2331720"/>
            <a:ext cx="722376" cy="315468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2" name="Google Shape;292;p3"/>
          <p:cNvSpPr/>
          <p:nvPr/>
        </p:nvSpPr>
        <p:spPr>
          <a:xfrm>
            <a:off x="9509760" y="356616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3" name="Google Shape;293;p3"/>
          <p:cNvSpPr txBox="1"/>
          <p:nvPr/>
        </p:nvSpPr>
        <p:spPr>
          <a:xfrm>
            <a:off x="9829800" y="384048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02</a:t>
            </a:r>
            <a:endParaRPr/>
          </a:p>
        </p:txBody>
      </p:sp>
      <p:sp>
        <p:nvSpPr>
          <p:cNvPr id="294" name="Google Shape;294;p3"/>
          <p:cNvSpPr txBox="1"/>
          <p:nvPr/>
        </p:nvSpPr>
        <p:spPr>
          <a:xfrm>
            <a:off x="9829800" y="425196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Servicio que pierde competitividad</a:t>
            </a:r>
            <a:endParaRPr/>
          </a:p>
        </p:txBody>
      </p:sp>
      <p:sp>
        <p:nvSpPr>
          <p:cNvPr id="295" name="Google Shape;295;p3"/>
          <p:cNvSpPr txBox="1"/>
          <p:nvPr/>
        </p:nvSpPr>
        <p:spPr>
          <a:xfrm>
            <a:off x="13167360" y="388620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OTIF</a:t>
            </a:r>
            <a:endParaRPr/>
          </a:p>
        </p:txBody>
      </p:sp>
      <p:sp>
        <p:nvSpPr>
          <p:cNvPr id="296" name="!!otif"/>
          <p:cNvSpPr txBox="1"/>
          <p:nvPr/>
        </p:nvSpPr>
        <p:spPr>
          <a:xfrm>
            <a:off x="12801600" y="425196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82,4 %</a:t>
            </a:r>
            <a:endParaRPr/>
          </a:p>
        </p:txBody>
      </p:sp>
      <p:cxnSp>
        <p:nvCxnSpPr>
          <p:cNvPr id="297" name="Google Shape;297;p3"/>
          <p:cNvCxnSpPr/>
          <p:nvPr/>
        </p:nvCxnSpPr>
        <p:spPr>
          <a:xfrm flipH="1" rot="10800000">
            <a:off x="8787384" y="4480560"/>
            <a:ext cx="722376" cy="100584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3"/>
          <p:cNvSpPr/>
          <p:nvPr/>
        </p:nvSpPr>
        <p:spPr>
          <a:xfrm>
            <a:off x="9509760" y="571500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9" name="Google Shape;299;p3"/>
          <p:cNvSpPr txBox="1"/>
          <p:nvPr/>
        </p:nvSpPr>
        <p:spPr>
          <a:xfrm>
            <a:off x="9829800" y="598932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03</a:t>
            </a:r>
            <a:endParaRPr/>
          </a:p>
        </p:txBody>
      </p:sp>
      <p:sp>
        <p:nvSpPr>
          <p:cNvPr id="300" name="Google Shape;300;p3"/>
          <p:cNvSpPr txBox="1"/>
          <p:nvPr/>
        </p:nvSpPr>
        <p:spPr>
          <a:xfrm>
            <a:off x="9829800" y="640080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Costo de servir desconocido</a:t>
            </a:r>
            <a:endParaRPr/>
          </a:p>
        </p:txBody>
      </p:sp>
      <p:sp>
        <p:nvSpPr>
          <p:cNvPr id="301" name="Google Shape;301;p3"/>
          <p:cNvSpPr txBox="1"/>
          <p:nvPr/>
        </p:nvSpPr>
        <p:spPr>
          <a:xfrm>
            <a:off x="13167360" y="603504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prorrateo de</a:t>
            </a:r>
            <a:endParaRPr/>
          </a:p>
        </p:txBody>
      </p:sp>
      <p:sp>
        <p:nvSpPr>
          <p:cNvPr id="302" name="!!costo"/>
          <p:cNvSpPr txBox="1"/>
          <p:nvPr/>
        </p:nvSpPr>
        <p:spPr>
          <a:xfrm>
            <a:off x="12801600" y="640080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2016</a:t>
            </a:r>
            <a:endParaRPr/>
          </a:p>
        </p:txBody>
      </p:sp>
      <p:cxnSp>
        <p:nvCxnSpPr>
          <p:cNvPr id="303" name="Google Shape;303;p3"/>
          <p:cNvCxnSpPr/>
          <p:nvPr/>
        </p:nvCxnSpPr>
        <p:spPr>
          <a:xfrm>
            <a:off x="8787384" y="5486400"/>
            <a:ext cx="722376" cy="114300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title"/>
          <p:cNvSpPr txBox="1"/>
          <p:nvPr/>
        </p:nvSpPr>
        <p:spPr>
          <a:xfrm>
            <a:off x="3429000" y="685800"/>
            <a:ext cx="11430000" cy="952500"/>
          </a:xfrm>
          <a:prstGeom prst="rect">
            <a:avLst/>
          </a:prstGeom>
          <a:noFill/>
          <a:ln>
            <a:noFill/>
          </a:ln>
        </p:spPr>
        <p:txBody>
          <a:bodyPr anchorCtr="0" anchor="t" bIns="0" lIns="0" spcFirstLastPara="1" rIns="0" wrap="square" tIns="0">
            <a:spAutoFit/>
          </a:bodyPr>
          <a:lstStyle/>
          <a:p>
            <a:pPr indent="0" lvl="0" marL="0" marR="0" rtl="0" algn="ctr">
              <a:lnSpc>
                <a:spcPct val="178240"/>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Datos Clave</a:t>
            </a:r>
            <a:endParaRPr/>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2" name="Google Shape;312;hc7cc306779174be_12_0"/>
          <p:cNvSpPr txBox="1"/>
          <p:nvPr/>
        </p:nvSpPr>
        <p:spPr>
          <a:xfrm>
            <a:off x="5334000" y="1771650"/>
            <a:ext cx="7620000" cy="619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a:solidFill>
                  <a:srgbClr val="606060"/>
                </a:solidFill>
                <a:latin typeface="Inter SemiBold"/>
                <a:ea typeface="Inter SemiBold"/>
                <a:cs typeface="Inter SemiBold"/>
                <a:sym typeface="Inter SemiBold"/>
              </a:rPr>
              <a:t>Hoy → meta</a:t>
            </a:r>
            <a:endParaRPr/>
          </a:p>
        </p:txBody>
      </p:sp>
      <p:sp>
        <p:nvSpPr>
          <p:cNvPr id="313" name="Google Shape;313;hc7cc306779174be_12_0"/>
          <p:cNvSpPr/>
          <p:nvPr/>
        </p:nvSpPr>
        <p:spPr>
          <a:xfrm>
            <a:off x="1333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Retiro sanitario</a:t>
            </a:r>
            <a:endParaRPr/>
          </a:p>
        </p:txBody>
      </p:sp>
      <p:sp>
        <p:nvSpPr>
          <p:cNvPr id="315" name="Google Shape;315;hc7cc306779174be_12_0"/>
          <p:cNvSpPr txBox="1"/>
          <p:nvPr/>
        </p:nvSpPr>
        <p:spPr>
          <a:xfrm>
            <a:off x="1714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16" name="!!reloj"/>
          <p:cNvSpPr txBox="1"/>
          <p:nvPr/>
        </p:nvSpPr>
        <p:spPr>
          <a:xfrm>
            <a:off x="1714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9 días</a:t>
            </a:r>
            <a:endParaRPr/>
          </a:p>
        </p:txBody>
      </p:sp>
      <p:sp>
        <p:nvSpPr>
          <p:cNvPr id="317" name="Google Shape;317;hc7cc306779174be_12_0"/>
          <p:cNvSpPr txBox="1"/>
          <p:nvPr/>
        </p:nvSpPr>
        <p:spPr>
          <a:xfrm>
            <a:off x="3714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18" name="Google Shape;318;hc7cc306779174be_12_0"/>
          <p:cNvSpPr txBox="1"/>
          <p:nvPr/>
        </p:nvSpPr>
        <p:spPr>
          <a:xfrm>
            <a:off x="3714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2 h</a:t>
            </a:r>
            <a:endParaRPr/>
          </a:p>
        </p:txBody>
      </p:sp>
      <p:sp>
        <p:nvSpPr>
          <p:cNvPr id="319" name="Google Shape;319;hc7cc306779174be_12_0"/>
          <p:cNvSpPr/>
          <p:nvPr/>
        </p:nvSpPr>
        <p:spPr>
          <a:xfrm>
            <a:off x="68580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OTIF</a:t>
            </a:r>
            <a:endParaRPr/>
          </a:p>
        </p:txBody>
      </p:sp>
      <p:sp>
        <p:nvSpPr>
          <p:cNvPr id="321" name="Google Shape;321;hc7cc306779174be_12_0"/>
          <p:cNvSpPr txBox="1"/>
          <p:nvPr/>
        </p:nvSpPr>
        <p:spPr>
          <a:xfrm>
            <a:off x="72390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2" name="!!otif"/>
          <p:cNvSpPr txBox="1"/>
          <p:nvPr/>
        </p:nvSpPr>
        <p:spPr>
          <a:xfrm>
            <a:off x="72390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82,4 %</a:t>
            </a:r>
            <a:endParaRPr/>
          </a:p>
        </p:txBody>
      </p:sp>
      <p:sp>
        <p:nvSpPr>
          <p:cNvPr id="323" name="Google Shape;323;hc7cc306779174be_12_0"/>
          <p:cNvSpPr txBox="1"/>
          <p:nvPr/>
        </p:nvSpPr>
        <p:spPr>
          <a:xfrm>
            <a:off x="92392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24" name="Google Shape;324;hc7cc306779174be_12_0"/>
          <p:cNvSpPr txBox="1"/>
          <p:nvPr/>
        </p:nvSpPr>
        <p:spPr>
          <a:xfrm>
            <a:off x="92392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&gt; 95 %</a:t>
            </a:r>
            <a:endParaRPr/>
          </a:p>
        </p:txBody>
      </p:sp>
      <p:sp>
        <p:nvSpPr>
          <p:cNvPr id="325" name="Google Shape;325;hc7cc306779174be_12_0"/>
          <p:cNvSpPr/>
          <p:nvPr/>
        </p:nvSpPr>
        <p:spPr>
          <a:xfrm>
            <a:off x="12382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Sin lote (prod. retirado)</a:t>
            </a:r>
            <a:endParaRPr b="1" sz="240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8" name="Google Shape;328;hc7cc306779174be_12_0"/>
          <p:cNvSpPr txBox="1"/>
          <p:nvPr/>
        </p:nvSpPr>
        <p:spPr>
          <a:xfrm>
            <a:off x="12763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41 %</a:t>
            </a:r>
            <a:endParaRPr/>
          </a:p>
        </p:txBody>
      </p:sp>
      <p:sp>
        <p:nvSpPr>
          <p:cNvPr id="329" name="Google Shape;329;hc7cc306779174be_12_0"/>
          <p:cNvSpPr txBox="1"/>
          <p:nvPr/>
        </p:nvSpPr>
        <p:spPr>
          <a:xfrm>
            <a:off x="14763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0" name="Google Shape;330;hc7cc306779174be_12_0"/>
          <p:cNvSpPr txBox="1"/>
          <p:nvPr/>
        </p:nvSpPr>
        <p:spPr>
          <a:xfrm>
            <a:off x="14763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0 %</a:t>
            </a:r>
            <a:endParaRPr/>
          </a:p>
        </p:txBody>
      </p:sp>
      <p:sp>
        <p:nvSpPr>
          <p:cNvPr id="331" name="Google Shape;331;hc7cc306779174be_12_0"/>
          <p:cNvSpPr/>
          <p:nvPr/>
        </p:nvSpPr>
        <p:spPr>
          <a:xfrm>
            <a:off x="1333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Reentregas</a:t>
            </a:r>
            <a:endParaRPr/>
          </a:p>
        </p:txBody>
      </p:sp>
      <p:sp>
        <p:nvSpPr>
          <p:cNvPr id="333" name="Google Shape;333;hc7cc306779174be_12_0"/>
          <p:cNvSpPr txBox="1"/>
          <p:nvPr/>
        </p:nvSpPr>
        <p:spPr>
          <a:xfrm>
            <a:off x="1714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34" name="Google Shape;334;hc7cc306779174be_12_0"/>
          <p:cNvSpPr txBox="1"/>
          <p:nvPr/>
        </p:nvSpPr>
        <p:spPr>
          <a:xfrm>
            <a:off x="1714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4,2 %</a:t>
            </a:r>
            <a:endParaRPr/>
          </a:p>
        </p:txBody>
      </p:sp>
      <p:sp>
        <p:nvSpPr>
          <p:cNvPr id="335" name="Google Shape;335;hc7cc306779174be_12_0"/>
          <p:cNvSpPr txBox="1"/>
          <p:nvPr/>
        </p:nvSpPr>
        <p:spPr>
          <a:xfrm>
            <a:off x="3714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6" name="Google Shape;336;hc7cc306779174be_12_0"/>
          <p:cNvSpPr txBox="1"/>
          <p:nvPr/>
        </p:nvSpPr>
        <p:spPr>
          <a:xfrm>
            <a:off x="3714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1 %</a:t>
            </a:r>
            <a:endParaRPr/>
          </a:p>
        </p:txBody>
      </p:sp>
      <p:sp>
        <p:nvSpPr>
          <p:cNvPr id="337" name="Google Shape;337;hc7cc306779174be_12_0"/>
          <p:cNvSpPr/>
          <p:nvPr/>
        </p:nvSpPr>
        <p:spPr>
          <a:xfrm>
            <a:off x="68580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Merma por vencimiento</a:t>
            </a:r>
            <a:endParaRPr/>
          </a:p>
        </p:txBody>
      </p:sp>
      <p:sp>
        <p:nvSpPr>
          <p:cNvPr id="339" name="Google Shape;339;hc7cc306779174be_12_0"/>
          <p:cNvSpPr txBox="1"/>
          <p:nvPr/>
        </p:nvSpPr>
        <p:spPr>
          <a:xfrm>
            <a:off x="72390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0" name="Google Shape;340;hc7cc306779174be_12_0"/>
          <p:cNvSpPr txBox="1"/>
          <p:nvPr/>
        </p:nvSpPr>
        <p:spPr>
          <a:xfrm>
            <a:off x="72390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1,7 %</a:t>
            </a:r>
            <a:endParaRPr/>
          </a:p>
        </p:txBody>
      </p:sp>
      <p:sp>
        <p:nvSpPr>
          <p:cNvPr id="341" name="Google Shape;341;hc7cc306779174be_12_0"/>
          <p:cNvSpPr txBox="1"/>
          <p:nvPr/>
        </p:nvSpPr>
        <p:spPr>
          <a:xfrm>
            <a:off x="92392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2" name="Google Shape;342;hc7cc306779174be_12_0"/>
          <p:cNvSpPr txBox="1"/>
          <p:nvPr/>
        </p:nvSpPr>
        <p:spPr>
          <a:xfrm>
            <a:off x="92392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 1,0 %</a:t>
            </a:r>
            <a:endParaRPr/>
          </a:p>
        </p:txBody>
      </p:sp>
      <p:sp>
        <p:nvSpPr>
          <p:cNvPr id="343" name="Google Shape;343;hc7cc306779174be_12_0"/>
          <p:cNvSpPr/>
          <p:nvPr/>
        </p:nvSpPr>
        <p:spPr>
          <a:xfrm>
            <a:off x="12382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Diferencias de rendición</a:t>
            </a:r>
            <a:endParaRPr/>
          </a:p>
        </p:txBody>
      </p:sp>
      <p:sp>
        <p:nvSpPr>
          <p:cNvPr id="345" name="Google Shape;345;hc7cc306779174be_12_0"/>
          <p:cNvSpPr txBox="1"/>
          <p:nvPr/>
        </p:nvSpPr>
        <p:spPr>
          <a:xfrm>
            <a:off x="12763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6" name="Google Shape;346;hc7cc306779174be_12_0"/>
          <p:cNvSpPr txBox="1"/>
          <p:nvPr/>
        </p:nvSpPr>
        <p:spPr>
          <a:xfrm>
            <a:off x="12763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800">
                <a:solidFill>
                  <a:srgbClr val="3C3C3C"/>
                </a:solidFill>
                <a:latin typeface="Inter"/>
                <a:ea typeface="Inter"/>
                <a:cs typeface="Inter"/>
                <a:sym typeface="Inter"/>
              </a:rPr>
              <a:t>$4,2 M/mes</a:t>
            </a:r>
            <a:endParaRPr/>
          </a:p>
        </p:txBody>
      </p:sp>
      <p:sp>
        <p:nvSpPr>
          <p:cNvPr id="347" name="Google Shape;347;hc7cc306779174be_12_0"/>
          <p:cNvSpPr txBox="1"/>
          <p:nvPr/>
        </p:nvSpPr>
        <p:spPr>
          <a:xfrm>
            <a:off x="14763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8" name="Google Shape;348;hc7cc306779174be_12_0"/>
          <p:cNvSpPr txBox="1"/>
          <p:nvPr/>
        </p:nvSpPr>
        <p:spPr>
          <a:xfrm>
            <a:off x="14763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Mismo día</a:t>
            </a:r>
            <a:endParaRPr/>
          </a:p>
        </p:txBody>
      </p:sp>
      <p:sp>
        <p:nvSpPr>
          <p:cNvPr id="3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55" name="!!title"/>
          <p:cNvSpPr txBox="1"/>
          <p:nvPr/>
        </p:nvSpPr>
        <p:spPr>
          <a:xfrm>
            <a:off x="822960" y="457200"/>
            <a:ext cx="109728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Esquema de solución</a:t>
            </a:r>
            <a:endParaRPr/>
          </a:p>
        </p:txBody>
      </p:sp>
      <p:sp>
        <p:nvSpPr>
          <p:cNvPr id="369" name="TextBox 368"/>
          <p:cNvSpPr txBox="1"/>
          <p:nvPr/>
        </p:nvSpPr>
        <p:spPr>
          <a:xfrm>
            <a:off x="822960" y="1691640"/>
            <a:ext cx="8229600" cy="320040"/>
          </a:xfrm>
          <a:prstGeom prst="rect">
            <a:avLst/>
          </a:prstGeom>
          <a:noFill/>
        </p:spPr>
        <p:txBody>
          <a:bodyPr wrap="square" lIns="0" rIns="0" tIns="0" bIns="0" anchor="t">
            <a:spAutoFit/>
          </a:bodyPr>
          <a:lstStyle/>
          <a:p>
            <a:pPr algn="l"/>
            <a:r>
              <a:rPr sz="1400" b="1">
                <a:solidFill>
                  <a:srgbClr val="E8641B"/>
                </a:solidFill>
                <a:latin typeface="Inter SemiBold"/>
              </a:rPr>
              <a:t>CICLO LOGÍSTICO</a:t>
            </a:r>
          </a:p>
        </p:txBody>
      </p:sp>
      <p:sp>
        <p:nvSpPr>
          <p:cNvPr id="370" name="Rounded Rectangle 369"/>
          <p:cNvSpPr/>
          <p:nvPr/>
        </p:nvSpPr>
        <p:spPr>
          <a:xfrm>
            <a:off x="822960"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en terreno</a:t>
            </a:r>
          </a:p>
        </p:txBody>
      </p:sp>
      <p:sp>
        <p:nvSpPr>
          <p:cNvPr id="371" name="Rounded Rectangle 370"/>
          <p:cNvSpPr/>
          <p:nvPr/>
        </p:nvSpPr>
        <p:spPr>
          <a:xfrm>
            <a:off x="3749039"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Canal moderno y portal</a:t>
            </a:r>
          </a:p>
        </p:txBody>
      </p:sp>
      <p:sp>
        <p:nvSpPr>
          <p:cNvPr id="372" name="Rounded Rectangle 371"/>
          <p:cNvSpPr/>
          <p:nvPr/>
        </p:nvSpPr>
        <p:spPr>
          <a:xfrm>
            <a:off x="6675120" y="219456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e inventario</a:t>
            </a:r>
          </a:p>
        </p:txBody>
      </p:sp>
      <p:sp>
        <p:nvSpPr>
          <p:cNvPr id="373" name="Rounded Rectangle 372"/>
          <p:cNvSpPr/>
          <p:nvPr/>
        </p:nvSpPr>
        <p:spPr>
          <a:xfrm>
            <a:off x="822960" y="3611880"/>
            <a:ext cx="54864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Planificación de rutas</a:t>
            </a:r>
          </a:p>
        </p:txBody>
      </p:sp>
      <p:sp>
        <p:nvSpPr>
          <p:cNvPr id="374" name="Rounded Rectangle 373"/>
          <p:cNvSpPr/>
          <p:nvPr/>
        </p:nvSpPr>
        <p:spPr>
          <a:xfrm>
            <a:off x="6675120" y="361188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Preparación y carga</a:t>
            </a:r>
          </a:p>
        </p:txBody>
      </p:sp>
      <p:sp>
        <p:nvSpPr>
          <p:cNvPr id="375" name="Rounded Rectangle 374"/>
          <p:cNvSpPr/>
          <p:nvPr/>
        </p:nvSpPr>
        <p:spPr>
          <a:xfrm>
            <a:off x="3749039" y="502920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Entrega</a:t>
            </a:r>
          </a:p>
        </p:txBody>
      </p:sp>
      <p:sp>
        <p:nvSpPr>
          <p:cNvPr id="376" name="Rounded Rectangle 375"/>
          <p:cNvSpPr/>
          <p:nvPr/>
        </p:nvSpPr>
        <p:spPr>
          <a:xfrm>
            <a:off x="6675120" y="502920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Cross-docking</a:t>
            </a:r>
          </a:p>
        </p:txBody>
      </p:sp>
      <p:sp>
        <p:nvSpPr>
          <p:cNvPr id="377" name="Rounded Rectangle 376"/>
          <p:cNvSpPr/>
          <p:nvPr/>
        </p:nvSpPr>
        <p:spPr>
          <a:xfrm>
            <a:off x="82296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Devoluciones y envases</a:t>
            </a:r>
          </a:p>
        </p:txBody>
      </p:sp>
      <p:sp>
        <p:nvSpPr>
          <p:cNvPr id="378" name="Rounded Rectangle 377"/>
          <p:cNvSpPr/>
          <p:nvPr/>
        </p:nvSpPr>
        <p:spPr>
          <a:xfrm>
            <a:off x="3749039"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Rendición y conciliación</a:t>
            </a:r>
          </a:p>
        </p:txBody>
      </p:sp>
      <p:sp>
        <p:nvSpPr>
          <p:cNvPr id="379" name="Rounded Rectangle 378"/>
          <p:cNvSpPr/>
          <p:nvPr/>
        </p:nvSpPr>
        <p:spPr>
          <a:xfrm>
            <a:off x="667512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ERP · registro contable</a:t>
            </a:r>
          </a:p>
        </p:txBody>
      </p:sp>
      <p:sp>
        <p:nvSpPr>
          <p:cNvPr id="380" name="Rounded Rectangle 379"/>
          <p:cNvSpPr/>
          <p:nvPr/>
        </p:nvSpPr>
        <p:spPr>
          <a:xfrm>
            <a:off x="3749039" y="786384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Análisis · costo de servir</a:t>
            </a:r>
          </a:p>
        </p:txBody>
      </p:sp>
      <p:cxnSp>
        <p:nvCxnSpPr>
          <p:cNvPr id="381" name="Connector 380"/>
          <p:cNvCxnSpPr/>
          <p:nvPr/>
        </p:nvCxnSpPr>
        <p:spPr>
          <a:xfrm>
            <a:off x="210312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920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3" name="TextBox 382"/>
          <p:cNvSpPr txBox="1"/>
          <p:nvPr/>
        </p:nvSpPr>
        <p:spPr>
          <a:xfrm>
            <a:off x="868680" y="3200400"/>
            <a:ext cx="1188720" cy="274320"/>
          </a:xfrm>
          <a:prstGeom prst="rect">
            <a:avLst/>
          </a:prstGeom>
          <a:noFill/>
        </p:spPr>
        <p:txBody>
          <a:bodyPr wrap="square" lIns="0" rIns="0" tIns="0" bIns="0" anchor="t">
            <a:spAutoFit/>
          </a:bodyPr>
          <a:lstStyle/>
          <a:p>
            <a:pPr algn="l"/>
            <a:r>
              <a:rPr sz="1300" b="0">
                <a:solidFill>
                  <a:srgbClr val="606060"/>
                </a:solidFill>
                <a:latin typeface="Inter"/>
              </a:rPr>
              <a:t>pedidos</a:t>
            </a:r>
          </a:p>
        </p:txBody>
      </p:sp>
      <p:cxnSp>
        <p:nvCxnSpPr>
          <p:cNvPr id="384" name="Connector 383"/>
          <p:cNvCxnSpPr/>
          <p:nvPr/>
        </p:nvCxnSpPr>
        <p:spPr>
          <a:xfrm>
            <a:off x="7955279"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6309360" y="4091940"/>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6" name="TextBox 385"/>
          <p:cNvSpPr txBox="1"/>
          <p:nvPr/>
        </p:nvSpPr>
        <p:spPr>
          <a:xfrm>
            <a:off x="5486400" y="3291840"/>
            <a:ext cx="2743200" cy="274320"/>
          </a:xfrm>
          <a:prstGeom prst="rect">
            <a:avLst/>
          </a:prstGeom>
          <a:noFill/>
        </p:spPr>
        <p:txBody>
          <a:bodyPr wrap="square" lIns="0" rIns="0" tIns="0" bIns="0" anchor="t">
            <a:spAutoFit/>
          </a:bodyPr>
          <a:lstStyle/>
          <a:p>
            <a:pPr algn="l"/>
            <a:r>
              <a:rPr sz="1300" b="0">
                <a:solidFill>
                  <a:srgbClr val="606060"/>
                </a:solidFill>
                <a:latin typeface="Inter"/>
              </a:rPr>
              <a:t>asignación y secuencia</a:t>
            </a:r>
          </a:p>
        </p:txBody>
      </p:sp>
      <p:cxnSp>
        <p:nvCxnSpPr>
          <p:cNvPr id="387" name="Connector 386"/>
          <p:cNvCxnSpPr/>
          <p:nvPr/>
        </p:nvCxnSpPr>
        <p:spPr>
          <a:xfrm flipH="1">
            <a:off x="6309359" y="4427982"/>
            <a:ext cx="365761" cy="784098"/>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8" name="TextBox 387"/>
          <p:cNvSpPr txBox="1"/>
          <p:nvPr/>
        </p:nvSpPr>
        <p:spPr>
          <a:xfrm>
            <a:off x="6766560" y="4663440"/>
            <a:ext cx="1097280" cy="274320"/>
          </a:xfrm>
          <a:prstGeom prst="rect">
            <a:avLst/>
          </a:prstGeom>
          <a:noFill/>
        </p:spPr>
        <p:txBody>
          <a:bodyPr wrap="square" lIns="0" rIns="0" tIns="0" bIns="0" anchor="t">
            <a:spAutoFit/>
          </a:bodyPr>
          <a:lstStyle/>
          <a:p>
            <a:pPr algn="l"/>
            <a:r>
              <a:rPr sz="1300" b="0">
                <a:solidFill>
                  <a:srgbClr val="606060"/>
                </a:solidFill>
                <a:latin typeface="Inter"/>
              </a:rPr>
              <a:t>directo</a:t>
            </a:r>
          </a:p>
        </p:txBody>
      </p:sp>
      <p:cxnSp>
        <p:nvCxnSpPr>
          <p:cNvPr id="389" name="Connector 388"/>
          <p:cNvCxnSpPr/>
          <p:nvPr/>
        </p:nvCxnSpPr>
        <p:spPr>
          <a:xfrm>
            <a:off x="7955279" y="457200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H="1">
            <a:off x="6309359" y="5509260"/>
            <a:ext cx="365761"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H="1">
            <a:off x="2359152" y="5797296"/>
            <a:ext cx="1389887" cy="649224"/>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5029200" y="598932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6309359" y="5893308"/>
            <a:ext cx="731521" cy="553212"/>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5029200" y="740664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2103120" y="7406640"/>
            <a:ext cx="5120639" cy="0"/>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a:off x="822960" y="9189720"/>
            <a:ext cx="8229600" cy="320040"/>
          </a:xfrm>
          <a:prstGeom prst="rect">
            <a:avLst/>
          </a:prstGeom>
          <a:noFill/>
        </p:spPr>
        <p:txBody>
          <a:bodyPr wrap="square" lIns="0" rIns="0" tIns="0" bIns="0" anchor="t">
            <a:spAutoFit/>
          </a:bodyPr>
          <a:lstStyle/>
          <a:p>
            <a:pPr algn="l"/>
            <a:r>
              <a:rPr sz="1300" b="0">
                <a:solidFill>
                  <a:srgbClr val="606060"/>
                </a:solidFill>
                <a:latin typeface="Inter"/>
              </a:rPr>
              <a:t>— flujo físico   ┄ registro contable</a:t>
            </a:r>
          </a:p>
        </p:txBody>
      </p:sp>
      <p:sp>
        <p:nvSpPr>
          <p:cNvPr id="397" name="TextBox 396"/>
          <p:cNvSpPr txBox="1"/>
          <p:nvPr/>
        </p:nvSpPr>
        <p:spPr>
          <a:xfrm>
            <a:off x="9875520" y="169164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TRAZABILIDAD Y CADENA DE FRÍO</a:t>
            </a:r>
          </a:p>
        </p:txBody>
      </p:sp>
      <p:sp>
        <p:nvSpPr>
          <p:cNvPr id="398" name="Rounded Rectangle 397"/>
          <p:cNvSpPr/>
          <p:nvPr/>
        </p:nvSpPr>
        <p:spPr>
          <a:xfrm>
            <a:off x="987552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lote y vencimiento</a:t>
            </a:r>
          </a:p>
        </p:txBody>
      </p:sp>
      <p:cxnSp>
        <p:nvCxnSpPr>
          <p:cNvPr id="399" name="Connector 398"/>
          <p:cNvCxnSpPr/>
          <p:nvPr/>
        </p:nvCxnSpPr>
        <p:spPr>
          <a:xfrm>
            <a:off x="1216152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1101852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1" name="Rounded Rectangle 400"/>
          <p:cNvSpPr/>
          <p:nvPr/>
        </p:nvSpPr>
        <p:spPr>
          <a:xfrm>
            <a:off x="12527280" y="2194560"/>
            <a:ext cx="22860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Bodega y preparación</a:t>
            </a:r>
          </a:p>
        </p:txBody>
      </p:sp>
      <p:cxnSp>
        <p:nvCxnSpPr>
          <p:cNvPr id="402" name="Connector 401"/>
          <p:cNvCxnSpPr/>
          <p:nvPr/>
        </p:nvCxnSpPr>
        <p:spPr>
          <a:xfrm>
            <a:off x="1481328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1367028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4" name="Rounded Rectangle 403"/>
          <p:cNvSpPr/>
          <p:nvPr/>
        </p:nvSpPr>
        <p:spPr>
          <a:xfrm>
            <a:off x="1517904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Transporte y entrega</a:t>
            </a:r>
          </a:p>
        </p:txBody>
      </p:sp>
      <p:cxnSp>
        <p:nvCxnSpPr>
          <p:cNvPr id="405" name="Connector 404"/>
          <p:cNvCxnSpPr/>
          <p:nvPr/>
        </p:nvCxnSpPr>
        <p:spPr>
          <a:xfrm>
            <a:off x="1632204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6" name="Rounded Rectangle 405"/>
          <p:cNvSpPr/>
          <p:nvPr/>
        </p:nvSpPr>
        <p:spPr>
          <a:xfrm>
            <a:off x="9875520" y="3749039"/>
            <a:ext cx="7589520" cy="82296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y consulta de trazabilidad</a:t>
            </a:r>
          </a:p>
        </p:txBody>
      </p:sp>
      <p:sp>
        <p:nvSpPr>
          <p:cNvPr id="407" name="TextBox 406"/>
          <p:cNvSpPr txBox="1"/>
          <p:nvPr/>
        </p:nvSpPr>
        <p:spPr>
          <a:xfrm>
            <a:off x="9875520" y="516636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CONTINUIDAD DURANTE CORTES</a:t>
            </a:r>
          </a:p>
        </p:txBody>
      </p:sp>
      <p:sp>
        <p:nvSpPr>
          <p:cNvPr id="408" name="Rounded Rectangle 407"/>
          <p:cNvSpPr/>
          <p:nvPr/>
        </p:nvSpPr>
        <p:spPr>
          <a:xfrm>
            <a:off x="9875520" y="566928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y reparto</a:t>
            </a:r>
          </a:p>
          <a:p>
            <a:pPr algn="ctr"/>
            <a:r>
              <a:rPr sz="1400" b="0">
                <a:solidFill>
                  <a:srgbClr val="111111"/>
                </a:solidFill>
                <a:latin typeface="Inter"/>
              </a:rPr>
              <a:t>14 h sin señal</a:t>
            </a:r>
          </a:p>
        </p:txBody>
      </p:sp>
      <p:cxnSp>
        <p:nvCxnSpPr>
          <p:cNvPr id="409" name="Connector 408"/>
          <p:cNvCxnSpPr/>
          <p:nvPr/>
        </p:nvCxnSpPr>
        <p:spPr>
          <a:xfrm>
            <a:off x="12527280" y="621792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0" name="Rounded Rectangle 409"/>
          <p:cNvSpPr/>
          <p:nvPr/>
        </p:nvSpPr>
        <p:spPr>
          <a:xfrm>
            <a:off x="12801600" y="566928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Sincroniza en ≤ 10 min</a:t>
            </a:r>
          </a:p>
        </p:txBody>
      </p:sp>
      <p:cxnSp>
        <p:nvCxnSpPr>
          <p:cNvPr id="411" name="Connector 410"/>
          <p:cNvCxnSpPr/>
          <p:nvPr/>
        </p:nvCxnSpPr>
        <p:spPr>
          <a:xfrm>
            <a:off x="15179040" y="621792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2" name="Rounded Rectangle 411"/>
          <p:cNvSpPr/>
          <p:nvPr/>
        </p:nvSpPr>
        <p:spPr>
          <a:xfrm>
            <a:off x="9875520" y="708660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Centro de distribución</a:t>
            </a:r>
          </a:p>
          <a:p>
            <a:pPr algn="ctr"/>
            <a:r>
              <a:rPr sz="1400" b="0">
                <a:solidFill>
                  <a:srgbClr val="111111"/>
                </a:solidFill>
                <a:latin typeface="Inter"/>
              </a:rPr>
              <a:t>≥ 24 h sin enlace</a:t>
            </a:r>
          </a:p>
        </p:txBody>
      </p:sp>
      <p:cxnSp>
        <p:nvCxnSpPr>
          <p:cNvPr id="413" name="Connector 412"/>
          <p:cNvCxnSpPr/>
          <p:nvPr/>
        </p:nvCxnSpPr>
        <p:spPr>
          <a:xfrm>
            <a:off x="12527280" y="763524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4" name="Rounded Rectangle 413"/>
          <p:cNvSpPr/>
          <p:nvPr/>
        </p:nvSpPr>
        <p:spPr>
          <a:xfrm>
            <a:off x="12801600" y="708660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 2 h tras un corte de 24 h</a:t>
            </a:r>
          </a:p>
        </p:txBody>
      </p:sp>
      <p:cxnSp>
        <p:nvCxnSpPr>
          <p:cNvPr id="415" name="Connector 414"/>
          <p:cNvCxnSpPr/>
          <p:nvPr/>
        </p:nvCxnSpPr>
        <p:spPr>
          <a:xfrm>
            <a:off x="15179040" y="763524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6" name="Rounded Rectangle 415"/>
          <p:cNvSpPr/>
          <p:nvPr/>
        </p:nvSpPr>
        <p:spPr>
          <a:xfrm>
            <a:off x="15453359" y="5669280"/>
            <a:ext cx="2011680" cy="25146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conciliada</a:t>
            </a:r>
          </a:p>
          <a:p>
            <a:pPr algn="ctr"/>
            <a:r>
              <a:rPr sz="1300" b="0">
                <a:solidFill>
                  <a:srgbClr val="C7C7C7"/>
                </a:solidFill>
                <a:latin typeface="Inter"/>
              </a:rPr>
              <a:t>en la plataforma central</a:t>
            </a:r>
          </a:p>
        </p:txBody>
      </p:sp>
      <p:sp>
        <p:nvSpPr>
          <p:cNvPr id="41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2"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Mapa de módulos</a:t>
            </a:r>
            <a:endParaRPr/>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7" name="Google Shape;377;p8"/>
          <p:cNvSpPr txBox="1"/>
          <p:nvPr/>
        </p:nvSpPr>
        <p:spPr>
          <a:xfrm>
            <a:off x="1828800" y="2579477"/>
            <a:ext cx="14630400" cy="6114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Interfaces → módulos → sistemas externos · la etiqueta indica la etapa de producción</a:t>
            </a:r>
            <a:endParaRPr/>
          </a:p>
        </p:txBody>
      </p:sp>
      <p:sp>
        <p:nvSpPr>
          <p:cNvPr id="378" name="Google Shape;378;p8"/>
          <p:cNvSpPr txBox="1"/>
          <p:nvPr/>
        </p:nvSpPr>
        <p:spPr>
          <a:xfrm>
            <a:off x="548640" y="32461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INTERFACES</a:t>
            </a:r>
            <a:endParaRPr/>
          </a:p>
        </p:txBody>
      </p:sp>
      <p:sp>
        <p:nvSpPr>
          <p:cNvPr id="379" name="Google Shape;379;p8"/>
          <p:cNvSpPr/>
          <p:nvPr/>
        </p:nvSpPr>
        <p:spPr>
          <a:xfrm>
            <a:off x="548640" y="361188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Preventa</a:t>
            </a:r>
            <a:endParaRPr/>
          </a:p>
        </p:txBody>
      </p:sp>
      <p:sp>
        <p:nvSpPr>
          <p:cNvPr id="380" name="Google Shape;380;p8"/>
          <p:cNvSpPr/>
          <p:nvPr/>
        </p:nvSpPr>
        <p:spPr>
          <a:xfrm>
            <a:off x="548640" y="423367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Reparto</a:t>
            </a:r>
            <a:endParaRPr/>
          </a:p>
        </p:txBody>
      </p:sp>
      <p:sp>
        <p:nvSpPr>
          <p:cNvPr id="381" name="Google Shape;381;p8"/>
          <p:cNvSpPr/>
          <p:nvPr/>
        </p:nvSpPr>
        <p:spPr>
          <a:xfrm>
            <a:off x="548640" y="4855464"/>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Bodega</a:t>
            </a:r>
            <a:endParaRPr/>
          </a:p>
        </p:txBody>
      </p:sp>
      <p:sp>
        <p:nvSpPr>
          <p:cNvPr id="382" name="Google Shape;382;p8"/>
          <p:cNvSpPr/>
          <p:nvPr/>
        </p:nvSpPr>
        <p:spPr>
          <a:xfrm>
            <a:off x="548640" y="5477256"/>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Clientes</a:t>
            </a:r>
            <a:endParaRPr/>
          </a:p>
        </p:txBody>
      </p:sp>
      <p:sp>
        <p:nvSpPr>
          <p:cNvPr id="383" name="Google Shape;383;p8"/>
          <p:cNvSpPr/>
          <p:nvPr/>
        </p:nvSpPr>
        <p:spPr>
          <a:xfrm>
            <a:off x="548640" y="6099048"/>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Transportistas</a:t>
            </a:r>
            <a:endParaRPr/>
          </a:p>
        </p:txBody>
      </p:sp>
      <p:sp>
        <p:nvSpPr>
          <p:cNvPr id="384" name="Google Shape;384;p8"/>
          <p:cNvSpPr/>
          <p:nvPr/>
        </p:nvSpPr>
        <p:spPr>
          <a:xfrm>
            <a:off x="548640" y="672084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Proveedores</a:t>
            </a:r>
            <a:endParaRPr/>
          </a:p>
        </p:txBody>
      </p:sp>
      <p:sp>
        <p:nvSpPr>
          <p:cNvPr id="385" name="Google Shape;385;p8"/>
          <p:cNvSpPr/>
          <p:nvPr/>
        </p:nvSpPr>
        <p:spPr>
          <a:xfrm>
            <a:off x="548640" y="734263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Consolas</a:t>
            </a:r>
            <a:endParaRPr/>
          </a:p>
        </p:txBody>
      </p:sp>
      <p:cxnSp>
        <p:nvCxnSpPr>
          <p:cNvPr id="386" name="Google Shape;386;p8"/>
          <p:cNvCxnSpPr/>
          <p:nvPr/>
        </p:nvCxnSpPr>
        <p:spPr>
          <a:xfrm>
            <a:off x="3017520" y="5760720"/>
            <a:ext cx="228600"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87" name="Google Shape;387;p8"/>
          <p:cNvSpPr/>
          <p:nvPr/>
        </p:nvSpPr>
        <p:spPr>
          <a:xfrm>
            <a:off x="3291840" y="3246120"/>
            <a:ext cx="758952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Bodega y calidad</a:t>
            </a:r>
            <a:endParaRPr/>
          </a:p>
        </p:txBody>
      </p:sp>
      <p:sp>
        <p:nvSpPr>
          <p:cNvPr id="389" name="Google Shape;389;p8"/>
          <p:cNvSpPr/>
          <p:nvPr/>
        </p:nvSpPr>
        <p:spPr>
          <a:xfrm>
            <a:off x="34290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a:t>
            </a:r>
            <a:endParaRPr/>
          </a:p>
        </p:txBody>
      </p:sp>
      <p:sp>
        <p:nvSpPr>
          <p:cNvPr id="391" name="Google Shape;391;p8"/>
          <p:cNvSpPr txBox="1"/>
          <p:nvPr/>
        </p:nvSpPr>
        <p:spPr>
          <a:xfrm>
            <a:off x="35204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Recepción</a:t>
            </a:r>
            <a:endParaRPr/>
          </a:p>
        </p:txBody>
      </p:sp>
      <p:sp>
        <p:nvSpPr>
          <p:cNvPr id="392" name="Google Shape;392;p8"/>
          <p:cNvSpPr/>
          <p:nvPr/>
        </p:nvSpPr>
        <p:spPr>
          <a:xfrm>
            <a:off x="3520440"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3" name="Google Shape;393;p8"/>
          <p:cNvSpPr/>
          <p:nvPr/>
        </p:nvSpPr>
        <p:spPr>
          <a:xfrm>
            <a:off x="4910328"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M2</a:t>
            </a:r>
            <a:endParaRPr/>
          </a:p>
        </p:txBody>
      </p:sp>
      <p:sp>
        <p:nvSpPr>
          <p:cNvPr id="395" name="Google Shape;395;p8"/>
          <p:cNvSpPr txBox="1"/>
          <p:nvPr/>
        </p:nvSpPr>
        <p:spPr>
          <a:xfrm>
            <a:off x="5001768"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Inventario</a:t>
            </a:r>
            <a:endParaRPr/>
          </a:p>
        </p:txBody>
      </p:sp>
      <p:sp>
        <p:nvSpPr>
          <p:cNvPr id="396" name="Google Shape;396;p8"/>
          <p:cNvSpPr/>
          <p:nvPr/>
        </p:nvSpPr>
        <p:spPr>
          <a:xfrm>
            <a:off x="5001768"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7" name="Google Shape;397;p8"/>
          <p:cNvSpPr/>
          <p:nvPr/>
        </p:nvSpPr>
        <p:spPr>
          <a:xfrm>
            <a:off x="6391656"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M5</a:t>
            </a:r>
            <a:endParaRPr/>
          </a:p>
        </p:txBody>
      </p:sp>
      <p:sp>
        <p:nvSpPr>
          <p:cNvPr id="399" name="Google Shape;399;p8"/>
          <p:cNvSpPr txBox="1"/>
          <p:nvPr/>
        </p:nvSpPr>
        <p:spPr>
          <a:xfrm>
            <a:off x="6483096"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Preparación</a:t>
            </a:r>
            <a:endParaRPr/>
          </a:p>
        </p:txBody>
      </p:sp>
      <p:sp>
        <p:nvSpPr>
          <p:cNvPr id="400" name="Google Shape;400;p8"/>
          <p:cNvSpPr/>
          <p:nvPr/>
        </p:nvSpPr>
        <p:spPr>
          <a:xfrm>
            <a:off x="6483096"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1" name="Google Shape;401;p8"/>
          <p:cNvSpPr/>
          <p:nvPr/>
        </p:nvSpPr>
        <p:spPr>
          <a:xfrm>
            <a:off x="7872983" y="3685031"/>
            <a:ext cx="1371600" cy="1627632"/>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Inter SemiBold"/>
                <a:ea typeface="Inter SemiBold"/>
                <a:cs typeface="Inter SemiBold"/>
                <a:sym typeface="Inter SemiBold"/>
              </a:rPr>
              <a:t>M9</a:t>
            </a:r>
            <a:endParaRPr/>
          </a:p>
        </p:txBody>
      </p:sp>
      <p:sp>
        <p:nvSpPr>
          <p:cNvPr id="403" name="Google Shape;403;p8"/>
          <p:cNvSpPr txBox="1"/>
          <p:nvPr/>
        </p:nvSpPr>
        <p:spPr>
          <a:xfrm>
            <a:off x="7964423"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FFFFFF"/>
                </a:solidFill>
                <a:latin typeface="Inter SemiBold"/>
                <a:ea typeface="Inter SemiBold"/>
                <a:cs typeface="Inter SemiBold"/>
                <a:sym typeface="Inter SemiBold"/>
              </a:rPr>
              <a:t>Calidad y trazabilidad</a:t>
            </a:r>
            <a:endParaRPr/>
          </a:p>
        </p:txBody>
      </p:sp>
      <p:sp>
        <p:nvSpPr>
          <p:cNvPr id="404" name="Google Shape;404;p8"/>
          <p:cNvSpPr/>
          <p:nvPr/>
        </p:nvSpPr>
        <p:spPr>
          <a:xfrm>
            <a:off x="7964423"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5" name="Google Shape;405;p8"/>
          <p:cNvSpPr/>
          <p:nvPr/>
        </p:nvSpPr>
        <p:spPr>
          <a:xfrm>
            <a:off x="9354312"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M12</a:t>
            </a:r>
            <a:endParaRPr/>
          </a:p>
        </p:txBody>
      </p:sp>
      <p:sp>
        <p:nvSpPr>
          <p:cNvPr id="407" name="Google Shape;407;p8"/>
          <p:cNvSpPr txBox="1"/>
          <p:nvPr/>
        </p:nvSpPr>
        <p:spPr>
          <a:xfrm>
            <a:off x="9445752"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Telemetría</a:t>
            </a:r>
            <a:endParaRPr/>
          </a:p>
        </p:txBody>
      </p:sp>
      <p:sp>
        <p:nvSpPr>
          <p:cNvPr id="408" name="Google Shape;408;p8"/>
          <p:cNvSpPr/>
          <p:nvPr/>
        </p:nvSpPr>
        <p:spPr>
          <a:xfrm>
            <a:off x="9445752"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9" name="Google Shape;409;p8"/>
          <p:cNvSpPr/>
          <p:nvPr/>
        </p:nvSpPr>
        <p:spPr>
          <a:xfrm>
            <a:off x="11064240" y="3246120"/>
            <a:ext cx="320040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Canal moderno</a:t>
            </a:r>
            <a:endParaRPr/>
          </a:p>
        </p:txBody>
      </p:sp>
      <p:sp>
        <p:nvSpPr>
          <p:cNvPr id="411" name="Google Shape;411;p8"/>
          <p:cNvSpPr/>
          <p:nvPr/>
        </p:nvSpPr>
        <p:spPr>
          <a:xfrm>
            <a:off x="112014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M11</a:t>
            </a:r>
            <a:endParaRPr/>
          </a:p>
        </p:txBody>
      </p:sp>
      <p:sp>
        <p:nvSpPr>
          <p:cNvPr id="413" name="Google Shape;413;p8"/>
          <p:cNvSpPr txBox="1"/>
          <p:nvPr/>
        </p:nvSpPr>
        <p:spPr>
          <a:xfrm>
            <a:off x="112928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EDI</a:t>
            </a:r>
            <a:endParaRPr/>
          </a:p>
        </p:txBody>
      </p:sp>
      <p:sp>
        <p:nvSpPr>
          <p:cNvPr id="414" name="Google Shape;414;p8"/>
          <p:cNvSpPr/>
          <p:nvPr/>
        </p:nvSpPr>
        <p:spPr>
          <a:xfrm>
            <a:off x="11292840" y="4928616"/>
            <a:ext cx="1188720" cy="292608"/>
          </a:xfrm>
          <a:prstGeom prst="roundRect">
            <a:avLst>
              <a:gd fmla="val 5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2</a:t>
            </a:r>
            <a:endParaRPr/>
          </a:p>
        </p:txBody>
      </p:sp>
      <p:sp>
        <p:nvSpPr>
          <p:cNvPr id="415" name="Google Shape;415;p8"/>
          <p:cNvSpPr txBox="1"/>
          <p:nvPr/>
        </p:nvSpPr>
        <p:spPr>
          <a:xfrm>
            <a:off x="12682728" y="3749039"/>
            <a:ext cx="1444751"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Pedido electrónico → M3</a:t>
            </a:r>
            <a:endParaRPr/>
          </a:p>
        </p:txBody>
      </p:sp>
      <p:sp>
        <p:nvSpPr>
          <p:cNvPr id="416" name="Google Shape;416;p8"/>
          <p:cNvSpPr/>
          <p:nvPr/>
        </p:nvSpPr>
        <p:spPr>
          <a:xfrm>
            <a:off x="3291840" y="5596128"/>
            <a:ext cx="612648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Preventa, rutas y reparto</a:t>
            </a:r>
            <a:endParaRPr/>
          </a:p>
        </p:txBody>
      </p:sp>
      <p:sp>
        <p:nvSpPr>
          <p:cNvPr id="418" name="Google Shape;418;p8"/>
          <p:cNvSpPr/>
          <p:nvPr/>
        </p:nvSpPr>
        <p:spPr>
          <a:xfrm>
            <a:off x="342900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M3</a:t>
            </a:r>
            <a:endParaRPr/>
          </a:p>
        </p:txBody>
      </p:sp>
      <p:sp>
        <p:nvSpPr>
          <p:cNvPr id="420" name="Google Shape;420;p8"/>
          <p:cNvSpPr txBox="1"/>
          <p:nvPr/>
        </p:nvSpPr>
        <p:spPr>
          <a:xfrm>
            <a:off x="352044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Preventa</a:t>
            </a:r>
            <a:endParaRPr/>
          </a:p>
        </p:txBody>
      </p:sp>
      <p:sp>
        <p:nvSpPr>
          <p:cNvPr id="421" name="Google Shape;421;p8"/>
          <p:cNvSpPr/>
          <p:nvPr/>
        </p:nvSpPr>
        <p:spPr>
          <a:xfrm>
            <a:off x="352044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2" name="Google Shape;422;p8"/>
          <p:cNvSpPr/>
          <p:nvPr/>
        </p:nvSpPr>
        <p:spPr>
          <a:xfrm>
            <a:off x="491032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M4</a:t>
            </a:r>
            <a:endParaRPr/>
          </a:p>
        </p:txBody>
      </p:sp>
      <p:sp>
        <p:nvSpPr>
          <p:cNvPr id="424" name="Google Shape;424;p8"/>
          <p:cNvSpPr txBox="1"/>
          <p:nvPr/>
        </p:nvSpPr>
        <p:spPr>
          <a:xfrm>
            <a:off x="500176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Rutas + GIS</a:t>
            </a:r>
            <a:endParaRPr/>
          </a:p>
        </p:txBody>
      </p:sp>
      <p:sp>
        <p:nvSpPr>
          <p:cNvPr id="425" name="Google Shape;425;p8"/>
          <p:cNvSpPr/>
          <p:nvPr/>
        </p:nvSpPr>
        <p:spPr>
          <a:xfrm>
            <a:off x="5001768"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6" name="Google Shape;426;p8"/>
          <p:cNvSpPr/>
          <p:nvPr/>
        </p:nvSpPr>
        <p:spPr>
          <a:xfrm>
            <a:off x="6391656"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M6</a:t>
            </a:r>
            <a:endParaRPr/>
          </a:p>
        </p:txBody>
      </p:sp>
      <p:sp>
        <p:nvSpPr>
          <p:cNvPr id="428" name="Google Shape;428;p8"/>
          <p:cNvSpPr txBox="1"/>
          <p:nvPr/>
        </p:nvSpPr>
        <p:spPr>
          <a:xfrm>
            <a:off x="6483096"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Reparto</a:t>
            </a:r>
            <a:endParaRPr/>
          </a:p>
        </p:txBody>
      </p:sp>
      <p:sp>
        <p:nvSpPr>
          <p:cNvPr id="429" name="Google Shape;429;p8"/>
          <p:cNvSpPr/>
          <p:nvPr/>
        </p:nvSpPr>
        <p:spPr>
          <a:xfrm>
            <a:off x="6483096"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0" name="Google Shape;430;p8"/>
          <p:cNvSpPr/>
          <p:nvPr/>
        </p:nvSpPr>
        <p:spPr>
          <a:xfrm>
            <a:off x="7872983"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M8</a:t>
            </a:r>
            <a:endParaRPr/>
          </a:p>
        </p:txBody>
      </p:sp>
      <p:sp>
        <p:nvSpPr>
          <p:cNvPr id="432" name="Google Shape;432;p8"/>
          <p:cNvSpPr txBox="1"/>
          <p:nvPr/>
        </p:nvSpPr>
        <p:spPr>
          <a:xfrm>
            <a:off x="7964423"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Devoluciones y envases</a:t>
            </a:r>
            <a:endParaRPr/>
          </a:p>
        </p:txBody>
      </p:sp>
      <p:sp>
        <p:nvSpPr>
          <p:cNvPr id="433" name="Google Shape;433;p8"/>
          <p:cNvSpPr/>
          <p:nvPr/>
        </p:nvSpPr>
        <p:spPr>
          <a:xfrm>
            <a:off x="7964423"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4" name="Google Shape;434;p8"/>
          <p:cNvSpPr/>
          <p:nvPr/>
        </p:nvSpPr>
        <p:spPr>
          <a:xfrm>
            <a:off x="9601200" y="5596128"/>
            <a:ext cx="466344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Datos y rendición</a:t>
            </a:r>
            <a:endParaRPr/>
          </a:p>
        </p:txBody>
      </p:sp>
      <p:sp>
        <p:nvSpPr>
          <p:cNvPr id="436" name="Google Shape;436;p8"/>
          <p:cNvSpPr/>
          <p:nvPr/>
        </p:nvSpPr>
        <p:spPr>
          <a:xfrm>
            <a:off x="973836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M7</a:t>
            </a:r>
            <a:endParaRPr/>
          </a:p>
        </p:txBody>
      </p:sp>
      <p:sp>
        <p:nvSpPr>
          <p:cNvPr id="438" name="Google Shape;438;p8"/>
          <p:cNvSpPr txBox="1"/>
          <p:nvPr/>
        </p:nvSpPr>
        <p:spPr>
          <a:xfrm>
            <a:off x="982980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Cobranza y rendición</a:t>
            </a:r>
            <a:endParaRPr/>
          </a:p>
        </p:txBody>
      </p:sp>
      <p:sp>
        <p:nvSpPr>
          <p:cNvPr id="439" name="Google Shape;439;p8"/>
          <p:cNvSpPr/>
          <p:nvPr/>
        </p:nvSpPr>
        <p:spPr>
          <a:xfrm>
            <a:off x="982980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40" name="Google Shape;440;p8"/>
          <p:cNvSpPr/>
          <p:nvPr/>
        </p:nvSpPr>
        <p:spPr>
          <a:xfrm>
            <a:off x="1121968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M10</a:t>
            </a:r>
            <a:endParaRPr/>
          </a:p>
        </p:txBody>
      </p:sp>
      <p:sp>
        <p:nvSpPr>
          <p:cNvPr id="442" name="Google Shape;442;p8"/>
          <p:cNvSpPr txBox="1"/>
          <p:nvPr/>
        </p:nvSpPr>
        <p:spPr>
          <a:xfrm>
            <a:off x="1131112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Analítica BI</a:t>
            </a:r>
            <a:endParaRPr/>
          </a:p>
        </p:txBody>
      </p:sp>
      <p:sp>
        <p:nvSpPr>
          <p:cNvPr id="443" name="Google Shape;443;p8"/>
          <p:cNvSpPr/>
          <p:nvPr/>
        </p:nvSpPr>
        <p:spPr>
          <a:xfrm>
            <a:off x="11311128" y="7278624"/>
            <a:ext cx="1188720" cy="292608"/>
          </a:xfrm>
          <a:prstGeom prst="roundRect">
            <a:avLst>
              <a:gd fmla="val 5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 y 2</a:t>
            </a:r>
            <a:endParaRPr/>
          </a:p>
        </p:txBody>
      </p:sp>
      <p:sp>
        <p:nvSpPr>
          <p:cNvPr id="444" name="Google Shape;444;p8"/>
          <p:cNvSpPr txBox="1"/>
          <p:nvPr/>
        </p:nvSpPr>
        <p:spPr>
          <a:xfrm>
            <a:off x="12701016" y="6099048"/>
            <a:ext cx="1426463"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OTIF y costo de servir</a:t>
            </a:r>
            <a:endParaRPr/>
          </a:p>
        </p:txBody>
      </p:sp>
      <p:cxnSp>
        <p:nvCxnSpPr>
          <p:cNvPr id="445" name="Google Shape;445;p8"/>
          <p:cNvCxnSpPr/>
          <p:nvPr/>
        </p:nvCxnSpPr>
        <p:spPr>
          <a:xfrm>
            <a:off x="4800600"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451" name="Google Shape;451;p8"/>
          <p:cNvSpPr/>
          <p:nvPr/>
        </p:nvSpPr>
        <p:spPr>
          <a:xfrm>
            <a:off x="3291840" y="7973568"/>
            <a:ext cx="10972800" cy="621792"/>
          </a:xfrm>
          <a:prstGeom prst="roundRect">
            <a:avLst>
              <a:gd fmla="val 15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500">
                <a:solidFill>
                  <a:srgbClr val="F29A5E"/>
                </a:solidFill>
                <a:latin typeface="Inter SemiBold"/>
                <a:ea typeface="Inter SemiBold"/>
                <a:cs typeface="Inter SemiBold"/>
                <a:sym typeface="Inter SemiBold"/>
              </a:rPr>
              <a:t>BASE COMÚN  </a:t>
            </a:r>
            <a:r>
              <a:rPr b="0" lang="en-US" sz="1500">
                <a:solidFill>
                  <a:srgbClr val="FFFFFF"/>
                </a:solidFill>
                <a:latin typeface="Inter"/>
                <a:ea typeface="Inter"/>
                <a:cs typeface="Inter"/>
                <a:sym typeface="Inter"/>
              </a:rPr>
              <a:t>identidad · integración · auditoría · sin conexión · observabilidad</a:t>
            </a:r>
            <a:endParaRPr/>
          </a:p>
        </p:txBody>
      </p:sp>
      <p:sp>
        <p:nvSpPr>
          <p:cNvPr id="452" name="Google Shape;452;p8"/>
          <p:cNvSpPr txBox="1"/>
          <p:nvPr/>
        </p:nvSpPr>
        <p:spPr>
          <a:xfrm>
            <a:off x="14584680" y="3246120"/>
            <a:ext cx="3200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SISTEMAS EXTERNOS</a:t>
            </a:r>
            <a:endParaRPr/>
          </a:p>
        </p:txBody>
      </p:sp>
      <p:sp>
        <p:nvSpPr>
          <p:cNvPr id="453" name="Google Shape;453;p8"/>
          <p:cNvSpPr/>
          <p:nvPr/>
        </p:nvSpPr>
        <p:spPr>
          <a:xfrm>
            <a:off x="14584680" y="3611880"/>
            <a:ext cx="3200400" cy="1097280"/>
          </a:xfrm>
          <a:prstGeom prst="roundRect">
            <a:avLst>
              <a:gd fmla="val 8000" name="adj"/>
            </a:avLst>
          </a:prstGeom>
          <a:solidFill>
            <a:srgbClr val="111111"/>
          </a:solidFill>
          <a:ln>
            <a:noFill/>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FFFFFF"/>
                </a:solidFill>
                <a:latin typeface="Inter SemiBold"/>
                <a:ea typeface="Inter SemiBold"/>
                <a:cs typeface="Inter SemiBold"/>
                <a:sym typeface="Inter SemiBold"/>
              </a:rPr>
              <a:t>ERP 2017</a:t>
            </a:r>
            <a:endParaRPr/>
          </a:p>
          <a:p>
            <a:pPr indent="0" lvl="0" marL="0" marR="0" rtl="0" algn="l">
              <a:spcBef>
                <a:spcPts val="0"/>
              </a:spcBef>
              <a:spcAft>
                <a:spcPts val="0"/>
              </a:spcAft>
              <a:buNone/>
            </a:pPr>
            <a:r>
              <a:rPr b="0" lang="en-US" sz="1400">
                <a:solidFill>
                  <a:srgbClr val="C7C7C7"/>
                </a:solidFill>
                <a:latin typeface="Inter"/>
                <a:ea typeface="Inter"/>
                <a:cs typeface="Inter"/>
                <a:sym typeface="Inter"/>
              </a:rPr>
              <a:t>Único emisor tributario · vía ACL</a:t>
            </a:r>
            <a:endParaRPr/>
          </a:p>
        </p:txBody>
      </p:sp>
      <p:cxnSp>
        <p:nvCxnSpPr>
          <p:cNvPr id="454" name="Google Shape;454;p8"/>
          <p:cNvCxnSpPr/>
          <p:nvPr/>
        </p:nvCxnSpPr>
        <p:spPr>
          <a:xfrm>
            <a:off x="14282928" y="416052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5" name="Google Shape;455;p8"/>
          <p:cNvSpPr/>
          <p:nvPr/>
        </p:nvSpPr>
        <p:spPr>
          <a:xfrm>
            <a:off x="14584680" y="594360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Geolocalización</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Mapas y posición para rutas</a:t>
            </a:r>
            <a:endParaRPr b="0" sz="140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7" name="Google Shape;457;p8"/>
          <p:cNvSpPr/>
          <p:nvPr/>
        </p:nvSpPr>
        <p:spPr>
          <a:xfrm>
            <a:off x="14584680" y="763524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Cadenas</a:t>
            </a:r>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EDI con el canal moderno</a:t>
            </a:r>
            <a:endParaRPr/>
          </a:p>
        </p:txBody>
      </p:sp>
      <p:cxnSp>
        <p:nvCxnSpPr>
          <p:cNvPr id="458" name="Google Shape;458;p8"/>
          <p:cNvCxnSpPr/>
          <p:nvPr/>
        </p:nvCxnSpPr>
        <p:spPr>
          <a:xfrm>
            <a:off x="14282928" y="642366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60" name="Google Shape;460;p8"/>
          <p:cNvSpPr/>
          <p:nvPr/>
        </p:nvSpPr>
        <p:spPr>
          <a:xfrm>
            <a:off x="14584680" y="484632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Transbank</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Pagos</a:t>
            </a:r>
            <a:endParaRPr b="0" sz="140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INTEGRACIÓN · ETAPA 2</a:t>
            </a:r>
            <a:endParaRPr b="1" sz="1400">
              <a:solidFill>
                <a:srgbClr val="E8641B"/>
              </a:solidFill>
              <a:latin typeface="Inter SemiBold"/>
              <a:ea typeface="Inter SemiBold"/>
              <a:cs typeface="Inter SemiBold"/>
              <a:sym typeface="Inter SemiBold"/>
            </a:endParaRPr>
          </a:p>
        </p:txBody>
      </p:sp>
      <p:sp>
        <p:nvSpPr>
          <p:cNvPr id="46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9" name="!!title"/>
          <p:cNvSpPr txBox="1"/>
          <p:nvPr/>
        </p:nvSpPr>
        <p:spPr>
          <a:xfrm>
            <a:off x="822960" y="365760"/>
            <a:ext cx="109728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lógica</a:t>
            </a:r>
            <a:endParaRPr/>
          </a:p>
        </p:txBody>
      </p:sp>
      <p:sp>
        <p:nvSpPr>
          <p:cNvPr id="481" name="!!band1"/>
          <p:cNvSpPr/>
          <p:nvPr/>
        </p:nvSpPr>
        <p:spPr>
          <a:xfrm>
            <a:off x="822960" y="146304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82" name="Oval 481"/>
          <p:cNvSpPr/>
          <p:nvPr/>
        </p:nvSpPr>
        <p:spPr>
          <a:xfrm>
            <a:off x="1005840" y="175564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1</a:t>
            </a:r>
          </a:p>
        </p:txBody>
      </p:sp>
      <p:sp>
        <p:nvSpPr>
          <p:cNvPr id="483" name="TextBox 482"/>
          <p:cNvSpPr txBox="1"/>
          <p:nvPr/>
        </p:nvSpPr>
        <p:spPr>
          <a:xfrm>
            <a:off x="1737360" y="166420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Presentación</a:t>
            </a:r>
          </a:p>
        </p:txBody>
      </p:sp>
      <p:sp>
        <p:nvSpPr>
          <p:cNvPr id="484" name="TextBox 483"/>
          <p:cNvSpPr txBox="1"/>
          <p:nvPr/>
        </p:nvSpPr>
        <p:spPr>
          <a:xfrm>
            <a:off x="1737360" y="2084832"/>
            <a:ext cx="3108960" cy="365760"/>
          </a:xfrm>
          <a:prstGeom prst="rect">
            <a:avLst/>
          </a:prstGeom>
          <a:noFill/>
        </p:spPr>
        <p:txBody>
          <a:bodyPr wrap="square" lIns="0" rIns="0" tIns="0" bIns="0" anchor="t">
            <a:spAutoFit/>
          </a:bodyPr>
          <a:lstStyle/>
          <a:p>
            <a:pPr algn="l"/>
            <a:r>
              <a:rPr sz="1300" b="0">
                <a:solidFill>
                  <a:srgbClr val="606060"/>
                </a:solidFill>
                <a:latin typeface="Inter"/>
              </a:rPr>
              <a:t>captura y muestra la información</a:t>
            </a:r>
          </a:p>
        </p:txBody>
      </p:sp>
      <p:sp>
        <p:nvSpPr>
          <p:cNvPr id="485" name="Rounded Rectangle 484"/>
          <p:cNvSpPr/>
          <p:nvPr/>
        </p:nvSpPr>
        <p:spPr>
          <a:xfrm>
            <a:off x="493776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Perfiles Kotlin · Android</a:t>
            </a:r>
          </a:p>
        </p:txBody>
      </p:sp>
      <p:sp>
        <p:nvSpPr>
          <p:cNvPr id="486" name="Rounded Rectangle 485"/>
          <p:cNvSpPr/>
          <p:nvPr/>
        </p:nvSpPr>
        <p:spPr>
          <a:xfrm>
            <a:off x="723519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Portales Angular</a:t>
            </a:r>
          </a:p>
        </p:txBody>
      </p:sp>
      <p:sp>
        <p:nvSpPr>
          <p:cNvPr id="487" name="Rounded Rectangle 486"/>
          <p:cNvSpPr/>
          <p:nvPr/>
        </p:nvSpPr>
        <p:spPr>
          <a:xfrm>
            <a:off x="953262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Consolas back-office</a:t>
            </a:r>
          </a:p>
        </p:txBody>
      </p:sp>
      <p:sp>
        <p:nvSpPr>
          <p:cNvPr id="488" name="Rounded Rectangle 487"/>
          <p:cNvSpPr/>
          <p:nvPr/>
        </p:nvSpPr>
        <p:spPr>
          <a:xfrm>
            <a:off x="1183005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15 actores</a:t>
            </a:r>
          </a:p>
        </p:txBody>
      </p:sp>
      <p:sp>
        <p:nvSpPr>
          <p:cNvPr id="489" name="!!band2"/>
          <p:cNvSpPr/>
          <p:nvPr/>
        </p:nvSpPr>
        <p:spPr>
          <a:xfrm>
            <a:off x="822960" y="278892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90" name="Oval 489"/>
          <p:cNvSpPr/>
          <p:nvPr/>
        </p:nvSpPr>
        <p:spPr>
          <a:xfrm>
            <a:off x="1005840" y="3081527"/>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2</a:t>
            </a:r>
          </a:p>
        </p:txBody>
      </p:sp>
      <p:sp>
        <p:nvSpPr>
          <p:cNvPr id="491" name="TextBox 490"/>
          <p:cNvSpPr txBox="1"/>
          <p:nvPr/>
        </p:nvSpPr>
        <p:spPr>
          <a:xfrm>
            <a:off x="1737360" y="299008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Borde y exposición</a:t>
            </a:r>
          </a:p>
        </p:txBody>
      </p:sp>
      <p:sp>
        <p:nvSpPr>
          <p:cNvPr id="492" name="TextBox 491"/>
          <p:cNvSpPr txBox="1"/>
          <p:nvPr/>
        </p:nvSpPr>
        <p:spPr>
          <a:xfrm>
            <a:off x="1737360" y="3410712"/>
            <a:ext cx="3108960" cy="365760"/>
          </a:xfrm>
          <a:prstGeom prst="rect">
            <a:avLst/>
          </a:prstGeom>
          <a:noFill/>
        </p:spPr>
        <p:txBody>
          <a:bodyPr wrap="square" lIns="0" rIns="0" tIns="0" bIns="0" anchor="t">
            <a:spAutoFit/>
          </a:bodyPr>
          <a:lstStyle/>
          <a:p>
            <a:pPr algn="l"/>
            <a:r>
              <a:rPr sz="1300" b="0">
                <a:solidFill>
                  <a:srgbClr val="606060"/>
                </a:solidFill>
                <a:latin typeface="Inter"/>
              </a:rPr>
              <a:t>protege la entrada</a:t>
            </a:r>
          </a:p>
        </p:txBody>
      </p:sp>
      <p:sp>
        <p:nvSpPr>
          <p:cNvPr id="493" name="Rounded Rectangle 492"/>
          <p:cNvSpPr/>
          <p:nvPr/>
        </p:nvSpPr>
        <p:spPr>
          <a:xfrm>
            <a:off x="493776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Route 53</a:t>
            </a:r>
          </a:p>
        </p:txBody>
      </p:sp>
      <p:sp>
        <p:nvSpPr>
          <p:cNvPr id="494" name="Rounded Rectangle 493"/>
          <p:cNvSpPr/>
          <p:nvPr/>
        </p:nvSpPr>
        <p:spPr>
          <a:xfrm>
            <a:off x="723519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CloudFront + WAF + Shield</a:t>
            </a:r>
          </a:p>
        </p:txBody>
      </p:sp>
      <p:sp>
        <p:nvSpPr>
          <p:cNvPr id="495" name="Rounded Rectangle 494"/>
          <p:cNvSpPr/>
          <p:nvPr/>
        </p:nvSpPr>
        <p:spPr>
          <a:xfrm>
            <a:off x="953262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TLS 1.3 · HSTS</a:t>
            </a:r>
          </a:p>
        </p:txBody>
      </p:sp>
      <p:sp>
        <p:nvSpPr>
          <p:cNvPr id="496" name="Rounded Rectangle 495"/>
          <p:cNvSpPr/>
          <p:nvPr/>
        </p:nvSpPr>
        <p:spPr>
          <a:xfrm>
            <a:off x="1183005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Firewall/UTM por sitio</a:t>
            </a:r>
          </a:p>
        </p:txBody>
      </p:sp>
      <p:sp>
        <p:nvSpPr>
          <p:cNvPr id="497" name="!!band3"/>
          <p:cNvSpPr/>
          <p:nvPr/>
        </p:nvSpPr>
        <p:spPr>
          <a:xfrm>
            <a:off x="822960" y="411480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98" name="Oval 497"/>
          <p:cNvSpPr/>
          <p:nvPr/>
        </p:nvSpPr>
        <p:spPr>
          <a:xfrm>
            <a:off x="1005840" y="440740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3</a:t>
            </a:r>
          </a:p>
        </p:txBody>
      </p:sp>
      <p:sp>
        <p:nvSpPr>
          <p:cNvPr id="499" name="TextBox 498"/>
          <p:cNvSpPr txBox="1"/>
          <p:nvPr/>
        </p:nvSpPr>
        <p:spPr>
          <a:xfrm>
            <a:off x="1737360" y="431596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Enlace de servicios</a:t>
            </a:r>
          </a:p>
        </p:txBody>
      </p:sp>
      <p:sp>
        <p:nvSpPr>
          <p:cNvPr id="500" name="TextBox 499"/>
          <p:cNvSpPr txBox="1"/>
          <p:nvPr/>
        </p:nvSpPr>
        <p:spPr>
          <a:xfrm>
            <a:off x="1737360" y="4736592"/>
            <a:ext cx="3108960" cy="365760"/>
          </a:xfrm>
          <a:prstGeom prst="rect">
            <a:avLst/>
          </a:prstGeom>
          <a:noFill/>
        </p:spPr>
        <p:txBody>
          <a:bodyPr wrap="square" lIns="0" rIns="0" tIns="0" bIns="0" anchor="t">
            <a:spAutoFit/>
          </a:bodyPr>
          <a:lstStyle/>
          <a:p>
            <a:pPr algn="l"/>
            <a:r>
              <a:rPr sz="1300" b="0">
                <a:solidFill>
                  <a:srgbClr val="606060"/>
                </a:solidFill>
                <a:latin typeface="Inter"/>
              </a:rPr>
              <a:t>valida las solicitudes</a:t>
            </a:r>
          </a:p>
        </p:txBody>
      </p:sp>
      <p:sp>
        <p:nvSpPr>
          <p:cNvPr id="501" name="Rounded Rectangle 500"/>
          <p:cNvSpPr/>
          <p:nvPr/>
        </p:nvSpPr>
        <p:spPr>
          <a:xfrm>
            <a:off x="493776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API Gateway → ALB privado</a:t>
            </a:r>
          </a:p>
        </p:txBody>
      </p:sp>
      <p:sp>
        <p:nvSpPr>
          <p:cNvPr id="502" name="Rounded Rectangle 501"/>
          <p:cNvSpPr/>
          <p:nvPr/>
        </p:nvSpPr>
        <p:spPr>
          <a:xfrm>
            <a:off x="800100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API local WMS</a:t>
            </a:r>
          </a:p>
        </p:txBody>
      </p:sp>
      <p:sp>
        <p:nvSpPr>
          <p:cNvPr id="503" name="Rounded Rectangle 502"/>
          <p:cNvSpPr/>
          <p:nvPr/>
        </p:nvSpPr>
        <p:spPr>
          <a:xfrm>
            <a:off x="1106424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Administración TI</a:t>
            </a:r>
          </a:p>
        </p:txBody>
      </p:sp>
      <p:sp>
        <p:nvSpPr>
          <p:cNvPr id="504" name="!!band4"/>
          <p:cNvSpPr/>
          <p:nvPr/>
        </p:nvSpPr>
        <p:spPr>
          <a:xfrm>
            <a:off x="822960" y="5440679"/>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05" name="Oval 504"/>
          <p:cNvSpPr/>
          <p:nvPr/>
        </p:nvSpPr>
        <p:spPr>
          <a:xfrm>
            <a:off x="1005840" y="573328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4</a:t>
            </a:r>
          </a:p>
        </p:txBody>
      </p:sp>
      <p:sp>
        <p:nvSpPr>
          <p:cNvPr id="506" name="TextBox 505"/>
          <p:cNvSpPr txBox="1"/>
          <p:nvPr/>
        </p:nvSpPr>
        <p:spPr>
          <a:xfrm>
            <a:off x="1737360" y="5641847"/>
            <a:ext cx="3108960" cy="411480"/>
          </a:xfrm>
          <a:prstGeom prst="rect">
            <a:avLst/>
          </a:prstGeom>
          <a:noFill/>
        </p:spPr>
        <p:txBody>
          <a:bodyPr wrap="square" lIns="0" rIns="0" tIns="0" bIns="0" anchor="t">
            <a:spAutoFit/>
          </a:bodyPr>
          <a:lstStyle/>
          <a:p>
            <a:pPr algn="l"/>
            <a:r>
              <a:rPr sz="1700" b="1">
                <a:solidFill>
                  <a:srgbClr val="111111"/>
                </a:solidFill>
                <a:latin typeface="Inter SemiBold"/>
              </a:rPr>
              <a:t>Lógica de negocio</a:t>
            </a:r>
          </a:p>
        </p:txBody>
      </p:sp>
      <p:sp>
        <p:nvSpPr>
          <p:cNvPr id="507" name="TextBox 506"/>
          <p:cNvSpPr txBox="1"/>
          <p:nvPr/>
        </p:nvSpPr>
        <p:spPr>
          <a:xfrm>
            <a:off x="1737360" y="6062471"/>
            <a:ext cx="3108960" cy="365760"/>
          </a:xfrm>
          <a:prstGeom prst="rect">
            <a:avLst/>
          </a:prstGeom>
          <a:noFill/>
        </p:spPr>
        <p:txBody>
          <a:bodyPr wrap="square" lIns="0" rIns="0" tIns="0" bIns="0" anchor="t">
            <a:spAutoFit/>
          </a:bodyPr>
          <a:lstStyle/>
          <a:p>
            <a:pPr algn="l"/>
            <a:r>
              <a:rPr sz="1300" b="0">
                <a:solidFill>
                  <a:srgbClr val="606060"/>
                </a:solidFill>
                <a:latin typeface="Inter"/>
              </a:rPr>
              <a:t>reglas de M1–M12</a:t>
            </a:r>
          </a:p>
        </p:txBody>
      </p:sp>
      <p:sp>
        <p:nvSpPr>
          <p:cNvPr id="508" name="Rounded Rectangle 507"/>
          <p:cNvSpPr/>
          <p:nvPr/>
        </p:nvSpPr>
        <p:spPr>
          <a:xfrm>
            <a:off x="493776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Monolito Laravel 13 · PHP 8.5</a:t>
            </a:r>
          </a:p>
        </p:txBody>
      </p:sp>
      <p:sp>
        <p:nvSpPr>
          <p:cNvPr id="509" name="Rounded Rectangle 508"/>
          <p:cNvSpPr/>
          <p:nvPr/>
        </p:nvSpPr>
        <p:spPr>
          <a:xfrm>
            <a:off x="800100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ECS Fargate</a:t>
            </a:r>
          </a:p>
        </p:txBody>
      </p:sp>
      <p:sp>
        <p:nvSpPr>
          <p:cNvPr id="510" name="Rounded Rectangle 509"/>
          <p:cNvSpPr/>
          <p:nvPr/>
        </p:nvSpPr>
        <p:spPr>
          <a:xfrm>
            <a:off x="1106424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Perfil local WMS</a:t>
            </a:r>
          </a:p>
        </p:txBody>
      </p:sp>
      <p:sp>
        <p:nvSpPr>
          <p:cNvPr id="511" name="!!band5"/>
          <p:cNvSpPr/>
          <p:nvPr/>
        </p:nvSpPr>
        <p:spPr>
          <a:xfrm>
            <a:off x="822960" y="676656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2" name="Oval 511"/>
          <p:cNvSpPr/>
          <p:nvPr/>
        </p:nvSpPr>
        <p:spPr>
          <a:xfrm>
            <a:off x="1005840" y="705916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5</a:t>
            </a:r>
          </a:p>
        </p:txBody>
      </p:sp>
      <p:sp>
        <p:nvSpPr>
          <p:cNvPr id="513" name="TextBox 512"/>
          <p:cNvSpPr txBox="1"/>
          <p:nvPr/>
        </p:nvSpPr>
        <p:spPr>
          <a:xfrm>
            <a:off x="1737360" y="696772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Integración y eventos</a:t>
            </a:r>
          </a:p>
        </p:txBody>
      </p:sp>
      <p:sp>
        <p:nvSpPr>
          <p:cNvPr id="514" name="TextBox 513"/>
          <p:cNvSpPr txBox="1"/>
          <p:nvPr/>
        </p:nvSpPr>
        <p:spPr>
          <a:xfrm>
            <a:off x="1737360" y="7388352"/>
            <a:ext cx="3108960" cy="365760"/>
          </a:xfrm>
          <a:prstGeom prst="rect">
            <a:avLst/>
          </a:prstGeom>
          <a:noFill/>
        </p:spPr>
        <p:txBody>
          <a:bodyPr wrap="square" lIns="0" rIns="0" tIns="0" bIns="0" anchor="t">
            <a:spAutoFit/>
          </a:bodyPr>
          <a:lstStyle/>
          <a:p>
            <a:pPr algn="l"/>
            <a:r>
              <a:rPr sz="1300" b="0">
                <a:solidFill>
                  <a:srgbClr val="606060"/>
                </a:solidFill>
                <a:latin typeface="Inter"/>
              </a:rPr>
              <a:t>conserva y distribuye eventos</a:t>
            </a:r>
          </a:p>
        </p:txBody>
      </p:sp>
      <p:sp>
        <p:nvSpPr>
          <p:cNvPr id="515" name="Rounded Rectangle 514"/>
          <p:cNvSpPr/>
          <p:nvPr/>
        </p:nvSpPr>
        <p:spPr>
          <a:xfrm>
            <a:off x="4937760"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RabbitMQ por sitio</a:t>
            </a:r>
          </a:p>
        </p:txBody>
      </p:sp>
      <p:sp>
        <p:nvSpPr>
          <p:cNvPr id="516" name="Rounded Rectangle 515"/>
          <p:cNvSpPr/>
          <p:nvPr/>
        </p:nvSpPr>
        <p:spPr>
          <a:xfrm>
            <a:off x="6775704"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SQS FIFO + DLQ</a:t>
            </a:r>
          </a:p>
        </p:txBody>
      </p:sp>
      <p:sp>
        <p:nvSpPr>
          <p:cNvPr id="517" name="Rounded Rectangle 516"/>
          <p:cNvSpPr/>
          <p:nvPr/>
        </p:nvSpPr>
        <p:spPr>
          <a:xfrm>
            <a:off x="8613648"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SNS</a:t>
            </a:r>
          </a:p>
        </p:txBody>
      </p:sp>
      <p:sp>
        <p:nvSpPr>
          <p:cNvPr id="518" name="Rounded Rectangle 517"/>
          <p:cNvSpPr/>
          <p:nvPr/>
        </p:nvSpPr>
        <p:spPr>
          <a:xfrm>
            <a:off x="10451592"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ACL del ERP</a:t>
            </a:r>
          </a:p>
        </p:txBody>
      </p:sp>
      <p:sp>
        <p:nvSpPr>
          <p:cNvPr id="519" name="Rounded Rectangle 518"/>
          <p:cNvSpPr/>
          <p:nvPr/>
        </p:nvSpPr>
        <p:spPr>
          <a:xfrm>
            <a:off x="12289536"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Hub EDI GS1</a:t>
            </a:r>
          </a:p>
        </p:txBody>
      </p:sp>
      <p:sp>
        <p:nvSpPr>
          <p:cNvPr id="520" name="!!band6"/>
          <p:cNvSpPr/>
          <p:nvPr/>
        </p:nvSpPr>
        <p:spPr>
          <a:xfrm>
            <a:off x="822960" y="809244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1" name="Oval 520"/>
          <p:cNvSpPr/>
          <p:nvPr/>
        </p:nvSpPr>
        <p:spPr>
          <a:xfrm>
            <a:off x="1005840" y="838504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6</a:t>
            </a:r>
          </a:p>
        </p:txBody>
      </p:sp>
      <p:sp>
        <p:nvSpPr>
          <p:cNvPr id="522" name="TextBox 521"/>
          <p:cNvSpPr txBox="1"/>
          <p:nvPr/>
        </p:nvSpPr>
        <p:spPr>
          <a:xfrm>
            <a:off x="1737360" y="829360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Acceso a datos</a:t>
            </a:r>
          </a:p>
        </p:txBody>
      </p:sp>
      <p:sp>
        <p:nvSpPr>
          <p:cNvPr id="523" name="TextBox 522"/>
          <p:cNvSpPr txBox="1"/>
          <p:nvPr/>
        </p:nvSpPr>
        <p:spPr>
          <a:xfrm>
            <a:off x="1737360" y="8714232"/>
            <a:ext cx="3108960" cy="365760"/>
          </a:xfrm>
          <a:prstGeom prst="rect">
            <a:avLst/>
          </a:prstGeom>
          <a:noFill/>
        </p:spPr>
        <p:txBody>
          <a:bodyPr wrap="square" lIns="0" rIns="0" tIns="0" bIns="0" anchor="t">
            <a:spAutoFit/>
          </a:bodyPr>
          <a:lstStyle/>
          <a:p>
            <a:pPr algn="l"/>
            <a:r>
              <a:rPr sz="1300" b="0">
                <a:solidFill>
                  <a:srgbClr val="606060"/>
                </a:solidFill>
                <a:latin typeface="Inter"/>
              </a:rPr>
              <a:t>administra la persistencia</a:t>
            </a:r>
          </a:p>
        </p:txBody>
      </p:sp>
      <p:sp>
        <p:nvSpPr>
          <p:cNvPr id="524" name="Rounded Rectangle 523"/>
          <p:cNvSpPr/>
          <p:nvPr/>
        </p:nvSpPr>
        <p:spPr>
          <a:xfrm>
            <a:off x="4937760"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PostgreSQL en 5 sitios</a:t>
            </a:r>
          </a:p>
        </p:txBody>
      </p:sp>
      <p:sp>
        <p:nvSpPr>
          <p:cNvPr id="525" name="Rounded Rectangle 524"/>
          <p:cNvSpPr/>
          <p:nvPr/>
        </p:nvSpPr>
        <p:spPr>
          <a:xfrm>
            <a:off x="6775704"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Aurora central</a:t>
            </a:r>
          </a:p>
        </p:txBody>
      </p:sp>
      <p:sp>
        <p:nvSpPr>
          <p:cNvPr id="526" name="Rounded Rectangle 525"/>
          <p:cNvSpPr/>
          <p:nvPr/>
        </p:nvSpPr>
        <p:spPr>
          <a:xfrm>
            <a:off x="8613648"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DynamoDB</a:t>
            </a:r>
          </a:p>
        </p:txBody>
      </p:sp>
      <p:sp>
        <p:nvSpPr>
          <p:cNvPr id="527" name="Rounded Rectangle 526"/>
          <p:cNvSpPr/>
          <p:nvPr/>
        </p:nvSpPr>
        <p:spPr>
          <a:xfrm>
            <a:off x="10451592"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Redis · S3</a:t>
            </a:r>
          </a:p>
        </p:txBody>
      </p:sp>
      <p:sp>
        <p:nvSpPr>
          <p:cNvPr id="528" name="Rounded Rectangle 527"/>
          <p:cNvSpPr/>
          <p:nvPr/>
        </p:nvSpPr>
        <p:spPr>
          <a:xfrm>
            <a:off x="12289536"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Redshift</a:t>
            </a:r>
          </a:p>
        </p:txBody>
      </p:sp>
      <p:sp>
        <p:nvSpPr>
          <p:cNvPr id="529" name="!!band7"/>
          <p:cNvSpPr/>
          <p:nvPr/>
        </p:nvSpPr>
        <p:spPr>
          <a:xfrm>
            <a:off x="14447520" y="1463040"/>
            <a:ext cx="1371600" cy="777240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vert="vert270"/>
          <a:lstStyle/>
          <a:p>
            <a:pPr algn="ctr"/>
            <a:r>
              <a:rPr sz="1700" b="1">
                <a:solidFill>
                  <a:srgbClr val="FFFFFF"/>
                </a:solidFill>
                <a:latin typeface="Inter SemiBold"/>
              </a:rPr>
              <a:t>7 · Seguridad</a:t>
            </a:r>
          </a:p>
          <a:p>
            <a:pPr algn="ctr"/>
            <a:r>
              <a:rPr sz="1300" b="0">
                <a:solidFill>
                  <a:srgbClr val="C7C7C7"/>
                </a:solidFill>
                <a:latin typeface="Inter"/>
              </a:rPr>
              <a:t>Keycloak · KMS · mTLS · SIEM</a:t>
            </a:r>
          </a:p>
        </p:txBody>
      </p:sp>
      <p:sp>
        <p:nvSpPr>
          <p:cNvPr id="530" name="!!band8"/>
          <p:cNvSpPr/>
          <p:nvPr/>
        </p:nvSpPr>
        <p:spPr>
          <a:xfrm>
            <a:off x="16002000" y="1463040"/>
            <a:ext cx="1371600" cy="7772400"/>
          </a:xfrm>
          <a:prstGeom prst="roundRect">
            <a:avLst>
              <a:gd name="adj" fmla="val 8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vert="vert270"/>
          <a:lstStyle/>
          <a:p>
            <a:pPr algn="ctr"/>
            <a:r>
              <a:rPr sz="1700" b="1">
                <a:solidFill>
                  <a:srgbClr val="FFFFFF"/>
                </a:solidFill>
                <a:latin typeface="Inter SemiBold"/>
              </a:rPr>
              <a:t>8 · Observabilidad</a:t>
            </a:r>
          </a:p>
          <a:p>
            <a:pPr algn="ctr"/>
            <a:r>
              <a:rPr sz="1300" b="0">
                <a:solidFill>
                  <a:srgbClr val="C7C7C7"/>
                </a:solidFill>
                <a:latin typeface="Inter"/>
              </a:rPr>
              <a:t>OpenTelemetry · CloudWatch</a:t>
            </a:r>
          </a:p>
        </p:txBody>
      </p:sp>
      <p:sp>
        <p:nvSpPr>
          <p:cNvPr id="531" name="TextBox 530"/>
          <p:cNvSpPr txBox="1"/>
          <p:nvPr/>
        </p:nvSpPr>
        <p:spPr>
          <a:xfrm>
            <a:off x="822960" y="9418320"/>
            <a:ext cx="13716000" cy="320040"/>
          </a:xfrm>
          <a:prstGeom prst="rect">
            <a:avLst/>
          </a:prstGeom>
          <a:noFill/>
        </p:spPr>
        <p:txBody>
          <a:bodyPr wrap="square" lIns="0" rIns="0" tIns="0" bIns="0" anchor="t">
            <a:spAutoFit/>
          </a:bodyPr>
          <a:lstStyle/>
          <a:p>
            <a:pPr algn="l"/>
            <a:r>
              <a:rPr sz="1300" b="0">
                <a:solidFill>
                  <a:srgbClr val="606060"/>
                </a:solidFill>
                <a:latin typeface="Inter"/>
              </a:rPr>
              <a:t>Las capas 7 y 8 atraviesan a todas las demás</a:t>
            </a:r>
          </a:p>
        </p:txBody>
      </p:sp>
      <p:sp>
        <p:nvSpPr>
          <p:cNvPr id="5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48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1. Presentación</a:t>
            </a:r>
            <a:endParaRPr/>
          </a:p>
        </p:txBody>
      </p:sp>
      <p:sp>
        <p:nvSpPr>
          <p:cNvPr id="48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1 de 8</a:t>
            </a:r>
            <a:endParaRPr/>
          </a:p>
        </p:txBody>
      </p:sp>
      <p:sp>
        <p:nvSpPr>
          <p:cNvPr id="48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Aplicaciones, portales y dispositivos de cada actor</a:t>
            </a:r>
            <a:endParaRPr/>
          </a:p>
        </p:txBody>
      </p:sp>
      <p:sp>
        <p:nvSpPr>
          <p:cNvPr id="504" name="!!mini1"/>
          <p:cNvSpPr/>
          <p:nvPr/>
        </p:nvSpPr>
        <p:spPr>
          <a:xfrm>
            <a:off x="859536" y="2423160"/>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1  Presentación</a:t>
            </a:r>
          </a:p>
        </p:txBody>
      </p:sp>
      <p:sp>
        <p:nvSpPr>
          <p:cNvPr id="505"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06"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07"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08"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09"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10"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11"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12" name="Rounded Rectangle 511"/>
          <p:cNvSpPr/>
          <p:nvPr/>
        </p:nvSpPr>
        <p:spPr>
          <a:xfrm>
            <a:off x="4937760"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3" name="TextBox 512"/>
          <p:cNvSpPr txBox="1"/>
          <p:nvPr/>
        </p:nvSpPr>
        <p:spPr>
          <a:xfrm>
            <a:off x="5029200"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Preventa</a:t>
            </a:r>
          </a:p>
        </p:txBody>
      </p:sp>
      <p:sp>
        <p:nvSpPr>
          <p:cNvPr id="514" name="TextBox 513"/>
          <p:cNvSpPr txBox="1"/>
          <p:nvPr/>
        </p:nvSpPr>
        <p:spPr>
          <a:xfrm>
            <a:off x="5029200"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Preventista</a:t>
            </a:r>
          </a:p>
        </p:txBody>
      </p:sp>
      <p:sp>
        <p:nvSpPr>
          <p:cNvPr id="515" name="Rounded Rectangle 514"/>
          <p:cNvSpPr/>
          <p:nvPr/>
        </p:nvSpPr>
        <p:spPr>
          <a:xfrm>
            <a:off x="5047488"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Android</a:t>
            </a:r>
          </a:p>
        </p:txBody>
      </p:sp>
      <p:sp>
        <p:nvSpPr>
          <p:cNvPr id="516" name="Rounded Rectangle 515"/>
          <p:cNvSpPr/>
          <p:nvPr/>
        </p:nvSpPr>
        <p:spPr>
          <a:xfrm>
            <a:off x="6760028"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7" name="TextBox 516"/>
          <p:cNvSpPr txBox="1"/>
          <p:nvPr/>
        </p:nvSpPr>
        <p:spPr>
          <a:xfrm>
            <a:off x="6851468"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Reparto</a:t>
            </a:r>
          </a:p>
        </p:txBody>
      </p:sp>
      <p:sp>
        <p:nvSpPr>
          <p:cNvPr id="518" name="TextBox 517"/>
          <p:cNvSpPr txBox="1"/>
          <p:nvPr/>
        </p:nvSpPr>
        <p:spPr>
          <a:xfrm>
            <a:off x="6851468"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Conductor propio</a:t>
            </a:r>
          </a:p>
          <a:p>
            <a:pPr algn="ctr"/>
            <a:r>
              <a:rPr sz="1300" b="0">
                <a:solidFill>
                  <a:srgbClr val="3C3C3C"/>
                </a:solidFill>
                <a:latin typeface="Inter"/>
              </a:rPr>
              <a:t>Conductor externo</a:t>
            </a:r>
          </a:p>
        </p:txBody>
      </p:sp>
      <p:sp>
        <p:nvSpPr>
          <p:cNvPr id="519" name="Rounded Rectangle 518"/>
          <p:cNvSpPr/>
          <p:nvPr/>
        </p:nvSpPr>
        <p:spPr>
          <a:xfrm>
            <a:off x="6869756"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Android</a:t>
            </a:r>
          </a:p>
        </p:txBody>
      </p:sp>
      <p:sp>
        <p:nvSpPr>
          <p:cNvPr id="520" name="Rounded Rectangle 519"/>
          <p:cNvSpPr/>
          <p:nvPr/>
        </p:nvSpPr>
        <p:spPr>
          <a:xfrm>
            <a:off x="8582297"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1" name="TextBox 520"/>
          <p:cNvSpPr txBox="1"/>
          <p:nvPr/>
        </p:nvSpPr>
        <p:spPr>
          <a:xfrm>
            <a:off x="8673737"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Bodega</a:t>
            </a:r>
          </a:p>
        </p:txBody>
      </p:sp>
      <p:sp>
        <p:nvSpPr>
          <p:cNvPr id="522" name="TextBox 521"/>
          <p:cNvSpPr txBox="1"/>
          <p:nvPr/>
        </p:nvSpPr>
        <p:spPr>
          <a:xfrm>
            <a:off x="8673737"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Preparador</a:t>
            </a:r>
          </a:p>
          <a:p>
            <a:pPr algn="ctr"/>
            <a:r>
              <a:rPr sz="1300" b="0">
                <a:solidFill>
                  <a:srgbClr val="3C3C3C"/>
                </a:solidFill>
                <a:latin typeface="Inter"/>
              </a:rPr>
              <a:t>HHT + escáner GS1</a:t>
            </a:r>
          </a:p>
          <a:p>
            <a:pPr algn="ctr"/>
            <a:r>
              <a:rPr sz="1300" b="0">
                <a:solidFill>
                  <a:srgbClr val="3C3C3C"/>
                </a:solidFill>
                <a:latin typeface="Inter"/>
              </a:rPr>
              <a:t>sin WAN</a:t>
            </a:r>
          </a:p>
        </p:txBody>
      </p:sp>
      <p:sp>
        <p:nvSpPr>
          <p:cNvPr id="523" name="Rounded Rectangle 522"/>
          <p:cNvSpPr/>
          <p:nvPr/>
        </p:nvSpPr>
        <p:spPr>
          <a:xfrm>
            <a:off x="8692025"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HHT</a:t>
            </a:r>
          </a:p>
        </p:txBody>
      </p:sp>
      <p:sp>
        <p:nvSpPr>
          <p:cNvPr id="524" name="Rounded Rectangle 523"/>
          <p:cNvSpPr/>
          <p:nvPr/>
        </p:nvSpPr>
        <p:spPr>
          <a:xfrm>
            <a:off x="10404565"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5" name="TextBox 524"/>
          <p:cNvSpPr txBox="1"/>
          <p:nvPr/>
        </p:nvSpPr>
        <p:spPr>
          <a:xfrm>
            <a:off x="10496005"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Clientes</a:t>
            </a:r>
          </a:p>
        </p:txBody>
      </p:sp>
      <p:sp>
        <p:nvSpPr>
          <p:cNvPr id="526" name="TextBox 525"/>
          <p:cNvSpPr txBox="1"/>
          <p:nvPr/>
        </p:nvSpPr>
        <p:spPr>
          <a:xfrm>
            <a:off x="10496005"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Canal tradicional</a:t>
            </a:r>
          </a:p>
          <a:p>
            <a:pPr algn="ctr"/>
            <a:r>
              <a:rPr sz="1300" b="0">
                <a:solidFill>
                  <a:srgbClr val="3C3C3C"/>
                </a:solidFill>
                <a:latin typeface="Inter"/>
              </a:rPr>
              <a:t>Canal moderno</a:t>
            </a:r>
          </a:p>
        </p:txBody>
      </p:sp>
      <p:sp>
        <p:nvSpPr>
          <p:cNvPr id="527" name="Rounded Rectangle 526"/>
          <p:cNvSpPr/>
          <p:nvPr/>
        </p:nvSpPr>
        <p:spPr>
          <a:xfrm>
            <a:off x="10514293"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 · PWA</a:t>
            </a:r>
          </a:p>
        </p:txBody>
      </p:sp>
      <p:sp>
        <p:nvSpPr>
          <p:cNvPr id="528" name="Rounded Rectangle 527"/>
          <p:cNvSpPr/>
          <p:nvPr/>
        </p:nvSpPr>
        <p:spPr>
          <a:xfrm>
            <a:off x="12226834"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9" name="TextBox 528"/>
          <p:cNvSpPr txBox="1"/>
          <p:nvPr/>
        </p:nvSpPr>
        <p:spPr>
          <a:xfrm>
            <a:off x="12318274"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Transportistas</a:t>
            </a:r>
          </a:p>
        </p:txBody>
      </p:sp>
      <p:sp>
        <p:nvSpPr>
          <p:cNvPr id="530" name="TextBox 529"/>
          <p:cNvSpPr txBox="1"/>
          <p:nvPr/>
        </p:nvSpPr>
        <p:spPr>
          <a:xfrm>
            <a:off x="12318274"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Empresa</a:t>
            </a:r>
          </a:p>
          <a:p>
            <a:pPr algn="ctr"/>
            <a:r>
              <a:rPr sz="1300" b="0">
                <a:solidFill>
                  <a:srgbClr val="3C3C3C"/>
                </a:solidFill>
                <a:latin typeface="Inter"/>
              </a:rPr>
              <a:t>transportista</a:t>
            </a:r>
          </a:p>
        </p:txBody>
      </p:sp>
      <p:sp>
        <p:nvSpPr>
          <p:cNvPr id="531" name="Rounded Rectangle 530"/>
          <p:cNvSpPr/>
          <p:nvPr/>
        </p:nvSpPr>
        <p:spPr>
          <a:xfrm>
            <a:off x="12336562"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sp>
        <p:nvSpPr>
          <p:cNvPr id="532" name="Rounded Rectangle 531"/>
          <p:cNvSpPr/>
          <p:nvPr/>
        </p:nvSpPr>
        <p:spPr>
          <a:xfrm>
            <a:off x="14049102"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33" name="TextBox 532"/>
          <p:cNvSpPr txBox="1"/>
          <p:nvPr/>
        </p:nvSpPr>
        <p:spPr>
          <a:xfrm>
            <a:off x="14140542"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Proveedores</a:t>
            </a:r>
          </a:p>
        </p:txBody>
      </p:sp>
      <p:sp>
        <p:nvSpPr>
          <p:cNvPr id="534" name="TextBox 533"/>
          <p:cNvSpPr txBox="1"/>
          <p:nvPr/>
        </p:nvSpPr>
        <p:spPr>
          <a:xfrm>
            <a:off x="14140542"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Proveedor</a:t>
            </a:r>
          </a:p>
        </p:txBody>
      </p:sp>
      <p:sp>
        <p:nvSpPr>
          <p:cNvPr id="535" name="Rounded Rectangle 534"/>
          <p:cNvSpPr/>
          <p:nvPr/>
        </p:nvSpPr>
        <p:spPr>
          <a:xfrm>
            <a:off x="14158830"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sp>
        <p:nvSpPr>
          <p:cNvPr id="536" name="Rounded Rectangle 535"/>
          <p:cNvSpPr/>
          <p:nvPr/>
        </p:nvSpPr>
        <p:spPr>
          <a:xfrm>
            <a:off x="15871371"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37" name="TextBox 536"/>
          <p:cNvSpPr txBox="1"/>
          <p:nvPr/>
        </p:nvSpPr>
        <p:spPr>
          <a:xfrm>
            <a:off x="15962811"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Consolas back-office</a:t>
            </a:r>
          </a:p>
        </p:txBody>
      </p:sp>
      <p:sp>
        <p:nvSpPr>
          <p:cNvPr id="538" name="TextBox 537"/>
          <p:cNvSpPr txBox="1"/>
          <p:nvPr/>
        </p:nvSpPr>
        <p:spPr>
          <a:xfrm>
            <a:off x="15962811"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Calidad · Gerencias</a:t>
            </a:r>
          </a:p>
          <a:p>
            <a:pPr algn="ctr"/>
            <a:r>
              <a:rPr sz="1300" b="0">
                <a:solidFill>
                  <a:srgbClr val="3C3C3C"/>
                </a:solidFill>
                <a:latin typeface="Inter"/>
              </a:rPr>
              <a:t>Planificador · TI</a:t>
            </a:r>
          </a:p>
          <a:p>
            <a:pPr algn="ctr"/>
            <a:r>
              <a:rPr sz="1300" b="0">
                <a:solidFill>
                  <a:srgbClr val="3C3C3C"/>
                </a:solidFill>
                <a:latin typeface="Inter"/>
              </a:rPr>
              <a:t>Bodega</a:t>
            </a:r>
          </a:p>
        </p:txBody>
      </p:sp>
      <p:sp>
        <p:nvSpPr>
          <p:cNvPr id="539" name="Rounded Rectangle 538"/>
          <p:cNvSpPr/>
          <p:nvPr/>
        </p:nvSpPr>
        <p:spPr>
          <a:xfrm>
            <a:off x="15981099"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cxnSp>
        <p:nvCxnSpPr>
          <p:cNvPr id="540" name="Connector 539"/>
          <p:cNvCxnSpPr/>
          <p:nvPr/>
        </p:nvCxnSpPr>
        <p:spPr>
          <a:xfrm flipH="1">
            <a:off x="6400800" y="5120640"/>
            <a:ext cx="3024051" cy="155448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5780314"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7602582"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9424851"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11247119"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13069388"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14891657"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16713925"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5780314" y="5989320"/>
            <a:ext cx="9111343"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10789920" y="5989320"/>
            <a:ext cx="0" cy="685800"/>
          </a:xfrm>
          <a:prstGeom prst="line">
            <a:avLst/>
          </a:prstGeom>
          <a:ln w="254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H="1">
            <a:off x="15544800" y="5989320"/>
            <a:ext cx="1169125" cy="68580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1" name="Rounded Rectangle 550"/>
          <p:cNvSpPr/>
          <p:nvPr/>
        </p:nvSpPr>
        <p:spPr>
          <a:xfrm>
            <a:off x="4937760" y="6675120"/>
            <a:ext cx="3291840" cy="105156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52" name="Rounded Rectangle 551"/>
          <p:cNvSpPr/>
          <p:nvPr/>
        </p:nvSpPr>
        <p:spPr>
          <a:xfrm>
            <a:off x="8503920" y="6675120"/>
            <a:ext cx="4572000" cy="105156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sp>
        <p:nvSpPr>
          <p:cNvPr id="553" name="Rounded Rectangle 552"/>
          <p:cNvSpPr/>
          <p:nvPr/>
        </p:nvSpPr>
        <p:spPr>
          <a:xfrm>
            <a:off x="13441680" y="6675120"/>
            <a:ext cx="4114800" cy="105156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Administración / monitoreo</a:t>
            </a:r>
          </a:p>
          <a:p>
            <a:pPr algn="ctr"/>
            <a:r>
              <a:rPr sz="1300" b="0">
                <a:solidFill>
                  <a:srgbClr val="606060"/>
                </a:solidFill>
                <a:latin typeface="Inter"/>
              </a:rPr>
              <a:t>TI · sin permisos de negocio</a:t>
            </a:r>
          </a:p>
        </p:txBody>
      </p:sp>
      <p:sp>
        <p:nvSpPr>
          <p:cNvPr id="554" name="TextBox 553"/>
          <p:cNvSpPr txBox="1"/>
          <p:nvPr/>
        </p:nvSpPr>
        <p:spPr>
          <a:xfrm>
            <a:off x="4937760" y="8092440"/>
            <a:ext cx="12618720" cy="365760"/>
          </a:xfrm>
          <a:prstGeom prst="rect">
            <a:avLst/>
          </a:prstGeom>
          <a:noFill/>
        </p:spPr>
        <p:txBody>
          <a:bodyPr wrap="square" lIns="0" rIns="0" tIns="0" bIns="0" anchor="t">
            <a:spAutoFit/>
          </a:bodyPr>
          <a:lstStyle/>
          <a:p>
            <a:pPr algn="l"/>
            <a:r>
              <a:rPr sz="1400" b="1">
                <a:solidFill>
                  <a:srgbClr val="E8641B"/>
                </a:solidFill>
                <a:latin typeface="Inter SemiBold"/>
              </a:rPr>
              <a:t>Acceso local</a:t>
            </a:r>
            <a:r>
              <a:rPr sz="1400" b="0">
                <a:solidFill>
                  <a:srgbClr val="606060"/>
                </a:solidFill>
                <a:latin typeface="Inter"/>
              </a:rPr>
              <a:t>  ·  </a:t>
            </a:r>
            <a:r>
              <a:rPr sz="1400" b="1">
                <a:solidFill>
                  <a:srgbClr val="606060"/>
                </a:solidFill>
                <a:latin typeface="Inter SemiBold"/>
              </a:rPr>
              <a:t>Acceso central</a:t>
            </a:r>
            <a:r>
              <a:rPr sz="1400" b="0">
                <a:solidFill>
                  <a:srgbClr val="606060"/>
                </a:solidFill>
                <a:latin typeface="Inter"/>
              </a:rPr>
              <a:t>  ·  </a:t>
            </a:r>
            <a:r>
              <a:rPr sz="1400" b="0">
                <a:solidFill>
                  <a:srgbClr val="606060"/>
                </a:solidFill>
                <a:latin typeface="Inter"/>
              </a:rPr>
              <a:t>Administración sin permisos de negocio</a:t>
            </a:r>
          </a:p>
        </p:txBody>
      </p:sp>
      <p:sp>
        <p:nvSpPr>
          <p:cNvPr id="555" name="TextBox 554"/>
          <p:cNvSpPr txBox="1"/>
          <p:nvPr/>
        </p:nvSpPr>
        <p:spPr>
          <a:xfrm>
            <a:off x="4937760" y="8549640"/>
            <a:ext cx="12618720" cy="365760"/>
          </a:xfrm>
          <a:prstGeom prst="rect">
            <a:avLst/>
          </a:prstGeom>
          <a:noFill/>
        </p:spPr>
        <p:txBody>
          <a:bodyPr wrap="square" lIns="0" rIns="0" tIns="0" bIns="0" anchor="t">
            <a:spAutoFit/>
          </a:bodyPr>
          <a:lstStyle/>
          <a:p>
            <a:pPr algn="l"/>
            <a:r>
              <a:rPr sz="1400" b="0">
                <a:solidFill>
                  <a:srgbClr val="606060"/>
                </a:solidFill>
                <a:latin typeface="Inter"/>
              </a:rPr>
              <a:t>Kotlin en los perfiles móviles · Angular + TypeScript + Tailwind en portales y consolas</a:t>
            </a:r>
          </a:p>
        </p:txBody>
      </p:sp>
      <p:sp>
        <p:nvSpPr>
          <p:cNvPr id="5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2. Borde y exposición</a:t>
            </a:r>
            <a:endParaRPr/>
          </a:p>
        </p:txBody>
      </p:sp>
      <p:sp>
        <p:nvSpPr>
          <p:cNvPr id="509"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2 de 8</a:t>
            </a:r>
            <a:endParaRPr/>
          </a:p>
        </p:txBody>
      </p:sp>
      <p:sp>
        <p:nvSpPr>
          <p:cNvPr id="510"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Protección de las entradas públicas, privadas y locales</a:t>
            </a:r>
            <a:endParaRPr/>
          </a:p>
        </p:txBody>
      </p:sp>
      <p:sp>
        <p:nvSpPr>
          <p:cNvPr id="523"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24" name="!!mini2"/>
          <p:cNvSpPr/>
          <p:nvPr/>
        </p:nvSpPr>
        <p:spPr>
          <a:xfrm>
            <a:off x="859536" y="2843784"/>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2  Borde</a:t>
            </a:r>
          </a:p>
        </p:txBody>
      </p:sp>
      <p:sp>
        <p:nvSpPr>
          <p:cNvPr id="525"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26"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27"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28"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29"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30"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31" name="TextBox 530"/>
          <p:cNvSpPr txBox="1"/>
          <p:nvPr/>
        </p:nvSpPr>
        <p:spPr>
          <a:xfrm>
            <a:off x="4937760" y="1783080"/>
            <a:ext cx="7863840" cy="320040"/>
          </a:xfrm>
          <a:prstGeom prst="rect">
            <a:avLst/>
          </a:prstGeom>
          <a:noFill/>
        </p:spPr>
        <p:txBody>
          <a:bodyPr wrap="square" lIns="0" rIns="0" tIns="0" bIns="0" anchor="t">
            <a:spAutoFit/>
          </a:bodyPr>
          <a:lstStyle/>
          <a:p>
            <a:pPr algn="l"/>
            <a:r>
              <a:rPr sz="1400" b="1">
                <a:solidFill>
                  <a:srgbClr val="E8641B"/>
                </a:solidFill>
                <a:latin typeface="Inter SemiBold"/>
              </a:rPr>
              <a:t>NUBE · RECORRIDO DE ACCESO</a:t>
            </a:r>
          </a:p>
        </p:txBody>
      </p:sp>
      <p:sp>
        <p:nvSpPr>
          <p:cNvPr id="532" name="TextBox 531"/>
          <p:cNvSpPr txBox="1"/>
          <p:nvPr/>
        </p:nvSpPr>
        <p:spPr>
          <a:xfrm>
            <a:off x="13350240" y="1783080"/>
            <a:ext cx="4206240" cy="320040"/>
          </a:xfrm>
          <a:prstGeom prst="rect">
            <a:avLst/>
          </a:prstGeom>
          <a:noFill/>
        </p:spPr>
        <p:txBody>
          <a:bodyPr wrap="square" lIns="0" rIns="0" tIns="0" bIns="0" anchor="t">
            <a:spAutoFit/>
          </a:bodyPr>
          <a:lstStyle/>
          <a:p>
            <a:pPr algn="l"/>
            <a:r>
              <a:rPr sz="1400" b="1">
                <a:solidFill>
                  <a:srgbClr val="E8641B"/>
                </a:solidFill>
                <a:latin typeface="Inter SemiBold"/>
              </a:rPr>
              <a:t>SITIOS ON-PREMISE</a:t>
            </a:r>
          </a:p>
        </p:txBody>
      </p:sp>
      <p:sp>
        <p:nvSpPr>
          <p:cNvPr id="533" name="Rounded Rectangle 532"/>
          <p:cNvSpPr/>
          <p:nvPr/>
        </p:nvSpPr>
        <p:spPr>
          <a:xfrm>
            <a:off x="4937760" y="2286000"/>
            <a:ext cx="2560320" cy="100584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Canales públicos</a:t>
            </a:r>
          </a:p>
          <a:p>
            <a:pPr algn="ctr"/>
            <a:r>
              <a:rPr sz="1300" b="0">
                <a:solidFill>
                  <a:srgbClr val="606060"/>
                </a:solidFill>
                <a:latin typeface="Inter"/>
              </a:rPr>
              <a:t>web y aplicaciones</a:t>
            </a:r>
          </a:p>
        </p:txBody>
      </p:sp>
      <p:sp>
        <p:nvSpPr>
          <p:cNvPr id="534" name="Rounded Rectangle 533"/>
          <p:cNvSpPr/>
          <p:nvPr/>
        </p:nvSpPr>
        <p:spPr>
          <a:xfrm>
            <a:off x="7863840" y="2286000"/>
            <a:ext cx="237744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Route 53</a:t>
            </a:r>
          </a:p>
          <a:p>
            <a:pPr algn="ctr"/>
            <a:r>
              <a:rPr sz="1300" b="0">
                <a:solidFill>
                  <a:srgbClr val="606060"/>
                </a:solidFill>
                <a:latin typeface="Inter"/>
              </a:rPr>
              <a:t>DNS de acceso</a:t>
            </a:r>
          </a:p>
        </p:txBody>
      </p:sp>
      <p:sp>
        <p:nvSpPr>
          <p:cNvPr id="535" name="Rounded Rectangle 534"/>
          <p:cNvSpPr/>
          <p:nvPr/>
        </p:nvSpPr>
        <p:spPr>
          <a:xfrm>
            <a:off x="10515600" y="2286000"/>
            <a:ext cx="228600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TLS 1.3 · HSTS</a:t>
            </a:r>
          </a:p>
          <a:p>
            <a:pPr algn="ctr"/>
            <a:r>
              <a:rPr sz="1300" b="0">
                <a:solidFill>
                  <a:srgbClr val="606060"/>
                </a:solidFill>
                <a:latin typeface="Inter"/>
              </a:rPr>
              <a:t>condición de acceso</a:t>
            </a:r>
          </a:p>
        </p:txBody>
      </p:sp>
      <p:sp>
        <p:nvSpPr>
          <p:cNvPr id="536" name="Rounded Rectangle 535"/>
          <p:cNvSpPr/>
          <p:nvPr/>
        </p:nvSpPr>
        <p:spPr>
          <a:xfrm>
            <a:off x="4937760" y="4206240"/>
            <a:ext cx="256032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CloudFront</a:t>
            </a:r>
          </a:p>
          <a:p>
            <a:pPr algn="ctr"/>
            <a:r>
              <a:rPr sz="1300" b="0">
                <a:solidFill>
                  <a:srgbClr val="606060"/>
                </a:solidFill>
                <a:latin typeface="Inter"/>
              </a:rPr>
              <a:t>CDN</a:t>
            </a:r>
          </a:p>
        </p:txBody>
      </p:sp>
      <p:sp>
        <p:nvSpPr>
          <p:cNvPr id="537" name="Rounded Rectangle 536"/>
          <p:cNvSpPr/>
          <p:nvPr/>
        </p:nvSpPr>
        <p:spPr>
          <a:xfrm>
            <a:off x="7863840" y="4206240"/>
            <a:ext cx="49377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WAF + Shield</a:t>
            </a:r>
          </a:p>
          <a:p>
            <a:pPr algn="ctr"/>
            <a:r>
              <a:rPr sz="1300" b="0">
                <a:solidFill>
                  <a:srgbClr val="606060"/>
                </a:solidFill>
                <a:latin typeface="Inter"/>
              </a:rPr>
              <a:t>OWASP + DDoS</a:t>
            </a:r>
          </a:p>
        </p:txBody>
      </p:sp>
      <p:sp>
        <p:nvSpPr>
          <p:cNvPr id="538" name="Rounded Rectangle 537"/>
          <p:cNvSpPr/>
          <p:nvPr/>
        </p:nvSpPr>
        <p:spPr>
          <a:xfrm>
            <a:off x="7863840" y="6400800"/>
            <a:ext cx="4937760" cy="109728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cxnSp>
        <p:nvCxnSpPr>
          <p:cNvPr id="539" name="Connector 538"/>
          <p:cNvCxnSpPr/>
          <p:nvPr/>
        </p:nvCxnSpPr>
        <p:spPr>
          <a:xfrm>
            <a:off x="6217920" y="3291840"/>
            <a:ext cx="0" cy="9144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7498079" y="4709160"/>
            <a:ext cx="365761"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10332720" y="5212080"/>
            <a:ext cx="0" cy="11887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11658600" y="3291840"/>
            <a:ext cx="777240" cy="310896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3" name="Rounded Rectangle 542"/>
          <p:cNvSpPr/>
          <p:nvPr/>
        </p:nvSpPr>
        <p:spPr>
          <a:xfrm>
            <a:off x="13350240" y="2286000"/>
            <a:ext cx="4206240" cy="100584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44" name="Rounded Rectangle 543"/>
          <p:cNvSpPr/>
          <p:nvPr/>
        </p:nvSpPr>
        <p:spPr>
          <a:xfrm>
            <a:off x="13350240" y="4206240"/>
            <a:ext cx="420624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Firewall / UTM con IPS</a:t>
            </a:r>
          </a:p>
          <a:p>
            <a:pPr algn="ctr"/>
            <a:r>
              <a:rPr sz="1300" b="0">
                <a:solidFill>
                  <a:srgbClr val="606060"/>
                </a:solidFill>
                <a:latin typeface="Inter"/>
              </a:rPr>
              <a:t>uno por sitio</a:t>
            </a:r>
          </a:p>
        </p:txBody>
      </p:sp>
      <p:sp>
        <p:nvSpPr>
          <p:cNvPr id="545" name="Rounded Rectangle 544"/>
          <p:cNvSpPr/>
          <p:nvPr/>
        </p:nvSpPr>
        <p:spPr>
          <a:xfrm>
            <a:off x="13350240" y="6400800"/>
            <a:ext cx="42062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IoT Greengrass</a:t>
            </a:r>
          </a:p>
          <a:p>
            <a:pPr algn="ctr"/>
            <a:r>
              <a:rPr sz="1300" b="0">
                <a:solidFill>
                  <a:srgbClr val="606060"/>
                </a:solidFill>
                <a:latin typeface="Inter"/>
              </a:rPr>
              <a:t>borde de frío</a:t>
            </a:r>
          </a:p>
        </p:txBody>
      </p:sp>
      <p:cxnSp>
        <p:nvCxnSpPr>
          <p:cNvPr id="546" name="Connector 545"/>
          <p:cNvCxnSpPr/>
          <p:nvPr/>
        </p:nvCxnSpPr>
        <p:spPr>
          <a:xfrm flipV="1">
            <a:off x="15453359" y="3291840"/>
            <a:ext cx="0" cy="9144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7" name="TextBox 546"/>
          <p:cNvSpPr txBox="1"/>
          <p:nvPr/>
        </p:nvSpPr>
        <p:spPr>
          <a:xfrm>
            <a:off x="13350240" y="7680960"/>
            <a:ext cx="4206240" cy="731520"/>
          </a:xfrm>
          <a:prstGeom prst="rect">
            <a:avLst/>
          </a:prstGeom>
          <a:noFill/>
        </p:spPr>
        <p:txBody>
          <a:bodyPr wrap="square" lIns="0" rIns="0" tIns="0" bIns="0" anchor="t">
            <a:spAutoFit/>
          </a:bodyPr>
          <a:lstStyle/>
          <a:p>
            <a:pPr algn="l"/>
            <a:r>
              <a:rPr sz="1300" b="0">
                <a:solidFill>
                  <a:srgbClr val="606060"/>
                </a:solidFill>
                <a:latin typeface="Inter"/>
              </a:rPr>
              <a:t>Greengrass procesa eventos de frío; no es una etapa de autenticación</a:t>
            </a:r>
          </a:p>
        </p:txBody>
      </p:sp>
      <p:sp>
        <p:nvSpPr>
          <p:cNvPr id="5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4"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3. Enlace de servicios</a:t>
            </a:r>
            <a:endParaRPr/>
          </a:p>
        </p:txBody>
      </p:sp>
      <p:sp>
        <p:nvSpPr>
          <p:cNvPr id="528"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3 de 8</a:t>
            </a:r>
            <a:endParaRPr/>
          </a:p>
        </p:txBody>
      </p:sp>
      <p:sp>
        <p:nvSpPr>
          <p:cNvPr id="529"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Validación de solicitudes y acceso local del WMS</a:t>
            </a:r>
            <a:endParaRPr/>
          </a:p>
        </p:txBody>
      </p:sp>
      <p:sp>
        <p:nvSpPr>
          <p:cNvPr id="542"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43"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44" name="!!mini3"/>
          <p:cNvSpPr/>
          <p:nvPr/>
        </p:nvSpPr>
        <p:spPr>
          <a:xfrm>
            <a:off x="859536" y="3264408"/>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3  Servicios</a:t>
            </a:r>
          </a:p>
        </p:txBody>
      </p:sp>
      <p:sp>
        <p:nvSpPr>
          <p:cNvPr id="545"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46"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47"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48"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49"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50" name="Rounded Rectangle 549"/>
          <p:cNvSpPr/>
          <p:nvPr/>
        </p:nvSpPr>
        <p:spPr>
          <a:xfrm>
            <a:off x="4937760" y="1828800"/>
            <a:ext cx="3931920" cy="11430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sp>
        <p:nvSpPr>
          <p:cNvPr id="551" name="Rounded Rectangle 550"/>
          <p:cNvSpPr/>
          <p:nvPr/>
        </p:nvSpPr>
        <p:spPr>
          <a:xfrm>
            <a:off x="9098280" y="1828800"/>
            <a:ext cx="3931920" cy="114300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52" name="Rounded Rectangle 551"/>
          <p:cNvSpPr/>
          <p:nvPr/>
        </p:nvSpPr>
        <p:spPr>
          <a:xfrm>
            <a:off x="13258800" y="1828800"/>
            <a:ext cx="4297680" cy="114300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Administración / monitoreo</a:t>
            </a:r>
          </a:p>
          <a:p>
            <a:pPr algn="ctr"/>
            <a:r>
              <a:rPr sz="1300" b="0">
                <a:solidFill>
                  <a:srgbClr val="606060"/>
                </a:solidFill>
                <a:latin typeface="Inter"/>
              </a:rPr>
              <a:t>TI · sin permisos de negocio</a:t>
            </a:r>
          </a:p>
        </p:txBody>
      </p:sp>
      <p:cxnSp>
        <p:nvCxnSpPr>
          <p:cNvPr id="553" name="Connector 552"/>
          <p:cNvCxnSpPr/>
          <p:nvPr/>
        </p:nvCxnSpPr>
        <p:spPr>
          <a:xfrm>
            <a:off x="6903720" y="2971800"/>
            <a:ext cx="0" cy="960120"/>
          </a:xfrm>
          <a:prstGeom prst="line">
            <a:avLst/>
          </a:prstGeom>
          <a:ln w="254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5029200" y="3931920"/>
            <a:ext cx="12435839" cy="0"/>
          </a:xfrm>
          <a:prstGeom prst="line">
            <a:avLst/>
          </a:prstGeom>
          <a:ln w="25400">
            <a:solidFill>
              <a:srgbClr val="111111"/>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4937760" y="3520440"/>
            <a:ext cx="2011680" cy="320040"/>
          </a:xfrm>
          <a:prstGeom prst="rect">
            <a:avLst/>
          </a:prstGeom>
          <a:noFill/>
        </p:spPr>
        <p:txBody>
          <a:bodyPr wrap="square" lIns="0" rIns="0" tIns="0" bIns="0" anchor="t">
            <a:spAutoFit/>
          </a:bodyPr>
          <a:lstStyle/>
          <a:p>
            <a:pPr algn="l"/>
            <a:r>
              <a:rPr sz="1400" b="1">
                <a:solidFill>
                  <a:srgbClr val="111111"/>
                </a:solidFill>
                <a:latin typeface="Inter SemiBold"/>
              </a:rPr>
              <a:t>Acceso central</a:t>
            </a:r>
          </a:p>
        </p:txBody>
      </p:sp>
      <p:cxnSp>
        <p:nvCxnSpPr>
          <p:cNvPr id="556" name="Connector 555"/>
          <p:cNvCxnSpPr/>
          <p:nvPr/>
        </p:nvCxnSpPr>
        <p:spPr>
          <a:xfrm>
            <a:off x="11064240" y="2971800"/>
            <a:ext cx="0" cy="1371600"/>
          </a:xfrm>
          <a:prstGeom prst="line">
            <a:avLst/>
          </a:prstGeom>
          <a:ln w="25400">
            <a:solidFill>
              <a:srgbClr val="E8641B"/>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a:off x="5212080" y="4343400"/>
            <a:ext cx="8503920" cy="0"/>
          </a:xfrm>
          <a:prstGeom prst="line">
            <a:avLst/>
          </a:prstGeom>
          <a:ln w="25400">
            <a:solidFill>
              <a:srgbClr val="E8641B"/>
            </a:solidFill>
          </a:ln>
        </p:spPr>
        <p:style>
          <a:lnRef idx="2">
            <a:schemeClr val="accent1"/>
          </a:lnRef>
          <a:fillRef idx="0">
            <a:schemeClr val="accent1"/>
          </a:fillRef>
          <a:effectRef idx="1">
            <a:schemeClr val="accent1"/>
          </a:effectRef>
          <a:fontRef idx="minor">
            <a:schemeClr val="tx1"/>
          </a:fontRef>
        </p:style>
      </p:cxnSp>
      <p:sp>
        <p:nvSpPr>
          <p:cNvPr id="558" name="TextBox 557"/>
          <p:cNvSpPr txBox="1"/>
          <p:nvPr/>
        </p:nvSpPr>
        <p:spPr>
          <a:xfrm>
            <a:off x="11201400" y="4434840"/>
            <a:ext cx="3200400" cy="320040"/>
          </a:xfrm>
          <a:prstGeom prst="rect">
            <a:avLst/>
          </a:prstGeom>
          <a:noFill/>
        </p:spPr>
        <p:txBody>
          <a:bodyPr wrap="square" lIns="0" rIns="0" tIns="0" bIns="0" anchor="t">
            <a:spAutoFit/>
          </a:bodyPr>
          <a:lstStyle/>
          <a:p>
            <a:pPr algn="l"/>
            <a:r>
              <a:rPr sz="1400" b="1">
                <a:solidFill>
                  <a:srgbClr val="E8641B"/>
                </a:solidFill>
                <a:latin typeface="Inter SemiBold"/>
              </a:rPr>
              <a:t>Operación local autorizada</a:t>
            </a:r>
          </a:p>
        </p:txBody>
      </p:sp>
      <p:sp>
        <p:nvSpPr>
          <p:cNvPr id="559" name="Rounded Rectangle 558"/>
          <p:cNvSpPr/>
          <p:nvPr/>
        </p:nvSpPr>
        <p:spPr>
          <a:xfrm>
            <a:off x="15407640" y="2971800"/>
            <a:ext cx="9144" cy="1828800"/>
          </a:xfrm>
          <a:prstGeom prst="roundRect">
            <a:avLst>
              <a:gd name="adj" fmla="val 12000"/>
            </a:avLst>
          </a:prstGeom>
          <a:noFill/>
          <a:ln w="15875">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0" name="TextBox 559"/>
          <p:cNvSpPr txBox="1"/>
          <p:nvPr/>
        </p:nvSpPr>
        <p:spPr>
          <a:xfrm>
            <a:off x="14081760" y="4846320"/>
            <a:ext cx="3474720" cy="320040"/>
          </a:xfrm>
          <a:prstGeom prst="rect">
            <a:avLst/>
          </a:prstGeom>
          <a:noFill/>
        </p:spPr>
        <p:txBody>
          <a:bodyPr wrap="square" lIns="0" rIns="0" tIns="0" bIns="0" anchor="t">
            <a:spAutoFit/>
          </a:bodyPr>
          <a:lstStyle/>
          <a:p>
            <a:pPr algn="r"/>
            <a:r>
              <a:rPr sz="1400" b="1">
                <a:solidFill>
                  <a:srgbClr val="606060"/>
                </a:solidFill>
                <a:latin typeface="Inter SemiBold"/>
              </a:rPr>
              <a:t>Administración y monitoreo</a:t>
            </a:r>
          </a:p>
        </p:txBody>
      </p:sp>
      <p:sp>
        <p:nvSpPr>
          <p:cNvPr id="561" name="Rounded Rectangle 560"/>
          <p:cNvSpPr/>
          <p:nvPr/>
        </p:nvSpPr>
        <p:spPr>
          <a:xfrm>
            <a:off x="493776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 · Recepción</a:t>
            </a:r>
          </a:p>
        </p:txBody>
      </p:sp>
      <p:sp>
        <p:nvSpPr>
          <p:cNvPr id="562" name="Rounded Rectangle 561"/>
          <p:cNvSpPr/>
          <p:nvPr/>
        </p:nvSpPr>
        <p:spPr>
          <a:xfrm>
            <a:off x="706374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M2 · Inventario</a:t>
            </a:r>
          </a:p>
        </p:txBody>
      </p:sp>
      <p:sp>
        <p:nvSpPr>
          <p:cNvPr id="563" name="Rounded Rectangle 562"/>
          <p:cNvSpPr/>
          <p:nvPr/>
        </p:nvSpPr>
        <p:spPr>
          <a:xfrm>
            <a:off x="9189720"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M3 · Preventa</a:t>
            </a:r>
          </a:p>
        </p:txBody>
      </p:sp>
      <p:sp>
        <p:nvSpPr>
          <p:cNvPr id="564" name="Rounded Rectangle 563"/>
          <p:cNvSpPr/>
          <p:nvPr/>
        </p:nvSpPr>
        <p:spPr>
          <a:xfrm>
            <a:off x="11315700"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M4 · Rutas + GIS</a:t>
            </a:r>
          </a:p>
        </p:txBody>
      </p:sp>
      <p:sp>
        <p:nvSpPr>
          <p:cNvPr id="565" name="Rounded Rectangle 564"/>
          <p:cNvSpPr/>
          <p:nvPr/>
        </p:nvSpPr>
        <p:spPr>
          <a:xfrm>
            <a:off x="1344168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M5 · Preparación</a:t>
            </a:r>
          </a:p>
        </p:txBody>
      </p:sp>
      <p:sp>
        <p:nvSpPr>
          <p:cNvPr id="566" name="Rounded Rectangle 565"/>
          <p:cNvSpPr/>
          <p:nvPr/>
        </p:nvSpPr>
        <p:spPr>
          <a:xfrm>
            <a:off x="15567659"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M6 · Reparto (POD)</a:t>
            </a:r>
          </a:p>
        </p:txBody>
      </p:sp>
      <p:sp>
        <p:nvSpPr>
          <p:cNvPr id="567" name="Rounded Rectangle 566"/>
          <p:cNvSpPr/>
          <p:nvPr/>
        </p:nvSpPr>
        <p:spPr>
          <a:xfrm>
            <a:off x="493776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M7 · Cobranza</a:t>
            </a:r>
          </a:p>
        </p:txBody>
      </p:sp>
      <p:sp>
        <p:nvSpPr>
          <p:cNvPr id="568" name="Rounded Rectangle 567"/>
          <p:cNvSpPr/>
          <p:nvPr/>
        </p:nvSpPr>
        <p:spPr>
          <a:xfrm>
            <a:off x="7063740" y="62179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M8 · Devoluciones</a:t>
            </a:r>
          </a:p>
        </p:txBody>
      </p:sp>
      <p:sp>
        <p:nvSpPr>
          <p:cNvPr id="569" name="Rounded Rectangle 568"/>
          <p:cNvSpPr/>
          <p:nvPr/>
        </p:nvSpPr>
        <p:spPr>
          <a:xfrm>
            <a:off x="9189720" y="62179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M9 · Calidad</a:t>
            </a:r>
          </a:p>
        </p:txBody>
      </p:sp>
      <p:sp>
        <p:nvSpPr>
          <p:cNvPr id="570" name="Rounded Rectangle 569"/>
          <p:cNvSpPr/>
          <p:nvPr/>
        </p:nvSpPr>
        <p:spPr>
          <a:xfrm>
            <a:off x="1131570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M10 · BI Gerencia</a:t>
            </a:r>
          </a:p>
        </p:txBody>
      </p:sp>
      <p:sp>
        <p:nvSpPr>
          <p:cNvPr id="571" name="Rounded Rectangle 570"/>
          <p:cNvSpPr/>
          <p:nvPr/>
        </p:nvSpPr>
        <p:spPr>
          <a:xfrm>
            <a:off x="1344168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M11 · EDI</a:t>
            </a:r>
          </a:p>
        </p:txBody>
      </p:sp>
      <p:sp>
        <p:nvSpPr>
          <p:cNvPr id="572" name="Rounded Rectangle 571"/>
          <p:cNvSpPr/>
          <p:nvPr/>
        </p:nvSpPr>
        <p:spPr>
          <a:xfrm>
            <a:off x="15567659"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M12 · Telemetría</a:t>
            </a:r>
          </a:p>
        </p:txBody>
      </p:sp>
      <p:sp>
        <p:nvSpPr>
          <p:cNvPr id="573" name="TextBox 572"/>
          <p:cNvSpPr txBox="1"/>
          <p:nvPr/>
        </p:nvSpPr>
        <p:spPr>
          <a:xfrm>
            <a:off x="4937760" y="7315200"/>
            <a:ext cx="12618720" cy="73152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606060"/>
                </a:solidFill>
                <a:latin typeface="Inter"/>
              </a:rPr>
              <a:t>Locales sin WAN: M1 · M2 · M5 · M8 · M9</a:t>
            </a:r>
          </a:p>
          <a:p>
            <a:pPr algn="l"/>
            <a:r>
              <a:rPr sz="1400" b="0">
                <a:solidFill>
                  <a:srgbClr val="606060"/>
                </a:solidFill>
                <a:latin typeface="Inter"/>
              </a:rPr>
              <a:t>TI administra y monitorea; no opera procesos de negocio</a:t>
            </a:r>
          </a:p>
        </p:txBody>
      </p:sp>
      <p:sp>
        <p:nvSpPr>
          <p:cNvPr id="57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43"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4. Lógica de negocio</a:t>
            </a:r>
            <a:endParaRPr/>
          </a:p>
        </p:txBody>
      </p:sp>
      <p:sp>
        <p:nvSpPr>
          <p:cNvPr id="54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4 de 8</a:t>
            </a:r>
            <a:endParaRPr/>
          </a:p>
        </p:txBody>
      </p:sp>
      <p:sp>
        <p:nvSpPr>
          <p:cNvPr id="54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Reglas de negocio de los doce módulos Laravel</a:t>
            </a:r>
            <a:endParaRPr/>
          </a:p>
        </p:txBody>
      </p:sp>
      <p:sp>
        <p:nvSpPr>
          <p:cNvPr id="561"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62"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63"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64" name="!!mini4"/>
          <p:cNvSpPr/>
          <p:nvPr/>
        </p:nvSpPr>
        <p:spPr>
          <a:xfrm>
            <a:off x="859536" y="3685032"/>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4  Negocio</a:t>
            </a:r>
          </a:p>
        </p:txBody>
      </p:sp>
      <p:sp>
        <p:nvSpPr>
          <p:cNvPr id="565"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66"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67"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68"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69" name="Rounded Rectangle 568"/>
          <p:cNvSpPr/>
          <p:nvPr/>
        </p:nvSpPr>
        <p:spPr>
          <a:xfrm>
            <a:off x="4937760" y="1828800"/>
            <a:ext cx="12618719" cy="118872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Monolito modular · Laravel 13 / PHP 8.5 · ECS Fargate</a:t>
            </a:r>
          </a:p>
          <a:p>
            <a:pPr algn="ctr"/>
            <a:r>
              <a:rPr sz="1400" b="0">
                <a:solidFill>
                  <a:srgbClr val="C7C7C7"/>
                </a:solidFill>
                <a:latin typeface="Inter"/>
              </a:rPr>
              <a:t>M1–M12 en la nube · perfil local WMS: M1 · M2 · M5 · M8 recepción · M9 bloqueo</a:t>
            </a:r>
          </a:p>
        </p:txBody>
      </p:sp>
      <p:sp>
        <p:nvSpPr>
          <p:cNvPr id="570" name="Rounded Rectangle 569"/>
          <p:cNvSpPr/>
          <p:nvPr/>
        </p:nvSpPr>
        <p:spPr>
          <a:xfrm>
            <a:off x="493776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 · Recepción</a:t>
            </a:r>
          </a:p>
        </p:txBody>
      </p:sp>
      <p:sp>
        <p:nvSpPr>
          <p:cNvPr id="571" name="Rounded Rectangle 570"/>
          <p:cNvSpPr/>
          <p:nvPr/>
        </p:nvSpPr>
        <p:spPr>
          <a:xfrm>
            <a:off x="706374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M2 · Inventario</a:t>
            </a:r>
          </a:p>
        </p:txBody>
      </p:sp>
      <p:sp>
        <p:nvSpPr>
          <p:cNvPr id="572" name="Rounded Rectangle 571"/>
          <p:cNvSpPr/>
          <p:nvPr/>
        </p:nvSpPr>
        <p:spPr>
          <a:xfrm>
            <a:off x="9189720"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M3 · Preventa</a:t>
            </a:r>
          </a:p>
        </p:txBody>
      </p:sp>
      <p:sp>
        <p:nvSpPr>
          <p:cNvPr id="573" name="Rounded Rectangle 572"/>
          <p:cNvSpPr/>
          <p:nvPr/>
        </p:nvSpPr>
        <p:spPr>
          <a:xfrm>
            <a:off x="11315700"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M4 · Rutas + GIS</a:t>
            </a:r>
          </a:p>
        </p:txBody>
      </p:sp>
      <p:sp>
        <p:nvSpPr>
          <p:cNvPr id="574" name="Rounded Rectangle 573"/>
          <p:cNvSpPr/>
          <p:nvPr/>
        </p:nvSpPr>
        <p:spPr>
          <a:xfrm>
            <a:off x="1344168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M5 · Preparación</a:t>
            </a:r>
          </a:p>
        </p:txBody>
      </p:sp>
      <p:sp>
        <p:nvSpPr>
          <p:cNvPr id="575" name="Rounded Rectangle 574"/>
          <p:cNvSpPr/>
          <p:nvPr/>
        </p:nvSpPr>
        <p:spPr>
          <a:xfrm>
            <a:off x="15567659"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M6 · Reparto (POD)</a:t>
            </a:r>
          </a:p>
        </p:txBody>
      </p:sp>
      <p:sp>
        <p:nvSpPr>
          <p:cNvPr id="576" name="Rounded Rectangle 575"/>
          <p:cNvSpPr/>
          <p:nvPr/>
        </p:nvSpPr>
        <p:spPr>
          <a:xfrm>
            <a:off x="493776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M7 · Cobranza</a:t>
            </a:r>
          </a:p>
        </p:txBody>
      </p:sp>
      <p:sp>
        <p:nvSpPr>
          <p:cNvPr id="577" name="Rounded Rectangle 576"/>
          <p:cNvSpPr/>
          <p:nvPr/>
        </p:nvSpPr>
        <p:spPr>
          <a:xfrm>
            <a:off x="7063740" y="41605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M8 · Devoluciones</a:t>
            </a:r>
          </a:p>
        </p:txBody>
      </p:sp>
      <p:sp>
        <p:nvSpPr>
          <p:cNvPr id="578" name="Rounded Rectangle 577"/>
          <p:cNvSpPr/>
          <p:nvPr/>
        </p:nvSpPr>
        <p:spPr>
          <a:xfrm>
            <a:off x="9189720" y="41605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M9 · Calidad</a:t>
            </a:r>
          </a:p>
        </p:txBody>
      </p:sp>
      <p:sp>
        <p:nvSpPr>
          <p:cNvPr id="579" name="Rounded Rectangle 578"/>
          <p:cNvSpPr/>
          <p:nvPr/>
        </p:nvSpPr>
        <p:spPr>
          <a:xfrm>
            <a:off x="1131570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M10 · BI Gerencia</a:t>
            </a:r>
          </a:p>
        </p:txBody>
      </p:sp>
      <p:sp>
        <p:nvSpPr>
          <p:cNvPr id="580" name="Rounded Rectangle 579"/>
          <p:cNvSpPr/>
          <p:nvPr/>
        </p:nvSpPr>
        <p:spPr>
          <a:xfrm>
            <a:off x="1344168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M11 · EDI</a:t>
            </a:r>
          </a:p>
        </p:txBody>
      </p:sp>
      <p:sp>
        <p:nvSpPr>
          <p:cNvPr id="581" name="Rounded Rectangle 580"/>
          <p:cNvSpPr/>
          <p:nvPr/>
        </p:nvSpPr>
        <p:spPr>
          <a:xfrm>
            <a:off x="15567659"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M12 · Telemetría</a:t>
            </a:r>
          </a:p>
        </p:txBody>
      </p:sp>
      <p:sp>
        <p:nvSpPr>
          <p:cNvPr id="582" name="TextBox 581"/>
          <p:cNvSpPr txBox="1"/>
          <p:nvPr/>
        </p:nvSpPr>
        <p:spPr>
          <a:xfrm>
            <a:off x="4937760" y="5257800"/>
            <a:ext cx="12618720" cy="320040"/>
          </a:xfrm>
          <a:prstGeom prst="rect">
            <a:avLst/>
          </a:prstGeom>
          <a:noFill/>
        </p:spPr>
        <p:txBody>
          <a:bodyPr wrap="square" lIns="0" rIns="0" tIns="0" bIns="0" anchor="t">
            <a:spAutoFit/>
          </a:bodyPr>
          <a:lstStyle/>
          <a:p>
            <a:pPr algn="l"/>
            <a:r>
              <a:rPr sz="1400" b="1">
                <a:solidFill>
                  <a:srgbClr val="E8641B"/>
                </a:solidFill>
                <a:latin typeface="Inter SemiBold"/>
              </a:rPr>
              <a:t>SISTEMAS EXTERNOS · CADA UNO ENTRA POR UN SOLO MÓDULO</a:t>
            </a:r>
          </a:p>
        </p:txBody>
      </p:sp>
      <p:sp>
        <p:nvSpPr>
          <p:cNvPr id="583" name="Rounded Rectangle 582"/>
          <p:cNvSpPr/>
          <p:nvPr/>
        </p:nvSpPr>
        <p:spPr>
          <a:xfrm>
            <a:off x="4937760"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ERP 2017</a:t>
            </a:r>
          </a:p>
          <a:p>
            <a:pPr algn="ctr"/>
            <a:r>
              <a:rPr sz="1300" b="0">
                <a:solidFill>
                  <a:srgbClr val="606060"/>
                </a:solidFill>
                <a:latin typeface="Inter"/>
              </a:rPr>
              <a:t>DTE · acceso exclusivo por ACL</a:t>
            </a:r>
          </a:p>
          <a:p>
            <a:pPr algn="ctr"/>
            <a:r>
              <a:rPr sz="1500" b="1">
                <a:solidFill>
                  <a:srgbClr val="E8641B"/>
                </a:solidFill>
                <a:latin typeface="Inter SemiBold"/>
              </a:rPr>
              <a:t>→ M1 · M5 · M7</a:t>
            </a:r>
          </a:p>
        </p:txBody>
      </p:sp>
      <p:sp>
        <p:nvSpPr>
          <p:cNvPr id="584" name="Rounded Rectangle 583"/>
          <p:cNvSpPr/>
          <p:nvPr/>
        </p:nvSpPr>
        <p:spPr>
          <a:xfrm>
            <a:off x="7488936"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Mapas</a:t>
            </a:r>
          </a:p>
          <a:p>
            <a:pPr algn="ctr"/>
            <a:r>
              <a:rPr sz="1300" b="0">
                <a:solidFill>
                  <a:srgbClr val="606060"/>
                </a:solidFill>
                <a:latin typeface="Inter"/>
              </a:rPr>
              <a:t>geocodificación</a:t>
            </a:r>
          </a:p>
          <a:p>
            <a:pPr algn="ctr"/>
            <a:r>
              <a:rPr sz="1500" b="1">
                <a:solidFill>
                  <a:srgbClr val="E8641B"/>
                </a:solidFill>
                <a:latin typeface="Inter SemiBold"/>
              </a:rPr>
              <a:t>→ M4</a:t>
            </a:r>
          </a:p>
        </p:txBody>
      </p:sp>
      <p:sp>
        <p:nvSpPr>
          <p:cNvPr id="585" name="Rounded Rectangle 584"/>
          <p:cNvSpPr/>
          <p:nvPr/>
        </p:nvSpPr>
        <p:spPr>
          <a:xfrm>
            <a:off x="10040112"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Transbank</a:t>
            </a:r>
          </a:p>
          <a:p>
            <a:pPr algn="ctr"/>
            <a:r>
              <a:rPr sz="1300" b="0">
                <a:solidFill>
                  <a:srgbClr val="606060"/>
                </a:solidFill>
                <a:latin typeface="Inter"/>
              </a:rPr>
              <a:t>pagos</a:t>
            </a:r>
          </a:p>
          <a:p>
            <a:pPr algn="ctr"/>
            <a:r>
              <a:rPr sz="1500" b="1">
                <a:solidFill>
                  <a:srgbClr val="E8641B"/>
                </a:solidFill>
                <a:latin typeface="Inter SemiBold"/>
              </a:rPr>
              <a:t>→ M7</a:t>
            </a:r>
          </a:p>
        </p:txBody>
      </p:sp>
      <p:sp>
        <p:nvSpPr>
          <p:cNvPr id="586" name="Rounded Rectangle 585"/>
          <p:cNvSpPr/>
          <p:nvPr/>
        </p:nvSpPr>
        <p:spPr>
          <a:xfrm>
            <a:off x="12591288"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Posicionamiento de flota</a:t>
            </a:r>
          </a:p>
          <a:p>
            <a:pPr algn="ctr"/>
            <a:r>
              <a:rPr sz="1300" b="0">
                <a:solidFill>
                  <a:srgbClr val="606060"/>
                </a:solidFill>
                <a:latin typeface="Inter"/>
              </a:rPr>
              <a:t>solo lectura</a:t>
            </a:r>
          </a:p>
          <a:p>
            <a:pPr algn="ctr"/>
            <a:r>
              <a:rPr sz="1500" b="1">
                <a:solidFill>
                  <a:srgbClr val="E8641B"/>
                </a:solidFill>
                <a:latin typeface="Inter SemiBold"/>
              </a:rPr>
              <a:t>→ M12</a:t>
            </a:r>
          </a:p>
        </p:txBody>
      </p:sp>
      <p:sp>
        <p:nvSpPr>
          <p:cNvPr id="587" name="Rounded Rectangle 586"/>
          <p:cNvSpPr/>
          <p:nvPr/>
        </p:nvSpPr>
        <p:spPr>
          <a:xfrm>
            <a:off x="15142463"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Cadenas canal moderno</a:t>
            </a:r>
          </a:p>
          <a:p>
            <a:pPr algn="ctr"/>
            <a:r>
              <a:rPr sz="1300" b="0">
                <a:solidFill>
                  <a:srgbClr val="606060"/>
                </a:solidFill>
                <a:latin typeface="Inter"/>
              </a:rPr>
              <a:t>EDI</a:t>
            </a:r>
          </a:p>
          <a:p>
            <a:pPr algn="ctr"/>
            <a:r>
              <a:rPr sz="1500" b="1">
                <a:solidFill>
                  <a:srgbClr val="E8641B"/>
                </a:solidFill>
                <a:latin typeface="Inter SemiBold"/>
              </a:rPr>
              <a:t>→ M11</a:t>
            </a:r>
          </a:p>
        </p:txBody>
      </p:sp>
      <p:sp>
        <p:nvSpPr>
          <p:cNvPr id="58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62"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5. Integración y eventos</a:t>
            </a:r>
            <a:endParaRPr/>
          </a:p>
        </p:txBody>
      </p:sp>
      <p:sp>
        <p:nvSpPr>
          <p:cNvPr id="566"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5 de 8</a:t>
            </a:r>
            <a:endParaRPr/>
          </a:p>
        </p:txBody>
      </p:sp>
      <p:sp>
        <p:nvSpPr>
          <p:cNvPr id="567"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Intercambio de eventos y continuidad de los sitios</a:t>
            </a:r>
            <a:endParaRPr/>
          </a:p>
        </p:txBody>
      </p:sp>
      <p:sp>
        <p:nvSpPr>
          <p:cNvPr id="580"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81"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82"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83"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84" name="!!mini5"/>
          <p:cNvSpPr/>
          <p:nvPr/>
        </p:nvSpPr>
        <p:spPr>
          <a:xfrm>
            <a:off x="859536" y="4105656"/>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5  Integración</a:t>
            </a:r>
          </a:p>
        </p:txBody>
      </p:sp>
      <p:sp>
        <p:nvSpPr>
          <p:cNvPr id="585"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86"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87"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88" name="Rounded Rectangle 587"/>
          <p:cNvSpPr/>
          <p:nvPr/>
        </p:nvSpPr>
        <p:spPr>
          <a:xfrm>
            <a:off x="4937760" y="1828800"/>
            <a:ext cx="4053839" cy="2514600"/>
          </a:xfrm>
          <a:prstGeom prst="roundRect">
            <a:avLst>
              <a:gd name="adj" fmla="val 8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9" name="TextBox 588"/>
          <p:cNvSpPr txBox="1"/>
          <p:nvPr/>
        </p:nvSpPr>
        <p:spPr>
          <a:xfrm>
            <a:off x="5166360"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RabbitMQ por sitio</a:t>
            </a:r>
          </a:p>
        </p:txBody>
      </p:sp>
      <p:sp>
        <p:nvSpPr>
          <p:cNvPr id="590" name="TextBox 589"/>
          <p:cNvSpPr txBox="1"/>
          <p:nvPr/>
        </p:nvSpPr>
        <p:spPr>
          <a:xfrm>
            <a:off x="5166360" y="2606040"/>
            <a:ext cx="3596639" cy="731520"/>
          </a:xfrm>
          <a:prstGeom prst="rect">
            <a:avLst/>
          </a:prstGeom>
          <a:noFill/>
        </p:spPr>
        <p:txBody>
          <a:bodyPr wrap="square" lIns="0" rIns="0" tIns="0" bIns="0" anchor="t">
            <a:spAutoFit/>
          </a:bodyPr>
          <a:lstStyle/>
          <a:p>
            <a:pPr algn="l"/>
            <a:r>
              <a:rPr sz="1400" b="0">
                <a:solidFill>
                  <a:srgbClr val="606060"/>
                </a:solidFill>
                <a:latin typeface="Inter"/>
              </a:rPr>
              <a:t>buffer 24 h · integraciones locales</a:t>
            </a:r>
          </a:p>
        </p:txBody>
      </p:sp>
      <p:sp>
        <p:nvSpPr>
          <p:cNvPr id="591" name="TextBox 590"/>
          <p:cNvSpPr txBox="1"/>
          <p:nvPr/>
        </p:nvSpPr>
        <p:spPr>
          <a:xfrm>
            <a:off x="5166360"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592" name="TextBox 591"/>
          <p:cNvSpPr txBox="1"/>
          <p:nvPr/>
        </p:nvSpPr>
        <p:spPr>
          <a:xfrm>
            <a:off x="5166360"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 · M2 · M5 · M9</a:t>
            </a:r>
          </a:p>
        </p:txBody>
      </p:sp>
      <p:sp>
        <p:nvSpPr>
          <p:cNvPr id="593" name="Rounded Rectangle 592"/>
          <p:cNvSpPr/>
          <p:nvPr/>
        </p:nvSpPr>
        <p:spPr>
          <a:xfrm>
            <a:off x="9220199" y="182880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4" name="TextBox 593"/>
          <p:cNvSpPr txBox="1"/>
          <p:nvPr/>
        </p:nvSpPr>
        <p:spPr>
          <a:xfrm>
            <a:off x="9448799"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SQS FIFO</a:t>
            </a:r>
          </a:p>
        </p:txBody>
      </p:sp>
      <p:sp>
        <p:nvSpPr>
          <p:cNvPr id="595" name="TextBox 594"/>
          <p:cNvSpPr txBox="1"/>
          <p:nvPr/>
        </p:nvSpPr>
        <p:spPr>
          <a:xfrm>
            <a:off x="9448799" y="2606040"/>
            <a:ext cx="3596639" cy="731520"/>
          </a:xfrm>
          <a:prstGeom prst="rect">
            <a:avLst/>
          </a:prstGeom>
          <a:noFill/>
        </p:spPr>
        <p:txBody>
          <a:bodyPr wrap="square" lIns="0" rIns="0" tIns="0" bIns="0" anchor="t">
            <a:spAutoFit/>
          </a:bodyPr>
          <a:lstStyle/>
          <a:p>
            <a:pPr algn="l"/>
            <a:r>
              <a:rPr sz="1400" b="0">
                <a:solidFill>
                  <a:srgbClr val="606060"/>
                </a:solidFill>
                <a:latin typeface="Inter"/>
              </a:rPr>
              <a:t>colas ordenadas, reintentos a DLQ</a:t>
            </a:r>
          </a:p>
        </p:txBody>
      </p:sp>
      <p:sp>
        <p:nvSpPr>
          <p:cNvPr id="596" name="TextBox 595"/>
          <p:cNvSpPr txBox="1"/>
          <p:nvPr/>
        </p:nvSpPr>
        <p:spPr>
          <a:xfrm>
            <a:off x="9448799"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597" name="TextBox 596"/>
          <p:cNvSpPr txBox="1"/>
          <p:nvPr/>
        </p:nvSpPr>
        <p:spPr>
          <a:xfrm>
            <a:off x="9448799"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M3 · M6 · M8 · M12</a:t>
            </a:r>
          </a:p>
        </p:txBody>
      </p:sp>
      <p:sp>
        <p:nvSpPr>
          <p:cNvPr id="598" name="Rounded Rectangle 597"/>
          <p:cNvSpPr/>
          <p:nvPr/>
        </p:nvSpPr>
        <p:spPr>
          <a:xfrm>
            <a:off x="13502640" y="182880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9" name="TextBox 598"/>
          <p:cNvSpPr txBox="1"/>
          <p:nvPr/>
        </p:nvSpPr>
        <p:spPr>
          <a:xfrm>
            <a:off x="13731240"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SNS</a:t>
            </a:r>
          </a:p>
        </p:txBody>
      </p:sp>
      <p:sp>
        <p:nvSpPr>
          <p:cNvPr id="600" name="TextBox 599"/>
          <p:cNvSpPr txBox="1"/>
          <p:nvPr/>
        </p:nvSpPr>
        <p:spPr>
          <a:xfrm>
            <a:off x="13731240" y="2606040"/>
            <a:ext cx="3596639" cy="731520"/>
          </a:xfrm>
          <a:prstGeom prst="rect">
            <a:avLst/>
          </a:prstGeom>
          <a:noFill/>
        </p:spPr>
        <p:txBody>
          <a:bodyPr wrap="square" lIns="0" rIns="0" tIns="0" bIns="0" anchor="t">
            <a:spAutoFit/>
          </a:bodyPr>
          <a:lstStyle/>
          <a:p>
            <a:pPr algn="l"/>
            <a:r>
              <a:rPr sz="1400" b="0">
                <a:solidFill>
                  <a:srgbClr val="606060"/>
                </a:solidFill>
                <a:latin typeface="Inter"/>
              </a:rPr>
              <a:t>notificaciones · fan-out</a:t>
            </a:r>
          </a:p>
        </p:txBody>
      </p:sp>
      <p:sp>
        <p:nvSpPr>
          <p:cNvPr id="601" name="TextBox 600"/>
          <p:cNvSpPr txBox="1"/>
          <p:nvPr/>
        </p:nvSpPr>
        <p:spPr>
          <a:xfrm>
            <a:off x="13731240"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02" name="TextBox 601"/>
          <p:cNvSpPr txBox="1"/>
          <p:nvPr/>
        </p:nvSpPr>
        <p:spPr>
          <a:xfrm>
            <a:off x="13731240"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M10</a:t>
            </a:r>
          </a:p>
        </p:txBody>
      </p:sp>
      <p:sp>
        <p:nvSpPr>
          <p:cNvPr id="603" name="Rounded Rectangle 602"/>
          <p:cNvSpPr/>
          <p:nvPr/>
        </p:nvSpPr>
        <p:spPr>
          <a:xfrm>
            <a:off x="4937760"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04" name="TextBox 603"/>
          <p:cNvSpPr txBox="1"/>
          <p:nvPr/>
        </p:nvSpPr>
        <p:spPr>
          <a:xfrm>
            <a:off x="5166360"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ACL del ERP</a:t>
            </a:r>
          </a:p>
        </p:txBody>
      </p:sp>
      <p:sp>
        <p:nvSpPr>
          <p:cNvPr id="605" name="TextBox 604"/>
          <p:cNvSpPr txBox="1"/>
          <p:nvPr/>
        </p:nvSpPr>
        <p:spPr>
          <a:xfrm>
            <a:off x="5166360" y="5440679"/>
            <a:ext cx="3596639" cy="731520"/>
          </a:xfrm>
          <a:prstGeom prst="rect">
            <a:avLst/>
          </a:prstGeom>
          <a:noFill/>
        </p:spPr>
        <p:txBody>
          <a:bodyPr wrap="square" lIns="0" rIns="0" tIns="0" bIns="0" anchor="t">
            <a:spAutoFit/>
          </a:bodyPr>
          <a:lstStyle/>
          <a:p>
            <a:pPr algn="l"/>
            <a:r>
              <a:rPr sz="1400" b="0">
                <a:solidFill>
                  <a:srgbClr val="606060"/>
                </a:solidFill>
                <a:latin typeface="Inter"/>
              </a:rPr>
              <a:t>frontera única con el ERP 2017</a:t>
            </a:r>
          </a:p>
        </p:txBody>
      </p:sp>
      <p:sp>
        <p:nvSpPr>
          <p:cNvPr id="606" name="TextBox 605"/>
          <p:cNvSpPr txBox="1"/>
          <p:nvPr/>
        </p:nvSpPr>
        <p:spPr>
          <a:xfrm>
            <a:off x="5166360"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07" name="TextBox 606"/>
          <p:cNvSpPr txBox="1"/>
          <p:nvPr/>
        </p:nvSpPr>
        <p:spPr>
          <a:xfrm>
            <a:off x="5166360"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M5 · M7</a:t>
            </a:r>
          </a:p>
        </p:txBody>
      </p:sp>
      <p:sp>
        <p:nvSpPr>
          <p:cNvPr id="608" name="Rounded Rectangle 607"/>
          <p:cNvSpPr/>
          <p:nvPr/>
        </p:nvSpPr>
        <p:spPr>
          <a:xfrm>
            <a:off x="9220199"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09" name="TextBox 608"/>
          <p:cNvSpPr txBox="1"/>
          <p:nvPr/>
        </p:nvSpPr>
        <p:spPr>
          <a:xfrm>
            <a:off x="9448799"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Hub EDI GS1</a:t>
            </a:r>
          </a:p>
        </p:txBody>
      </p:sp>
      <p:sp>
        <p:nvSpPr>
          <p:cNvPr id="610" name="TextBox 609"/>
          <p:cNvSpPr txBox="1"/>
          <p:nvPr/>
        </p:nvSpPr>
        <p:spPr>
          <a:xfrm>
            <a:off x="9448799" y="5440679"/>
            <a:ext cx="3596639" cy="731520"/>
          </a:xfrm>
          <a:prstGeom prst="rect">
            <a:avLst/>
          </a:prstGeom>
          <a:noFill/>
        </p:spPr>
        <p:txBody>
          <a:bodyPr wrap="square" lIns="0" rIns="0" tIns="0" bIns="0" anchor="t">
            <a:spAutoFit/>
          </a:bodyPr>
          <a:lstStyle/>
          <a:p>
            <a:pPr algn="l"/>
            <a:r>
              <a:rPr sz="1400" b="0">
                <a:solidFill>
                  <a:srgbClr val="606060"/>
                </a:solidFill>
                <a:latin typeface="Inter"/>
              </a:rPr>
              <a:t>EANCOM · EPCIS</a:t>
            </a:r>
          </a:p>
        </p:txBody>
      </p:sp>
      <p:sp>
        <p:nvSpPr>
          <p:cNvPr id="611" name="TextBox 610"/>
          <p:cNvSpPr txBox="1"/>
          <p:nvPr/>
        </p:nvSpPr>
        <p:spPr>
          <a:xfrm>
            <a:off x="9448799"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12" name="TextBox 611"/>
          <p:cNvSpPr txBox="1"/>
          <p:nvPr/>
        </p:nvSpPr>
        <p:spPr>
          <a:xfrm>
            <a:off x="9448799"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M11</a:t>
            </a:r>
          </a:p>
        </p:txBody>
      </p:sp>
      <p:sp>
        <p:nvSpPr>
          <p:cNvPr id="613" name="Rounded Rectangle 612"/>
          <p:cNvSpPr/>
          <p:nvPr/>
        </p:nvSpPr>
        <p:spPr>
          <a:xfrm>
            <a:off x="13502640"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14" name="TextBox 613"/>
          <p:cNvSpPr txBox="1"/>
          <p:nvPr/>
        </p:nvSpPr>
        <p:spPr>
          <a:xfrm>
            <a:off x="13731240"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DLQ + bandeja de excepciones</a:t>
            </a:r>
          </a:p>
        </p:txBody>
      </p:sp>
      <p:sp>
        <p:nvSpPr>
          <p:cNvPr id="615" name="TextBox 614"/>
          <p:cNvSpPr txBox="1"/>
          <p:nvPr/>
        </p:nvSpPr>
        <p:spPr>
          <a:xfrm>
            <a:off x="13731240" y="5440679"/>
            <a:ext cx="3596639" cy="731520"/>
          </a:xfrm>
          <a:prstGeom prst="rect">
            <a:avLst/>
          </a:prstGeom>
          <a:noFill/>
        </p:spPr>
        <p:txBody>
          <a:bodyPr wrap="square" lIns="0" rIns="0" tIns="0" bIns="0" anchor="t">
            <a:spAutoFit/>
          </a:bodyPr>
          <a:lstStyle/>
          <a:p>
            <a:pPr algn="l"/>
            <a:r>
              <a:rPr sz="1400" b="0">
                <a:solidFill>
                  <a:srgbClr val="606060"/>
                </a:solidFill>
                <a:latin typeface="Inter"/>
              </a:rPr>
              <a:t>recibe lo que falla en SQS</a:t>
            </a:r>
          </a:p>
        </p:txBody>
      </p:sp>
      <p:sp>
        <p:nvSpPr>
          <p:cNvPr id="616" name="TextBox 615"/>
          <p:cNvSpPr txBox="1"/>
          <p:nvPr/>
        </p:nvSpPr>
        <p:spPr>
          <a:xfrm>
            <a:off x="13731240"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17" name="TextBox 616"/>
          <p:cNvSpPr txBox="1"/>
          <p:nvPr/>
        </p:nvSpPr>
        <p:spPr>
          <a:xfrm>
            <a:off x="13731240"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desde SQS FIFO</a:t>
            </a:r>
          </a:p>
        </p:txBody>
      </p:sp>
      <p:cxnSp>
        <p:nvCxnSpPr>
          <p:cNvPr id="618" name="Connector 617"/>
          <p:cNvCxnSpPr/>
          <p:nvPr/>
        </p:nvCxnSpPr>
        <p:spPr>
          <a:xfrm>
            <a:off x="11247119" y="4343400"/>
            <a:ext cx="2987041" cy="32004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19" name="TextBox 618"/>
          <p:cNvSpPr txBox="1"/>
          <p:nvPr/>
        </p:nvSpPr>
        <p:spPr>
          <a:xfrm>
            <a:off x="4937760" y="7680960"/>
            <a:ext cx="12618720" cy="731520"/>
          </a:xfrm>
          <a:prstGeom prst="rect">
            <a:avLst/>
          </a:prstGeom>
          <a:noFill/>
        </p:spPr>
        <p:txBody>
          <a:bodyPr wrap="square" lIns="0" rIns="0" tIns="0" bIns="0" anchor="t">
            <a:spAutoFit/>
          </a:bodyPr>
          <a:lstStyle/>
          <a:p>
            <a:pPr algn="l"/>
            <a:r>
              <a:rPr sz="1400" b="0">
                <a:solidFill>
                  <a:srgbClr val="606060"/>
                </a:solidFill>
                <a:latin typeface="Inter"/>
              </a:rPr>
              <a:t>Las conexiones son integración, no acceso directo a tablas</a:t>
            </a:r>
          </a:p>
          <a:p>
            <a:pPr algn="l"/>
            <a:r>
              <a:rPr sz="1400" b="0">
                <a:solidFill>
                  <a:srgbClr val="606060"/>
                </a:solidFill>
                <a:latin typeface="Inter"/>
              </a:rPr>
              <a:t>Persistencia local y central en la capa 6</a:t>
            </a:r>
          </a:p>
        </p:txBody>
      </p:sp>
      <p:sp>
        <p:nvSpPr>
          <p:cNvPr id="6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81"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6. Acceso a datos</a:t>
            </a:r>
            <a:endParaRPr/>
          </a:p>
        </p:txBody>
      </p:sp>
      <p:sp>
        <p:nvSpPr>
          <p:cNvPr id="585"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6 de 8</a:t>
            </a:r>
            <a:endParaRPr/>
          </a:p>
        </p:txBody>
      </p:sp>
      <p:sp>
        <p:nvSpPr>
          <p:cNvPr id="586"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Propiedad de los datos y persistencia híbrida</a:t>
            </a:r>
            <a:endParaRPr/>
          </a:p>
        </p:txBody>
      </p:sp>
      <p:sp>
        <p:nvSpPr>
          <p:cNvPr id="599"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00"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01"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02"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03"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04" name="!!mini6"/>
          <p:cNvSpPr/>
          <p:nvPr/>
        </p:nvSpPr>
        <p:spPr>
          <a:xfrm>
            <a:off x="859536" y="4526280"/>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6  Datos</a:t>
            </a:r>
          </a:p>
        </p:txBody>
      </p:sp>
      <p:sp>
        <p:nvSpPr>
          <p:cNvPr id="605"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606"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607" name="TextBox 606"/>
          <p:cNvSpPr txBox="1"/>
          <p:nvPr/>
        </p:nvSpPr>
        <p:spPr>
          <a:xfrm>
            <a:off x="4937760" y="1783080"/>
            <a:ext cx="3931920" cy="320040"/>
          </a:xfrm>
          <a:prstGeom prst="rect">
            <a:avLst/>
          </a:prstGeom>
          <a:noFill/>
        </p:spPr>
        <p:txBody>
          <a:bodyPr wrap="square" lIns="0" rIns="0" tIns="0" bIns="0" anchor="t">
            <a:spAutoFit/>
          </a:bodyPr>
          <a:lstStyle/>
          <a:p>
            <a:pPr algn="l"/>
            <a:r>
              <a:rPr sz="1400" b="1">
                <a:solidFill>
                  <a:srgbClr val="E8641B"/>
                </a:solidFill>
                <a:latin typeface="Inter SemiBold"/>
              </a:rPr>
              <a:t>ON-PREMISE · 5 SITIOS</a:t>
            </a:r>
          </a:p>
        </p:txBody>
      </p:sp>
      <p:sp>
        <p:nvSpPr>
          <p:cNvPr id="608" name="TextBox 607"/>
          <p:cNvSpPr txBox="1"/>
          <p:nvPr/>
        </p:nvSpPr>
        <p:spPr>
          <a:xfrm>
            <a:off x="9144000" y="1783080"/>
            <a:ext cx="8412480" cy="320040"/>
          </a:xfrm>
          <a:prstGeom prst="rect">
            <a:avLst/>
          </a:prstGeom>
          <a:noFill/>
        </p:spPr>
        <p:txBody>
          <a:bodyPr wrap="square" lIns="0" rIns="0" tIns="0" bIns="0" anchor="t">
            <a:spAutoFit/>
          </a:bodyPr>
          <a:lstStyle/>
          <a:p>
            <a:pPr algn="l"/>
            <a:r>
              <a:rPr sz="1400" b="1">
                <a:solidFill>
                  <a:srgbClr val="E8641B"/>
                </a:solidFill>
                <a:latin typeface="Inter SemiBold"/>
              </a:rPr>
              <a:t>AWS · OLTP CENTRAL + ANALÍTICA + DR</a:t>
            </a:r>
          </a:p>
        </p:txBody>
      </p:sp>
      <p:sp>
        <p:nvSpPr>
          <p:cNvPr id="609" name="Rounded Rectangle 608"/>
          <p:cNvSpPr/>
          <p:nvPr/>
        </p:nvSpPr>
        <p:spPr>
          <a:xfrm>
            <a:off x="4937760" y="2240280"/>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BD_INVENTARIO</a:t>
            </a:r>
          </a:p>
        </p:txBody>
      </p:sp>
      <p:sp>
        <p:nvSpPr>
          <p:cNvPr id="610" name="Rounded Rectangle 609"/>
          <p:cNvSpPr/>
          <p:nvPr/>
        </p:nvSpPr>
        <p:spPr>
          <a:xfrm>
            <a:off x="4937760" y="2953512"/>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Proyecciones locales</a:t>
            </a:r>
          </a:p>
        </p:txBody>
      </p:sp>
      <p:sp>
        <p:nvSpPr>
          <p:cNvPr id="611" name="Rounded Rectangle 610"/>
          <p:cNvSpPr/>
          <p:nvPr/>
        </p:nvSpPr>
        <p:spPr>
          <a:xfrm>
            <a:off x="4937760" y="3666744"/>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BD_PREPARACION</a:t>
            </a:r>
          </a:p>
        </p:txBody>
      </p:sp>
      <p:sp>
        <p:nvSpPr>
          <p:cNvPr id="612" name="Rounded Rectangle 611"/>
          <p:cNvSpPr/>
          <p:nvPr/>
        </p:nvSpPr>
        <p:spPr>
          <a:xfrm>
            <a:off x="4937760" y="4379976"/>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BD_CALIDAD_TRAZABILIDAD</a:t>
            </a:r>
          </a:p>
        </p:txBody>
      </p:sp>
      <p:sp>
        <p:nvSpPr>
          <p:cNvPr id="613" name="Rounded Rectangle 612"/>
          <p:cNvSpPr/>
          <p:nvPr/>
        </p:nvSpPr>
        <p:spPr>
          <a:xfrm>
            <a:off x="4937760" y="5093208"/>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BD_MAESTROS_CONF</a:t>
            </a:r>
          </a:p>
        </p:txBody>
      </p:sp>
      <p:sp>
        <p:nvSpPr>
          <p:cNvPr id="614" name="TextBox 613"/>
          <p:cNvSpPr txBox="1"/>
          <p:nvPr/>
        </p:nvSpPr>
        <p:spPr>
          <a:xfrm>
            <a:off x="4937760" y="5852160"/>
            <a:ext cx="3931920" cy="320040"/>
          </a:xfrm>
          <a:prstGeom prst="rect">
            <a:avLst/>
          </a:prstGeom>
          <a:noFill/>
        </p:spPr>
        <p:txBody>
          <a:bodyPr wrap="square" lIns="0" rIns="0" tIns="0" bIns="0" anchor="t">
            <a:spAutoFit/>
          </a:bodyPr>
          <a:lstStyle/>
          <a:p>
            <a:pPr algn="l"/>
            <a:r>
              <a:rPr sz="1300" b="0">
                <a:solidFill>
                  <a:srgbClr val="606060"/>
                </a:solidFill>
                <a:latin typeface="Inter"/>
              </a:rPr>
              <a:t>PostgreSQL · 2 CD + 3 cross-docking</a:t>
            </a:r>
          </a:p>
        </p:txBody>
      </p:sp>
      <p:sp>
        <p:nvSpPr>
          <p:cNvPr id="615" name="Rounded Rectangle 614"/>
          <p:cNvSpPr/>
          <p:nvPr/>
        </p:nvSpPr>
        <p:spPr>
          <a:xfrm>
            <a:off x="9144000"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BD_PREVENTA</a:t>
            </a:r>
          </a:p>
        </p:txBody>
      </p:sp>
      <p:sp>
        <p:nvSpPr>
          <p:cNvPr id="616" name="Rounded Rectangle 615"/>
          <p:cNvSpPr/>
          <p:nvPr/>
        </p:nvSpPr>
        <p:spPr>
          <a:xfrm>
            <a:off x="11984735"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BD_REPARTO</a:t>
            </a:r>
          </a:p>
        </p:txBody>
      </p:sp>
      <p:sp>
        <p:nvSpPr>
          <p:cNvPr id="617" name="Rounded Rectangle 616"/>
          <p:cNvSpPr/>
          <p:nvPr/>
        </p:nvSpPr>
        <p:spPr>
          <a:xfrm>
            <a:off x="14825471"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BD_MAESTROS_CONF</a:t>
            </a:r>
          </a:p>
        </p:txBody>
      </p:sp>
      <p:sp>
        <p:nvSpPr>
          <p:cNvPr id="618" name="Rounded Rectangle 617"/>
          <p:cNvSpPr/>
          <p:nvPr/>
        </p:nvSpPr>
        <p:spPr>
          <a:xfrm>
            <a:off x="9144000"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BD_COBRANZA_FINANZAS</a:t>
            </a:r>
          </a:p>
        </p:txBody>
      </p:sp>
      <p:sp>
        <p:nvSpPr>
          <p:cNvPr id="619" name="Rounded Rectangle 618"/>
          <p:cNvSpPr/>
          <p:nvPr/>
        </p:nvSpPr>
        <p:spPr>
          <a:xfrm>
            <a:off x="11984735"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BD_GOBIERNO_ACCESO</a:t>
            </a:r>
          </a:p>
        </p:txBody>
      </p:sp>
      <p:sp>
        <p:nvSpPr>
          <p:cNvPr id="620" name="Rounded Rectangle 619"/>
          <p:cNvSpPr/>
          <p:nvPr/>
        </p:nvSpPr>
        <p:spPr>
          <a:xfrm>
            <a:off x="14825471"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BD_MAILS_NOTIF</a:t>
            </a:r>
          </a:p>
        </p:txBody>
      </p:sp>
      <p:sp>
        <p:nvSpPr>
          <p:cNvPr id="621" name="Rounded Rectangle 620"/>
          <p:cNvSpPr/>
          <p:nvPr/>
        </p:nvSpPr>
        <p:spPr>
          <a:xfrm>
            <a:off x="9144000"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BD_CALIDAD_TRAZABILIDAD</a:t>
            </a:r>
          </a:p>
        </p:txBody>
      </p:sp>
      <p:sp>
        <p:nvSpPr>
          <p:cNvPr id="622" name="Rounded Rectangle 621"/>
          <p:cNvSpPr/>
          <p:nvPr/>
        </p:nvSpPr>
        <p:spPr>
          <a:xfrm>
            <a:off x="11984735"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BD_EDI_CANALMODERNO</a:t>
            </a:r>
          </a:p>
        </p:txBody>
      </p:sp>
      <p:sp>
        <p:nvSpPr>
          <p:cNvPr id="623" name="Rounded Rectangle 622"/>
          <p:cNvSpPr/>
          <p:nvPr/>
        </p:nvSpPr>
        <p:spPr>
          <a:xfrm>
            <a:off x="14825471"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BD_TELEMETRIA · DynamoDB</a:t>
            </a:r>
          </a:p>
        </p:txBody>
      </p:sp>
      <p:sp>
        <p:nvSpPr>
          <p:cNvPr id="624" name="Rounded Rectangle 623"/>
          <p:cNvSpPr/>
          <p:nvPr/>
        </p:nvSpPr>
        <p:spPr>
          <a:xfrm>
            <a:off x="9144000"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BD_BI_GERENCIA · Redshift</a:t>
            </a:r>
          </a:p>
        </p:txBody>
      </p:sp>
      <p:sp>
        <p:nvSpPr>
          <p:cNvPr id="625" name="Rounded Rectangle 624"/>
          <p:cNvSpPr/>
          <p:nvPr/>
        </p:nvSpPr>
        <p:spPr>
          <a:xfrm>
            <a:off x="11984735"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REDIS_SESIONES_CACHE</a:t>
            </a:r>
          </a:p>
        </p:txBody>
      </p:sp>
      <p:sp>
        <p:nvSpPr>
          <p:cNvPr id="626" name="Rounded Rectangle 625"/>
          <p:cNvSpPr/>
          <p:nvPr/>
        </p:nvSpPr>
        <p:spPr>
          <a:xfrm>
            <a:off x="14825471"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S3_DOCS · S3</a:t>
            </a:r>
          </a:p>
        </p:txBody>
      </p:sp>
      <p:sp>
        <p:nvSpPr>
          <p:cNvPr id="627" name="Rounded Rectangle 626"/>
          <p:cNvSpPr/>
          <p:nvPr/>
        </p:nvSpPr>
        <p:spPr>
          <a:xfrm>
            <a:off x="9144000"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BD_INVENTARIO</a:t>
            </a:r>
          </a:p>
        </p:txBody>
      </p:sp>
      <p:sp>
        <p:nvSpPr>
          <p:cNvPr id="628" name="Rounded Rectangle 627"/>
          <p:cNvSpPr/>
          <p:nvPr/>
        </p:nvSpPr>
        <p:spPr>
          <a:xfrm>
            <a:off x="11984735"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BD_RUTAS · PostGIS</a:t>
            </a:r>
          </a:p>
        </p:txBody>
      </p:sp>
      <p:sp>
        <p:nvSpPr>
          <p:cNvPr id="629" name="Rounded Rectangle 628"/>
          <p:cNvSpPr/>
          <p:nvPr/>
        </p:nvSpPr>
        <p:spPr>
          <a:xfrm>
            <a:off x="14825471"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BD_PREPARACION</a:t>
            </a:r>
          </a:p>
        </p:txBody>
      </p:sp>
      <p:sp>
        <p:nvSpPr>
          <p:cNvPr id="630" name="TextBox 629"/>
          <p:cNvSpPr txBox="1"/>
          <p:nvPr/>
        </p:nvSpPr>
        <p:spPr>
          <a:xfrm>
            <a:off x="9144000" y="5852160"/>
            <a:ext cx="8412480" cy="320040"/>
          </a:xfrm>
          <a:prstGeom prst="rect">
            <a:avLst/>
          </a:prstGeom>
          <a:noFill/>
        </p:spPr>
        <p:txBody>
          <a:bodyPr wrap="square" lIns="0" rIns="0" tIns="0" bIns="0" anchor="t">
            <a:spAutoFit/>
          </a:bodyPr>
          <a:lstStyle/>
          <a:p>
            <a:pPr algn="l"/>
            <a:r>
              <a:rPr sz="1300" b="0">
                <a:solidFill>
                  <a:srgbClr val="606060"/>
                </a:solidFill>
                <a:latin typeface="Inter"/>
              </a:rPr>
              <a:t>Aurora salvo donde se indica</a:t>
            </a:r>
          </a:p>
        </p:txBody>
      </p:sp>
      <p:sp>
        <p:nvSpPr>
          <p:cNvPr id="631" name="TextBox 630"/>
          <p:cNvSpPr txBox="1"/>
          <p:nvPr/>
        </p:nvSpPr>
        <p:spPr>
          <a:xfrm>
            <a:off x="4937760" y="6446520"/>
            <a:ext cx="12618720" cy="320040"/>
          </a:xfrm>
          <a:prstGeom prst="rect">
            <a:avLst/>
          </a:prstGeom>
          <a:noFill/>
        </p:spPr>
        <p:txBody>
          <a:bodyPr wrap="square" lIns="0" rIns="0" tIns="0" bIns="0" anchor="t">
            <a:spAutoFit/>
          </a:bodyPr>
          <a:lstStyle/>
          <a:p>
            <a:pPr algn="l"/>
            <a:r>
              <a:rPr sz="1400" b="1">
                <a:solidFill>
                  <a:srgbClr val="E8641B"/>
                </a:solidFill>
                <a:latin typeface="Inter SemiBold"/>
              </a:rPr>
              <a:t>CONSOLIDACIÓN ANALÍTICA</a:t>
            </a:r>
          </a:p>
        </p:txBody>
      </p:sp>
      <p:sp>
        <p:nvSpPr>
          <p:cNvPr id="632" name="Rounded Rectangle 631"/>
          <p:cNvSpPr/>
          <p:nvPr/>
        </p:nvSpPr>
        <p:spPr>
          <a:xfrm>
            <a:off x="493776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DynamoDB</a:t>
            </a:r>
          </a:p>
          <a:p>
            <a:pPr algn="ctr"/>
            <a:r>
              <a:rPr sz="1300" b="0">
                <a:solidFill>
                  <a:srgbClr val="606060"/>
                </a:solidFill>
                <a:latin typeface="Inter"/>
              </a:rPr>
              <a:t>lecturas raw</a:t>
            </a:r>
          </a:p>
        </p:txBody>
      </p:sp>
      <p:cxnSp>
        <p:nvCxnSpPr>
          <p:cNvPr id="633" name="Connector 632"/>
          <p:cNvCxnSpPr/>
          <p:nvPr/>
        </p:nvCxnSpPr>
        <p:spPr>
          <a:xfrm>
            <a:off x="7829550" y="7406640"/>
            <a:ext cx="32004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4" name="Rounded Rectangle 633"/>
          <p:cNvSpPr/>
          <p:nvPr/>
        </p:nvSpPr>
        <p:spPr>
          <a:xfrm>
            <a:off x="819531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Glue</a:t>
            </a:r>
          </a:p>
          <a:p>
            <a:pPr algn="ctr"/>
            <a:r>
              <a:rPr sz="1300" b="0">
                <a:solidFill>
                  <a:srgbClr val="606060"/>
                </a:solidFill>
                <a:latin typeface="Inter"/>
              </a:rPr>
              <a:t>transformación</a:t>
            </a:r>
          </a:p>
        </p:txBody>
      </p:sp>
      <p:cxnSp>
        <p:nvCxnSpPr>
          <p:cNvPr id="635" name="Connector 634"/>
          <p:cNvCxnSpPr/>
          <p:nvPr/>
        </p:nvCxnSpPr>
        <p:spPr>
          <a:xfrm>
            <a:off x="11087100" y="7406640"/>
            <a:ext cx="32004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6" name="Rounded Rectangle 635"/>
          <p:cNvSpPr/>
          <p:nvPr/>
        </p:nvSpPr>
        <p:spPr>
          <a:xfrm>
            <a:off x="1145286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S3 Parquet</a:t>
            </a:r>
          </a:p>
          <a:p>
            <a:pPr algn="ctr"/>
            <a:r>
              <a:rPr sz="1300" b="0">
                <a:solidFill>
                  <a:srgbClr val="606060"/>
                </a:solidFill>
                <a:latin typeface="Inter"/>
              </a:rPr>
              <a:t>consolidación</a:t>
            </a:r>
          </a:p>
        </p:txBody>
      </p:sp>
      <p:cxnSp>
        <p:nvCxnSpPr>
          <p:cNvPr id="637" name="Connector 636"/>
          <p:cNvCxnSpPr/>
          <p:nvPr/>
        </p:nvCxnSpPr>
        <p:spPr>
          <a:xfrm>
            <a:off x="14344650" y="7406640"/>
            <a:ext cx="320039"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8" name="Rounded Rectangle 637"/>
          <p:cNvSpPr/>
          <p:nvPr/>
        </p:nvSpPr>
        <p:spPr>
          <a:xfrm>
            <a:off x="14710409" y="6903720"/>
            <a:ext cx="2846070" cy="10058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Redshift</a:t>
            </a:r>
          </a:p>
          <a:p>
            <a:pPr algn="ctr"/>
            <a:r>
              <a:rPr sz="1300" b="0">
                <a:solidFill>
                  <a:srgbClr val="C7C7C7"/>
                </a:solidFill>
                <a:latin typeface="Inter"/>
              </a:rPr>
              <a:t>analítica / BI</a:t>
            </a:r>
          </a:p>
        </p:txBody>
      </p:sp>
      <p:sp>
        <p:nvSpPr>
          <p:cNvPr id="63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00"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7. Seguridad transversal</a:t>
            </a:r>
            <a:endParaRPr/>
          </a:p>
        </p:txBody>
      </p:sp>
      <p:sp>
        <p:nvSpPr>
          <p:cNvPr id="604"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7 de 8</a:t>
            </a:r>
            <a:endParaRPr/>
          </a:p>
        </p:txBody>
      </p:sp>
      <p:sp>
        <p:nvSpPr>
          <p:cNvPr id="605"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Identidad y autorización en todas las capas</a:t>
            </a:r>
            <a:endParaRPr/>
          </a:p>
        </p:txBody>
      </p:sp>
      <p:sp>
        <p:nvSpPr>
          <p:cNvPr id="618"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19"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20"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21"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22"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23"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624" name="!!mini7"/>
          <p:cNvSpPr/>
          <p:nvPr/>
        </p:nvSpPr>
        <p:spPr>
          <a:xfrm>
            <a:off x="859536" y="4946904"/>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7  Seguridad</a:t>
            </a:r>
          </a:p>
        </p:txBody>
      </p:sp>
      <p:sp>
        <p:nvSpPr>
          <p:cNvPr id="625"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626" name="Rounded Rectangle 625"/>
          <p:cNvSpPr/>
          <p:nvPr/>
        </p:nvSpPr>
        <p:spPr>
          <a:xfrm>
            <a:off x="4937760" y="1828800"/>
            <a:ext cx="3031235" cy="137160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Keycloak</a:t>
            </a:r>
          </a:p>
          <a:p>
            <a:pPr algn="ctr"/>
            <a:r>
              <a:rPr sz="1300" b="0">
                <a:solidFill>
                  <a:srgbClr val="606060"/>
                </a:solidFill>
                <a:latin typeface="Inter"/>
              </a:rPr>
              <a:t>caché local 24 h</a:t>
            </a:r>
          </a:p>
          <a:p>
            <a:pPr algn="ctr"/>
            <a:r>
              <a:rPr sz="1300" b="0">
                <a:solidFill>
                  <a:srgbClr val="606060"/>
                </a:solidFill>
                <a:latin typeface="Inter"/>
              </a:rPr>
              <a:t>credencial bodega 8 h</a:t>
            </a:r>
          </a:p>
        </p:txBody>
      </p:sp>
      <p:sp>
        <p:nvSpPr>
          <p:cNvPr id="627" name="Rounded Rectangle 626"/>
          <p:cNvSpPr/>
          <p:nvPr/>
        </p:nvSpPr>
        <p:spPr>
          <a:xfrm>
            <a:off x="8133588"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Secrets Manager</a:t>
            </a:r>
          </a:p>
          <a:p>
            <a:pPr algn="ctr"/>
            <a:r>
              <a:rPr sz="1300" b="0">
                <a:solidFill>
                  <a:srgbClr val="606060"/>
                </a:solidFill>
                <a:latin typeface="Inter"/>
              </a:rPr>
              <a:t>+ SSM</a:t>
            </a:r>
          </a:p>
        </p:txBody>
      </p:sp>
      <p:sp>
        <p:nvSpPr>
          <p:cNvPr id="628" name="Rounded Rectangle 627"/>
          <p:cNvSpPr/>
          <p:nvPr/>
        </p:nvSpPr>
        <p:spPr>
          <a:xfrm>
            <a:off x="11329416"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KMS</a:t>
            </a:r>
          </a:p>
          <a:p>
            <a:pPr algn="ctr"/>
            <a:r>
              <a:rPr sz="1300" b="0">
                <a:solidFill>
                  <a:srgbClr val="606060"/>
                </a:solidFill>
                <a:latin typeface="Inter"/>
              </a:rPr>
              <a:t>cifrado en reposo</a:t>
            </a:r>
          </a:p>
          <a:p>
            <a:pPr algn="ctr"/>
            <a:r>
              <a:rPr sz="1300" b="0">
                <a:solidFill>
                  <a:srgbClr val="606060"/>
                </a:solidFill>
                <a:latin typeface="Inter"/>
              </a:rPr>
              <a:t>y en campo</a:t>
            </a:r>
          </a:p>
        </p:txBody>
      </p:sp>
      <p:sp>
        <p:nvSpPr>
          <p:cNvPr id="629" name="Rounded Rectangle 628"/>
          <p:cNvSpPr/>
          <p:nvPr/>
        </p:nvSpPr>
        <p:spPr>
          <a:xfrm>
            <a:off x="14525244"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mTLS</a:t>
            </a:r>
          </a:p>
          <a:p>
            <a:pPr algn="ctr"/>
            <a:r>
              <a:rPr sz="1300" b="0">
                <a:solidFill>
                  <a:srgbClr val="606060"/>
                </a:solidFill>
                <a:latin typeface="Inter"/>
              </a:rPr>
              <a:t>microsegmentación</a:t>
            </a:r>
          </a:p>
        </p:txBody>
      </p:sp>
      <p:sp>
        <p:nvSpPr>
          <p:cNvPr id="630" name="Rounded Rectangle 629"/>
          <p:cNvSpPr/>
          <p:nvPr/>
        </p:nvSpPr>
        <p:spPr>
          <a:xfrm>
            <a:off x="4937760"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GuardDuty + Security Hub</a:t>
            </a:r>
          </a:p>
          <a:p>
            <a:pPr algn="ctr"/>
            <a:r>
              <a:rPr sz="1300" b="0">
                <a:solidFill>
                  <a:srgbClr val="606060"/>
                </a:solidFill>
                <a:latin typeface="Inter"/>
              </a:rPr>
              <a:t>Security Lake (SIEM)</a:t>
            </a:r>
          </a:p>
        </p:txBody>
      </p:sp>
      <p:sp>
        <p:nvSpPr>
          <p:cNvPr id="631" name="Rounded Rectangle 630"/>
          <p:cNvSpPr/>
          <p:nvPr/>
        </p:nvSpPr>
        <p:spPr>
          <a:xfrm>
            <a:off x="8133588"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EDR</a:t>
            </a:r>
          </a:p>
          <a:p>
            <a:pPr algn="ctr"/>
            <a:r>
              <a:rPr sz="1300" b="0">
                <a:solidFill>
                  <a:srgbClr val="606060"/>
                </a:solidFill>
                <a:latin typeface="Inter"/>
              </a:rPr>
              <a:t>en todos los nodos</a:t>
            </a:r>
          </a:p>
        </p:txBody>
      </p:sp>
      <p:sp>
        <p:nvSpPr>
          <p:cNvPr id="632" name="Rounded Rectangle 631"/>
          <p:cNvSpPr/>
          <p:nvPr/>
        </p:nvSpPr>
        <p:spPr>
          <a:xfrm>
            <a:off x="11329416"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MDM gestionado</a:t>
            </a:r>
          </a:p>
          <a:p>
            <a:pPr algn="ctr"/>
            <a:r>
              <a:rPr sz="1300" b="0">
                <a:solidFill>
                  <a:srgbClr val="606060"/>
                </a:solidFill>
                <a:latin typeface="Inter"/>
              </a:rPr>
              <a:t>dispositivos de campo</a:t>
            </a:r>
          </a:p>
        </p:txBody>
      </p:sp>
      <p:sp>
        <p:nvSpPr>
          <p:cNvPr id="633" name="Rounded Rectangle 632"/>
          <p:cNvSpPr/>
          <p:nvPr/>
        </p:nvSpPr>
        <p:spPr>
          <a:xfrm>
            <a:off x="14525244"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Auditoría inmutable</a:t>
            </a:r>
          </a:p>
          <a:p>
            <a:pPr algn="ctr"/>
            <a:r>
              <a:rPr sz="1300" b="0">
                <a:solidFill>
                  <a:srgbClr val="606060"/>
                </a:solidFill>
                <a:latin typeface="Inter"/>
              </a:rPr>
              <a:t>7 años</a:t>
            </a:r>
          </a:p>
        </p:txBody>
      </p:sp>
      <p:sp>
        <p:nvSpPr>
          <p:cNvPr id="634" name="Rounded Rectangle 633"/>
          <p:cNvSpPr/>
          <p:nvPr/>
        </p:nvSpPr>
        <p:spPr>
          <a:xfrm>
            <a:off x="4937760" y="5257800"/>
            <a:ext cx="12618719" cy="86868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FFFFFF"/>
                </a:solidFill>
                <a:latin typeface="Inter SemiBold"/>
              </a:rPr>
              <a:t>Ámbito transversal: identidad · autorización · dispositivos · comunicaciones · secretos · auditoría</a:t>
            </a:r>
          </a:p>
        </p:txBody>
      </p:sp>
      <p:cxnSp>
        <p:nvCxnSpPr>
          <p:cNvPr id="635" name="Connector 634"/>
          <p:cNvCxnSpPr/>
          <p:nvPr/>
        </p:nvCxnSpPr>
        <p:spPr>
          <a:xfrm>
            <a:off x="5920740"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6" name="Rounded Rectangle 635"/>
          <p:cNvSpPr/>
          <p:nvPr/>
        </p:nvSpPr>
        <p:spPr>
          <a:xfrm>
            <a:off x="4937760"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1. Presentación</a:t>
            </a:r>
          </a:p>
        </p:txBody>
      </p:sp>
      <p:cxnSp>
        <p:nvCxnSpPr>
          <p:cNvPr id="637" name="Connector 636"/>
          <p:cNvCxnSpPr/>
          <p:nvPr/>
        </p:nvCxnSpPr>
        <p:spPr>
          <a:xfrm>
            <a:off x="8051292"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8" name="Rounded Rectangle 637"/>
          <p:cNvSpPr/>
          <p:nvPr/>
        </p:nvSpPr>
        <p:spPr>
          <a:xfrm>
            <a:off x="7068312"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2. Borde</a:t>
            </a:r>
          </a:p>
        </p:txBody>
      </p:sp>
      <p:cxnSp>
        <p:nvCxnSpPr>
          <p:cNvPr id="639" name="Connector 638"/>
          <p:cNvCxnSpPr/>
          <p:nvPr/>
        </p:nvCxnSpPr>
        <p:spPr>
          <a:xfrm>
            <a:off x="10181844"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0" name="Rounded Rectangle 639"/>
          <p:cNvSpPr/>
          <p:nvPr/>
        </p:nvSpPr>
        <p:spPr>
          <a:xfrm>
            <a:off x="9198864"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3. Servicios</a:t>
            </a:r>
          </a:p>
        </p:txBody>
      </p:sp>
      <p:cxnSp>
        <p:nvCxnSpPr>
          <p:cNvPr id="641" name="Connector 640"/>
          <p:cNvCxnSpPr/>
          <p:nvPr/>
        </p:nvCxnSpPr>
        <p:spPr>
          <a:xfrm>
            <a:off x="12312396"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2" name="Rounded Rectangle 641"/>
          <p:cNvSpPr/>
          <p:nvPr/>
        </p:nvSpPr>
        <p:spPr>
          <a:xfrm>
            <a:off x="11329416"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4. Negocio</a:t>
            </a:r>
          </a:p>
        </p:txBody>
      </p:sp>
      <p:cxnSp>
        <p:nvCxnSpPr>
          <p:cNvPr id="643" name="Connector 642"/>
          <p:cNvCxnSpPr/>
          <p:nvPr/>
        </p:nvCxnSpPr>
        <p:spPr>
          <a:xfrm>
            <a:off x="14442948"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4" name="Rounded Rectangle 643"/>
          <p:cNvSpPr/>
          <p:nvPr/>
        </p:nvSpPr>
        <p:spPr>
          <a:xfrm>
            <a:off x="13459968"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5. Integración</a:t>
            </a:r>
          </a:p>
        </p:txBody>
      </p:sp>
      <p:cxnSp>
        <p:nvCxnSpPr>
          <p:cNvPr id="645" name="Connector 644"/>
          <p:cNvCxnSpPr/>
          <p:nvPr/>
        </p:nvCxnSpPr>
        <p:spPr>
          <a:xfrm>
            <a:off x="16573500"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6" name="Rounded Rectangle 645"/>
          <p:cNvSpPr/>
          <p:nvPr/>
        </p:nvSpPr>
        <p:spPr>
          <a:xfrm>
            <a:off x="15590520"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6. Datos</a:t>
            </a:r>
          </a:p>
        </p:txBody>
      </p:sp>
      <p:sp>
        <p:nvSpPr>
          <p:cNvPr id="647" name="TextBox 646"/>
          <p:cNvSpPr txBox="1"/>
          <p:nvPr/>
        </p:nvSpPr>
        <p:spPr>
          <a:xfrm>
            <a:off x="4937760" y="7863840"/>
            <a:ext cx="12618720" cy="365760"/>
          </a:xfrm>
          <a:prstGeom prst="rect">
            <a:avLst/>
          </a:prstGeom>
          <a:noFill/>
        </p:spPr>
        <p:txBody>
          <a:bodyPr wrap="square" lIns="0" rIns="0" tIns="0" bIns="0" anchor="t">
            <a:spAutoFit/>
          </a:bodyPr>
          <a:lstStyle/>
          <a:p>
            <a:pPr algn="l"/>
            <a:r>
              <a:rPr sz="1400" b="0">
                <a:solidFill>
                  <a:srgbClr val="606060"/>
                </a:solidFill>
                <a:latin typeface="Inter"/>
              </a:rPr>
              <a:t>Los controles cubren las seis capas operativas; no son pasos de un recorrido</a:t>
            </a:r>
          </a:p>
        </p:txBody>
      </p:sp>
      <p:sp>
        <p:nvSpPr>
          <p:cNvPr id="6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9"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8. Observabilidad transversal</a:t>
            </a:r>
            <a:endParaRPr/>
          </a:p>
        </p:txBody>
      </p:sp>
      <p:sp>
        <p:nvSpPr>
          <p:cNvPr id="623"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8 de 8</a:t>
            </a:r>
            <a:endParaRPr/>
          </a:p>
        </p:txBody>
      </p:sp>
      <p:sp>
        <p:nvSpPr>
          <p:cNvPr id="624"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Correlación y seguimiento de la operación</a:t>
            </a:r>
            <a:endParaRPr/>
          </a:p>
        </p:txBody>
      </p:sp>
      <p:sp>
        <p:nvSpPr>
          <p:cNvPr id="637"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38"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39"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40"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41"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42"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643"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644" name="!!mini8"/>
          <p:cNvSpPr/>
          <p:nvPr/>
        </p:nvSpPr>
        <p:spPr>
          <a:xfrm>
            <a:off x="859536" y="5367528"/>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8  Observabilidad</a:t>
            </a:r>
          </a:p>
        </p:txBody>
      </p:sp>
      <p:sp>
        <p:nvSpPr>
          <p:cNvPr id="645" name="Rounded Rectangle 644"/>
          <p:cNvSpPr/>
          <p:nvPr/>
        </p:nvSpPr>
        <p:spPr>
          <a:xfrm>
            <a:off x="4937760" y="1828800"/>
            <a:ext cx="12618719" cy="77724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Aplicaciones, accesos, módulos, integración y datos · capas 1–6</a:t>
            </a:r>
          </a:p>
        </p:txBody>
      </p:sp>
      <p:sp>
        <p:nvSpPr>
          <p:cNvPr id="646" name="Rounded Rectangle 645"/>
          <p:cNvSpPr/>
          <p:nvPr/>
        </p:nvSpPr>
        <p:spPr>
          <a:xfrm>
            <a:off x="4937760" y="3200400"/>
            <a:ext cx="40233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OpenTelemetry</a:t>
            </a:r>
          </a:p>
          <a:p>
            <a:pPr algn="ctr"/>
            <a:r>
              <a:rPr sz="1300" b="0">
                <a:solidFill>
                  <a:srgbClr val="606060"/>
                </a:solidFill>
                <a:latin typeface="Inter"/>
              </a:rPr>
              <a:t>instrumentación</a:t>
            </a:r>
          </a:p>
        </p:txBody>
      </p:sp>
      <p:sp>
        <p:nvSpPr>
          <p:cNvPr id="647" name="Rounded Rectangle 646"/>
          <p:cNvSpPr/>
          <p:nvPr/>
        </p:nvSpPr>
        <p:spPr>
          <a:xfrm>
            <a:off x="9601200" y="3200400"/>
            <a:ext cx="4206240" cy="100584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Colector ADOT</a:t>
            </a:r>
          </a:p>
          <a:p>
            <a:pPr algn="ctr"/>
            <a:r>
              <a:rPr sz="1300" b="0">
                <a:solidFill>
                  <a:srgbClr val="606060"/>
                </a:solidFill>
                <a:latin typeface="Inter"/>
              </a:rPr>
              <a:t>buffer 24 h</a:t>
            </a:r>
          </a:p>
        </p:txBody>
      </p:sp>
      <p:cxnSp>
        <p:nvCxnSpPr>
          <p:cNvPr id="648" name="Connector 647"/>
          <p:cNvCxnSpPr/>
          <p:nvPr/>
        </p:nvCxnSpPr>
        <p:spPr>
          <a:xfrm>
            <a:off x="6949440" y="2606040"/>
            <a:ext cx="0" cy="59436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a:off x="8961120" y="3703320"/>
            <a:ext cx="64008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0" name="Rounded Rectangle 649"/>
          <p:cNvSpPr/>
          <p:nvPr/>
        </p:nvSpPr>
        <p:spPr>
          <a:xfrm>
            <a:off x="4937760"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métricas</a:t>
            </a:r>
          </a:p>
          <a:p>
            <a:pPr algn="ctr"/>
            <a:r>
              <a:rPr sz="1300" b="0">
                <a:solidFill>
                  <a:srgbClr val="606060"/>
                </a:solidFill>
                <a:latin typeface="Inter"/>
              </a:rPr>
              <a:t>13 meses</a:t>
            </a:r>
          </a:p>
        </p:txBody>
      </p:sp>
      <p:cxnSp>
        <p:nvCxnSpPr>
          <p:cNvPr id="651" name="Connector 650"/>
          <p:cNvCxnSpPr/>
          <p:nvPr/>
        </p:nvCxnSpPr>
        <p:spPr>
          <a:xfrm flipH="1">
            <a:off x="6949440" y="4206240"/>
            <a:ext cx="4754880"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a:off x="6949440" y="5852160"/>
            <a:ext cx="4297680"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3" name="Rounded Rectangle 652"/>
          <p:cNvSpPr/>
          <p:nvPr/>
        </p:nvSpPr>
        <p:spPr>
          <a:xfrm>
            <a:off x="9235440"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Logs</a:t>
            </a:r>
          </a:p>
          <a:p>
            <a:pPr algn="ctr"/>
            <a:r>
              <a:rPr sz="1300" b="0">
                <a:solidFill>
                  <a:srgbClr val="606060"/>
                </a:solidFill>
                <a:latin typeface="Inter"/>
              </a:rPr>
              <a:t>12 + 24 meses</a:t>
            </a:r>
          </a:p>
        </p:txBody>
      </p:sp>
      <p:cxnSp>
        <p:nvCxnSpPr>
          <p:cNvPr id="654" name="Connector 653"/>
          <p:cNvCxnSpPr/>
          <p:nvPr/>
        </p:nvCxnSpPr>
        <p:spPr>
          <a:xfrm flipH="1">
            <a:off x="11247119" y="4206240"/>
            <a:ext cx="457201"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a:off x="11247119" y="5852160"/>
            <a:ext cx="1"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6" name="Rounded Rectangle 655"/>
          <p:cNvSpPr/>
          <p:nvPr/>
        </p:nvSpPr>
        <p:spPr>
          <a:xfrm>
            <a:off x="13533119"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trazas</a:t>
            </a:r>
          </a:p>
        </p:txBody>
      </p:sp>
      <p:cxnSp>
        <p:nvCxnSpPr>
          <p:cNvPr id="657" name="Connector 656"/>
          <p:cNvCxnSpPr/>
          <p:nvPr/>
        </p:nvCxnSpPr>
        <p:spPr>
          <a:xfrm>
            <a:off x="11704320" y="4206240"/>
            <a:ext cx="3840480"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flipH="1">
            <a:off x="11247120" y="5852160"/>
            <a:ext cx="4297680"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9" name="Rounded Rectangle 658"/>
          <p:cNvSpPr/>
          <p:nvPr/>
        </p:nvSpPr>
        <p:spPr>
          <a:xfrm>
            <a:off x="4937760" y="6583680"/>
            <a:ext cx="40233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SNS</a:t>
            </a:r>
          </a:p>
          <a:p>
            <a:pPr algn="ctr"/>
            <a:r>
              <a:rPr sz="1300" b="0">
                <a:solidFill>
                  <a:srgbClr val="606060"/>
                </a:solidFill>
                <a:latin typeface="Inter"/>
              </a:rPr>
              <a:t>avisos operativos</a:t>
            </a:r>
          </a:p>
        </p:txBody>
      </p:sp>
      <p:sp>
        <p:nvSpPr>
          <p:cNvPr id="660" name="Rounded Rectangle 659"/>
          <p:cNvSpPr/>
          <p:nvPr/>
        </p:nvSpPr>
        <p:spPr>
          <a:xfrm>
            <a:off x="9052560" y="6583680"/>
            <a:ext cx="4389120" cy="10058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CloudWatch tableros</a:t>
            </a:r>
          </a:p>
        </p:txBody>
      </p:sp>
      <p:sp>
        <p:nvSpPr>
          <p:cNvPr id="661" name="Rounded Rectangle 660"/>
          <p:cNvSpPr/>
          <p:nvPr/>
        </p:nvSpPr>
        <p:spPr>
          <a:xfrm>
            <a:off x="13716000" y="6583680"/>
            <a:ext cx="384048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Backup</a:t>
            </a:r>
          </a:p>
          <a:p>
            <a:pPr algn="ctr"/>
            <a:r>
              <a:rPr sz="1300" b="0">
                <a:solidFill>
                  <a:srgbClr val="606060"/>
                </a:solidFill>
                <a:latin typeface="Inter"/>
              </a:rPr>
              <a:t>respaldo y restauración</a:t>
            </a:r>
          </a:p>
        </p:txBody>
      </p:sp>
      <p:sp>
        <p:nvSpPr>
          <p:cNvPr id="662" name="TextBox 661"/>
          <p:cNvSpPr txBox="1"/>
          <p:nvPr/>
        </p:nvSpPr>
        <p:spPr>
          <a:xfrm>
            <a:off x="4937760" y="8001000"/>
            <a:ext cx="12618720" cy="365760"/>
          </a:xfrm>
          <a:prstGeom prst="rect">
            <a:avLst/>
          </a:prstGeom>
          <a:noFill/>
        </p:spPr>
        <p:txBody>
          <a:bodyPr wrap="square" lIns="0" rIns="0" tIns="0" bIns="0" anchor="t">
            <a:spAutoFit/>
          </a:bodyPr>
          <a:lstStyle/>
          <a:p>
            <a:pPr algn="l"/>
            <a:r>
              <a:rPr sz="1400" b="0">
                <a:solidFill>
                  <a:srgbClr val="606060"/>
                </a:solidFill>
                <a:latin typeface="Inter"/>
              </a:rPr>
              <a:t>Se mantienen los tiempos de retención y el buffer del diseño</a:t>
            </a:r>
          </a:p>
        </p:txBody>
      </p:sp>
      <p:sp>
        <p:nvSpPr>
          <p:cNvPr id="66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title"/>
          <p:cNvSpPr txBox="1"/>
          <p:nvPr/>
        </p:nvSpPr>
        <p:spPr>
          <a:xfrm>
            <a:off x="2286000" y="274320"/>
            <a:ext cx="13716000" cy="77724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física</a:t>
            </a:r>
            <a:endParaRPr/>
          </a:p>
        </p:txBody>
      </p:sp>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5" name="Rounded Rectangle 644"/>
          <p:cNvSpPr/>
          <p:nvPr/>
        </p:nvSpPr>
        <p:spPr>
          <a:xfrm>
            <a:off x="82296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Clientes, proveedores</a:t>
            </a:r>
          </a:p>
          <a:p>
            <a:pPr algn="ctr"/>
            <a:r>
              <a:rPr sz="1300" b="0">
                <a:solidFill>
                  <a:srgbClr val="606060"/>
                </a:solidFill>
                <a:latin typeface="Inter"/>
              </a:rPr>
              <a:t>y transportistas</a:t>
            </a:r>
          </a:p>
        </p:txBody>
      </p:sp>
      <p:sp>
        <p:nvSpPr>
          <p:cNvPr id="646" name="Rounded Rectangle 645"/>
          <p:cNvSpPr/>
          <p:nvPr/>
        </p:nvSpPr>
        <p:spPr>
          <a:xfrm>
            <a:off x="504063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EC55 / TC58e</a:t>
            </a:r>
          </a:p>
          <a:p>
            <a:pPr algn="ctr"/>
            <a:r>
              <a:rPr sz="1300" b="0">
                <a:solidFill>
                  <a:srgbClr val="606060"/>
                </a:solidFill>
                <a:latin typeface="Inter"/>
              </a:rPr>
              <a:t>termógrafo BLE</a:t>
            </a:r>
          </a:p>
        </p:txBody>
      </p:sp>
      <p:sp>
        <p:nvSpPr>
          <p:cNvPr id="647" name="Rounded Rectangle 646"/>
          <p:cNvSpPr/>
          <p:nvPr/>
        </p:nvSpPr>
        <p:spPr>
          <a:xfrm>
            <a:off x="925830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Casa matriz</a:t>
            </a:r>
          </a:p>
          <a:p>
            <a:pPr algn="ctr"/>
            <a:r>
              <a:rPr sz="1300" b="0">
                <a:solidFill>
                  <a:srgbClr val="606060"/>
                </a:solidFill>
                <a:latin typeface="Inter"/>
              </a:rPr>
              <a:t>y teletrabajo</a:t>
            </a:r>
          </a:p>
        </p:txBody>
      </p:sp>
      <p:sp>
        <p:nvSpPr>
          <p:cNvPr id="648" name="Rounded Rectangle 647"/>
          <p:cNvSpPr/>
          <p:nvPr/>
        </p:nvSpPr>
        <p:spPr>
          <a:xfrm>
            <a:off x="1347597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Cadenas de</a:t>
            </a:r>
          </a:p>
          <a:p>
            <a:pPr algn="ctr"/>
            <a:r>
              <a:rPr sz="1300" b="0">
                <a:solidFill>
                  <a:srgbClr val="606060"/>
                </a:solidFill>
                <a:latin typeface="Inter"/>
              </a:rPr>
              <a:t>supermercados</a:t>
            </a:r>
          </a:p>
        </p:txBody>
      </p:sp>
      <p:sp>
        <p:nvSpPr>
          <p:cNvPr id="649" name="Rounded Rectangle 648"/>
          <p:cNvSpPr/>
          <p:nvPr/>
        </p:nvSpPr>
        <p:spPr>
          <a:xfrm>
            <a:off x="822960" y="2377440"/>
            <a:ext cx="16642080" cy="3794760"/>
          </a:xfrm>
          <a:prstGeom prst="roundRect">
            <a:avLst>
              <a:gd name="adj" fmla="val 4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0" name="TextBox 649"/>
          <p:cNvSpPr txBox="1"/>
          <p:nvPr/>
        </p:nvSpPr>
        <p:spPr>
          <a:xfrm>
            <a:off x="1005840" y="2468880"/>
            <a:ext cx="3657600" cy="320040"/>
          </a:xfrm>
          <a:prstGeom prst="rect">
            <a:avLst/>
          </a:prstGeom>
          <a:noFill/>
        </p:spPr>
        <p:txBody>
          <a:bodyPr wrap="square" lIns="0" rIns="0" tIns="0" bIns="0" anchor="t">
            <a:spAutoFit/>
          </a:bodyPr>
          <a:lstStyle/>
          <a:p>
            <a:pPr algn="l"/>
            <a:r>
              <a:rPr sz="1400" b="1">
                <a:solidFill>
                  <a:srgbClr val="E8641B"/>
                </a:solidFill>
                <a:latin typeface="Inter SemiBold"/>
              </a:rPr>
              <a:t>AWS CLOUD</a:t>
            </a:r>
          </a:p>
        </p:txBody>
      </p:sp>
      <p:sp>
        <p:nvSpPr>
          <p:cNvPr id="651" name="Rounded Rectangle 650"/>
          <p:cNvSpPr/>
          <p:nvPr/>
        </p:nvSpPr>
        <p:spPr>
          <a:xfrm>
            <a:off x="1005840" y="2880360"/>
            <a:ext cx="265176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2" name="TextBox 651"/>
          <p:cNvSpPr txBox="1"/>
          <p:nvPr/>
        </p:nvSpPr>
        <p:spPr>
          <a:xfrm>
            <a:off x="1143000" y="2971800"/>
            <a:ext cx="2377440" cy="320040"/>
          </a:xfrm>
          <a:prstGeom prst="rect">
            <a:avLst/>
          </a:prstGeom>
          <a:noFill/>
        </p:spPr>
        <p:txBody>
          <a:bodyPr wrap="square" lIns="0" rIns="0" tIns="0" bIns="0" anchor="t">
            <a:spAutoFit/>
          </a:bodyPr>
          <a:lstStyle/>
          <a:p>
            <a:pPr algn="l"/>
            <a:r>
              <a:rPr sz="1400" b="1">
                <a:solidFill>
                  <a:srgbClr val="111111"/>
                </a:solidFill>
                <a:latin typeface="Inter SemiBold"/>
              </a:rPr>
              <a:t>Borde global</a:t>
            </a:r>
          </a:p>
        </p:txBody>
      </p:sp>
      <p:sp>
        <p:nvSpPr>
          <p:cNvPr id="653" name="Rounded Rectangle 652"/>
          <p:cNvSpPr/>
          <p:nvPr/>
        </p:nvSpPr>
        <p:spPr>
          <a:xfrm>
            <a:off x="1143000" y="3383280"/>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Route 53</a:t>
            </a:r>
          </a:p>
        </p:txBody>
      </p:sp>
      <p:sp>
        <p:nvSpPr>
          <p:cNvPr id="654" name="Rounded Rectangle 653"/>
          <p:cNvSpPr/>
          <p:nvPr/>
        </p:nvSpPr>
        <p:spPr>
          <a:xfrm>
            <a:off x="1143000" y="3950208"/>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Shield Advanced</a:t>
            </a:r>
          </a:p>
        </p:txBody>
      </p:sp>
      <p:sp>
        <p:nvSpPr>
          <p:cNvPr id="655" name="Rounded Rectangle 654"/>
          <p:cNvSpPr/>
          <p:nvPr/>
        </p:nvSpPr>
        <p:spPr>
          <a:xfrm>
            <a:off x="1143000" y="4517136"/>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WAF</a:t>
            </a:r>
          </a:p>
        </p:txBody>
      </p:sp>
      <p:sp>
        <p:nvSpPr>
          <p:cNvPr id="656" name="Rounded Rectangle 655"/>
          <p:cNvSpPr/>
          <p:nvPr/>
        </p:nvSpPr>
        <p:spPr>
          <a:xfrm>
            <a:off x="1143000" y="5084064"/>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CloudFront</a:t>
            </a:r>
          </a:p>
        </p:txBody>
      </p:sp>
      <p:sp>
        <p:nvSpPr>
          <p:cNvPr id="657" name="Rounded Rectangle 656"/>
          <p:cNvSpPr/>
          <p:nvPr/>
        </p:nvSpPr>
        <p:spPr>
          <a:xfrm>
            <a:off x="3840480" y="2880360"/>
            <a:ext cx="585216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8" name="TextBox 657"/>
          <p:cNvSpPr txBox="1"/>
          <p:nvPr/>
        </p:nvSpPr>
        <p:spPr>
          <a:xfrm>
            <a:off x="3977640" y="2971800"/>
            <a:ext cx="5577840" cy="320040"/>
          </a:xfrm>
          <a:prstGeom prst="rect">
            <a:avLst/>
          </a:prstGeom>
          <a:noFill/>
        </p:spPr>
        <p:txBody>
          <a:bodyPr wrap="square" lIns="0" rIns="0" tIns="0" bIns="0" anchor="t">
            <a:spAutoFit/>
          </a:bodyPr>
          <a:lstStyle/>
          <a:p>
            <a:pPr algn="l"/>
            <a:r>
              <a:rPr sz="1400" b="1">
                <a:solidFill>
                  <a:srgbClr val="111111"/>
                </a:solidFill>
                <a:latin typeface="Inter SemiBold"/>
              </a:rPr>
              <a:t>sa-east-1 · VPC Prod (Multi-AZ)</a:t>
            </a:r>
          </a:p>
        </p:txBody>
      </p:sp>
      <p:sp>
        <p:nvSpPr>
          <p:cNvPr id="659" name="Rounded Rectangle 658"/>
          <p:cNvSpPr/>
          <p:nvPr/>
        </p:nvSpPr>
        <p:spPr>
          <a:xfrm>
            <a:off x="397764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API Gateway</a:t>
            </a:r>
          </a:p>
        </p:txBody>
      </p:sp>
      <p:sp>
        <p:nvSpPr>
          <p:cNvPr id="660" name="Rounded Rectangle 659"/>
          <p:cNvSpPr/>
          <p:nvPr/>
        </p:nvSpPr>
        <p:spPr>
          <a:xfrm>
            <a:off x="586740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Verified Access</a:t>
            </a:r>
          </a:p>
        </p:txBody>
      </p:sp>
      <p:sp>
        <p:nvSpPr>
          <p:cNvPr id="661" name="Rounded Rectangle 660"/>
          <p:cNvSpPr/>
          <p:nvPr/>
        </p:nvSpPr>
        <p:spPr>
          <a:xfrm>
            <a:off x="775716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ALB privado</a:t>
            </a:r>
          </a:p>
        </p:txBody>
      </p:sp>
      <p:sp>
        <p:nvSpPr>
          <p:cNvPr id="662" name="Rounded Rectangle 661"/>
          <p:cNvSpPr/>
          <p:nvPr/>
        </p:nvSpPr>
        <p:spPr>
          <a:xfrm>
            <a:off x="397764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ECS Fargate</a:t>
            </a:r>
          </a:p>
        </p:txBody>
      </p:sp>
      <p:sp>
        <p:nvSpPr>
          <p:cNvPr id="663" name="Rounded Rectangle 662"/>
          <p:cNvSpPr/>
          <p:nvPr/>
        </p:nvSpPr>
        <p:spPr>
          <a:xfrm>
            <a:off x="586740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NLB · AS2</a:t>
            </a:r>
          </a:p>
        </p:txBody>
      </p:sp>
      <p:sp>
        <p:nvSpPr>
          <p:cNvPr id="664" name="Rounded Rectangle 663"/>
          <p:cNvSpPr/>
          <p:nvPr/>
        </p:nvSpPr>
        <p:spPr>
          <a:xfrm>
            <a:off x="775716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Keycloak</a:t>
            </a:r>
          </a:p>
        </p:txBody>
      </p:sp>
      <p:sp>
        <p:nvSpPr>
          <p:cNvPr id="665" name="Rounded Rectangle 664"/>
          <p:cNvSpPr/>
          <p:nvPr/>
        </p:nvSpPr>
        <p:spPr>
          <a:xfrm>
            <a:off x="397764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ElastiCache</a:t>
            </a:r>
          </a:p>
        </p:txBody>
      </p:sp>
      <p:sp>
        <p:nvSpPr>
          <p:cNvPr id="666" name="Rounded Rectangle 665"/>
          <p:cNvSpPr/>
          <p:nvPr/>
        </p:nvSpPr>
        <p:spPr>
          <a:xfrm>
            <a:off x="586740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Aurora</a:t>
            </a:r>
          </a:p>
        </p:txBody>
      </p:sp>
      <p:sp>
        <p:nvSpPr>
          <p:cNvPr id="667" name="Rounded Rectangle 666"/>
          <p:cNvSpPr/>
          <p:nvPr/>
        </p:nvSpPr>
        <p:spPr>
          <a:xfrm>
            <a:off x="775716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DMS</a:t>
            </a:r>
          </a:p>
        </p:txBody>
      </p:sp>
      <p:sp>
        <p:nvSpPr>
          <p:cNvPr id="668" name="Rounded Rectangle 667"/>
          <p:cNvSpPr/>
          <p:nvPr/>
        </p:nvSpPr>
        <p:spPr>
          <a:xfrm>
            <a:off x="9875520" y="2880360"/>
            <a:ext cx="237744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9" name="TextBox 668"/>
          <p:cNvSpPr txBox="1"/>
          <p:nvPr/>
        </p:nvSpPr>
        <p:spPr>
          <a:xfrm>
            <a:off x="10012680" y="2971800"/>
            <a:ext cx="2103120" cy="320040"/>
          </a:xfrm>
          <a:prstGeom prst="rect">
            <a:avLst/>
          </a:prstGeom>
          <a:noFill/>
        </p:spPr>
        <p:txBody>
          <a:bodyPr wrap="square" lIns="0" rIns="0" tIns="0" bIns="0" anchor="t">
            <a:spAutoFit/>
          </a:bodyPr>
          <a:lstStyle/>
          <a:p>
            <a:pPr algn="l"/>
            <a:r>
              <a:rPr sz="1400" b="1">
                <a:solidFill>
                  <a:srgbClr val="111111"/>
                </a:solidFill>
                <a:latin typeface="Inter SemiBold"/>
              </a:rPr>
              <a:t>Regionales</a:t>
            </a:r>
          </a:p>
        </p:txBody>
      </p:sp>
      <p:sp>
        <p:nvSpPr>
          <p:cNvPr id="670" name="Rounded Rectangle 669"/>
          <p:cNvSpPr/>
          <p:nvPr/>
        </p:nvSpPr>
        <p:spPr>
          <a:xfrm>
            <a:off x="10012680" y="3383280"/>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DynamoDB</a:t>
            </a:r>
          </a:p>
        </p:txBody>
      </p:sp>
      <p:sp>
        <p:nvSpPr>
          <p:cNvPr id="671" name="Rounded Rectangle 670"/>
          <p:cNvSpPr/>
          <p:nvPr/>
        </p:nvSpPr>
        <p:spPr>
          <a:xfrm>
            <a:off x="10012680" y="3950208"/>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S3</a:t>
            </a:r>
          </a:p>
        </p:txBody>
      </p:sp>
      <p:sp>
        <p:nvSpPr>
          <p:cNvPr id="672" name="Rounded Rectangle 671"/>
          <p:cNvSpPr/>
          <p:nvPr/>
        </p:nvSpPr>
        <p:spPr>
          <a:xfrm>
            <a:off x="10012680" y="4517136"/>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SQS FIFO</a:t>
            </a:r>
          </a:p>
        </p:txBody>
      </p:sp>
      <p:sp>
        <p:nvSpPr>
          <p:cNvPr id="673" name="Rounded Rectangle 672"/>
          <p:cNvSpPr/>
          <p:nvPr/>
        </p:nvSpPr>
        <p:spPr>
          <a:xfrm>
            <a:off x="10012680" y="5084064"/>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IoT Core MQTTS</a:t>
            </a:r>
          </a:p>
        </p:txBody>
      </p:sp>
      <p:sp>
        <p:nvSpPr>
          <p:cNvPr id="674" name="Rounded Rectangle 673"/>
          <p:cNvSpPr/>
          <p:nvPr/>
        </p:nvSpPr>
        <p:spPr>
          <a:xfrm>
            <a:off x="12435840" y="2880360"/>
            <a:ext cx="2194560" cy="3063240"/>
          </a:xfrm>
          <a:prstGeom prst="roundRect">
            <a:avLst>
              <a:gd name="adj" fmla="val 6000"/>
            </a:avLst>
          </a:prstGeom>
          <a:solidFill>
            <a:srgbClr val="FDEBDD"/>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75" name="TextBox 674"/>
          <p:cNvSpPr txBox="1"/>
          <p:nvPr/>
        </p:nvSpPr>
        <p:spPr>
          <a:xfrm>
            <a:off x="12573000" y="2971800"/>
            <a:ext cx="1920240" cy="320040"/>
          </a:xfrm>
          <a:prstGeom prst="rect">
            <a:avLst/>
          </a:prstGeom>
          <a:noFill/>
        </p:spPr>
        <p:txBody>
          <a:bodyPr wrap="square" lIns="0" rIns="0" tIns="0" bIns="0" anchor="t">
            <a:spAutoFit/>
          </a:bodyPr>
          <a:lstStyle/>
          <a:p>
            <a:pPr algn="l"/>
            <a:r>
              <a:rPr sz="1400" b="1">
                <a:solidFill>
                  <a:srgbClr val="111111"/>
                </a:solidFill>
                <a:latin typeface="Inter SemiBold"/>
              </a:rPr>
              <a:t>VPC Hub</a:t>
            </a:r>
          </a:p>
        </p:txBody>
      </p:sp>
      <p:sp>
        <p:nvSpPr>
          <p:cNvPr id="676" name="Rounded Rectangle 675"/>
          <p:cNvSpPr/>
          <p:nvPr/>
        </p:nvSpPr>
        <p:spPr>
          <a:xfrm>
            <a:off x="12573000" y="3383280"/>
            <a:ext cx="192024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Transit Gateway</a:t>
            </a:r>
          </a:p>
        </p:txBody>
      </p:sp>
      <p:sp>
        <p:nvSpPr>
          <p:cNvPr id="677" name="Rounded Rectangle 676"/>
          <p:cNvSpPr/>
          <p:nvPr/>
        </p:nvSpPr>
        <p:spPr>
          <a:xfrm>
            <a:off x="12573000" y="3950208"/>
            <a:ext cx="192024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VPN sitio a sitio</a:t>
            </a:r>
          </a:p>
        </p:txBody>
      </p:sp>
      <p:sp>
        <p:nvSpPr>
          <p:cNvPr id="678" name="Rounded Rectangle 677"/>
          <p:cNvSpPr/>
          <p:nvPr/>
        </p:nvSpPr>
        <p:spPr>
          <a:xfrm>
            <a:off x="14996159" y="2880360"/>
            <a:ext cx="2286000" cy="3063240"/>
          </a:xfrm>
          <a:prstGeom prst="roundRect">
            <a:avLst>
              <a:gd name="adj" fmla="val 6000"/>
            </a:avLst>
          </a:prstGeom>
          <a:solidFill>
            <a:srgbClr val="111111"/>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79" name="TextBox 678"/>
          <p:cNvSpPr txBox="1"/>
          <p:nvPr/>
        </p:nvSpPr>
        <p:spPr>
          <a:xfrm>
            <a:off x="15133319" y="2971800"/>
            <a:ext cx="2011680" cy="320040"/>
          </a:xfrm>
          <a:prstGeom prst="rect">
            <a:avLst/>
          </a:prstGeom>
          <a:noFill/>
        </p:spPr>
        <p:txBody>
          <a:bodyPr wrap="square" lIns="0" rIns="0" tIns="0" bIns="0" anchor="t">
            <a:spAutoFit/>
          </a:bodyPr>
          <a:lstStyle/>
          <a:p>
            <a:pPr algn="l"/>
            <a:r>
              <a:rPr sz="1400" b="1">
                <a:solidFill>
                  <a:srgbClr val="FFFFFF"/>
                </a:solidFill>
                <a:latin typeface="Inter SemiBold"/>
              </a:rPr>
              <a:t>us-east-1 · DR</a:t>
            </a:r>
          </a:p>
        </p:txBody>
      </p:sp>
      <p:sp>
        <p:nvSpPr>
          <p:cNvPr id="680" name="Rounded Rectangle 679"/>
          <p:cNvSpPr/>
          <p:nvPr/>
        </p:nvSpPr>
        <p:spPr>
          <a:xfrm>
            <a:off x="15133319" y="3383280"/>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Aurora</a:t>
            </a:r>
          </a:p>
        </p:txBody>
      </p:sp>
      <p:sp>
        <p:nvSpPr>
          <p:cNvPr id="681" name="Rounded Rectangle 680"/>
          <p:cNvSpPr/>
          <p:nvPr/>
        </p:nvSpPr>
        <p:spPr>
          <a:xfrm>
            <a:off x="15133319" y="3950208"/>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DynamoDB</a:t>
            </a:r>
          </a:p>
        </p:txBody>
      </p:sp>
      <p:sp>
        <p:nvSpPr>
          <p:cNvPr id="682" name="Rounded Rectangle 681"/>
          <p:cNvSpPr/>
          <p:nvPr/>
        </p:nvSpPr>
        <p:spPr>
          <a:xfrm>
            <a:off x="15133319" y="4517136"/>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S3</a:t>
            </a:r>
          </a:p>
        </p:txBody>
      </p:sp>
      <p:cxnSp>
        <p:nvCxnSpPr>
          <p:cNvPr id="683" name="Connector 682"/>
          <p:cNvCxnSpPr/>
          <p:nvPr/>
        </p:nvCxnSpPr>
        <p:spPr>
          <a:xfrm>
            <a:off x="12252960" y="2697480"/>
            <a:ext cx="2743199" cy="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84" name="TextBox 683"/>
          <p:cNvSpPr txBox="1"/>
          <p:nvPr/>
        </p:nvSpPr>
        <p:spPr>
          <a:xfrm>
            <a:off x="12710160" y="2395728"/>
            <a:ext cx="2286000" cy="274320"/>
          </a:xfrm>
          <a:prstGeom prst="rect">
            <a:avLst/>
          </a:prstGeom>
          <a:noFill/>
        </p:spPr>
        <p:txBody>
          <a:bodyPr wrap="square" lIns="0" rIns="0" tIns="0" bIns="0" anchor="t">
            <a:spAutoFit/>
          </a:bodyPr>
          <a:lstStyle/>
          <a:p>
            <a:pPr algn="ctr"/>
            <a:r>
              <a:rPr sz="1300" b="1">
                <a:solidFill>
                  <a:srgbClr val="E8641B"/>
                </a:solidFill>
                <a:latin typeface="Inter SemiBold"/>
              </a:rPr>
              <a:t>réplicas de datos</a:t>
            </a:r>
          </a:p>
        </p:txBody>
      </p:sp>
      <p:sp>
        <p:nvSpPr>
          <p:cNvPr id="685" name="Rounded Rectangle 684"/>
          <p:cNvSpPr/>
          <p:nvPr/>
        </p:nvSpPr>
        <p:spPr>
          <a:xfrm>
            <a:off x="82296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6" name="TextBox 685"/>
          <p:cNvSpPr txBox="1"/>
          <p:nvPr/>
        </p:nvSpPr>
        <p:spPr>
          <a:xfrm>
            <a:off x="96012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CD Talca</a:t>
            </a:r>
          </a:p>
        </p:txBody>
      </p:sp>
      <p:sp>
        <p:nvSpPr>
          <p:cNvPr id="687" name="Rounded Rectangle 686"/>
          <p:cNvSpPr/>
          <p:nvPr/>
        </p:nvSpPr>
        <p:spPr>
          <a:xfrm>
            <a:off x="96012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688" name="Rounded Rectangle 687"/>
          <p:cNvSpPr/>
          <p:nvPr/>
        </p:nvSpPr>
        <p:spPr>
          <a:xfrm>
            <a:off x="356616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689" name="Rounded Rectangle 688"/>
          <p:cNvSpPr/>
          <p:nvPr/>
        </p:nvSpPr>
        <p:spPr>
          <a:xfrm>
            <a:off x="96012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Proxmox-Ceph · 3 nodos · 6 VM</a:t>
            </a:r>
          </a:p>
        </p:txBody>
      </p:sp>
      <p:sp>
        <p:nvSpPr>
          <p:cNvPr id="690" name="Rounded Rectangle 689"/>
          <p:cNvSpPr/>
          <p:nvPr/>
        </p:nvSpPr>
        <p:spPr>
          <a:xfrm>
            <a:off x="356616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ERP 2017</a:t>
            </a:r>
          </a:p>
        </p:txBody>
      </p:sp>
      <p:sp>
        <p:nvSpPr>
          <p:cNvPr id="691" name="Rounded Rectangle 690"/>
          <p:cNvSpPr/>
          <p:nvPr/>
        </p:nvSpPr>
        <p:spPr>
          <a:xfrm>
            <a:off x="96012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NAS WORM</a:t>
            </a:r>
          </a:p>
        </p:txBody>
      </p:sp>
      <p:sp>
        <p:nvSpPr>
          <p:cNvPr id="692" name="Rounded Rectangle 691"/>
          <p:cNvSpPr/>
          <p:nvPr/>
        </p:nvSpPr>
        <p:spPr>
          <a:xfrm>
            <a:off x="356616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MC9400 · Wi-Fi 6E</a:t>
            </a:r>
          </a:p>
        </p:txBody>
      </p:sp>
      <p:sp>
        <p:nvSpPr>
          <p:cNvPr id="693" name="Rounded Rectangle 692"/>
          <p:cNvSpPr/>
          <p:nvPr/>
        </p:nvSpPr>
        <p:spPr>
          <a:xfrm>
            <a:off x="960120" y="886968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Gateways IoT (2) y sensores</a:t>
            </a:r>
          </a:p>
        </p:txBody>
      </p:sp>
      <p:cxnSp>
        <p:nvCxnSpPr>
          <p:cNvPr id="694" name="Connector 693"/>
          <p:cNvCxnSpPr/>
          <p:nvPr/>
        </p:nvCxnSpPr>
        <p:spPr>
          <a:xfrm flipV="1">
            <a:off x="3520440" y="5943600"/>
            <a:ext cx="1001268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5" name="Rounded Rectangle 694"/>
          <p:cNvSpPr/>
          <p:nvPr/>
        </p:nvSpPr>
        <p:spPr>
          <a:xfrm>
            <a:off x="644652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96" name="TextBox 695"/>
          <p:cNvSpPr txBox="1"/>
          <p:nvPr/>
        </p:nvSpPr>
        <p:spPr>
          <a:xfrm>
            <a:off x="658368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CD Concepción</a:t>
            </a:r>
          </a:p>
        </p:txBody>
      </p:sp>
      <p:sp>
        <p:nvSpPr>
          <p:cNvPr id="697" name="Rounded Rectangle 696"/>
          <p:cNvSpPr/>
          <p:nvPr/>
        </p:nvSpPr>
        <p:spPr>
          <a:xfrm>
            <a:off x="658368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698" name="Rounded Rectangle 697"/>
          <p:cNvSpPr/>
          <p:nvPr/>
        </p:nvSpPr>
        <p:spPr>
          <a:xfrm>
            <a:off x="918972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699" name="Rounded Rectangle 698"/>
          <p:cNvSpPr/>
          <p:nvPr/>
        </p:nvSpPr>
        <p:spPr>
          <a:xfrm>
            <a:off x="658368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Proxmox activo · 4 VM</a:t>
            </a:r>
          </a:p>
        </p:txBody>
      </p:sp>
      <p:sp>
        <p:nvSpPr>
          <p:cNvPr id="700" name="Rounded Rectangle 699"/>
          <p:cNvSpPr/>
          <p:nvPr/>
        </p:nvSpPr>
        <p:spPr>
          <a:xfrm>
            <a:off x="918972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En espera · 4 VM (réplica sincrónica)</a:t>
            </a:r>
          </a:p>
        </p:txBody>
      </p:sp>
      <p:sp>
        <p:nvSpPr>
          <p:cNvPr id="701" name="Rounded Rectangle 700"/>
          <p:cNvSpPr/>
          <p:nvPr/>
        </p:nvSpPr>
        <p:spPr>
          <a:xfrm>
            <a:off x="658368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MC9400 · Wi-Fi 6E</a:t>
            </a:r>
          </a:p>
        </p:txBody>
      </p:sp>
      <p:sp>
        <p:nvSpPr>
          <p:cNvPr id="702" name="Rounded Rectangle 701"/>
          <p:cNvSpPr/>
          <p:nvPr/>
        </p:nvSpPr>
        <p:spPr>
          <a:xfrm>
            <a:off x="918972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Gateway IoT y sensores</a:t>
            </a:r>
          </a:p>
        </p:txBody>
      </p:sp>
      <p:cxnSp>
        <p:nvCxnSpPr>
          <p:cNvPr id="703" name="Connector 702"/>
          <p:cNvCxnSpPr/>
          <p:nvPr/>
        </p:nvCxnSpPr>
        <p:spPr>
          <a:xfrm flipV="1">
            <a:off x="9144000" y="5943600"/>
            <a:ext cx="438912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4" name="Rounded Rectangle 703"/>
          <p:cNvSpPr/>
          <p:nvPr/>
        </p:nvSpPr>
        <p:spPr>
          <a:xfrm>
            <a:off x="1207008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05" name="TextBox 704"/>
          <p:cNvSpPr txBox="1"/>
          <p:nvPr/>
        </p:nvSpPr>
        <p:spPr>
          <a:xfrm>
            <a:off x="1220724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Cross-docking × 3</a:t>
            </a:r>
          </a:p>
        </p:txBody>
      </p:sp>
      <p:sp>
        <p:nvSpPr>
          <p:cNvPr id="706" name="Rounded Rectangle 705"/>
          <p:cNvSpPr/>
          <p:nvPr/>
        </p:nvSpPr>
        <p:spPr>
          <a:xfrm>
            <a:off x="1220724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707" name="Rounded Rectangle 706"/>
          <p:cNvSpPr/>
          <p:nvPr/>
        </p:nvSpPr>
        <p:spPr>
          <a:xfrm>
            <a:off x="1481328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708" name="Rounded Rectangle 707"/>
          <p:cNvSpPr/>
          <p:nvPr/>
        </p:nvSpPr>
        <p:spPr>
          <a:xfrm>
            <a:off x="1220724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Mini-PC activo · Docker</a:t>
            </a:r>
          </a:p>
        </p:txBody>
      </p:sp>
      <p:sp>
        <p:nvSpPr>
          <p:cNvPr id="709" name="Rounded Rectangle 708"/>
          <p:cNvSpPr/>
          <p:nvPr/>
        </p:nvSpPr>
        <p:spPr>
          <a:xfrm>
            <a:off x="1481328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En espera · Docker (réplica)</a:t>
            </a:r>
          </a:p>
        </p:txBody>
      </p:sp>
      <p:sp>
        <p:nvSpPr>
          <p:cNvPr id="710" name="Rounded Rectangle 709"/>
          <p:cNvSpPr/>
          <p:nvPr/>
        </p:nvSpPr>
        <p:spPr>
          <a:xfrm>
            <a:off x="1220724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Escáneres GS1</a:t>
            </a:r>
          </a:p>
        </p:txBody>
      </p:sp>
      <p:cxnSp>
        <p:nvCxnSpPr>
          <p:cNvPr id="711" name="Connector 710"/>
          <p:cNvCxnSpPr/>
          <p:nvPr/>
        </p:nvCxnSpPr>
        <p:spPr>
          <a:xfrm flipH="1" flipV="1">
            <a:off x="13533120" y="5943600"/>
            <a:ext cx="123444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2" name="TextBox 711"/>
          <p:cNvSpPr txBox="1"/>
          <p:nvPr/>
        </p:nvSpPr>
        <p:spPr>
          <a:xfrm>
            <a:off x="822960" y="6263640"/>
            <a:ext cx="8229600" cy="320040"/>
          </a:xfrm>
          <a:prstGeom prst="rect">
            <a:avLst/>
          </a:prstGeom>
          <a:noFill/>
        </p:spPr>
        <p:txBody>
          <a:bodyPr wrap="square" lIns="0" rIns="0" tIns="0" bIns="0" anchor="t">
            <a:spAutoFit/>
          </a:bodyPr>
          <a:lstStyle/>
          <a:p>
            <a:pPr algn="l"/>
            <a:r>
              <a:rPr sz="1300" b="1">
                <a:solidFill>
                  <a:srgbClr val="E8641B"/>
                </a:solidFill>
                <a:latin typeface="Inter SemiBold"/>
              </a:rPr>
              <a:t>VPN sitio a sitio hacia el VPC Hub · fibra, LTE y Starlink</a:t>
            </a:r>
          </a:p>
        </p:txBody>
      </p:sp>
      <p:sp>
        <p:nvSpPr>
          <p:cNvPr id="71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cap="flat" cmpd="sng" w="76200">
            <a:solidFill>
              <a:srgbClr val="000000"/>
            </a:solidFill>
            <a:prstDash val="solid"/>
            <a:round/>
            <a:headEnd len="sm" w="sm" type="none"/>
            <a:tailEnd len="sm" w="sm" type="none"/>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Lote y vencimiento al ingresar</a:t>
            </a:r>
            <a:endParaRPr sz="2400"/>
          </a:p>
        </p:txBody>
      </p:sp>
      <p:sp>
        <p:nvSpPr>
          <p:cNvPr id="669" name="Google Shape;669;p12"/>
          <p:cNvSpPr txBox="1"/>
          <p:nvPr/>
        </p:nvSpPr>
        <p:spPr>
          <a:xfrm>
            <a:off x="4655754" y="6148634"/>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Historia térmica; decide Calidad</a:t>
            </a:r>
            <a:endParaRPr sz="2400"/>
          </a:p>
        </p:txBody>
      </p:sp>
      <p:sp>
        <p:nvSpPr>
          <p:cNvPr id="670" name="Google Shape;670;p12"/>
          <p:cNvSpPr txBox="1"/>
          <p:nvPr/>
        </p:nvSpPr>
        <p:spPr>
          <a:xfrm>
            <a:off x="11304632" y="6166883"/>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Paradas y temperatura</a:t>
            </a:r>
            <a:endParaRPr sz="2400"/>
          </a:p>
        </p:txBody>
      </p:sp>
      <p:sp>
        <p:nvSpPr>
          <p:cNvPr id="671" name="Google Shape;671;p12"/>
          <p:cNvSpPr txBox="1"/>
          <p:nvPr/>
        </p:nvSpPr>
        <p:spPr>
          <a:xfrm>
            <a:off x="14631484" y="6166883"/>
            <a:ext cx="2421900" cy="3693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Firma, foto o QR</a:t>
            </a:r>
            <a:endParaRPr sz="240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1" y="-47626"/>
              <a:ext cx="716400" cy="542100"/>
            </a:xfrm>
            <a:prstGeom prst="rect">
              <a:avLst/>
            </a:prstGeom>
            <a:noFill/>
            <a:ln>
              <a:noFill/>
            </a:ln>
          </p:spPr>
          <p:txBody>
            <a:bodyPr anchorCtr="0" anchor="ctr" bIns="50800" lIns="50800" spcFirstLastPara="1" rIns="50800" wrap="square" tIns="50800">
              <a:noAutofit/>
            </a:bodyPr>
            <a:lstStyle/>
            <a:p>
              <a:pPr indent="0" lvl="0" marL="0" rtl="0" algn="ctr">
                <a:lnSpc>
                  <a:spcPct val="117842"/>
                </a:lnSpc>
                <a:spcBef>
                  <a:spcPts val="0"/>
                </a:spcBef>
                <a:spcAft>
                  <a:spcPts val="0"/>
                </a:spcAft>
                <a:buNone/>
              </a:pPr>
              <a:r>
                <a:rPr lang="en-US" sz="2400">
                  <a:latin typeface="Inter"/>
                  <a:ea typeface="Inter"/>
                  <a:cs typeface="Inter"/>
                  <a:sym typeface="Inter"/>
                </a:rPr>
                <a:t>Pallet o canastillo con su lote</a:t>
              </a:r>
              <a:endParaRPr sz="2400"/>
            </a:p>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2"/>
            <p:cNvSpPr txBox="1"/>
            <p:nvPr/>
          </p:nvSpPr>
          <p:spPr>
            <a:xfrm>
              <a:off x="0" y="-47625"/>
              <a:ext cx="716400" cy="666000"/>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240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8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85"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75366"/>
              </a:lnSpc>
              <a:spcBef>
                <a:spcPts val="0"/>
              </a:spcBef>
              <a:spcAft>
                <a:spcPts val="0"/>
              </a:spcAft>
              <a:buNone/>
            </a:pPr>
            <a:r>
              <a:rPr b="1" lang="en-US" sz="6000">
                <a:solidFill>
                  <a:srgbClr val="111111"/>
                </a:solidFill>
                <a:latin typeface="Inter SemiBold"/>
                <a:ea typeface="Inter SemiBold"/>
                <a:cs typeface="Inter SemiBold"/>
                <a:sym typeface="Inter SemiBold"/>
              </a:rPr>
              <a:t>Datos con una sola verdad</a:t>
            </a:r>
            <a:endParaRPr/>
          </a:p>
        </p:txBody>
      </p:sp>
      <p:sp>
        <p:nvSpPr>
          <p:cNvPr id="686" name="Google Shape;686;p12"/>
          <p:cNvSpPr txBox="1"/>
          <p:nvPr/>
        </p:nvSpPr>
        <p:spPr>
          <a:xfrm>
            <a:off x="1338788"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Recepción</a:t>
            </a:r>
            <a:endParaRPr/>
          </a:p>
        </p:txBody>
      </p:sp>
      <p:sp>
        <p:nvSpPr>
          <p:cNvPr id="687" name="Google Shape;687;p12"/>
          <p:cNvSpPr txBox="1"/>
          <p:nvPr/>
        </p:nvSpPr>
        <p:spPr>
          <a:xfrm>
            <a:off x="4660736"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Lote</a:t>
            </a:r>
            <a:endParaRPr/>
          </a:p>
        </p:txBody>
      </p:sp>
      <p:sp>
        <p:nvSpPr>
          <p:cNvPr id="688" name="Google Shape;688;p12"/>
          <p:cNvSpPr txBox="1"/>
          <p:nvPr/>
        </p:nvSpPr>
        <p:spPr>
          <a:xfrm>
            <a:off x="7982684"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Unidad</a:t>
            </a:r>
            <a:endParaRPr/>
          </a:p>
        </p:txBody>
      </p:sp>
      <p:sp>
        <p:nvSpPr>
          <p:cNvPr id="689" name="Google Shape;689;p12"/>
          <p:cNvSpPr txBox="1"/>
          <p:nvPr/>
        </p:nvSpPr>
        <p:spPr>
          <a:xfrm>
            <a:off x="11304632"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Ruta</a:t>
            </a:r>
            <a:endParaRPr/>
          </a:p>
        </p:txBody>
      </p:sp>
      <p:sp>
        <p:nvSpPr>
          <p:cNvPr id="690" name="Google Shape;690;p12"/>
          <p:cNvSpPr txBox="1"/>
          <p:nvPr/>
        </p:nvSpPr>
        <p:spPr>
          <a:xfrm>
            <a:off x="14626580"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Entrega</a:t>
            </a:r>
            <a:endParaRPr/>
          </a:p>
        </p:txBody>
      </p:sp>
      <p:sp>
        <p:nvSpPr>
          <p:cNvPr id="69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92" name="!!deco_dce8b6c9_1"/>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69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5" name="Google Shape;695;p12"/>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2200">
                <a:solidFill>
                  <a:srgbClr val="000000"/>
                </a:solidFill>
                <a:latin typeface="Inter"/>
                <a:ea typeface="Inter"/>
                <a:cs typeface="Inter"/>
                <a:sym typeface="Inter"/>
              </a:rPr>
              <a:t>15 dominios · una sola fuente por dato · custodia EPCIS 2.0</a:t>
            </a:r>
            <a:endParaRPr/>
          </a:p>
        </p:txBody>
      </p:sp>
      <p:sp>
        <p:nvSpPr>
          <p:cNvPr id="696" name="Google Shape;696;p12"/>
          <p:cNvSpPr txBox="1"/>
          <p:nvPr/>
        </p:nvSpPr>
        <p:spPr>
          <a:xfrm>
            <a:off x="2743200" y="8537615"/>
            <a:ext cx="12801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000">
                <a:solidFill>
                  <a:srgbClr val="3C3C3C"/>
                </a:solidFill>
                <a:latin typeface="Inter SemiBold"/>
                <a:ea typeface="Inter SemiBold"/>
                <a:cs typeface="Inter SemiBold"/>
                <a:sym typeface="Inter SemiBold"/>
              </a:rPr>
              <a:t>Migración: 16 GB de origen · 0 diferencias sin explicar</a:t>
            </a:r>
            <a:endParaRPr/>
          </a:p>
        </p:txBody>
      </p:sp>
      <p:sp>
        <p:nvSpPr>
          <p:cNvPr id="69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38"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39"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56" name="TextBox 755"/>
          <p:cNvSpPr txBox="1"/>
          <p:nvPr/>
        </p:nvSpPr>
        <p:spPr>
          <a:xfrm>
            <a:off x="1463040" y="3703320"/>
            <a:ext cx="6858000" cy="320040"/>
          </a:xfrm>
          <a:prstGeom prst="rect">
            <a:avLst/>
          </a:prstGeom>
          <a:noFill/>
        </p:spPr>
        <p:txBody>
          <a:bodyPr wrap="square" lIns="0" rIns="0" tIns="0" bIns="0" anchor="t">
            <a:spAutoFit/>
          </a:bodyPr>
          <a:lstStyle/>
          <a:p>
            <a:pPr algn="l"/>
            <a:r>
              <a:rPr sz="1400" b="1">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rIns="0" tIns="0" bIns="0" anchor="t">
            <a:spAutoFit/>
          </a:bodyPr>
          <a:lstStyle/>
          <a:p>
            <a:pPr algn="l"/>
            <a:r>
              <a:rPr sz="1500" b="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rIns="0" tIns="0" bIns="0" anchor="t">
            <a:spAutoFit/>
          </a:bodyPr>
          <a:lstStyle/>
          <a:p>
            <a:pPr algn="l"/>
            <a:r>
              <a:rPr sz="1500" b="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rIns="0" tIns="0" bIns="0" anchor="t">
            <a:spAutoFit/>
          </a:bodyPr>
          <a:lstStyle/>
          <a:p>
            <a:pPr algn="l"/>
            <a:r>
              <a:rPr sz="1500" b="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rIns="0" tIns="0" bIns="0" anchor="t">
            <a:spAutoFit/>
          </a:bodyPr>
          <a:lstStyle/>
          <a:p>
            <a:pPr algn="l"/>
            <a:r>
              <a:rPr sz="2000" b="1">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rIns="0" tIns="0" bIns="0" anchor="t">
            <a:spAutoFit/>
          </a:bodyPr>
          <a:lstStyle/>
          <a:p>
            <a:pPr algn="l"/>
            <a:r>
              <a:rPr sz="1500" b="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rIns="0" tIns="0" bIns="0" anchor="t">
            <a:spAutoFit/>
          </a:bodyPr>
          <a:lstStyle/>
          <a:p>
            <a:pPr algn="l"/>
            <a:r>
              <a:rPr sz="1400" b="1">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320040"/>
          </a:xfrm>
          <a:prstGeom prst="rect">
            <a:avLst/>
          </a:prstGeom>
          <a:noFill/>
        </p:spPr>
        <p:txBody>
          <a:bodyPr wrap="square" lIns="0" rIns="0" tIns="0" bIns="0" anchor="t">
            <a:spAutoFit/>
          </a:bodyPr>
          <a:lstStyle/>
          <a:p>
            <a:pPr algn="l"/>
            <a:r>
              <a:rPr sz="1300" b="0">
                <a:solidFill>
                  <a:srgbClr val="9A9A9A"/>
                </a:solidFill>
                <a:latin typeface="Inter"/>
              </a:rPr>
              <a:t>cada marca = una reunión en 8 semanas</a:t>
            </a:r>
          </a:p>
        </p:txBody>
      </p:sp>
      <p:sp>
        <p:nvSpPr>
          <p:cNvPr id="79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65"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66"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rIns="0" tIns="0" bIns="0" anchor="t">
            <a:spAutoFit/>
          </a:bodyPr>
          <a:lstStyle/>
          <a:p>
            <a:pPr algn="l"/>
            <a:r>
              <a:rPr sz="1400" b="1">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Inicio</a:t>
            </a:r>
          </a:p>
          <a:p>
            <a:pPr algn="l"/>
            <a:r>
              <a:rPr sz="1400" b="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784" name="TextBox 783"/>
          <p:cNvSpPr txBox="1"/>
          <p:nvPr/>
        </p:nvSpPr>
        <p:spPr>
          <a:xfrm>
            <a:off x="3158809" y="4983480"/>
            <a:ext cx="1463040" cy="320040"/>
          </a:xfrm>
          <a:prstGeom prst="rect">
            <a:avLst/>
          </a:prstGeom>
          <a:noFill/>
        </p:spPr>
        <p:txBody>
          <a:bodyPr wrap="square" lIns="0" rIns="0" tIns="0" bIns="0" anchor="t">
            <a:spAutoFit/>
          </a:bodyPr>
          <a:lstStyle/>
          <a:p>
            <a:pPr algn="l"/>
            <a:r>
              <a:rPr sz="1400" b="1">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rIns="0" tIns="0" bIns="0" anchor="t">
            <a:spAutoFit/>
          </a:bodyPr>
          <a:lstStyle/>
          <a:p>
            <a:pPr algn="l"/>
            <a:r>
              <a:rPr sz="1400" b="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Construcción</a:t>
            </a:r>
          </a:p>
          <a:p>
            <a:pPr algn="l"/>
            <a:r>
              <a:rPr sz="1400" b="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111111"/>
                </a:solidFill>
                <a:latin typeface="Inter SemiBold"/>
              </a:rPr>
              <a:t>Transición</a:t>
            </a:r>
          </a:p>
          <a:p>
            <a:pPr algn="l"/>
            <a:r>
              <a:rPr sz="1400" b="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rIns="0" tIns="0" bIns="0" anchor="t">
            <a:spAutoFit/>
          </a:bodyPr>
          <a:lstStyle/>
          <a:p>
            <a:pPr algn="l"/>
            <a:r>
              <a:rPr sz="1400" b="1">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Cada</a:t>
            </a:r>
          </a:p>
          <a:p>
            <a:pPr algn="ctr"/>
            <a:r>
              <a:rPr sz="1500" b="1">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rIns="0" tIns="0" bIns="0" anchor="t">
            <a:spAutoFit/>
          </a:bodyPr>
          <a:lstStyle/>
          <a:p>
            <a:pPr algn="l"/>
            <a:r>
              <a:rPr sz="1400" b="1">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rIns="0" tIns="0" bIns="0" anchor="t">
            <a:spAutoFit/>
          </a:bodyPr>
          <a:lstStyle/>
          <a:p>
            <a:pPr algn="l"/>
            <a:r>
              <a:rPr sz="1400" b="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rIns="0" tIns="0" bIns="0" anchor="t">
            <a:spAutoFit/>
          </a:bodyPr>
          <a:lstStyle/>
          <a:p>
            <a:pPr algn="l"/>
            <a:r>
              <a:rPr sz="1400" b="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rIns="0" tIns="0" bIns="0" anchor="t">
            <a:spAutoFit/>
          </a:bodyPr>
          <a:lstStyle/>
          <a:p>
            <a:pPr algn="l"/>
            <a:r>
              <a:rPr sz="1400" b="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8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11</a:t>
            </a:r>
          </a:p>
        </p:txBody>
      </p:sp>
      <p:sp>
        <p:nvSpPr>
          <p:cNvPr id="850"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852" name="Connector 851"/>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1</a:t>
            </a:r>
          </a:p>
          <a:p>
            <a:pPr algn="l"/>
            <a:r>
              <a:rPr sz="1400" b="1">
                <a:solidFill>
                  <a:srgbClr val="111111"/>
                </a:solidFill>
                <a:latin typeface="Inter SemiBold"/>
              </a:rPr>
              <a:t>Inicio</a:t>
            </a:r>
          </a:p>
        </p:txBody>
      </p:sp>
      <p:sp>
        <p:nvSpPr>
          <p:cNvPr id="856"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6.920 HH</a:t>
            </a:r>
          </a:p>
        </p:txBody>
      </p:sp>
      <p:sp>
        <p:nvSpPr>
          <p:cNvPr id="857"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606060"/>
                </a:solidFill>
                <a:latin typeface="Inter"/>
              </a:rPr>
              <a:t>9 CC · 35 PT</a:t>
            </a:r>
          </a:p>
        </p:txBody>
      </p:sp>
      <p:sp>
        <p:nvSpPr>
          <p:cNvPr id="858" name="Oval 857"/>
          <p:cNvSpPr/>
          <p:nvPr/>
        </p:nvSpPr>
        <p:spPr>
          <a:xfrm>
            <a:off x="93268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59" name="Oval 858"/>
          <p:cNvSpPr/>
          <p:nvPr/>
        </p:nvSpPr>
        <p:spPr>
          <a:xfrm>
            <a:off x="1234440"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0" name="Oval 859"/>
          <p:cNvSpPr/>
          <p:nvPr/>
        </p:nvSpPr>
        <p:spPr>
          <a:xfrm>
            <a:off x="1536192"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1" name="Oval 860"/>
          <p:cNvSpPr/>
          <p:nvPr/>
        </p:nvSpPr>
        <p:spPr>
          <a:xfrm>
            <a:off x="1837943"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2" name="Oval 861"/>
          <p:cNvSpPr/>
          <p:nvPr/>
        </p:nvSpPr>
        <p:spPr>
          <a:xfrm>
            <a:off x="213969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3" name="Oval 862"/>
          <p:cNvSpPr/>
          <p:nvPr/>
        </p:nvSpPr>
        <p:spPr>
          <a:xfrm>
            <a:off x="932688"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4" name="Oval 863"/>
          <p:cNvSpPr/>
          <p:nvPr/>
        </p:nvSpPr>
        <p:spPr>
          <a:xfrm>
            <a:off x="1234440"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5" name="Oval 864"/>
          <p:cNvSpPr/>
          <p:nvPr/>
        </p:nvSpPr>
        <p:spPr>
          <a:xfrm>
            <a:off x="1536192"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6" name="Oval 865"/>
          <p:cNvSpPr/>
          <p:nvPr/>
        </p:nvSpPr>
        <p:spPr>
          <a:xfrm>
            <a:off x="1837943"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67" name="Connector 866"/>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2</a:t>
            </a:r>
          </a:p>
          <a:p>
            <a:pPr algn="l"/>
            <a:r>
              <a:rPr sz="1400" b="1">
                <a:solidFill>
                  <a:srgbClr val="111111"/>
                </a:solidFill>
                <a:latin typeface="Inter SemiBold"/>
              </a:rPr>
              <a:t>Elaboración</a:t>
            </a:r>
          </a:p>
        </p:txBody>
      </p:sp>
      <p:sp>
        <p:nvSpPr>
          <p:cNvPr id="869"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4.320 HH</a:t>
            </a:r>
          </a:p>
        </p:txBody>
      </p:sp>
      <p:sp>
        <p:nvSpPr>
          <p:cNvPr id="870"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606060"/>
                </a:solidFill>
                <a:latin typeface="Inter"/>
              </a:rPr>
              <a:t>6 CC · 18 PT</a:t>
            </a:r>
          </a:p>
        </p:txBody>
      </p:sp>
      <p:sp>
        <p:nvSpPr>
          <p:cNvPr id="871" name="Oval 870"/>
          <p:cNvSpPr/>
          <p:nvPr/>
        </p:nvSpPr>
        <p:spPr>
          <a:xfrm>
            <a:off x="2794000"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2" name="Oval 871"/>
          <p:cNvSpPr/>
          <p:nvPr/>
        </p:nvSpPr>
        <p:spPr>
          <a:xfrm>
            <a:off x="3095752"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3" name="Oval 872"/>
          <p:cNvSpPr/>
          <p:nvPr/>
        </p:nvSpPr>
        <p:spPr>
          <a:xfrm>
            <a:off x="3397504"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4" name="Oval 873"/>
          <p:cNvSpPr/>
          <p:nvPr/>
        </p:nvSpPr>
        <p:spPr>
          <a:xfrm>
            <a:off x="369925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5" name="Oval 874"/>
          <p:cNvSpPr/>
          <p:nvPr/>
        </p:nvSpPr>
        <p:spPr>
          <a:xfrm>
            <a:off x="400100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6" name="Oval 875"/>
          <p:cNvSpPr/>
          <p:nvPr/>
        </p:nvSpPr>
        <p:spPr>
          <a:xfrm>
            <a:off x="2794000"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77" name="Connector 876"/>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3</a:t>
            </a:r>
          </a:p>
          <a:p>
            <a:pPr algn="l"/>
            <a:r>
              <a:rPr sz="1400" b="1">
                <a:solidFill>
                  <a:srgbClr val="111111"/>
                </a:solidFill>
                <a:latin typeface="Inter SemiBold"/>
              </a:rPr>
              <a:t>Construcción</a:t>
            </a:r>
          </a:p>
        </p:txBody>
      </p:sp>
      <p:sp>
        <p:nvSpPr>
          <p:cNvPr id="879"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33.280 HH</a:t>
            </a:r>
          </a:p>
        </p:txBody>
      </p:sp>
      <p:sp>
        <p:nvSpPr>
          <p:cNvPr id="880"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606060"/>
                </a:solidFill>
                <a:latin typeface="Inter"/>
              </a:rPr>
              <a:t>11 CC · 79 PT</a:t>
            </a:r>
          </a:p>
        </p:txBody>
      </p:sp>
      <p:sp>
        <p:nvSpPr>
          <p:cNvPr id="881" name="Oval 880"/>
          <p:cNvSpPr/>
          <p:nvPr/>
        </p:nvSpPr>
        <p:spPr>
          <a:xfrm>
            <a:off x="4655312"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2" name="Oval 881"/>
          <p:cNvSpPr/>
          <p:nvPr/>
        </p:nvSpPr>
        <p:spPr>
          <a:xfrm>
            <a:off x="4957064"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3" name="Oval 882"/>
          <p:cNvSpPr/>
          <p:nvPr/>
        </p:nvSpPr>
        <p:spPr>
          <a:xfrm>
            <a:off x="525881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4" name="Oval 883"/>
          <p:cNvSpPr/>
          <p:nvPr/>
        </p:nvSpPr>
        <p:spPr>
          <a:xfrm>
            <a:off x="556056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5" name="Oval 884"/>
          <p:cNvSpPr/>
          <p:nvPr/>
        </p:nvSpPr>
        <p:spPr>
          <a:xfrm>
            <a:off x="5862320"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6" name="Oval 885"/>
          <p:cNvSpPr/>
          <p:nvPr/>
        </p:nvSpPr>
        <p:spPr>
          <a:xfrm>
            <a:off x="4655312"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7" name="Oval 886"/>
          <p:cNvSpPr/>
          <p:nvPr/>
        </p:nvSpPr>
        <p:spPr>
          <a:xfrm>
            <a:off x="4957064"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8" name="Oval 887"/>
          <p:cNvSpPr/>
          <p:nvPr/>
        </p:nvSpPr>
        <p:spPr>
          <a:xfrm>
            <a:off x="5258816"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9" name="Oval 888"/>
          <p:cNvSpPr/>
          <p:nvPr/>
        </p:nvSpPr>
        <p:spPr>
          <a:xfrm>
            <a:off x="5560568"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0" name="Oval 889"/>
          <p:cNvSpPr/>
          <p:nvPr/>
        </p:nvSpPr>
        <p:spPr>
          <a:xfrm>
            <a:off x="5862320"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1" name="Oval 890"/>
          <p:cNvSpPr/>
          <p:nvPr/>
        </p:nvSpPr>
        <p:spPr>
          <a:xfrm>
            <a:off x="4655312" y="52212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92" name="Connector 891"/>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4</a:t>
            </a:r>
          </a:p>
          <a:p>
            <a:pPr algn="l"/>
            <a:r>
              <a:rPr sz="1400" b="1">
                <a:solidFill>
                  <a:srgbClr val="111111"/>
                </a:solidFill>
                <a:latin typeface="Inter SemiBold"/>
              </a:rPr>
              <a:t>Transición</a:t>
            </a:r>
          </a:p>
        </p:txBody>
      </p:sp>
      <p:sp>
        <p:nvSpPr>
          <p:cNvPr id="894"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20.672 HH</a:t>
            </a:r>
          </a:p>
        </p:txBody>
      </p:sp>
      <p:sp>
        <p:nvSpPr>
          <p:cNvPr id="895"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606060"/>
                </a:solidFill>
                <a:latin typeface="Inter"/>
              </a:rPr>
              <a:t>3 CC · 10 PT</a:t>
            </a:r>
          </a:p>
        </p:txBody>
      </p:sp>
      <p:sp>
        <p:nvSpPr>
          <p:cNvPr id="896" name="Oval 895"/>
          <p:cNvSpPr/>
          <p:nvPr/>
        </p:nvSpPr>
        <p:spPr>
          <a:xfrm>
            <a:off x="6516624"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7" name="Oval 896"/>
          <p:cNvSpPr/>
          <p:nvPr/>
        </p:nvSpPr>
        <p:spPr>
          <a:xfrm>
            <a:off x="681837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8" name="Oval 897"/>
          <p:cNvSpPr/>
          <p:nvPr/>
        </p:nvSpPr>
        <p:spPr>
          <a:xfrm>
            <a:off x="712012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99" name="Connector 898"/>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5</a:t>
            </a:r>
          </a:p>
          <a:p>
            <a:pPr algn="l"/>
            <a:r>
              <a:rPr sz="1400" b="1">
                <a:solidFill>
                  <a:srgbClr val="111111"/>
                </a:solidFill>
                <a:latin typeface="Inter SemiBold"/>
              </a:rPr>
              <a:t>Adquisiciones</a:t>
            </a:r>
          </a:p>
        </p:txBody>
      </p:sp>
      <p:sp>
        <p:nvSpPr>
          <p:cNvPr id="901"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1.040 HH</a:t>
            </a:r>
          </a:p>
        </p:txBody>
      </p:sp>
      <p:sp>
        <p:nvSpPr>
          <p:cNvPr id="902"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606060"/>
                </a:solidFill>
                <a:latin typeface="Inter"/>
              </a:rPr>
              <a:t>4 CC · 13 PT</a:t>
            </a:r>
          </a:p>
        </p:txBody>
      </p:sp>
      <p:sp>
        <p:nvSpPr>
          <p:cNvPr id="903" name="Oval 902"/>
          <p:cNvSpPr/>
          <p:nvPr/>
        </p:nvSpPr>
        <p:spPr>
          <a:xfrm>
            <a:off x="8377936"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4" name="Oval 903"/>
          <p:cNvSpPr/>
          <p:nvPr/>
        </p:nvSpPr>
        <p:spPr>
          <a:xfrm>
            <a:off x="8679688"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5" name="Oval 904"/>
          <p:cNvSpPr/>
          <p:nvPr/>
        </p:nvSpPr>
        <p:spPr>
          <a:xfrm>
            <a:off x="8981440"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6" name="Oval 905"/>
          <p:cNvSpPr/>
          <p:nvPr/>
        </p:nvSpPr>
        <p:spPr>
          <a:xfrm>
            <a:off x="9283192"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07" name="Connector 906"/>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6</a:t>
            </a:r>
          </a:p>
          <a:p>
            <a:pPr algn="l"/>
            <a:r>
              <a:rPr sz="1400" b="1">
                <a:solidFill>
                  <a:srgbClr val="111111"/>
                </a:solidFill>
                <a:latin typeface="Inter SemiBold"/>
              </a:rPr>
              <a:t>Infraestructura</a:t>
            </a:r>
          </a:p>
        </p:txBody>
      </p:sp>
      <p:sp>
        <p:nvSpPr>
          <p:cNvPr id="909"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3.840 HH</a:t>
            </a:r>
          </a:p>
        </p:txBody>
      </p:sp>
      <p:sp>
        <p:nvSpPr>
          <p:cNvPr id="910"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606060"/>
                </a:solidFill>
                <a:latin typeface="Inter"/>
              </a:rPr>
              <a:t>6 CC · 24 PT</a:t>
            </a:r>
          </a:p>
        </p:txBody>
      </p:sp>
      <p:sp>
        <p:nvSpPr>
          <p:cNvPr id="911" name="Oval 910"/>
          <p:cNvSpPr/>
          <p:nvPr/>
        </p:nvSpPr>
        <p:spPr>
          <a:xfrm>
            <a:off x="10239248"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2" name="Oval 911"/>
          <p:cNvSpPr/>
          <p:nvPr/>
        </p:nvSpPr>
        <p:spPr>
          <a:xfrm>
            <a:off x="10541000"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3" name="Oval 912"/>
          <p:cNvSpPr/>
          <p:nvPr/>
        </p:nvSpPr>
        <p:spPr>
          <a:xfrm>
            <a:off x="10842752"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4" name="Oval 913"/>
          <p:cNvSpPr/>
          <p:nvPr/>
        </p:nvSpPr>
        <p:spPr>
          <a:xfrm>
            <a:off x="11144504"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5" name="Oval 914"/>
          <p:cNvSpPr/>
          <p:nvPr/>
        </p:nvSpPr>
        <p:spPr>
          <a:xfrm>
            <a:off x="11446256"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6" name="Oval 915"/>
          <p:cNvSpPr/>
          <p:nvPr/>
        </p:nvSpPr>
        <p:spPr>
          <a:xfrm>
            <a:off x="10239248" y="49194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17" name="Connector 916"/>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7</a:t>
            </a:r>
          </a:p>
          <a:p>
            <a:pPr algn="l"/>
            <a:r>
              <a:rPr sz="1400" b="1">
                <a:solidFill>
                  <a:srgbClr val="111111"/>
                </a:solidFill>
                <a:latin typeface="Inter SemiBold"/>
              </a:rPr>
              <a:t>Capacitación y cambio</a:t>
            </a:r>
          </a:p>
        </p:txBody>
      </p:sp>
      <p:sp>
        <p:nvSpPr>
          <p:cNvPr id="919"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4.736 HH</a:t>
            </a:r>
          </a:p>
        </p:txBody>
      </p:sp>
      <p:sp>
        <p:nvSpPr>
          <p:cNvPr id="920"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606060"/>
                </a:solidFill>
                <a:latin typeface="Inter"/>
              </a:rPr>
              <a:t>3 CC · 13 PT</a:t>
            </a:r>
          </a:p>
        </p:txBody>
      </p:sp>
      <p:sp>
        <p:nvSpPr>
          <p:cNvPr id="921" name="Oval 920"/>
          <p:cNvSpPr/>
          <p:nvPr/>
        </p:nvSpPr>
        <p:spPr>
          <a:xfrm>
            <a:off x="12100560"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2" name="Oval 921"/>
          <p:cNvSpPr/>
          <p:nvPr/>
        </p:nvSpPr>
        <p:spPr>
          <a:xfrm>
            <a:off x="12402312"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3" name="Oval 922"/>
          <p:cNvSpPr/>
          <p:nvPr/>
        </p:nvSpPr>
        <p:spPr>
          <a:xfrm>
            <a:off x="12704064"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24" name="Connector 923"/>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8</a:t>
            </a:r>
          </a:p>
          <a:p>
            <a:pPr algn="l"/>
            <a:r>
              <a:rPr sz="1400" b="1">
                <a:solidFill>
                  <a:srgbClr val="111111"/>
                </a:solidFill>
                <a:latin typeface="Inter SemiBold"/>
              </a:rPr>
              <a:t>Operación y soporte</a:t>
            </a:r>
          </a:p>
        </p:txBody>
      </p:sp>
      <p:sp>
        <p:nvSpPr>
          <p:cNvPr id="926"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129.879 HH</a:t>
            </a:r>
          </a:p>
        </p:txBody>
      </p:sp>
      <p:sp>
        <p:nvSpPr>
          <p:cNvPr id="927"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606060"/>
                </a:solidFill>
                <a:latin typeface="Inter"/>
              </a:rPr>
              <a:t>5 CC · 26 PT</a:t>
            </a:r>
          </a:p>
        </p:txBody>
      </p:sp>
      <p:sp>
        <p:nvSpPr>
          <p:cNvPr id="928" name="Oval 927"/>
          <p:cNvSpPr/>
          <p:nvPr/>
        </p:nvSpPr>
        <p:spPr>
          <a:xfrm>
            <a:off x="13961872"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9" name="Oval 928"/>
          <p:cNvSpPr/>
          <p:nvPr/>
        </p:nvSpPr>
        <p:spPr>
          <a:xfrm>
            <a:off x="14263624"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0" name="Oval 929"/>
          <p:cNvSpPr/>
          <p:nvPr/>
        </p:nvSpPr>
        <p:spPr>
          <a:xfrm>
            <a:off x="14565376"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1" name="Oval 930"/>
          <p:cNvSpPr/>
          <p:nvPr/>
        </p:nvSpPr>
        <p:spPr>
          <a:xfrm>
            <a:off x="14867128"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2" name="Oval 931"/>
          <p:cNvSpPr/>
          <p:nvPr/>
        </p:nvSpPr>
        <p:spPr>
          <a:xfrm>
            <a:off x="15168880"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33" name="Connector 932"/>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9</a:t>
            </a:r>
          </a:p>
          <a:p>
            <a:pPr algn="l"/>
            <a:r>
              <a:rPr sz="1400" b="1">
                <a:solidFill>
                  <a:srgbClr val="111111"/>
                </a:solidFill>
                <a:latin typeface="Inter SemiBold"/>
              </a:rPr>
              <a:t>Cierre</a:t>
            </a:r>
          </a:p>
        </p:txBody>
      </p:sp>
      <p:sp>
        <p:nvSpPr>
          <p:cNvPr id="935"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320 HH</a:t>
            </a:r>
          </a:p>
        </p:txBody>
      </p:sp>
      <p:sp>
        <p:nvSpPr>
          <p:cNvPr id="936"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606060"/>
                </a:solidFill>
                <a:latin typeface="Inter"/>
              </a:rPr>
              <a:t>2 CC · 4 PT</a:t>
            </a:r>
          </a:p>
        </p:txBody>
      </p:sp>
      <p:sp>
        <p:nvSpPr>
          <p:cNvPr id="937" name="Oval 936"/>
          <p:cNvSpPr/>
          <p:nvPr/>
        </p:nvSpPr>
        <p:spPr>
          <a:xfrm>
            <a:off x="15823184"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8" name="Oval 937"/>
          <p:cNvSpPr/>
          <p:nvPr/>
        </p:nvSpPr>
        <p:spPr>
          <a:xfrm>
            <a:off x="16124936"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9" name="TextBox 938"/>
          <p:cNvSpPr txBox="1"/>
          <p:nvPr/>
        </p:nvSpPr>
        <p:spPr>
          <a:xfrm>
            <a:off x="822960" y="5806440"/>
            <a:ext cx="16642080" cy="365760"/>
          </a:xfrm>
          <a:prstGeom prst="rect">
            <a:avLst/>
          </a:prstGeom>
          <a:noFill/>
        </p:spPr>
        <p:txBody>
          <a:bodyPr wrap="square" lIns="0" rIns="0" tIns="0" bIns="0" anchor="t">
            <a:spAutoFit/>
          </a:bodyPr>
          <a:lstStyle/>
          <a:p>
            <a:pPr algn="ctr"/>
            <a:r>
              <a:rPr sz="1400" b="0">
                <a:solidFill>
                  <a:srgbClr val="606060"/>
                </a:solidFill>
                <a:latin typeface="Inter"/>
              </a:rPr>
              <a:t>Cada punto es una cuenta de control</a:t>
            </a:r>
          </a:p>
        </p:txBody>
      </p:sp>
      <p:sp>
        <p:nvSpPr>
          <p:cNvPr id="940" name="Rounded Rectangle 939"/>
          <p:cNvSpPr/>
          <p:nvPr/>
        </p:nvSpPr>
        <p:spPr>
          <a:xfrm>
            <a:off x="1371600" y="65836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1">
                <a:solidFill>
                  <a:srgbClr val="F29A5E"/>
                </a:solidFill>
                <a:latin typeface="Inter SemiBold"/>
              </a:rPr>
              <a:t>Fases 1 a 4</a:t>
            </a:r>
          </a:p>
          <a:p>
            <a:pPr algn="ctr"/>
            <a:r>
              <a:rPr sz="1600" b="0">
                <a:solidFill>
                  <a:srgbClr val="FFFFFF"/>
                </a:solidFill>
                <a:latin typeface="Inter"/>
              </a:rPr>
              <a:t>se repiten en cada etapa</a:t>
            </a:r>
          </a:p>
        </p:txBody>
      </p:sp>
      <p:sp>
        <p:nvSpPr>
          <p:cNvPr id="941" name="Rounded Rectangle 940"/>
          <p:cNvSpPr/>
          <p:nvPr/>
        </p:nvSpPr>
        <p:spPr>
          <a:xfrm>
            <a:off x="9326880" y="65836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1">
                <a:solidFill>
                  <a:srgbClr val="FFFFFF"/>
                </a:solidFill>
                <a:latin typeface="Inter SemiBold"/>
              </a:rPr>
              <a:t>Operación · 129.879 HH</a:t>
            </a:r>
          </a:p>
          <a:p>
            <a:pPr algn="ctr"/>
            <a:r>
              <a:rPr sz="1600" b="0">
                <a:solidFill>
                  <a:srgbClr val="FFFFFF"/>
                </a:solidFill>
                <a:latin typeface="Inter"/>
              </a:rPr>
              <a:t>36 meses de servicio</a:t>
            </a:r>
          </a:p>
        </p:txBody>
      </p:sp>
      <p:sp>
        <p:nvSpPr>
          <p:cNvPr id="942" name="TextBox 941"/>
          <p:cNvSpPr txBox="1"/>
          <p:nvPr/>
        </p:nvSpPr>
        <p:spPr>
          <a:xfrm>
            <a:off x="822960" y="8503920"/>
            <a:ext cx="16642080" cy="365760"/>
          </a:xfrm>
          <a:prstGeom prst="rect">
            <a:avLst/>
          </a:prstGeom>
          <a:noFill/>
        </p:spPr>
        <p:txBody>
          <a:bodyPr wrap="square" lIns="0" rIns="0" tIns="0" bIns="0" anchor="t">
            <a:spAutoFit/>
          </a:bodyPr>
          <a:lstStyle/>
          <a:p>
            <a:pPr algn="ctr"/>
            <a:r>
              <a:rPr sz="1600" b="1">
                <a:solidFill>
                  <a:srgbClr val="3C3C3C"/>
                </a:solidFill>
                <a:latin typeface="Inter SemiBold"/>
              </a:rPr>
              <a:t>9 fases · 49 cuentas de control · 222 paquetes de trabajo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12</a:t>
            </a:r>
          </a:p>
        </p:txBody>
      </p:sp>
      <p:sp>
        <p:nvSpPr>
          <p:cNvPr id="927"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929" name="Connector 928"/>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1</a:t>
            </a:r>
          </a:p>
          <a:p>
            <a:pPr algn="l"/>
            <a:r>
              <a:rPr sz="1600" b="1">
                <a:solidFill>
                  <a:srgbClr val="FFFFFF"/>
                </a:solidFill>
                <a:latin typeface="Inter SemiBold"/>
              </a:rPr>
              <a:t>Inicio</a:t>
            </a:r>
          </a:p>
        </p:txBody>
      </p:sp>
      <p:sp>
        <p:nvSpPr>
          <p:cNvPr id="933" name="!!phhh1"/>
          <p:cNvSpPr txBox="1"/>
          <p:nvPr/>
        </p:nvSpPr>
        <p:spPr>
          <a:xfrm>
            <a:off x="932688"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6.920 HH</a:t>
            </a:r>
          </a:p>
        </p:txBody>
      </p:sp>
      <p:sp>
        <p:nvSpPr>
          <p:cNvPr id="934"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FFFFFF"/>
                </a:solidFill>
                <a:latin typeface="Inter"/>
              </a:rPr>
              <a:t>9 CC · 35 PT</a:t>
            </a:r>
          </a:p>
        </p:txBody>
      </p:sp>
      <p:cxnSp>
        <p:nvCxnSpPr>
          <p:cNvPr id="935" name="Connector 934"/>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937"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938"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939" name="Connector 938"/>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941"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942"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943" name="Connector 942"/>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945"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946"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947" name="Connector 946"/>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949"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950"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951" name="Connector 950"/>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953"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954"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955" name="Connector 954"/>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957"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958"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959" name="Connector 958"/>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961"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962"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963" name="Connector 962"/>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965"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966"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967" name="TextBox 966"/>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1 · INICIO · 9 CUENTAS DE CONTROL</a:t>
            </a:r>
          </a:p>
        </p:txBody>
      </p:sp>
      <p:sp>
        <p:nvSpPr>
          <p:cNvPr id="968" name="Rounded Rectangle 967"/>
          <p:cNvSpPr/>
          <p:nvPr/>
        </p:nvSpPr>
        <p:spPr>
          <a:xfrm>
            <a:off x="8229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1.1</a:t>
            </a:r>
          </a:p>
          <a:p>
            <a:pPr algn="l"/>
            <a:r>
              <a:rPr sz="1600" b="1">
                <a:solidFill>
                  <a:srgbClr val="111111"/>
                </a:solidFill>
                <a:latin typeface="Inter SemiBold"/>
              </a:rPr>
              <a:t>Definición inicial</a:t>
            </a:r>
          </a:p>
        </p:txBody>
      </p:sp>
      <p:sp>
        <p:nvSpPr>
          <p:cNvPr id="969" name="Rounded Rectangle 968"/>
          <p:cNvSpPr/>
          <p:nvPr/>
        </p:nvSpPr>
        <p:spPr>
          <a:xfrm>
            <a:off x="3619499"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1.2</a:t>
            </a:r>
          </a:p>
          <a:p>
            <a:pPr algn="l"/>
            <a:r>
              <a:rPr sz="1600" b="1">
                <a:solidFill>
                  <a:srgbClr val="111111"/>
                </a:solidFill>
                <a:latin typeface="Inter SemiBold"/>
              </a:rPr>
              <a:t>Alcance</a:t>
            </a:r>
          </a:p>
        </p:txBody>
      </p:sp>
      <p:sp>
        <p:nvSpPr>
          <p:cNvPr id="970" name="Rounded Rectangle 969"/>
          <p:cNvSpPr/>
          <p:nvPr/>
        </p:nvSpPr>
        <p:spPr>
          <a:xfrm>
            <a:off x="641604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1.3</a:t>
            </a:r>
          </a:p>
          <a:p>
            <a:pPr algn="l"/>
            <a:r>
              <a:rPr sz="1600" b="1">
                <a:solidFill>
                  <a:srgbClr val="111111"/>
                </a:solidFill>
                <a:latin typeface="Inter SemiBold"/>
              </a:rPr>
              <a:t>Planificación</a:t>
            </a:r>
          </a:p>
        </p:txBody>
      </p:sp>
      <p:sp>
        <p:nvSpPr>
          <p:cNvPr id="971" name="Rounded Rectangle 970"/>
          <p:cNvSpPr/>
          <p:nvPr/>
        </p:nvSpPr>
        <p:spPr>
          <a:xfrm>
            <a:off x="921258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1.4</a:t>
            </a:r>
          </a:p>
          <a:p>
            <a:pPr algn="l"/>
            <a:r>
              <a:rPr sz="1600" b="1">
                <a:solidFill>
                  <a:srgbClr val="111111"/>
                </a:solidFill>
                <a:latin typeface="Inter SemiBold"/>
              </a:rPr>
              <a:t>Interesados y comunicaciones</a:t>
            </a:r>
          </a:p>
        </p:txBody>
      </p:sp>
      <p:sp>
        <p:nvSpPr>
          <p:cNvPr id="972" name="Rounded Rectangle 971"/>
          <p:cNvSpPr/>
          <p:nvPr/>
        </p:nvSpPr>
        <p:spPr>
          <a:xfrm>
            <a:off x="1200912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1.5</a:t>
            </a:r>
          </a:p>
          <a:p>
            <a:pPr algn="l"/>
            <a:r>
              <a:rPr sz="1600" b="1">
                <a:solidFill>
                  <a:srgbClr val="111111"/>
                </a:solidFill>
                <a:latin typeface="Inter SemiBold"/>
              </a:rPr>
              <a:t>Gestión de calidad</a:t>
            </a:r>
          </a:p>
        </p:txBody>
      </p:sp>
      <p:sp>
        <p:nvSpPr>
          <p:cNvPr id="973" name="Rounded Rectangle 972"/>
          <p:cNvSpPr/>
          <p:nvPr/>
        </p:nvSpPr>
        <p:spPr>
          <a:xfrm>
            <a:off x="148056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1.6</a:t>
            </a:r>
          </a:p>
          <a:p>
            <a:pPr algn="l"/>
            <a:r>
              <a:rPr sz="1600" b="1">
                <a:solidFill>
                  <a:srgbClr val="111111"/>
                </a:solidFill>
                <a:latin typeface="Inter SemiBold"/>
              </a:rPr>
              <a:t>Gestión de riesgos</a:t>
            </a:r>
          </a:p>
        </p:txBody>
      </p:sp>
      <p:sp>
        <p:nvSpPr>
          <p:cNvPr id="974" name="Rounded Rectangle 973"/>
          <p:cNvSpPr/>
          <p:nvPr/>
        </p:nvSpPr>
        <p:spPr>
          <a:xfrm>
            <a:off x="82296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1.7</a:t>
            </a:r>
          </a:p>
          <a:p>
            <a:pPr algn="l"/>
            <a:r>
              <a:rPr sz="1600" b="1">
                <a:solidFill>
                  <a:srgbClr val="111111"/>
                </a:solidFill>
                <a:latin typeface="Inter SemiBold"/>
              </a:rPr>
              <a:t>Plan de reversibilidad</a:t>
            </a:r>
          </a:p>
        </p:txBody>
      </p:sp>
      <p:sp>
        <p:nvSpPr>
          <p:cNvPr id="975" name="Rounded Rectangle 974"/>
          <p:cNvSpPr/>
          <p:nvPr/>
        </p:nvSpPr>
        <p:spPr>
          <a:xfrm>
            <a:off x="3619499"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1.8</a:t>
            </a:r>
          </a:p>
          <a:p>
            <a:pPr algn="l"/>
            <a:r>
              <a:rPr sz="1600" b="1">
                <a:solidFill>
                  <a:srgbClr val="111111"/>
                </a:solidFill>
                <a:latin typeface="Inter SemiBold"/>
              </a:rPr>
              <a:t>Gobierno y control</a:t>
            </a:r>
          </a:p>
        </p:txBody>
      </p:sp>
      <p:sp>
        <p:nvSpPr>
          <p:cNvPr id="976" name="Rounded Rectangle 975"/>
          <p:cNvSpPr/>
          <p:nvPr/>
        </p:nvSpPr>
        <p:spPr>
          <a:xfrm>
            <a:off x="641604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1.9</a:t>
            </a:r>
          </a:p>
          <a:p>
            <a:pPr algn="l"/>
            <a:r>
              <a:rPr sz="1600" b="1">
                <a:solidFill>
                  <a:srgbClr val="111111"/>
                </a:solidFill>
                <a:latin typeface="Inter SemiBold"/>
              </a:rPr>
              <a:t>Cumplimiento normativo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0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13</a:t>
            </a:r>
          </a:p>
        </p:txBody>
      </p:sp>
      <p:sp>
        <p:nvSpPr>
          <p:cNvPr id="100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003" name="Connector 100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00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00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009" name="Connector 1008"/>
          <p:cNvCxnSpPr/>
          <p:nvPr/>
        </p:nvCxnSpPr>
        <p:spPr>
          <a:xfrm>
            <a:off x="3560064"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2</a:t>
            </a:r>
          </a:p>
          <a:p>
            <a:pPr algn="l"/>
            <a:r>
              <a:rPr sz="1600" b="1">
                <a:solidFill>
                  <a:srgbClr val="FFFFFF"/>
                </a:solidFill>
                <a:latin typeface="Inter SemiBold"/>
              </a:rPr>
              <a:t>Elaboración</a:t>
            </a:r>
          </a:p>
        </p:txBody>
      </p:sp>
      <p:sp>
        <p:nvSpPr>
          <p:cNvPr id="1011" name="!!phhh2"/>
          <p:cNvSpPr txBox="1"/>
          <p:nvPr/>
        </p:nvSpPr>
        <p:spPr>
          <a:xfrm>
            <a:off x="2794000"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4.320 HH</a:t>
            </a:r>
          </a:p>
        </p:txBody>
      </p:sp>
      <p:sp>
        <p:nvSpPr>
          <p:cNvPr id="1012"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FFFFFF"/>
                </a:solidFill>
                <a:latin typeface="Inter"/>
              </a:rPr>
              <a:t>6 CC · 18 PT</a:t>
            </a:r>
          </a:p>
        </p:txBody>
      </p:sp>
      <p:cxnSp>
        <p:nvCxnSpPr>
          <p:cNvPr id="1013" name="Connector 101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01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01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017" name="Connector 1016"/>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019"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020"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021" name="Connector 102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02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02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025" name="Connector 102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02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02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029" name="Connector 102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03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03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033" name="Connector 1032"/>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035"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036"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037" name="Connector 1036"/>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039"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040"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041" name="TextBox 104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2 · ELABORACIÓN · 6 CUENTAS DE CONTROL</a:t>
            </a:r>
          </a:p>
        </p:txBody>
      </p:sp>
      <p:sp>
        <p:nvSpPr>
          <p:cNvPr id="1042" name="Rounded Rectangle 1041"/>
          <p:cNvSpPr/>
          <p:nvPr/>
        </p:nvSpPr>
        <p:spPr>
          <a:xfrm>
            <a:off x="822960"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2.1</a:t>
            </a:r>
          </a:p>
          <a:p>
            <a:pPr algn="l"/>
            <a:r>
              <a:rPr sz="1600" b="1">
                <a:solidFill>
                  <a:srgbClr val="111111"/>
                </a:solidFill>
                <a:latin typeface="Inter SemiBold"/>
              </a:rPr>
              <a:t>Arquitectura</a:t>
            </a:r>
          </a:p>
        </p:txBody>
      </p:sp>
      <p:sp>
        <p:nvSpPr>
          <p:cNvPr id="1043" name="Rounded Rectangle 1042"/>
          <p:cNvSpPr/>
          <p:nvPr/>
        </p:nvSpPr>
        <p:spPr>
          <a:xfrm>
            <a:off x="4178807"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2.2</a:t>
            </a:r>
          </a:p>
          <a:p>
            <a:pPr algn="l"/>
            <a:r>
              <a:rPr sz="1600" b="1">
                <a:solidFill>
                  <a:srgbClr val="111111"/>
                </a:solidFill>
                <a:latin typeface="Inter SemiBold"/>
              </a:rPr>
              <a:t>Seguridad</a:t>
            </a:r>
          </a:p>
        </p:txBody>
      </p:sp>
      <p:sp>
        <p:nvSpPr>
          <p:cNvPr id="1044" name="Rounded Rectangle 1043"/>
          <p:cNvSpPr/>
          <p:nvPr/>
        </p:nvSpPr>
        <p:spPr>
          <a:xfrm>
            <a:off x="7534655"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2.3</a:t>
            </a:r>
          </a:p>
          <a:p>
            <a:pPr algn="l"/>
            <a:r>
              <a:rPr sz="1600" b="1">
                <a:solidFill>
                  <a:srgbClr val="111111"/>
                </a:solidFill>
                <a:latin typeface="Inter SemiBold"/>
              </a:rPr>
              <a:t>Sala técnica y racks</a:t>
            </a:r>
          </a:p>
        </p:txBody>
      </p:sp>
      <p:sp>
        <p:nvSpPr>
          <p:cNvPr id="1045" name="Rounded Rectangle 1044"/>
          <p:cNvSpPr/>
          <p:nvPr/>
        </p:nvSpPr>
        <p:spPr>
          <a:xfrm>
            <a:off x="10890503"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2.4</a:t>
            </a:r>
          </a:p>
          <a:p>
            <a:pPr algn="l"/>
            <a:r>
              <a:rPr sz="1600" b="1">
                <a:solidFill>
                  <a:srgbClr val="111111"/>
                </a:solidFill>
                <a:latin typeface="Inter SemiBold"/>
              </a:rPr>
              <a:t>Validación de diseños</a:t>
            </a:r>
          </a:p>
        </p:txBody>
      </p:sp>
      <p:sp>
        <p:nvSpPr>
          <p:cNvPr id="1046" name="Rounded Rectangle 1045"/>
          <p:cNvSpPr/>
          <p:nvPr/>
        </p:nvSpPr>
        <p:spPr>
          <a:xfrm>
            <a:off x="14246351"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2.5</a:t>
            </a:r>
          </a:p>
          <a:p>
            <a:pPr algn="l"/>
            <a:r>
              <a:rPr sz="1600" b="1">
                <a:solidFill>
                  <a:srgbClr val="111111"/>
                </a:solidFill>
                <a:latin typeface="Inter SemiBold"/>
              </a:rPr>
              <a:t>Continuidad del negocio</a:t>
            </a:r>
          </a:p>
        </p:txBody>
      </p:sp>
      <p:sp>
        <p:nvSpPr>
          <p:cNvPr id="1047" name="Rounded Rectangle 1046"/>
          <p:cNvSpPr/>
          <p:nvPr/>
        </p:nvSpPr>
        <p:spPr>
          <a:xfrm>
            <a:off x="822960" y="64648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2.6</a:t>
            </a:r>
          </a:p>
          <a:p>
            <a:pPr algn="l"/>
            <a:r>
              <a:rPr sz="1600" b="1">
                <a:solidFill>
                  <a:srgbClr val="111111"/>
                </a:solidFill>
                <a:latin typeface="Inter SemiBold"/>
              </a:rPr>
              <a:t>Experiencia de usuario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14</a:t>
            </a:r>
          </a:p>
        </p:txBody>
      </p:sp>
      <p:sp>
        <p:nvSpPr>
          <p:cNvPr id="1080"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082" name="Connector 1081"/>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086"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087"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088" name="Connector 1087"/>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090"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091"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092" name="Connector 1091"/>
          <p:cNvCxnSpPr/>
          <p:nvPr/>
        </p:nvCxnSpPr>
        <p:spPr>
          <a:xfrm>
            <a:off x="5421376"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3</a:t>
            </a:r>
          </a:p>
          <a:p>
            <a:pPr algn="l"/>
            <a:r>
              <a:rPr sz="1600" b="1">
                <a:solidFill>
                  <a:srgbClr val="FFFFFF"/>
                </a:solidFill>
                <a:latin typeface="Inter SemiBold"/>
              </a:rPr>
              <a:t>Construcción</a:t>
            </a:r>
          </a:p>
        </p:txBody>
      </p:sp>
      <p:sp>
        <p:nvSpPr>
          <p:cNvPr id="1094" name="!!phhh3"/>
          <p:cNvSpPr txBox="1"/>
          <p:nvPr/>
        </p:nvSpPr>
        <p:spPr>
          <a:xfrm>
            <a:off x="4655312"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33.280 HH</a:t>
            </a:r>
          </a:p>
        </p:txBody>
      </p:sp>
      <p:sp>
        <p:nvSpPr>
          <p:cNvPr id="1095"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FFFFFF"/>
                </a:solidFill>
                <a:latin typeface="Inter"/>
              </a:rPr>
              <a:t>11 CC · 79 PT</a:t>
            </a:r>
          </a:p>
        </p:txBody>
      </p:sp>
      <p:cxnSp>
        <p:nvCxnSpPr>
          <p:cNvPr id="1096" name="Connector 1095"/>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098"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099"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100" name="Connector 1099"/>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102"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103"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104" name="Connector 1103"/>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106"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107"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108" name="Connector 1107"/>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110"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111"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112" name="Connector 1111"/>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114"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115"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116" name="Connector 1115"/>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118"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119"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120" name="TextBox 1119"/>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3 · CONSTRUCCIÓN · 11 CUENTAS DE CONTROL</a:t>
            </a:r>
          </a:p>
        </p:txBody>
      </p:sp>
      <p:sp>
        <p:nvSpPr>
          <p:cNvPr id="1121" name="Rounded Rectangle 1120"/>
          <p:cNvSpPr/>
          <p:nvPr/>
        </p:nvSpPr>
        <p:spPr>
          <a:xfrm>
            <a:off x="8229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a:t>
            </a:r>
          </a:p>
          <a:p>
            <a:pPr algn="l"/>
            <a:r>
              <a:rPr sz="1600" b="1">
                <a:solidFill>
                  <a:srgbClr val="111111"/>
                </a:solidFill>
                <a:latin typeface="Inter SemiBold"/>
              </a:rPr>
              <a:t>Ambientes y CI/CD</a:t>
            </a:r>
          </a:p>
        </p:txBody>
      </p:sp>
      <p:sp>
        <p:nvSpPr>
          <p:cNvPr id="1122" name="Rounded Rectangle 1121"/>
          <p:cNvSpPr/>
          <p:nvPr/>
        </p:nvSpPr>
        <p:spPr>
          <a:xfrm>
            <a:off x="3619499"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3.2</a:t>
            </a:r>
          </a:p>
          <a:p>
            <a:pPr algn="l"/>
            <a:r>
              <a:rPr sz="1600" b="1">
                <a:solidFill>
                  <a:srgbClr val="111111"/>
                </a:solidFill>
                <a:latin typeface="Inter SemiBold"/>
              </a:rPr>
              <a:t>Servicios de nube</a:t>
            </a:r>
          </a:p>
        </p:txBody>
      </p:sp>
      <p:sp>
        <p:nvSpPr>
          <p:cNvPr id="1123" name="Rounded Rectangle 1122"/>
          <p:cNvSpPr/>
          <p:nvPr/>
        </p:nvSpPr>
        <p:spPr>
          <a:xfrm>
            <a:off x="641604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3.3</a:t>
            </a:r>
          </a:p>
          <a:p>
            <a:pPr algn="l"/>
            <a:r>
              <a:rPr sz="1600" b="1">
                <a:solidFill>
                  <a:srgbClr val="111111"/>
                </a:solidFill>
                <a:latin typeface="Inter SemiBold"/>
              </a:rPr>
              <a:t>Base compartida</a:t>
            </a:r>
          </a:p>
        </p:txBody>
      </p:sp>
      <p:sp>
        <p:nvSpPr>
          <p:cNvPr id="1124" name="Rounded Rectangle 1123"/>
          <p:cNvSpPr/>
          <p:nvPr/>
        </p:nvSpPr>
        <p:spPr>
          <a:xfrm>
            <a:off x="921258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3.4</a:t>
            </a:r>
          </a:p>
          <a:p>
            <a:pPr algn="l"/>
            <a:r>
              <a:rPr sz="1600" b="1">
                <a:solidFill>
                  <a:srgbClr val="111111"/>
                </a:solidFill>
                <a:latin typeface="Inter SemiBold"/>
              </a:rPr>
              <a:t>Módulos Etapa 1</a:t>
            </a:r>
          </a:p>
        </p:txBody>
      </p:sp>
      <p:sp>
        <p:nvSpPr>
          <p:cNvPr id="1125" name="Rounded Rectangle 1124"/>
          <p:cNvSpPr/>
          <p:nvPr/>
        </p:nvSpPr>
        <p:spPr>
          <a:xfrm>
            <a:off x="1200912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3.5</a:t>
            </a:r>
          </a:p>
          <a:p>
            <a:pPr algn="l"/>
            <a:r>
              <a:rPr sz="1600" b="1">
                <a:solidFill>
                  <a:srgbClr val="111111"/>
                </a:solidFill>
                <a:latin typeface="Inter SemiBold"/>
              </a:rPr>
              <a:t>Módulos Etapa 2</a:t>
            </a:r>
          </a:p>
        </p:txBody>
      </p:sp>
      <p:sp>
        <p:nvSpPr>
          <p:cNvPr id="1126" name="Rounded Rectangle 1125"/>
          <p:cNvSpPr/>
          <p:nvPr/>
        </p:nvSpPr>
        <p:spPr>
          <a:xfrm>
            <a:off x="148056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3.6</a:t>
            </a:r>
          </a:p>
          <a:p>
            <a:pPr algn="l"/>
            <a:r>
              <a:rPr sz="1600" b="1">
                <a:solidFill>
                  <a:srgbClr val="111111"/>
                </a:solidFill>
                <a:latin typeface="Inter SemiBold"/>
              </a:rPr>
              <a:t>Integraciones</a:t>
            </a:r>
          </a:p>
        </p:txBody>
      </p:sp>
      <p:sp>
        <p:nvSpPr>
          <p:cNvPr id="1127" name="Rounded Rectangle 1126"/>
          <p:cNvSpPr/>
          <p:nvPr/>
        </p:nvSpPr>
        <p:spPr>
          <a:xfrm>
            <a:off x="82296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3.7</a:t>
            </a:r>
          </a:p>
          <a:p>
            <a:pPr algn="l"/>
            <a:r>
              <a:rPr sz="1600" b="1">
                <a:solidFill>
                  <a:srgbClr val="111111"/>
                </a:solidFill>
                <a:latin typeface="Inter SemiBold"/>
              </a:rPr>
              <a:t>Migración de datos</a:t>
            </a:r>
          </a:p>
        </p:txBody>
      </p:sp>
      <p:sp>
        <p:nvSpPr>
          <p:cNvPr id="1128" name="Rounded Rectangle 1127"/>
          <p:cNvSpPr/>
          <p:nvPr/>
        </p:nvSpPr>
        <p:spPr>
          <a:xfrm>
            <a:off x="3619499"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3.8</a:t>
            </a:r>
          </a:p>
          <a:p>
            <a:pPr algn="l"/>
            <a:r>
              <a:rPr sz="1600" b="1">
                <a:solidFill>
                  <a:srgbClr val="111111"/>
                </a:solidFill>
                <a:latin typeface="Inter SemiBold"/>
              </a:rPr>
              <a:t>Pruebas Etapa 1</a:t>
            </a:r>
          </a:p>
        </p:txBody>
      </p:sp>
      <p:sp>
        <p:nvSpPr>
          <p:cNvPr id="1129" name="Rounded Rectangle 1128"/>
          <p:cNvSpPr/>
          <p:nvPr/>
        </p:nvSpPr>
        <p:spPr>
          <a:xfrm>
            <a:off x="641604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3.9</a:t>
            </a:r>
          </a:p>
          <a:p>
            <a:pPr algn="l"/>
            <a:r>
              <a:rPr sz="1600" b="1">
                <a:solidFill>
                  <a:srgbClr val="111111"/>
                </a:solidFill>
                <a:latin typeface="Inter SemiBold"/>
              </a:rPr>
              <a:t>Pruebas Etapa 2</a:t>
            </a:r>
          </a:p>
        </p:txBody>
      </p:sp>
      <p:sp>
        <p:nvSpPr>
          <p:cNvPr id="1130" name="Rounded Rectangle 1129"/>
          <p:cNvSpPr/>
          <p:nvPr/>
        </p:nvSpPr>
        <p:spPr>
          <a:xfrm>
            <a:off x="921258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3.10</a:t>
            </a:r>
          </a:p>
          <a:p>
            <a:pPr algn="l"/>
            <a:r>
              <a:rPr sz="1600" b="1">
                <a:solidFill>
                  <a:srgbClr val="111111"/>
                </a:solidFill>
                <a:latin typeface="Inter SemiBold"/>
              </a:rPr>
              <a:t>Innovaciones</a:t>
            </a:r>
          </a:p>
        </p:txBody>
      </p:sp>
      <p:sp>
        <p:nvSpPr>
          <p:cNvPr id="1131" name="Rounded Rectangle 1130"/>
          <p:cNvSpPr/>
          <p:nvPr/>
        </p:nvSpPr>
        <p:spPr>
          <a:xfrm>
            <a:off x="1200912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3.11</a:t>
            </a:r>
          </a:p>
          <a:p>
            <a:pPr algn="l"/>
            <a:r>
              <a:rPr sz="1600" b="1">
                <a:solidFill>
                  <a:srgbClr val="111111"/>
                </a:solidFill>
                <a:latin typeface="Inter SemiBold"/>
              </a:rPr>
              <a:t>Documentación</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15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15</a:t>
            </a:r>
          </a:p>
        </p:txBody>
      </p:sp>
      <p:sp>
        <p:nvSpPr>
          <p:cNvPr id="115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153" name="Connector 115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15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15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159" name="Connector 1158"/>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161"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162"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163" name="Connector 116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16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16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167" name="Connector 1166"/>
          <p:cNvCxnSpPr/>
          <p:nvPr/>
        </p:nvCxnSpPr>
        <p:spPr>
          <a:xfrm>
            <a:off x="7282688"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4</a:t>
            </a:r>
          </a:p>
          <a:p>
            <a:pPr algn="l"/>
            <a:r>
              <a:rPr sz="1600" b="1">
                <a:solidFill>
                  <a:srgbClr val="FFFFFF"/>
                </a:solidFill>
                <a:latin typeface="Inter SemiBold"/>
              </a:rPr>
              <a:t>Transición</a:t>
            </a:r>
          </a:p>
        </p:txBody>
      </p:sp>
      <p:sp>
        <p:nvSpPr>
          <p:cNvPr id="1169" name="!!phhh4"/>
          <p:cNvSpPr txBox="1"/>
          <p:nvPr/>
        </p:nvSpPr>
        <p:spPr>
          <a:xfrm>
            <a:off x="6516624"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20.672 HH</a:t>
            </a:r>
          </a:p>
        </p:txBody>
      </p:sp>
      <p:sp>
        <p:nvSpPr>
          <p:cNvPr id="1170"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FFFFFF"/>
                </a:solidFill>
                <a:latin typeface="Inter"/>
              </a:rPr>
              <a:t>3 CC · 10 PT</a:t>
            </a:r>
          </a:p>
        </p:txBody>
      </p:sp>
      <p:cxnSp>
        <p:nvCxnSpPr>
          <p:cNvPr id="1171" name="Connector 117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17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17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175" name="Connector 117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17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17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179" name="Connector 117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18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18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183" name="Connector 1182"/>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185"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186"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187" name="Connector 1186"/>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189"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190"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191" name="TextBox 119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4 · TRANSICIÓN · 3 CUENTAS DE CONTROL</a:t>
            </a:r>
          </a:p>
        </p:txBody>
      </p:sp>
      <p:sp>
        <p:nvSpPr>
          <p:cNvPr id="1192" name="Rounded Rectangle 1191"/>
          <p:cNvSpPr/>
          <p:nvPr/>
        </p:nvSpPr>
        <p:spPr>
          <a:xfrm>
            <a:off x="82296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4.1</a:t>
            </a:r>
          </a:p>
          <a:p>
            <a:pPr algn="l"/>
            <a:r>
              <a:rPr sz="1600" b="1">
                <a:solidFill>
                  <a:srgbClr val="111111"/>
                </a:solidFill>
                <a:latin typeface="Inter SemiBold"/>
              </a:rPr>
              <a:t>Plan de implantación</a:t>
            </a:r>
          </a:p>
        </p:txBody>
      </p:sp>
      <p:sp>
        <p:nvSpPr>
          <p:cNvPr id="1193" name="Rounded Rectangle 1192"/>
          <p:cNvSpPr/>
          <p:nvPr/>
        </p:nvSpPr>
        <p:spPr>
          <a:xfrm>
            <a:off x="641604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4.2</a:t>
            </a:r>
          </a:p>
          <a:p>
            <a:pPr algn="l"/>
            <a:r>
              <a:rPr sz="1600" b="1">
                <a:solidFill>
                  <a:srgbClr val="111111"/>
                </a:solidFill>
                <a:latin typeface="Inter SemiBold"/>
              </a:rPr>
              <a:t>Marcha blanca y producción E1</a:t>
            </a:r>
          </a:p>
        </p:txBody>
      </p:sp>
      <p:sp>
        <p:nvSpPr>
          <p:cNvPr id="1194" name="Rounded Rectangle 1193"/>
          <p:cNvSpPr/>
          <p:nvPr/>
        </p:nvSpPr>
        <p:spPr>
          <a:xfrm>
            <a:off x="1200912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4.3</a:t>
            </a:r>
          </a:p>
          <a:p>
            <a:pPr algn="l"/>
            <a:r>
              <a:rPr sz="1600" b="1">
                <a:solidFill>
                  <a:srgbClr val="111111"/>
                </a:solidFill>
                <a:latin typeface="Inter SemiBold"/>
              </a:rPr>
              <a:t>Marcha blanca y producción E2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16</a:t>
            </a:r>
          </a:p>
        </p:txBody>
      </p:sp>
      <p:sp>
        <p:nvSpPr>
          <p:cNvPr id="1223"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225" name="Connector 1224"/>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229"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230"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231" name="Connector 1230"/>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233"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234"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235" name="Connector 1234"/>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237"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238"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239" name="Connector 1238"/>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241"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242"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243" name="Connector 1242"/>
          <p:cNvCxnSpPr/>
          <p:nvPr/>
        </p:nvCxnSpPr>
        <p:spPr>
          <a:xfrm>
            <a:off x="9144000"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5</a:t>
            </a:r>
          </a:p>
          <a:p>
            <a:pPr algn="l"/>
            <a:r>
              <a:rPr sz="1600" b="1">
                <a:solidFill>
                  <a:srgbClr val="FFFFFF"/>
                </a:solidFill>
                <a:latin typeface="Inter SemiBold"/>
              </a:rPr>
              <a:t>Adquisiciones</a:t>
            </a:r>
          </a:p>
        </p:txBody>
      </p:sp>
      <p:sp>
        <p:nvSpPr>
          <p:cNvPr id="1245" name="!!phhh5"/>
          <p:cNvSpPr txBox="1"/>
          <p:nvPr/>
        </p:nvSpPr>
        <p:spPr>
          <a:xfrm>
            <a:off x="8377936"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1.040 HH</a:t>
            </a:r>
          </a:p>
        </p:txBody>
      </p:sp>
      <p:sp>
        <p:nvSpPr>
          <p:cNvPr id="1246"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FFFFFF"/>
                </a:solidFill>
                <a:latin typeface="Inter"/>
              </a:rPr>
              <a:t>4 CC · 13 PT</a:t>
            </a:r>
          </a:p>
        </p:txBody>
      </p:sp>
      <p:cxnSp>
        <p:nvCxnSpPr>
          <p:cNvPr id="1247" name="Connector 1246"/>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249"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250"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251" name="Connector 1250"/>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253"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254"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255" name="Connector 1254"/>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257"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258"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259" name="Connector 1258"/>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261"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262"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263" name="TextBox 1262"/>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5 · ADQUISICIONES · 4 CUENTAS DE CONTROL</a:t>
            </a:r>
          </a:p>
        </p:txBody>
      </p:sp>
      <p:sp>
        <p:nvSpPr>
          <p:cNvPr id="1264" name="Rounded Rectangle 1263"/>
          <p:cNvSpPr/>
          <p:nvPr/>
        </p:nvSpPr>
        <p:spPr>
          <a:xfrm>
            <a:off x="82296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5.1</a:t>
            </a:r>
          </a:p>
          <a:p>
            <a:pPr algn="l"/>
            <a:r>
              <a:rPr sz="1600" b="1">
                <a:solidFill>
                  <a:srgbClr val="111111"/>
                </a:solidFill>
                <a:latin typeface="Inter SemiBold"/>
              </a:rPr>
              <a:t>Hardware</a:t>
            </a:r>
          </a:p>
        </p:txBody>
      </p:sp>
      <p:sp>
        <p:nvSpPr>
          <p:cNvPr id="1265" name="Rounded Rectangle 1264"/>
          <p:cNvSpPr/>
          <p:nvPr/>
        </p:nvSpPr>
        <p:spPr>
          <a:xfrm>
            <a:off x="501777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5.2</a:t>
            </a:r>
          </a:p>
          <a:p>
            <a:pPr algn="l"/>
            <a:r>
              <a:rPr sz="1600" b="1">
                <a:solidFill>
                  <a:srgbClr val="111111"/>
                </a:solidFill>
                <a:latin typeface="Inter SemiBold"/>
              </a:rPr>
              <a:t>Nube y licencias</a:t>
            </a:r>
          </a:p>
        </p:txBody>
      </p:sp>
      <p:sp>
        <p:nvSpPr>
          <p:cNvPr id="1266" name="Rounded Rectangle 1265"/>
          <p:cNvSpPr/>
          <p:nvPr/>
        </p:nvSpPr>
        <p:spPr>
          <a:xfrm>
            <a:off x="921258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5.3</a:t>
            </a:r>
          </a:p>
          <a:p>
            <a:pPr algn="l"/>
            <a:r>
              <a:rPr sz="1600" b="1">
                <a:solidFill>
                  <a:srgbClr val="111111"/>
                </a:solidFill>
                <a:latin typeface="Inter SemiBold"/>
              </a:rPr>
              <a:t>Enlaces</a:t>
            </a:r>
          </a:p>
        </p:txBody>
      </p:sp>
      <p:sp>
        <p:nvSpPr>
          <p:cNvPr id="1267" name="Rounded Rectangle 1266"/>
          <p:cNvSpPr/>
          <p:nvPr/>
        </p:nvSpPr>
        <p:spPr>
          <a:xfrm>
            <a:off x="1340739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5.4</a:t>
            </a:r>
          </a:p>
          <a:p>
            <a:pPr algn="l"/>
            <a:r>
              <a:rPr sz="1600" b="1">
                <a:solidFill>
                  <a:srgbClr val="111111"/>
                </a:solidFill>
                <a:latin typeface="Inter SemiBold"/>
              </a:rPr>
              <a:t>Acuerdos con terceros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9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17</a:t>
            </a:r>
          </a:p>
        </p:txBody>
      </p:sp>
      <p:sp>
        <p:nvSpPr>
          <p:cNvPr id="1297"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299" name="Connector 1298"/>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303"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304"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305" name="Connector 1304"/>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307"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308"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309" name="Connector 1308"/>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311"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312"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313" name="Connector 1312"/>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315"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316"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317" name="Connector 1316"/>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319"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320"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321" name="Connector 1320"/>
          <p:cNvCxnSpPr/>
          <p:nvPr/>
        </p:nvCxnSpPr>
        <p:spPr>
          <a:xfrm>
            <a:off x="11005312"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6</a:t>
            </a:r>
          </a:p>
          <a:p>
            <a:pPr algn="l"/>
            <a:r>
              <a:rPr sz="1600" b="1">
                <a:solidFill>
                  <a:srgbClr val="FFFFFF"/>
                </a:solidFill>
                <a:latin typeface="Inter SemiBold"/>
              </a:rPr>
              <a:t>Infraestructura</a:t>
            </a:r>
          </a:p>
        </p:txBody>
      </p:sp>
      <p:sp>
        <p:nvSpPr>
          <p:cNvPr id="1323" name="!!phhh6"/>
          <p:cNvSpPr txBox="1"/>
          <p:nvPr/>
        </p:nvSpPr>
        <p:spPr>
          <a:xfrm>
            <a:off x="10239248"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3.840 HH</a:t>
            </a:r>
          </a:p>
        </p:txBody>
      </p:sp>
      <p:sp>
        <p:nvSpPr>
          <p:cNvPr id="1324"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FFFFFF"/>
                </a:solidFill>
                <a:latin typeface="Inter"/>
              </a:rPr>
              <a:t>6 CC · 24 PT</a:t>
            </a:r>
          </a:p>
        </p:txBody>
      </p:sp>
      <p:cxnSp>
        <p:nvCxnSpPr>
          <p:cNvPr id="1325" name="Connector 1324"/>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327"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328"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329" name="Connector 1328"/>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331"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332"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333" name="Connector 1332"/>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335"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336"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337" name="TextBox 1336"/>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6 · INFRAESTRUCTURA · 6 CUENTAS DE CONTROL</a:t>
            </a:r>
          </a:p>
        </p:txBody>
      </p:sp>
      <p:sp>
        <p:nvSpPr>
          <p:cNvPr id="1338" name="Rounded Rectangle 1337"/>
          <p:cNvSpPr/>
          <p:nvPr/>
        </p:nvSpPr>
        <p:spPr>
          <a:xfrm>
            <a:off x="822960"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6.1</a:t>
            </a:r>
          </a:p>
          <a:p>
            <a:pPr algn="l"/>
            <a:r>
              <a:rPr sz="1600" b="1">
                <a:solidFill>
                  <a:srgbClr val="111111"/>
                </a:solidFill>
                <a:latin typeface="Inter SemiBold"/>
              </a:rPr>
              <a:t>Sala técnica Talca</a:t>
            </a:r>
          </a:p>
        </p:txBody>
      </p:sp>
      <p:sp>
        <p:nvSpPr>
          <p:cNvPr id="1339" name="Rounded Rectangle 1338"/>
          <p:cNvSpPr/>
          <p:nvPr/>
        </p:nvSpPr>
        <p:spPr>
          <a:xfrm>
            <a:off x="4178807"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6.2</a:t>
            </a:r>
          </a:p>
          <a:p>
            <a:pPr algn="l"/>
            <a:r>
              <a:rPr sz="1600" b="1">
                <a:solidFill>
                  <a:srgbClr val="111111"/>
                </a:solidFill>
                <a:latin typeface="Inter SemiBold"/>
              </a:rPr>
              <a:t>Cableado</a:t>
            </a:r>
          </a:p>
        </p:txBody>
      </p:sp>
      <p:sp>
        <p:nvSpPr>
          <p:cNvPr id="1340" name="Rounded Rectangle 1339"/>
          <p:cNvSpPr/>
          <p:nvPr/>
        </p:nvSpPr>
        <p:spPr>
          <a:xfrm>
            <a:off x="7534655"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6.3</a:t>
            </a:r>
          </a:p>
          <a:p>
            <a:pPr algn="l"/>
            <a:r>
              <a:rPr sz="1600" b="1">
                <a:solidFill>
                  <a:srgbClr val="111111"/>
                </a:solidFill>
                <a:latin typeface="Inter SemiBold"/>
              </a:rPr>
              <a:t>Racks y gabinetes</a:t>
            </a:r>
          </a:p>
        </p:txBody>
      </p:sp>
      <p:sp>
        <p:nvSpPr>
          <p:cNvPr id="1341" name="Rounded Rectangle 1340"/>
          <p:cNvSpPr/>
          <p:nvPr/>
        </p:nvSpPr>
        <p:spPr>
          <a:xfrm>
            <a:off x="10890503"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6.4</a:t>
            </a:r>
          </a:p>
          <a:p>
            <a:pPr algn="l"/>
            <a:r>
              <a:rPr sz="1600" b="1">
                <a:solidFill>
                  <a:srgbClr val="111111"/>
                </a:solidFill>
                <a:latin typeface="Inter SemiBold"/>
              </a:rPr>
              <a:t>Seguridad física</a:t>
            </a:r>
          </a:p>
        </p:txBody>
      </p:sp>
      <p:sp>
        <p:nvSpPr>
          <p:cNvPr id="1342" name="Rounded Rectangle 1341"/>
          <p:cNvSpPr/>
          <p:nvPr/>
        </p:nvSpPr>
        <p:spPr>
          <a:xfrm>
            <a:off x="14246351"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6.5</a:t>
            </a:r>
          </a:p>
          <a:p>
            <a:pPr algn="l"/>
            <a:r>
              <a:rPr sz="1600" b="1">
                <a:solidFill>
                  <a:srgbClr val="111111"/>
                </a:solidFill>
                <a:latin typeface="Inter SemiBold"/>
              </a:rPr>
              <a:t>Equipamiento de campo</a:t>
            </a:r>
          </a:p>
        </p:txBody>
      </p:sp>
      <p:sp>
        <p:nvSpPr>
          <p:cNvPr id="1343" name="Rounded Rectangle 1342"/>
          <p:cNvSpPr/>
          <p:nvPr/>
        </p:nvSpPr>
        <p:spPr>
          <a:xfrm>
            <a:off x="822960" y="64648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6.6</a:t>
            </a:r>
          </a:p>
          <a:p>
            <a:pPr algn="l"/>
            <a:r>
              <a:rPr sz="1600" b="1">
                <a:solidFill>
                  <a:srgbClr val="111111"/>
                </a:solidFill>
                <a:latin typeface="Inter SemiBold"/>
              </a:rPr>
              <a:t>Configuración de sitios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6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18</a:t>
            </a:r>
          </a:p>
        </p:txBody>
      </p:sp>
      <p:sp>
        <p:nvSpPr>
          <p:cNvPr id="1368"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370" name="Connector 1369"/>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374"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375"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376" name="Connector 1375"/>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378"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379"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380" name="Connector 1379"/>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382"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383"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384" name="Connector 1383"/>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386"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387"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388" name="Connector 1387"/>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390"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391"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392" name="Connector 1391"/>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394"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395"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396" name="Connector 1395"/>
          <p:cNvCxnSpPr/>
          <p:nvPr/>
        </p:nvCxnSpPr>
        <p:spPr>
          <a:xfrm>
            <a:off x="12866624"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7</a:t>
            </a:r>
          </a:p>
          <a:p>
            <a:pPr algn="l"/>
            <a:r>
              <a:rPr sz="1600" b="1">
                <a:solidFill>
                  <a:srgbClr val="FFFFFF"/>
                </a:solidFill>
                <a:latin typeface="Inter SemiBold"/>
              </a:rPr>
              <a:t>Capacitación y cambio</a:t>
            </a:r>
          </a:p>
        </p:txBody>
      </p:sp>
      <p:sp>
        <p:nvSpPr>
          <p:cNvPr id="1398" name="!!phhh7"/>
          <p:cNvSpPr txBox="1"/>
          <p:nvPr/>
        </p:nvSpPr>
        <p:spPr>
          <a:xfrm>
            <a:off x="12100560"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4.736 HH</a:t>
            </a:r>
          </a:p>
        </p:txBody>
      </p:sp>
      <p:sp>
        <p:nvSpPr>
          <p:cNvPr id="1399"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FFFFFF"/>
                </a:solidFill>
                <a:latin typeface="Inter"/>
              </a:rPr>
              <a:t>3 CC · 13 PT</a:t>
            </a:r>
          </a:p>
        </p:txBody>
      </p:sp>
      <p:cxnSp>
        <p:nvCxnSpPr>
          <p:cNvPr id="1400" name="Connector 1399"/>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402"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403"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404" name="Connector 1403"/>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406"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407"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408" name="TextBox 1407"/>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7 · CAPACITACIÓN Y CAMBIO · 3 CUENTAS DE CONTROL</a:t>
            </a:r>
          </a:p>
        </p:txBody>
      </p:sp>
      <p:sp>
        <p:nvSpPr>
          <p:cNvPr id="1409" name="Rounded Rectangle 1408"/>
          <p:cNvSpPr/>
          <p:nvPr/>
        </p:nvSpPr>
        <p:spPr>
          <a:xfrm>
            <a:off x="82296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7.1</a:t>
            </a:r>
          </a:p>
          <a:p>
            <a:pPr algn="l"/>
            <a:r>
              <a:rPr sz="1600" b="1">
                <a:solidFill>
                  <a:srgbClr val="111111"/>
                </a:solidFill>
                <a:latin typeface="Inter SemiBold"/>
              </a:rPr>
              <a:t>Capacitación por roles</a:t>
            </a:r>
          </a:p>
        </p:txBody>
      </p:sp>
      <p:sp>
        <p:nvSpPr>
          <p:cNvPr id="1410" name="Rounded Rectangle 1409"/>
          <p:cNvSpPr/>
          <p:nvPr/>
        </p:nvSpPr>
        <p:spPr>
          <a:xfrm>
            <a:off x="641604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7.2</a:t>
            </a:r>
          </a:p>
          <a:p>
            <a:pPr algn="l"/>
            <a:r>
              <a:rPr sz="1600" b="1">
                <a:solidFill>
                  <a:srgbClr val="111111"/>
                </a:solidFill>
                <a:latin typeface="Inter SemiBold"/>
              </a:rPr>
              <a:t>Gestión del cambio</a:t>
            </a:r>
          </a:p>
        </p:txBody>
      </p:sp>
      <p:sp>
        <p:nvSpPr>
          <p:cNvPr id="1411" name="Rounded Rectangle 1410"/>
          <p:cNvSpPr/>
          <p:nvPr/>
        </p:nvSpPr>
        <p:spPr>
          <a:xfrm>
            <a:off x="1200912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7.3</a:t>
            </a:r>
          </a:p>
          <a:p>
            <a:pPr algn="l"/>
            <a:r>
              <a:rPr sz="1600" b="1">
                <a:solidFill>
                  <a:srgbClr val="111111"/>
                </a:solidFill>
                <a:latin typeface="Inter SemiBold"/>
              </a:rPr>
              <a:t>Evaluaciones y certificaciones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44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19</a:t>
            </a:r>
          </a:p>
        </p:txBody>
      </p:sp>
      <p:sp>
        <p:nvSpPr>
          <p:cNvPr id="144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443" name="Connector 144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44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44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449" name="Connector 1448"/>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451"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452"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453" name="Connector 145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45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45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457" name="Connector 1456"/>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459"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460"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461" name="Connector 146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46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46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465" name="Connector 146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46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46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469" name="Connector 146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47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47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473" name="Connector 1472"/>
          <p:cNvCxnSpPr/>
          <p:nvPr/>
        </p:nvCxnSpPr>
        <p:spPr>
          <a:xfrm>
            <a:off x="14727936"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8</a:t>
            </a:r>
          </a:p>
          <a:p>
            <a:pPr algn="l"/>
            <a:r>
              <a:rPr sz="1600" b="1">
                <a:solidFill>
                  <a:srgbClr val="FFFFFF"/>
                </a:solidFill>
                <a:latin typeface="Inter SemiBold"/>
              </a:rPr>
              <a:t>Operación y soporte</a:t>
            </a:r>
          </a:p>
        </p:txBody>
      </p:sp>
      <p:sp>
        <p:nvSpPr>
          <p:cNvPr id="1475" name="!!phhh8"/>
          <p:cNvSpPr txBox="1"/>
          <p:nvPr/>
        </p:nvSpPr>
        <p:spPr>
          <a:xfrm>
            <a:off x="13961872"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129.879 HH</a:t>
            </a:r>
          </a:p>
        </p:txBody>
      </p:sp>
      <p:sp>
        <p:nvSpPr>
          <p:cNvPr id="1476"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FFFFFF"/>
                </a:solidFill>
                <a:latin typeface="Inter"/>
              </a:rPr>
              <a:t>5 CC · 26 PT</a:t>
            </a:r>
          </a:p>
        </p:txBody>
      </p:sp>
      <p:cxnSp>
        <p:nvCxnSpPr>
          <p:cNvPr id="1477" name="Connector 1476"/>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479"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480"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481" name="TextBox 148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8 · OPERACIÓN Y SOPORTE · 5 CUENTAS DE CONTROL</a:t>
            </a:r>
          </a:p>
        </p:txBody>
      </p:sp>
      <p:sp>
        <p:nvSpPr>
          <p:cNvPr id="1482" name="Rounded Rectangle 1481"/>
          <p:cNvSpPr/>
          <p:nvPr/>
        </p:nvSpPr>
        <p:spPr>
          <a:xfrm>
            <a:off x="822960"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8.1</a:t>
            </a:r>
          </a:p>
          <a:p>
            <a:pPr algn="l"/>
            <a:r>
              <a:rPr sz="1600" b="1">
                <a:solidFill>
                  <a:srgbClr val="111111"/>
                </a:solidFill>
                <a:latin typeface="Inter SemiBold"/>
              </a:rPr>
              <a:t>Servicios de operación</a:t>
            </a:r>
          </a:p>
        </p:txBody>
      </p:sp>
      <p:sp>
        <p:nvSpPr>
          <p:cNvPr id="1483" name="Rounded Rectangle 1482"/>
          <p:cNvSpPr/>
          <p:nvPr/>
        </p:nvSpPr>
        <p:spPr>
          <a:xfrm>
            <a:off x="4178807"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8.2</a:t>
            </a:r>
          </a:p>
          <a:p>
            <a:pPr algn="l"/>
            <a:r>
              <a:rPr sz="1600" b="1">
                <a:solidFill>
                  <a:srgbClr val="111111"/>
                </a:solidFill>
                <a:latin typeface="Inter SemiBold"/>
              </a:rPr>
              <a:t>Mantenimiento</a:t>
            </a:r>
          </a:p>
        </p:txBody>
      </p:sp>
      <p:sp>
        <p:nvSpPr>
          <p:cNvPr id="1484" name="Rounded Rectangle 1483"/>
          <p:cNvSpPr/>
          <p:nvPr/>
        </p:nvSpPr>
        <p:spPr>
          <a:xfrm>
            <a:off x="7534655"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8.3</a:t>
            </a:r>
          </a:p>
          <a:p>
            <a:pPr algn="l"/>
            <a:r>
              <a:rPr sz="1600" b="1">
                <a:solidFill>
                  <a:srgbClr val="111111"/>
                </a:solidFill>
                <a:latin typeface="Inter SemiBold"/>
              </a:rPr>
              <a:t>Innovaciones</a:t>
            </a:r>
          </a:p>
        </p:txBody>
      </p:sp>
      <p:sp>
        <p:nvSpPr>
          <p:cNvPr id="1485" name="Rounded Rectangle 1484"/>
          <p:cNvSpPr/>
          <p:nvPr/>
        </p:nvSpPr>
        <p:spPr>
          <a:xfrm>
            <a:off x="10890503"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8.4</a:t>
            </a:r>
          </a:p>
          <a:p>
            <a:pPr algn="l"/>
            <a:r>
              <a:rPr sz="1600" b="1">
                <a:solidFill>
                  <a:srgbClr val="111111"/>
                </a:solidFill>
                <a:latin typeface="Inter SemiBold"/>
              </a:rPr>
              <a:t>Informes periódicos</a:t>
            </a:r>
          </a:p>
        </p:txBody>
      </p:sp>
      <p:sp>
        <p:nvSpPr>
          <p:cNvPr id="1486" name="Rounded Rectangle 1485"/>
          <p:cNvSpPr/>
          <p:nvPr/>
        </p:nvSpPr>
        <p:spPr>
          <a:xfrm>
            <a:off x="14246351"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8.5</a:t>
            </a:r>
          </a:p>
          <a:p>
            <a:pPr algn="l"/>
            <a:r>
              <a:rPr sz="1600" b="1">
                <a:solidFill>
                  <a:srgbClr val="111111"/>
                </a:solidFill>
                <a:latin typeface="Inter SemiBold"/>
              </a:rPr>
              <a:t>Transferencia</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1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20</a:t>
            </a:r>
          </a:p>
        </p:txBody>
      </p:sp>
      <p:sp>
        <p:nvSpPr>
          <p:cNvPr id="151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513" name="Connector 151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51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51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519" name="Connector 1518"/>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521"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522"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523" name="Connector 152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52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52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527" name="Connector 1526"/>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529"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530"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531" name="Connector 153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53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53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535" name="Connector 153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53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53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539" name="Connector 153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54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54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543" name="Connector 1542"/>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545"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546"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547" name="Connector 1546"/>
          <p:cNvCxnSpPr/>
          <p:nvPr/>
        </p:nvCxnSpPr>
        <p:spPr>
          <a:xfrm>
            <a:off x="16589248"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9</a:t>
            </a:r>
          </a:p>
          <a:p>
            <a:pPr algn="l"/>
            <a:r>
              <a:rPr sz="1600" b="1">
                <a:solidFill>
                  <a:srgbClr val="FFFFFF"/>
                </a:solidFill>
                <a:latin typeface="Inter SemiBold"/>
              </a:rPr>
              <a:t>Cierre</a:t>
            </a:r>
          </a:p>
        </p:txBody>
      </p:sp>
      <p:sp>
        <p:nvSpPr>
          <p:cNvPr id="1549" name="!!phhh9"/>
          <p:cNvSpPr txBox="1"/>
          <p:nvPr/>
        </p:nvSpPr>
        <p:spPr>
          <a:xfrm>
            <a:off x="15823184"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320 HH</a:t>
            </a:r>
          </a:p>
        </p:txBody>
      </p:sp>
      <p:sp>
        <p:nvSpPr>
          <p:cNvPr id="1550"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FFFFFF"/>
                </a:solidFill>
                <a:latin typeface="Inter"/>
              </a:rPr>
              <a:t>2 CC · 4 PT</a:t>
            </a:r>
          </a:p>
        </p:txBody>
      </p:sp>
      <p:sp>
        <p:nvSpPr>
          <p:cNvPr id="1551" name="TextBox 155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9 · CIERRE · 2 CUENTAS DE CONTROL</a:t>
            </a:r>
          </a:p>
        </p:txBody>
      </p:sp>
      <p:sp>
        <p:nvSpPr>
          <p:cNvPr id="1552" name="Rounded Rectangle 1551"/>
          <p:cNvSpPr/>
          <p:nvPr/>
        </p:nvSpPr>
        <p:spPr>
          <a:xfrm>
            <a:off x="822960" y="54406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9.1</a:t>
            </a:r>
          </a:p>
          <a:p>
            <a:pPr algn="l"/>
            <a:r>
              <a:rPr sz="1600" b="1">
                <a:solidFill>
                  <a:srgbClr val="111111"/>
                </a:solidFill>
                <a:latin typeface="Inter SemiBold"/>
              </a:rPr>
              <a:t>Cierre de la implementación</a:t>
            </a:r>
          </a:p>
        </p:txBody>
      </p:sp>
      <p:sp>
        <p:nvSpPr>
          <p:cNvPr id="1553" name="Rounded Rectangle 1552"/>
          <p:cNvSpPr/>
          <p:nvPr/>
        </p:nvSpPr>
        <p:spPr>
          <a:xfrm>
            <a:off x="9212580" y="54406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9.2</a:t>
            </a:r>
          </a:p>
          <a:p>
            <a:pPr algn="l"/>
            <a:r>
              <a:rPr sz="1600" b="1">
                <a:solidFill>
                  <a:srgbClr val="111111"/>
                </a:solidFill>
                <a:latin typeface="Inter SemiBold"/>
              </a:rPr>
              <a:t>Salida al término del contrato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Cómo se divide el proyecto</a:t>
            </a:r>
            <a:endParaRPr/>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600">
                <a:solidFill>
                  <a:srgbClr val="606060"/>
                </a:solidFill>
                <a:latin typeface="Inter"/>
                <a:ea typeface="Inter"/>
                <a:cs typeface="Inter"/>
                <a:sym typeface="Inter"/>
              </a:rPr>
              <a:t>2 etapas + operación</a:t>
            </a:r>
            <a:br>
              <a:rPr b="0" lang="en-US" sz="2600">
                <a:solidFill>
                  <a:srgbClr val="606060"/>
                </a:solidFill>
                <a:latin typeface="Inter"/>
                <a:ea typeface="Inter"/>
                <a:cs typeface="Inter"/>
                <a:sym typeface="Inter"/>
              </a:rPr>
            </a:br>
            <a:r>
              <a:rPr b="0" lang="en-US" sz="2600">
                <a:solidFill>
                  <a:srgbClr val="606060"/>
                </a:solidFill>
                <a:latin typeface="Inter"/>
                <a:ea typeface="Inter"/>
                <a:cs typeface="Inter"/>
                <a:sym typeface="Inter"/>
              </a:rPr>
              <a:t>8 frentes con responsable</a:t>
            </a:r>
            <a:endParaRPr/>
          </a:p>
        </p:txBody>
      </p:sp>
      <p:sp>
        <p:nvSpPr>
          <p:cNvPr id="1519" name="Google Shape;1519;p24"/>
          <p:cNvSpPr txBox="1"/>
          <p:nvPr/>
        </p:nvSpPr>
        <p:spPr>
          <a:xfrm>
            <a:off x="1499616" y="5486400"/>
            <a:ext cx="566928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Solapes: meses 13–15 y 19–20</a:t>
            </a:r>
            <a:endParaRPr/>
          </a:p>
        </p:txBody>
      </p:sp>
      <p:sp>
        <p:nvSpPr>
          <p:cNvPr id="1520" name="Google Shape;1520;p24"/>
          <p:cNvSpPr/>
          <p:nvPr/>
        </p:nvSpPr>
        <p:spPr>
          <a:xfrm>
            <a:off x="12076611" y="1188720"/>
            <a:ext cx="367392"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BLOQUES</a:t>
            </a:r>
            <a:endParaRPr/>
          </a:p>
        </p:txBody>
      </p:sp>
      <p:sp>
        <p:nvSpPr>
          <p:cNvPr id="1523" name="Google Shape;1523;p24"/>
          <p:cNvSpPr txBox="1"/>
          <p:nvPr/>
        </p:nvSpPr>
        <p:spPr>
          <a:xfrm>
            <a:off x="7680960" y="1463040"/>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1</a:t>
            </a:r>
            <a:endParaRPr/>
          </a:p>
        </p:txBody>
      </p:sp>
      <p:sp>
        <p:nvSpPr>
          <p:cNvPr id="1524" name="Google Shape;1524;p24"/>
          <p:cNvSpPr/>
          <p:nvPr/>
        </p:nvSpPr>
        <p:spPr>
          <a:xfrm>
            <a:off x="10607040" y="1463040"/>
            <a:ext cx="1959428" cy="411480"/>
          </a:xfrm>
          <a:prstGeom prst="roundRect">
            <a:avLst>
              <a:gd fmla="val 3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m1–16</a:t>
            </a:r>
            <a:endParaRPr/>
          </a:p>
        </p:txBody>
      </p:sp>
      <p:sp>
        <p:nvSpPr>
          <p:cNvPr id="1525" name="Google Shape;1525;p24"/>
          <p:cNvSpPr txBox="1"/>
          <p:nvPr/>
        </p:nvSpPr>
        <p:spPr>
          <a:xfrm>
            <a:off x="7680960" y="1993392"/>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2</a:t>
            </a:r>
            <a:endParaRPr/>
          </a:p>
        </p:txBody>
      </p:sp>
      <p:sp>
        <p:nvSpPr>
          <p:cNvPr id="1526" name="Google Shape;1526;p24"/>
          <p:cNvSpPr/>
          <p:nvPr/>
        </p:nvSpPr>
        <p:spPr>
          <a:xfrm>
            <a:off x="12076611" y="1993392"/>
            <a:ext cx="1102178" cy="411480"/>
          </a:xfrm>
          <a:prstGeom prst="roundRect">
            <a:avLst>
              <a:gd fmla="val 30000" name="adj"/>
            </a:avLst>
          </a:prstGeom>
          <a:solidFill>
            <a:srgbClr val="F29A5E"/>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m13–21</a:t>
            </a:r>
            <a:endParaRPr/>
          </a:p>
        </p:txBody>
      </p:sp>
      <p:sp>
        <p:nvSpPr>
          <p:cNvPr id="1527" name="Google Shape;1527;p24"/>
          <p:cNvSpPr txBox="1"/>
          <p:nvPr/>
        </p:nvSpPr>
        <p:spPr>
          <a:xfrm>
            <a:off x="7680960" y="2523744"/>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Operación</a:t>
            </a:r>
            <a:endParaRPr/>
          </a:p>
        </p:txBody>
      </p:sp>
      <p:sp>
        <p:nvSpPr>
          <p:cNvPr id="1528" name="Google Shape;1528;p24"/>
          <p:cNvSpPr/>
          <p:nvPr/>
        </p:nvSpPr>
        <p:spPr>
          <a:xfrm>
            <a:off x="13056325" y="2523744"/>
            <a:ext cx="4408714" cy="411480"/>
          </a:xfrm>
          <a:prstGeom prst="roundRect">
            <a:avLst>
              <a:gd fmla="val 3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m21–56</a:t>
            </a:r>
            <a:endParaRPr/>
          </a:p>
        </p:txBody>
      </p:sp>
      <p:sp>
        <p:nvSpPr>
          <p:cNvPr id="1529" name="Google Shape;1529;p24"/>
          <p:cNvSpPr txBox="1"/>
          <p:nvPr/>
        </p:nvSpPr>
        <p:spPr>
          <a:xfrm>
            <a:off x="7680960" y="31546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FRENTES</a:t>
            </a:r>
            <a:endParaRPr/>
          </a:p>
        </p:txBody>
      </p:sp>
      <p:sp>
        <p:nvSpPr>
          <p:cNvPr id="1530" name="Google Shape;1530;p24"/>
          <p:cNvSpPr txBox="1"/>
          <p:nvPr/>
        </p:nvSpPr>
        <p:spPr>
          <a:xfrm>
            <a:off x="7680960" y="348386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F1 Dirección</a:t>
            </a:r>
            <a:endParaRPr/>
          </a:p>
        </p:txBody>
      </p:sp>
      <p:sp>
        <p:nvSpPr>
          <p:cNvPr id="1531" name="Google Shape;1531;p24"/>
          <p:cNvSpPr txBox="1"/>
          <p:nvPr/>
        </p:nvSpPr>
        <p:spPr>
          <a:xfrm>
            <a:off x="7680960" y="376732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Jefe de Proyecto</a:t>
            </a:r>
            <a:endParaRPr/>
          </a:p>
        </p:txBody>
      </p:sp>
      <p:sp>
        <p:nvSpPr>
          <p:cNvPr id="1532" name="Google Shape;1532;p24"/>
          <p:cNvSpPr/>
          <p:nvPr/>
        </p:nvSpPr>
        <p:spPr>
          <a:xfrm>
            <a:off x="10607040" y="3593592"/>
            <a:ext cx="685800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F2 Arquitectura</a:t>
            </a:r>
            <a:endParaRPr/>
          </a:p>
        </p:txBody>
      </p:sp>
      <p:sp>
        <p:nvSpPr>
          <p:cNvPr id="1534" name="Google Shape;1534;p24"/>
          <p:cNvSpPr txBox="1"/>
          <p:nvPr/>
        </p:nvSpPr>
        <p:spPr>
          <a:xfrm>
            <a:off x="7680960" y="4389120"/>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Arquitecto de Solución</a:t>
            </a:r>
            <a:endParaRPr/>
          </a:p>
        </p:txBody>
      </p:sp>
      <p:sp>
        <p:nvSpPr>
          <p:cNvPr id="1535" name="Google Shape;1535;p24"/>
          <p:cNvSpPr/>
          <p:nvPr/>
        </p:nvSpPr>
        <p:spPr>
          <a:xfrm>
            <a:off x="10607040" y="4215384"/>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F3 Construcción E1</a:t>
            </a:r>
            <a:endParaRPr/>
          </a:p>
        </p:txBody>
      </p:sp>
      <p:sp>
        <p:nvSpPr>
          <p:cNvPr id="1537" name="Google Shape;1537;p24"/>
          <p:cNvSpPr txBox="1"/>
          <p:nvPr/>
        </p:nvSpPr>
        <p:spPr>
          <a:xfrm>
            <a:off x="7680960" y="501091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38" name="Google Shape;1538;p24"/>
          <p:cNvSpPr/>
          <p:nvPr/>
        </p:nvSpPr>
        <p:spPr>
          <a:xfrm>
            <a:off x="10607040" y="4837176"/>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F4 Construcción E2</a:t>
            </a:r>
            <a:endParaRPr/>
          </a:p>
        </p:txBody>
      </p:sp>
      <p:sp>
        <p:nvSpPr>
          <p:cNvPr id="1540" name="Google Shape;1540;p24"/>
          <p:cNvSpPr txBox="1"/>
          <p:nvPr/>
        </p:nvSpPr>
        <p:spPr>
          <a:xfrm>
            <a:off x="7680960" y="5632704"/>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41" name="Google Shape;1541;p24"/>
          <p:cNvSpPr/>
          <p:nvPr/>
        </p:nvSpPr>
        <p:spPr>
          <a:xfrm>
            <a:off x="12076611" y="5458968"/>
            <a:ext cx="979714"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F5 Plataforma</a:t>
            </a:r>
            <a:endParaRPr/>
          </a:p>
        </p:txBody>
      </p:sp>
      <p:sp>
        <p:nvSpPr>
          <p:cNvPr id="1543" name="Google Shape;1543;p24"/>
          <p:cNvSpPr txBox="1"/>
          <p:nvPr/>
        </p:nvSpPr>
        <p:spPr>
          <a:xfrm>
            <a:off x="7680960" y="6254496"/>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44" name="Google Shape;1544;p24"/>
          <p:cNvSpPr/>
          <p:nvPr/>
        </p:nvSpPr>
        <p:spPr>
          <a:xfrm>
            <a:off x="10607040" y="6080760"/>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F6 Calidad</a:t>
            </a:r>
            <a:endParaRPr/>
          </a:p>
        </p:txBody>
      </p:sp>
      <p:sp>
        <p:nvSpPr>
          <p:cNvPr id="1546" name="Google Shape;1546;p24"/>
          <p:cNvSpPr txBox="1"/>
          <p:nvPr/>
        </p:nvSpPr>
        <p:spPr>
          <a:xfrm>
            <a:off x="7680960" y="687628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Calidad</a:t>
            </a:r>
            <a:endParaRPr/>
          </a:p>
        </p:txBody>
      </p:sp>
      <p:sp>
        <p:nvSpPr>
          <p:cNvPr id="1547" name="Google Shape;1547;p24"/>
          <p:cNvSpPr/>
          <p:nvPr/>
        </p:nvSpPr>
        <p:spPr>
          <a:xfrm>
            <a:off x="10607040" y="6702552"/>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F7 Implantación</a:t>
            </a:r>
            <a:endParaRPr/>
          </a:p>
        </p:txBody>
      </p:sp>
      <p:sp>
        <p:nvSpPr>
          <p:cNvPr id="1549" name="Google Shape;1549;p24"/>
          <p:cNvSpPr txBox="1"/>
          <p:nvPr/>
        </p:nvSpPr>
        <p:spPr>
          <a:xfrm>
            <a:off x="7680960" y="7498079"/>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Implantación</a:t>
            </a:r>
            <a:endParaRPr/>
          </a:p>
        </p:txBody>
      </p:sp>
      <p:sp>
        <p:nvSpPr>
          <p:cNvPr id="1550" name="Google Shape;1550;p24"/>
          <p:cNvSpPr/>
          <p:nvPr/>
        </p:nvSpPr>
        <p:spPr>
          <a:xfrm>
            <a:off x="11586754" y="7324344"/>
            <a:ext cx="159203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F8 Operación</a:t>
            </a:r>
            <a:endParaRPr/>
          </a:p>
        </p:txBody>
      </p:sp>
      <p:sp>
        <p:nvSpPr>
          <p:cNvPr id="1552" name="Google Shape;1552;p24"/>
          <p:cNvSpPr txBox="1"/>
          <p:nvPr/>
        </p:nvSpPr>
        <p:spPr>
          <a:xfrm>
            <a:off x="7680960" y="811987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53" name="Google Shape;1553;p24"/>
          <p:cNvSpPr/>
          <p:nvPr/>
        </p:nvSpPr>
        <p:spPr>
          <a:xfrm>
            <a:off x="13056325" y="7946136"/>
            <a:ext cx="4408714" cy="384048"/>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a:t>
            </a:r>
            <a:endParaRPr/>
          </a:p>
        </p:txBody>
      </p:sp>
      <p:sp>
        <p:nvSpPr>
          <p:cNvPr id="1555" name="Google Shape;1555;p24"/>
          <p:cNvSpPr txBox="1"/>
          <p:nvPr/>
        </p:nvSpPr>
        <p:spPr>
          <a:xfrm>
            <a:off x="11756571"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m13</a:t>
            </a:r>
            <a:endParaRPr/>
          </a:p>
        </p:txBody>
      </p:sp>
      <p:sp>
        <p:nvSpPr>
          <p:cNvPr id="1556" name="Google Shape;1556;p24"/>
          <p:cNvSpPr txBox="1"/>
          <p:nvPr/>
        </p:nvSpPr>
        <p:spPr>
          <a:xfrm>
            <a:off x="1273628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m21</a:t>
            </a:r>
            <a:endParaRPr/>
          </a:p>
        </p:txBody>
      </p:sp>
      <p:sp>
        <p:nvSpPr>
          <p:cNvPr id="1557" name="Google Shape;1557;p24"/>
          <p:cNvSpPr txBox="1"/>
          <p:nvPr/>
        </p:nvSpPr>
        <p:spPr>
          <a:xfrm>
            <a:off x="1702253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m56</a:t>
            </a:r>
            <a:endParaRPr/>
          </a:p>
        </p:txBody>
      </p:sp>
      <p:sp>
        <p:nvSpPr>
          <p:cNvPr id="155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5"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Gantt de implementación</a:t>
            </a:r>
            <a:endParaRPr/>
          </a:p>
        </p:txBody>
      </p:sp>
      <p:sp>
        <p:nvSpPr>
          <p:cNvPr id="1566"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7"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6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6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70" name="Google Shape;1570;p2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Meses 1–24 · congelamientos, reversión y riesgos a la vista</a:t>
            </a:r>
            <a:endParaRPr/>
          </a:p>
        </p:txBody>
      </p:sp>
      <p:sp>
        <p:nvSpPr>
          <p:cNvPr id="1571" name="Google Shape;1571;p25"/>
          <p:cNvSpPr/>
          <p:nvPr/>
        </p:nvSpPr>
        <p:spPr>
          <a:xfrm>
            <a:off x="776097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2" name="Google Shape;1572;p25"/>
          <p:cNvSpPr txBox="1"/>
          <p:nvPr/>
        </p:nvSpPr>
        <p:spPr>
          <a:xfrm>
            <a:off x="766953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3" name="Google Shape;1573;p25"/>
          <p:cNvSpPr/>
          <p:nvPr/>
        </p:nvSpPr>
        <p:spPr>
          <a:xfrm>
            <a:off x="944118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4" name="Google Shape;1574;p25"/>
          <p:cNvSpPr txBox="1"/>
          <p:nvPr/>
        </p:nvSpPr>
        <p:spPr>
          <a:xfrm>
            <a:off x="934974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5" name="Google Shape;1575;p25"/>
          <p:cNvSpPr/>
          <p:nvPr/>
        </p:nvSpPr>
        <p:spPr>
          <a:xfrm>
            <a:off x="1448180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6" name="Google Shape;1576;p25"/>
          <p:cNvSpPr txBox="1"/>
          <p:nvPr/>
        </p:nvSpPr>
        <p:spPr>
          <a:xfrm>
            <a:off x="1439036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7" name="Google Shape;1577;p25"/>
          <p:cNvSpPr/>
          <p:nvPr/>
        </p:nvSpPr>
        <p:spPr>
          <a:xfrm>
            <a:off x="1616201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8" name="Google Shape;1578;p25"/>
          <p:cNvSpPr txBox="1"/>
          <p:nvPr/>
        </p:nvSpPr>
        <p:spPr>
          <a:xfrm>
            <a:off x="1607057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9" name="Google Shape;1579;p25"/>
          <p:cNvSpPr txBox="1"/>
          <p:nvPr/>
        </p:nvSpPr>
        <p:spPr>
          <a:xfrm>
            <a:off x="731520" y="3017520"/>
            <a:ext cx="30175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Gris = congelamiento</a:t>
            </a:r>
            <a:endParaRPr/>
          </a:p>
        </p:txBody>
      </p:sp>
      <p:sp>
        <p:nvSpPr>
          <p:cNvPr id="1580" name="Google Shape;1580;p25"/>
          <p:cNvSpPr txBox="1"/>
          <p:nvPr/>
        </p:nvSpPr>
        <p:spPr>
          <a:xfrm>
            <a:off x="731520" y="338328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Diseño e infraestructura</a:t>
            </a:r>
            <a:endParaRPr/>
          </a:p>
        </p:txBody>
      </p:sp>
      <p:sp>
        <p:nvSpPr>
          <p:cNvPr id="1581" name="!!gv_0"/>
          <p:cNvSpPr/>
          <p:nvPr/>
        </p:nvSpPr>
        <p:spPr>
          <a:xfrm>
            <a:off x="3840480" y="3383280"/>
            <a:ext cx="18288" cy="310896"/>
          </a:xfrm>
          <a:prstGeom prst="roundRect">
            <a:avLst>
              <a:gd fmla="val 30000" name="adj"/>
            </a:avLst>
          </a:prstGeom>
          <a:solidFill>
            <a:srgbClr val="606060"/>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2" name="Google Shape;1582;p25"/>
          <p:cNvSpPr txBox="1"/>
          <p:nvPr/>
        </p:nvSpPr>
        <p:spPr>
          <a:xfrm>
            <a:off x="731520" y="378561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E1</a:t>
            </a:r>
            <a:endParaRPr/>
          </a:p>
        </p:txBody>
      </p:sp>
      <p:sp>
        <p:nvSpPr>
          <p:cNvPr id="1583" name="!!gv_1"/>
          <p:cNvSpPr/>
          <p:nvPr/>
        </p:nvSpPr>
        <p:spPr>
          <a:xfrm>
            <a:off x="6080760" y="3785616"/>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4" name="Google Shape;1584;p25"/>
          <p:cNvSpPr txBox="1"/>
          <p:nvPr/>
        </p:nvSpPr>
        <p:spPr>
          <a:xfrm>
            <a:off x="731520" y="418795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Migración de datos</a:t>
            </a:r>
            <a:endParaRPr/>
          </a:p>
        </p:txBody>
      </p:sp>
      <p:sp>
        <p:nvSpPr>
          <p:cNvPr id="1585" name="!!gv_2"/>
          <p:cNvSpPr/>
          <p:nvPr/>
        </p:nvSpPr>
        <p:spPr>
          <a:xfrm>
            <a:off x="7200900" y="4187952"/>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6" name="Google Shape;1586;p25"/>
          <p:cNvSpPr txBox="1"/>
          <p:nvPr/>
        </p:nvSpPr>
        <p:spPr>
          <a:xfrm>
            <a:off x="731520" y="459028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E1</a:t>
            </a:r>
            <a:endParaRPr/>
          </a:p>
        </p:txBody>
      </p:sp>
      <p:sp>
        <p:nvSpPr>
          <p:cNvPr id="1587" name="!!gv_3"/>
          <p:cNvSpPr/>
          <p:nvPr/>
        </p:nvSpPr>
        <p:spPr>
          <a:xfrm>
            <a:off x="10561320" y="4590288"/>
            <a:ext cx="18288" cy="310896"/>
          </a:xfrm>
          <a:prstGeom prst="roundRect">
            <a:avLst>
              <a:gd fmla="val 3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8" name="Google Shape;1588;p25"/>
          <p:cNvSpPr txBox="1"/>
          <p:nvPr/>
        </p:nvSpPr>
        <p:spPr>
          <a:xfrm>
            <a:off x="731520" y="4992624"/>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E2</a:t>
            </a:r>
            <a:endParaRPr/>
          </a:p>
        </p:txBody>
      </p:sp>
      <p:sp>
        <p:nvSpPr>
          <p:cNvPr id="1589" name="!!gv_6"/>
          <p:cNvSpPr/>
          <p:nvPr/>
        </p:nvSpPr>
        <p:spPr>
          <a:xfrm>
            <a:off x="10561320" y="4992624"/>
            <a:ext cx="18288" cy="310896"/>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0" name="Google Shape;1590;p25"/>
          <p:cNvSpPr txBox="1"/>
          <p:nvPr/>
        </p:nvSpPr>
        <p:spPr>
          <a:xfrm>
            <a:off x="731520" y="539496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E2</a:t>
            </a:r>
            <a:endParaRPr/>
          </a:p>
        </p:txBody>
      </p:sp>
      <p:sp>
        <p:nvSpPr>
          <p:cNvPr id="1591" name="!!gv_8"/>
          <p:cNvSpPr/>
          <p:nvPr/>
        </p:nvSpPr>
        <p:spPr>
          <a:xfrm>
            <a:off x="13921739" y="5394960"/>
            <a:ext cx="18288" cy="310896"/>
          </a:xfrm>
          <a:prstGeom prst="roundRect">
            <a:avLst>
              <a:gd fmla="val 30000" name="adj"/>
            </a:avLst>
          </a:prstGeom>
          <a:solidFill>
            <a:srgbClr val="9A9A9A"/>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2" name="Google Shape;1592;p25"/>
          <p:cNvSpPr txBox="1"/>
          <p:nvPr/>
        </p:nvSpPr>
        <p:spPr>
          <a:xfrm>
            <a:off x="731520" y="579729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Gestión del cambio</a:t>
            </a:r>
            <a:endParaRPr/>
          </a:p>
        </p:txBody>
      </p:sp>
      <p:sp>
        <p:nvSpPr>
          <p:cNvPr id="1593" name="!!gv_9"/>
          <p:cNvSpPr/>
          <p:nvPr/>
        </p:nvSpPr>
        <p:spPr>
          <a:xfrm>
            <a:off x="4400550" y="5797296"/>
            <a:ext cx="18288" cy="310896"/>
          </a:xfrm>
          <a:prstGeom prst="roundRect">
            <a:avLst>
              <a:gd fmla="val 30000" name="adj"/>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4" name="Google Shape;1594;p25"/>
          <p:cNvSpPr txBox="1"/>
          <p:nvPr/>
        </p:nvSpPr>
        <p:spPr>
          <a:xfrm>
            <a:off x="731520" y="61996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Operación → m56</a:t>
            </a:r>
            <a:endParaRPr/>
          </a:p>
        </p:txBody>
      </p:sp>
      <p:sp>
        <p:nvSpPr>
          <p:cNvPr id="1595" name="!!gv_10"/>
          <p:cNvSpPr/>
          <p:nvPr/>
        </p:nvSpPr>
        <p:spPr>
          <a:xfrm>
            <a:off x="15041880" y="6199632"/>
            <a:ext cx="18288" cy="310896"/>
          </a:xfrm>
          <a:prstGeom prst="roundRect">
            <a:avLst>
              <a:gd fmla="val 3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6" name="Google Shape;1596;p25"/>
          <p:cNvSpPr txBox="1"/>
          <p:nvPr/>
        </p:nvSpPr>
        <p:spPr>
          <a:xfrm>
            <a:off x="731520" y="660196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Cambios de software</a:t>
            </a:r>
            <a:endParaRPr/>
          </a:p>
        </p:txBody>
      </p:sp>
      <p:sp>
        <p:nvSpPr>
          <p:cNvPr id="1597" name="Google Shape;1597;p25"/>
          <p:cNvSpPr txBox="1"/>
          <p:nvPr/>
        </p:nvSpPr>
        <p:spPr>
          <a:xfrm>
            <a:off x="731520" y="7004304"/>
            <a:ext cx="3017520"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Hitos</a:t>
            </a:r>
            <a:endParaRPr/>
          </a:p>
        </p:txBody>
      </p:sp>
      <p:sp>
        <p:nvSpPr>
          <p:cNvPr id="1598" name="Google Shape;1598;p25"/>
          <p:cNvSpPr txBox="1"/>
          <p:nvPr/>
        </p:nvSpPr>
        <p:spPr>
          <a:xfrm>
            <a:off x="731520" y="75712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Riesgos</a:t>
            </a:r>
            <a:endParaRPr/>
          </a:p>
        </p:txBody>
      </p:sp>
      <p:cxnSp>
        <p:nvCxnSpPr>
          <p:cNvPr id="1599" name="Google Shape;1599;p25"/>
          <p:cNvCxnSpPr/>
          <p:nvPr/>
        </p:nvCxnSpPr>
        <p:spPr>
          <a:xfrm>
            <a:off x="3840480" y="7991856"/>
            <a:ext cx="13441680" cy="0"/>
          </a:xfrm>
          <a:prstGeom prst="straightConnector1">
            <a:avLst/>
          </a:prstGeom>
          <a:noFill/>
          <a:ln cap="flat" cmpd="sng" w="1270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600" name="Google Shape;1600;p25"/>
          <p:cNvSpPr txBox="1"/>
          <p:nvPr/>
        </p:nvSpPr>
        <p:spPr>
          <a:xfrm>
            <a:off x="38404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a:t>
            </a:r>
            <a:endParaRPr/>
          </a:p>
        </p:txBody>
      </p:sp>
      <p:sp>
        <p:nvSpPr>
          <p:cNvPr id="1601" name="Google Shape;1601;p25"/>
          <p:cNvSpPr txBox="1"/>
          <p:nvPr/>
        </p:nvSpPr>
        <p:spPr>
          <a:xfrm>
            <a:off x="44005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a:t>
            </a:r>
            <a:endParaRPr/>
          </a:p>
        </p:txBody>
      </p:sp>
      <p:sp>
        <p:nvSpPr>
          <p:cNvPr id="1602" name="Google Shape;1602;p25"/>
          <p:cNvSpPr txBox="1"/>
          <p:nvPr/>
        </p:nvSpPr>
        <p:spPr>
          <a:xfrm>
            <a:off x="49606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3</a:t>
            </a:r>
            <a:endParaRPr/>
          </a:p>
        </p:txBody>
      </p:sp>
      <p:sp>
        <p:nvSpPr>
          <p:cNvPr id="1603" name="Google Shape;1603;p25"/>
          <p:cNvSpPr txBox="1"/>
          <p:nvPr/>
        </p:nvSpPr>
        <p:spPr>
          <a:xfrm>
            <a:off x="55206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4</a:t>
            </a:r>
            <a:endParaRPr/>
          </a:p>
        </p:txBody>
      </p:sp>
      <p:sp>
        <p:nvSpPr>
          <p:cNvPr id="1604" name="Google Shape;1604;p25"/>
          <p:cNvSpPr txBox="1"/>
          <p:nvPr/>
        </p:nvSpPr>
        <p:spPr>
          <a:xfrm>
            <a:off x="608076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5</a:t>
            </a:r>
            <a:endParaRPr/>
          </a:p>
        </p:txBody>
      </p:sp>
      <p:sp>
        <p:nvSpPr>
          <p:cNvPr id="1605" name="Google Shape;1605;p25"/>
          <p:cNvSpPr txBox="1"/>
          <p:nvPr/>
        </p:nvSpPr>
        <p:spPr>
          <a:xfrm>
            <a:off x="664082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6</a:t>
            </a:r>
            <a:endParaRPr/>
          </a:p>
        </p:txBody>
      </p:sp>
      <p:sp>
        <p:nvSpPr>
          <p:cNvPr id="1606" name="Google Shape;1606;p25"/>
          <p:cNvSpPr txBox="1"/>
          <p:nvPr/>
        </p:nvSpPr>
        <p:spPr>
          <a:xfrm>
            <a:off x="72009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7</a:t>
            </a:r>
            <a:endParaRPr/>
          </a:p>
        </p:txBody>
      </p:sp>
      <p:sp>
        <p:nvSpPr>
          <p:cNvPr id="1607" name="Google Shape;1607;p25"/>
          <p:cNvSpPr txBox="1"/>
          <p:nvPr/>
        </p:nvSpPr>
        <p:spPr>
          <a:xfrm>
            <a:off x="77609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8</a:t>
            </a:r>
            <a:endParaRPr/>
          </a:p>
        </p:txBody>
      </p:sp>
      <p:sp>
        <p:nvSpPr>
          <p:cNvPr id="1608" name="Google Shape;1608;p25"/>
          <p:cNvSpPr txBox="1"/>
          <p:nvPr/>
        </p:nvSpPr>
        <p:spPr>
          <a:xfrm>
            <a:off x="832104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9</a:t>
            </a:r>
            <a:endParaRPr/>
          </a:p>
        </p:txBody>
      </p:sp>
      <p:sp>
        <p:nvSpPr>
          <p:cNvPr id="1609" name="Google Shape;1609;p25"/>
          <p:cNvSpPr txBox="1"/>
          <p:nvPr/>
        </p:nvSpPr>
        <p:spPr>
          <a:xfrm>
            <a:off x="88811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10</a:t>
            </a:r>
            <a:endParaRPr/>
          </a:p>
        </p:txBody>
      </p:sp>
      <p:sp>
        <p:nvSpPr>
          <p:cNvPr id="1610" name="Google Shape;1610;p25"/>
          <p:cNvSpPr txBox="1"/>
          <p:nvPr/>
        </p:nvSpPr>
        <p:spPr>
          <a:xfrm>
            <a:off x="94411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11</a:t>
            </a:r>
            <a:endParaRPr/>
          </a:p>
        </p:txBody>
      </p:sp>
      <p:sp>
        <p:nvSpPr>
          <p:cNvPr id="1611" name="Google Shape;1611;p25"/>
          <p:cNvSpPr txBox="1"/>
          <p:nvPr/>
        </p:nvSpPr>
        <p:spPr>
          <a:xfrm>
            <a:off x="100012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12</a:t>
            </a:r>
            <a:endParaRPr/>
          </a:p>
        </p:txBody>
      </p:sp>
      <p:sp>
        <p:nvSpPr>
          <p:cNvPr id="1612" name="Google Shape;1612;p25"/>
          <p:cNvSpPr txBox="1"/>
          <p:nvPr/>
        </p:nvSpPr>
        <p:spPr>
          <a:xfrm>
            <a:off x="105613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13</a:t>
            </a:r>
            <a:endParaRPr/>
          </a:p>
        </p:txBody>
      </p:sp>
      <p:sp>
        <p:nvSpPr>
          <p:cNvPr id="1613" name="Google Shape;1613;p25"/>
          <p:cNvSpPr txBox="1"/>
          <p:nvPr/>
        </p:nvSpPr>
        <p:spPr>
          <a:xfrm>
            <a:off x="111213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14</a:t>
            </a:r>
            <a:endParaRPr/>
          </a:p>
        </p:txBody>
      </p:sp>
      <p:sp>
        <p:nvSpPr>
          <p:cNvPr id="1614" name="Google Shape;1614;p25"/>
          <p:cNvSpPr txBox="1"/>
          <p:nvPr/>
        </p:nvSpPr>
        <p:spPr>
          <a:xfrm>
            <a:off x="1168145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15</a:t>
            </a:r>
            <a:endParaRPr/>
          </a:p>
        </p:txBody>
      </p:sp>
      <p:sp>
        <p:nvSpPr>
          <p:cNvPr id="1615" name="Google Shape;1615;p25"/>
          <p:cNvSpPr txBox="1"/>
          <p:nvPr/>
        </p:nvSpPr>
        <p:spPr>
          <a:xfrm>
            <a:off x="1224153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16</a:t>
            </a:r>
            <a:endParaRPr/>
          </a:p>
        </p:txBody>
      </p:sp>
      <p:sp>
        <p:nvSpPr>
          <p:cNvPr id="1616" name="Google Shape;1616;p25"/>
          <p:cNvSpPr txBox="1"/>
          <p:nvPr/>
        </p:nvSpPr>
        <p:spPr>
          <a:xfrm>
            <a:off x="128016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17</a:t>
            </a:r>
            <a:endParaRPr/>
          </a:p>
        </p:txBody>
      </p:sp>
      <p:sp>
        <p:nvSpPr>
          <p:cNvPr id="1617" name="Google Shape;1617;p25"/>
          <p:cNvSpPr txBox="1"/>
          <p:nvPr/>
        </p:nvSpPr>
        <p:spPr>
          <a:xfrm>
            <a:off x="133616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18</a:t>
            </a:r>
            <a:endParaRPr/>
          </a:p>
        </p:txBody>
      </p:sp>
      <p:sp>
        <p:nvSpPr>
          <p:cNvPr id="1618" name="Google Shape;1618;p25"/>
          <p:cNvSpPr txBox="1"/>
          <p:nvPr/>
        </p:nvSpPr>
        <p:spPr>
          <a:xfrm>
            <a:off x="1392173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19</a:t>
            </a:r>
            <a:endParaRPr/>
          </a:p>
        </p:txBody>
      </p:sp>
      <p:sp>
        <p:nvSpPr>
          <p:cNvPr id="1619" name="Google Shape;1619;p25"/>
          <p:cNvSpPr txBox="1"/>
          <p:nvPr/>
        </p:nvSpPr>
        <p:spPr>
          <a:xfrm>
            <a:off x="144818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20</a:t>
            </a:r>
            <a:endParaRPr/>
          </a:p>
        </p:txBody>
      </p:sp>
      <p:sp>
        <p:nvSpPr>
          <p:cNvPr id="1620" name="Google Shape;1620;p25"/>
          <p:cNvSpPr txBox="1"/>
          <p:nvPr/>
        </p:nvSpPr>
        <p:spPr>
          <a:xfrm>
            <a:off x="150418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21</a:t>
            </a:r>
            <a:endParaRPr/>
          </a:p>
        </p:txBody>
      </p:sp>
      <p:sp>
        <p:nvSpPr>
          <p:cNvPr id="1621" name="Google Shape;1621;p25"/>
          <p:cNvSpPr txBox="1"/>
          <p:nvPr/>
        </p:nvSpPr>
        <p:spPr>
          <a:xfrm>
            <a:off x="156019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22</a:t>
            </a:r>
            <a:endParaRPr/>
          </a:p>
        </p:txBody>
      </p:sp>
      <p:sp>
        <p:nvSpPr>
          <p:cNvPr id="1622" name="Google Shape;1622;p25"/>
          <p:cNvSpPr txBox="1"/>
          <p:nvPr/>
        </p:nvSpPr>
        <p:spPr>
          <a:xfrm>
            <a:off x="1616201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23</a:t>
            </a:r>
            <a:endParaRPr/>
          </a:p>
        </p:txBody>
      </p:sp>
      <p:sp>
        <p:nvSpPr>
          <p:cNvPr id="1623" name="Google Shape;1623;p25"/>
          <p:cNvSpPr txBox="1"/>
          <p:nvPr/>
        </p:nvSpPr>
        <p:spPr>
          <a:xfrm>
            <a:off x="1672208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24</a:t>
            </a:r>
            <a:endParaRPr/>
          </a:p>
        </p:txBody>
      </p:sp>
      <p:sp>
        <p:nvSpPr>
          <p:cNvPr id="16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1" name="!!title"/>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6" name="Google Shape;1636;p26"/>
          <p:cNvSpPr txBox="1"/>
          <p:nvPr/>
        </p:nvSpPr>
        <p:spPr>
          <a:xfrm>
            <a:off x="15085298" y="8875656"/>
            <a:ext cx="1994100" cy="283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1842" u="none" cap="none" strike="noStrike">
                <a:solidFill>
                  <a:srgbClr val="000000"/>
                </a:solidFill>
                <a:latin typeface="Inter"/>
                <a:ea typeface="Inter"/>
                <a:cs typeface="Inter"/>
                <a:sym typeface="Inter"/>
              </a:rPr>
              <a:t>Siguiente</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v_0"/>
          <p:cNvSpPr/>
          <p:nvPr/>
        </p:nvSpPr>
        <p:spPr>
          <a:xfrm>
            <a:off x="3813547" y="3168479"/>
            <a:ext cx="6876300"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v_1"/>
          <p:cNvSpPr/>
          <p:nvPr/>
        </p:nvSpPr>
        <p:spPr>
          <a:xfrm>
            <a:off x="6105774" y="3561432"/>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v_2"/>
          <p:cNvSpPr/>
          <p:nvPr/>
        </p:nvSpPr>
        <p:spPr>
          <a:xfrm>
            <a:off x="7251887" y="3954385"/>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v_3"/>
          <p:cNvSpPr/>
          <p:nvPr/>
        </p:nvSpPr>
        <p:spPr>
          <a:xfrm>
            <a:off x="10690226" y="4347338"/>
            <a:ext cx="1719000"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Olas 1·2·3</a:t>
            </a:r>
            <a:endParaRPr sz="1432"/>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7" name="Google Shape;1657;p26"/>
          <p:cNvSpPr/>
          <p:nvPr/>
        </p:nvSpPr>
        <p:spPr>
          <a:xfrm>
            <a:off x="10690226" y="4740292"/>
            <a:ext cx="3438600" cy="299700"/>
          </a:xfrm>
          <a:prstGeom prst="roundRect">
            <a:avLst>
              <a:gd fmla="val 30000" name="adj"/>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v_5"/>
          <p:cNvSpPr/>
          <p:nvPr/>
        </p:nvSpPr>
        <p:spPr>
          <a:xfrm>
            <a:off x="14128565" y="5133245"/>
            <a:ext cx="1146300"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v_6"/>
          <p:cNvSpPr/>
          <p:nvPr/>
        </p:nvSpPr>
        <p:spPr>
          <a:xfrm>
            <a:off x="10690226" y="5619758"/>
            <a:ext cx="6876300"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5" name="Google Shape;1665;p26"/>
          <p:cNvSpPr txBox="1"/>
          <p:nvPr/>
        </p:nvSpPr>
        <p:spPr>
          <a:xfrm>
            <a:off x="12409396"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6" name="Google Shape;1666;p26"/>
          <p:cNvSpPr txBox="1"/>
          <p:nvPr/>
        </p:nvSpPr>
        <p:spPr>
          <a:xfrm>
            <a:off x="13555509" y="5526198"/>
            <a:ext cx="14328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restauración</a:t>
            </a:r>
            <a:endParaRPr sz="1432"/>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v_9"/>
          <p:cNvSpPr/>
          <p:nvPr/>
        </p:nvSpPr>
        <p:spPr>
          <a:xfrm>
            <a:off x="4386604" y="5919151"/>
            <a:ext cx="11461200"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0" name="Google Shape;1670;p26"/>
          <p:cNvSpPr/>
          <p:nvPr/>
        </p:nvSpPr>
        <p:spPr>
          <a:xfrm>
            <a:off x="15274679" y="6312104"/>
            <a:ext cx="2292300" cy="299700"/>
          </a:xfrm>
          <a:prstGeom prst="homePlate">
            <a:avLst>
              <a:gd fmla="val 50000" name="adj"/>
            </a:avLst>
          </a:prstGeom>
          <a:solidFill>
            <a:srgbClr val="3C3C3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
        <p:nvSpPr>
          <p:cNvPr id="1699" name="Google Shape;1699;p26"/>
          <p:cNvSpPr/>
          <p:nvPr/>
        </p:nvSpPr>
        <p:spPr>
          <a:xfrm>
            <a:off x="9544113"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E1</a:t>
            </a:r>
            <a:endParaRPr sz="1432"/>
          </a:p>
        </p:txBody>
      </p:sp>
      <p:sp>
        <p:nvSpPr>
          <p:cNvPr id="1700" name="Google Shape;1700;p26"/>
          <p:cNvSpPr/>
          <p:nvPr/>
        </p:nvSpPr>
        <p:spPr>
          <a:xfrm>
            <a:off x="12982452"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E2</a:t>
            </a:r>
            <a:endParaRPr sz="1432"/>
          </a:p>
        </p:txBody>
      </p:sp>
      <p:sp>
        <p:nvSpPr>
          <p:cNvPr id="1701" name="Google Shape;1701;p26"/>
          <p:cNvSpPr/>
          <p:nvPr/>
        </p:nvSpPr>
        <p:spPr>
          <a:xfrm>
            <a:off x="4560860"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a:t>
            </a:r>
            <a:endParaRPr sz="1432"/>
          </a:p>
        </p:txBody>
      </p:sp>
      <p:sp>
        <p:nvSpPr>
          <p:cNvPr id="1703" name="Google Shape;1703;p26"/>
          <p:cNvSpPr/>
          <p:nvPr/>
        </p:nvSpPr>
        <p:spPr>
          <a:xfrm>
            <a:off x="5706973"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H2</a:t>
            </a:r>
            <a:endParaRPr sz="1432"/>
          </a:p>
        </p:txBody>
      </p:sp>
      <p:sp>
        <p:nvSpPr>
          <p:cNvPr id="1705" name="Google Shape;1705;p26"/>
          <p:cNvSpPr/>
          <p:nvPr/>
        </p:nvSpPr>
        <p:spPr>
          <a:xfrm>
            <a:off x="685308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H3</a:t>
            </a:r>
            <a:endParaRPr sz="1432"/>
          </a:p>
        </p:txBody>
      </p:sp>
      <p:sp>
        <p:nvSpPr>
          <p:cNvPr id="1707" name="Google Shape;1707;p26"/>
          <p:cNvSpPr/>
          <p:nvPr/>
        </p:nvSpPr>
        <p:spPr>
          <a:xfrm>
            <a:off x="914531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H4</a:t>
            </a:r>
            <a:endParaRPr sz="1432"/>
          </a:p>
        </p:txBody>
      </p:sp>
      <p:sp>
        <p:nvSpPr>
          <p:cNvPr id="1709" name="Google Shape;1709;p26"/>
          <p:cNvSpPr/>
          <p:nvPr/>
        </p:nvSpPr>
        <p:spPr>
          <a:xfrm>
            <a:off x="1029142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H5</a:t>
            </a:r>
            <a:endParaRPr sz="1432"/>
          </a:p>
        </p:txBody>
      </p:sp>
      <p:sp>
        <p:nvSpPr>
          <p:cNvPr id="1711" name="Google Shape;1711;p26"/>
          <p:cNvSpPr/>
          <p:nvPr/>
        </p:nvSpPr>
        <p:spPr>
          <a:xfrm>
            <a:off x="1086448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H6</a:t>
            </a:r>
            <a:endParaRPr sz="1432"/>
          </a:p>
        </p:txBody>
      </p:sp>
      <p:sp>
        <p:nvSpPr>
          <p:cNvPr id="1713" name="Google Shape;1713;p26"/>
          <p:cNvSpPr/>
          <p:nvPr/>
        </p:nvSpPr>
        <p:spPr>
          <a:xfrm>
            <a:off x="11437539"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H8</a:t>
            </a:r>
            <a:endParaRPr sz="1432"/>
          </a:p>
        </p:txBody>
      </p:sp>
      <p:sp>
        <p:nvSpPr>
          <p:cNvPr id="1715" name="Google Shape;1715;p26"/>
          <p:cNvSpPr/>
          <p:nvPr/>
        </p:nvSpPr>
        <p:spPr>
          <a:xfrm>
            <a:off x="12583652"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H7</a:t>
            </a:r>
            <a:endParaRPr sz="1432"/>
          </a:p>
        </p:txBody>
      </p:sp>
      <p:sp>
        <p:nvSpPr>
          <p:cNvPr id="1717" name="Google Shape;1717;p26"/>
          <p:cNvSpPr/>
          <p:nvPr/>
        </p:nvSpPr>
        <p:spPr>
          <a:xfrm>
            <a:off x="13156708"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H9</a:t>
            </a:r>
            <a:endParaRPr sz="1432"/>
          </a:p>
        </p:txBody>
      </p:sp>
      <p:sp>
        <p:nvSpPr>
          <p:cNvPr id="1719" name="Google Shape;1719;p26"/>
          <p:cNvSpPr/>
          <p:nvPr/>
        </p:nvSpPr>
        <p:spPr>
          <a:xfrm>
            <a:off x="13729765"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H10</a:t>
            </a:r>
            <a:endParaRPr sz="1432"/>
          </a:p>
        </p:txBody>
      </p:sp>
      <p:sp>
        <p:nvSpPr>
          <p:cNvPr id="1721" name="Google Shape;1721;p26"/>
          <p:cNvSpPr/>
          <p:nvPr/>
        </p:nvSpPr>
        <p:spPr>
          <a:xfrm>
            <a:off x="1430282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H11</a:t>
            </a:r>
            <a:endParaRPr sz="1432"/>
          </a:p>
        </p:txBody>
      </p:sp>
      <p:sp>
        <p:nvSpPr>
          <p:cNvPr id="1723" name="Google Shape;1723;p26"/>
          <p:cNvSpPr/>
          <p:nvPr/>
        </p:nvSpPr>
        <p:spPr>
          <a:xfrm>
            <a:off x="15448934"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H12</a:t>
            </a:r>
            <a:endParaRPr sz="1432"/>
          </a:p>
        </p:txBody>
      </p:sp>
      <p:sp>
        <p:nvSpPr>
          <p:cNvPr id="1725" name="Google Shape;1725;p26"/>
          <p:cNvSpPr/>
          <p:nvPr/>
        </p:nvSpPr>
        <p:spPr>
          <a:xfrm>
            <a:off x="4523436"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6" name="Google Shape;1726;p26"/>
          <p:cNvSpPr/>
          <p:nvPr/>
        </p:nvSpPr>
        <p:spPr>
          <a:xfrm>
            <a:off x="5669549"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7" name="Google Shape;1727;p26"/>
          <p:cNvSpPr/>
          <p:nvPr/>
        </p:nvSpPr>
        <p:spPr>
          <a:xfrm>
            <a:off x="6815662"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8" name="Google Shape;1728;p26"/>
          <p:cNvSpPr/>
          <p:nvPr/>
        </p:nvSpPr>
        <p:spPr>
          <a:xfrm>
            <a:off x="796177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2</a:t>
            </a:r>
            <a:endParaRPr sz="1432"/>
          </a:p>
        </p:txBody>
      </p:sp>
      <p:sp>
        <p:nvSpPr>
          <p:cNvPr id="1729" name="Google Shape;1729;p26"/>
          <p:cNvSpPr/>
          <p:nvPr/>
        </p:nvSpPr>
        <p:spPr>
          <a:xfrm>
            <a:off x="968094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4</a:t>
            </a:r>
            <a:endParaRPr sz="1432"/>
          </a:p>
        </p:txBody>
      </p:sp>
      <p:sp>
        <p:nvSpPr>
          <p:cNvPr id="1730" name="Google Shape;1730;p26"/>
          <p:cNvSpPr/>
          <p:nvPr/>
        </p:nvSpPr>
        <p:spPr>
          <a:xfrm>
            <a:off x="10254001"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31" name="Google Shape;1731;p26"/>
          <p:cNvSpPr txBox="1"/>
          <p:nvPr/>
        </p:nvSpPr>
        <p:spPr>
          <a:xfrm>
            <a:off x="3813547" y="8426567"/>
            <a:ext cx="110400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 m2 R-001 · m4 R-014 · m6 R-006 · m8 R-005, R-011 · m11 R-003, R-013, R-015, R-016 · m12 R-012</a:t>
            </a:r>
            <a:endParaRPr sz="1432"/>
          </a:p>
        </p:txBody>
      </p:sp>
      <p:sp>
        <p:nvSpPr>
          <p:cNvPr id="17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Esfuerzo por mes</a:t>
            </a:r>
            <a:endParaRPr/>
          </a:p>
        </p:txBody>
      </p:sp>
      <p:sp>
        <p:nvSpPr>
          <p:cNvPr id="1741" name="!!brand"/>
          <p:cNvSpPr txBox="1"/>
          <p:nvPr/>
        </p:nvSpPr>
        <p:spPr>
          <a:xfrm>
            <a:off x="13217409" y="1000125"/>
            <a:ext cx="3328659"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1742" name="!!logo"/>
          <p:cNvPicPr preferRelativeResize="0"/>
          <p:nvPr/>
        </p:nvPicPr>
        <p:blipFill rotWithShape="1">
          <a:blip r:embed="rId3">
            <a:alphaModFix/>
          </a:blip>
          <a:srcRect b="0" l="0" r="0" t="0"/>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8.106 HH</a:t>
            </a:r>
            <a:endParaRPr/>
          </a:p>
        </p:txBody>
      </p:sp>
      <p:sp>
        <p:nvSpPr>
          <p:cNvPr id="1744" name="Google Shape;1744;p27"/>
          <p:cNvSpPr txBox="1"/>
          <p:nvPr/>
        </p:nvSpPr>
        <p:spPr>
          <a:xfrm>
            <a:off x="9390888" y="4389120"/>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máximo mensual · mes 15</a:t>
            </a:r>
            <a:endParaRPr/>
          </a:p>
        </p:txBody>
      </p:sp>
      <p:sp>
        <p:nvSpPr>
          <p:cNvPr id="1745" name="Google Shape;1745;p27"/>
          <p:cNvSpPr txBox="1"/>
          <p:nvPr/>
        </p:nvSpPr>
        <p:spPr>
          <a:xfrm>
            <a:off x="9390888" y="4956048"/>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69 personas</a:t>
            </a:r>
            <a:endParaRPr/>
          </a:p>
        </p:txBody>
      </p:sp>
      <p:sp>
        <p:nvSpPr>
          <p:cNvPr id="1746" name="Google Shape;1746;p27"/>
          <p:cNvSpPr txBox="1"/>
          <p:nvPr/>
        </p:nvSpPr>
        <p:spPr>
          <a:xfrm>
            <a:off x="9390888" y="5504688"/>
            <a:ext cx="53035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equivalentes · peak del mes 15</a:t>
            </a:r>
            <a:endParaRPr b="0" sz="1700">
              <a:solidFill>
                <a:srgbClr val="606060"/>
              </a:solidFill>
              <a:latin typeface="Inter"/>
              <a:ea typeface="Inter"/>
              <a:cs typeface="Inter"/>
              <a:sym typeface="Inter"/>
            </a:endParaRPr>
          </a:p>
        </p:txBody>
      </p:sp>
      <p:sp>
        <p:nvSpPr>
          <p:cNvPr id="1747" name="Google Shape;1747;p27"/>
          <p:cNvSpPr txBox="1"/>
          <p:nvPr/>
        </p:nvSpPr>
        <p:spPr>
          <a:xfrm>
            <a:off x="9390888" y="6071616"/>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≈3.200–3.900</a:t>
            </a:r>
            <a:endParaRPr/>
          </a:p>
        </p:txBody>
      </p:sp>
      <p:sp>
        <p:nvSpPr>
          <p:cNvPr id="1748" name="Google Shape;1748;p27"/>
          <p:cNvSpPr txBox="1"/>
          <p:nvPr/>
        </p:nvSpPr>
        <p:spPr>
          <a:xfrm>
            <a:off x="9390888" y="6620256"/>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HH/mes en operación</a:t>
            </a:r>
            <a:endParaRPr/>
          </a:p>
        </p:txBody>
      </p:sp>
      <p:sp>
        <p:nvSpPr>
          <p:cNvPr id="1749" name="Google Shape;1749;p27"/>
          <p:cNvSpPr txBox="1"/>
          <p:nvPr/>
        </p:nvSpPr>
        <p:spPr>
          <a:xfrm>
            <a:off x="9390888" y="7187184"/>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217.543 HH</a:t>
            </a:r>
            <a:endParaRPr/>
          </a:p>
        </p:txBody>
      </p:sp>
      <p:sp>
        <p:nvSpPr>
          <p:cNvPr id="1750" name="Google Shape;1750;p27"/>
          <p:cNvSpPr txBox="1"/>
          <p:nvPr/>
        </p:nvSpPr>
        <p:spPr>
          <a:xfrm>
            <a:off x="9390888" y="7735824"/>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programadas en total</a:t>
            </a:r>
            <a:endParaRPr/>
          </a:p>
        </p:txBody>
      </p:sp>
      <p:graphicFrame>
        <p:nvGraphicFramePr>
          <p:cNvPr id="1751" name="Google Shape;1751;p27"/>
          <p:cNvGraphicFramePr/>
          <p:nvPr/>
        </p:nvGraphicFramePr>
        <p:xfrm>
          <a:off x="457200" y="1188720"/>
          <a:ext cx="8686800" cy="7863840"/>
        </p:xfrm>
        <a:graphic>
          <a:graphicData uri="http://schemas.openxmlformats.org/drawingml/2006/chart">
            <c:chart r:id="rId4"/>
          </a:graphicData>
        </a:graphic>
      </p:graphicFrame>
      <p:sp>
        <p:nvSpPr>
          <p:cNvPr id="175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772" name="!!title"/>
          <p:cNvSpPr txBox="1"/>
          <p:nvPr/>
        </p:nvSpPr>
        <p:spPr>
          <a:xfrm>
            <a:off x="777294" y="987549"/>
            <a:ext cx="7589400" cy="1440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RBS: de dónde vienen los riesgos</a:t>
            </a:r>
            <a:endParaRPr/>
          </a:p>
        </p:txBody>
      </p:sp>
      <p:sp>
        <p:nvSpPr>
          <p:cNvPr id="1773" name="Google Shape;1773;hc7cc306779174be_6_2"/>
          <p:cNvSpPr txBox="1"/>
          <p:nvPr/>
        </p:nvSpPr>
        <p:spPr>
          <a:xfrm>
            <a:off x="1435608" y="4846320"/>
            <a:ext cx="7589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400">
                <a:solidFill>
                  <a:srgbClr val="3C3C3C"/>
                </a:solidFill>
                <a:latin typeface="Inter"/>
                <a:ea typeface="Inter"/>
                <a:cs typeface="Inter"/>
                <a:sym typeface="Inter"/>
              </a:rPr>
              <a:t>7 ramas · 45 riesgos · ISO 31000</a:t>
            </a:r>
            <a:endParaRPr/>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2 críticos · 23 altos · 19 medios · 1 bajo</a:t>
            </a:r>
            <a:endParaRPr/>
          </a:p>
        </p:txBody>
      </p:sp>
      <p:sp>
        <p:nvSpPr>
          <p:cNvPr id="1779" name="Google Shape;1779;hc7cc306779174be_6_2"/>
          <p:cNvSpPr/>
          <p:nvPr/>
        </p:nvSpPr>
        <p:spPr>
          <a:xfrm>
            <a:off x="9326880" y="914400"/>
            <a:ext cx="1737300" cy="7370100"/>
          </a:xfrm>
          <a:prstGeom prst="roundRect">
            <a:avLst>
              <a:gd fmla="val 8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4400">
                <a:solidFill>
                  <a:srgbClr val="FFFFFF"/>
                </a:solidFill>
                <a:latin typeface="Inter SemiBold"/>
                <a:ea typeface="Inter SemiBold"/>
                <a:cs typeface="Inter SemiBold"/>
                <a:sym typeface="Inter SemiBold"/>
              </a:rPr>
              <a:t>45</a:t>
            </a:r>
            <a:endParaRPr/>
          </a:p>
          <a:p>
            <a:pPr indent="0" lvl="0" marL="0" marR="0" rtl="0" algn="ctr">
              <a:spcBef>
                <a:spcPts val="0"/>
              </a:spcBef>
              <a:spcAft>
                <a:spcPts val="0"/>
              </a:spcAft>
              <a:buNone/>
            </a:pPr>
            <a:r>
              <a:rPr b="0" lang="en-US" sz="1700">
                <a:solidFill>
                  <a:srgbClr val="C7C7C7"/>
                </a:solidFill>
                <a:latin typeface="Inter"/>
                <a:ea typeface="Inter"/>
                <a:cs typeface="Inter"/>
                <a:sym typeface="Inter"/>
              </a:rPr>
              <a:t>riesgos</a:t>
            </a:r>
            <a:endParaRPr/>
          </a:p>
        </p:txBody>
      </p:sp>
      <p:cxnSp>
        <p:nvCxnSpPr>
          <p:cNvPr id="1780" name="Google Shape;1780;hc7cc306779174be_6_2"/>
          <p:cNvCxnSpPr/>
          <p:nvPr/>
        </p:nvCxnSpPr>
        <p:spPr>
          <a:xfrm>
            <a:off x="11064240" y="136245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1" name="Google Shape;1781;hc7cc306779174be_6_2"/>
          <p:cNvSpPr/>
          <p:nvPr/>
        </p:nvSpPr>
        <p:spPr>
          <a:xfrm>
            <a:off x="11430000" y="914400"/>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14</a:t>
            </a:r>
            <a:endParaRPr/>
          </a:p>
        </p:txBody>
      </p:sp>
      <p:sp>
        <p:nvSpPr>
          <p:cNvPr id="1783" name="Google Shape;1783;hc7cc306779174be_6_2"/>
          <p:cNvSpPr txBox="1"/>
          <p:nvPr/>
        </p:nvSpPr>
        <p:spPr>
          <a:xfrm>
            <a:off x="12390120" y="98755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1 · Solución y tecnología</a:t>
            </a:r>
            <a:endParaRPr/>
          </a:p>
        </p:txBody>
      </p:sp>
      <p:sp>
        <p:nvSpPr>
          <p:cNvPr id="1784" name="Google Shape;1784;hc7cc306779174be_6_2"/>
          <p:cNvSpPr txBox="1"/>
          <p:nvPr/>
        </p:nvSpPr>
        <p:spPr>
          <a:xfrm>
            <a:off x="12390120" y="138988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R-012 Retiro · R-015 RTO/RPO</a:t>
            </a:r>
            <a:endParaRPr/>
          </a:p>
        </p:txBody>
      </p:sp>
      <p:cxnSp>
        <p:nvCxnSpPr>
          <p:cNvPr id="1785" name="Google Shape;1785;hc7cc306779174be_6_2"/>
          <p:cNvCxnSpPr/>
          <p:nvPr/>
        </p:nvCxnSpPr>
        <p:spPr>
          <a:xfrm>
            <a:off x="11064240" y="244144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6" name="Google Shape;1786;hc7cc306779174be_6_2"/>
          <p:cNvSpPr/>
          <p:nvPr/>
        </p:nvSpPr>
        <p:spPr>
          <a:xfrm>
            <a:off x="11430000" y="1993391"/>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88" name="Google Shape;1788;hc7cc306779174be_6_2"/>
          <p:cNvSpPr txBox="1"/>
          <p:nvPr/>
        </p:nvSpPr>
        <p:spPr>
          <a:xfrm>
            <a:off x="12390120" y="2066543"/>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2 · Integración y legado</a:t>
            </a:r>
            <a:endParaRPr/>
          </a:p>
        </p:txBody>
      </p:sp>
      <p:sp>
        <p:nvSpPr>
          <p:cNvPr id="1789" name="Google Shape;1789;hc7cc306779174be_6_2"/>
          <p:cNvSpPr txBox="1"/>
          <p:nvPr/>
        </p:nvSpPr>
        <p:spPr>
          <a:xfrm>
            <a:off x="12390120" y="2468879"/>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R-001 Interfaces ERP · R-003 WMS</a:t>
            </a:r>
            <a:endParaRPr/>
          </a:p>
        </p:txBody>
      </p:sp>
      <p:cxnSp>
        <p:nvCxnSpPr>
          <p:cNvPr id="1790" name="Google Shape;1790;hc7cc306779174be_6_2"/>
          <p:cNvCxnSpPr/>
          <p:nvPr/>
        </p:nvCxnSpPr>
        <p:spPr>
          <a:xfrm>
            <a:off x="11064240" y="3520439"/>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1" name="Google Shape;1791;hc7cc306779174be_6_2"/>
          <p:cNvSpPr/>
          <p:nvPr/>
        </p:nvSpPr>
        <p:spPr>
          <a:xfrm>
            <a:off x="11430000" y="3072384"/>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8</a:t>
            </a:r>
            <a:endParaRPr/>
          </a:p>
        </p:txBody>
      </p:sp>
      <p:sp>
        <p:nvSpPr>
          <p:cNvPr id="1793" name="Google Shape;1793;hc7cc306779174be_6_2"/>
          <p:cNvSpPr txBox="1"/>
          <p:nvPr/>
        </p:nvSpPr>
        <p:spPr>
          <a:xfrm>
            <a:off x="12390120" y="3145536"/>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3 · Operación del cliente</a:t>
            </a:r>
            <a:endParaRPr/>
          </a:p>
        </p:txBody>
      </p:sp>
      <p:sp>
        <p:nvSpPr>
          <p:cNvPr id="1794" name="Google Shape;1794;hc7cc306779174be_6_2"/>
          <p:cNvSpPr txBox="1"/>
          <p:nvPr/>
        </p:nvSpPr>
        <p:spPr>
          <a:xfrm>
            <a:off x="12390120" y="3547872"/>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R-006 Enlaces · R-014 Sala y energía</a:t>
            </a:r>
            <a:endParaRPr/>
          </a:p>
        </p:txBody>
      </p:sp>
      <p:cxnSp>
        <p:nvCxnSpPr>
          <p:cNvPr id="1795" name="Google Shape;1795;hc7cc306779174be_6_2"/>
          <p:cNvCxnSpPr/>
          <p:nvPr/>
        </p:nvCxnSpPr>
        <p:spPr>
          <a:xfrm>
            <a:off x="11064240" y="4599432"/>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6" name="Google Shape;1796;hc7cc306779174be_6_2"/>
          <p:cNvSpPr/>
          <p:nvPr/>
        </p:nvSpPr>
        <p:spPr>
          <a:xfrm>
            <a:off x="11430000" y="4151376"/>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98" name="Google Shape;1798;hc7cc306779174be_6_2"/>
          <p:cNvSpPr txBox="1"/>
          <p:nvPr/>
        </p:nvSpPr>
        <p:spPr>
          <a:xfrm>
            <a:off x="12390120" y="4224528"/>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4 · Personas y adopción</a:t>
            </a:r>
            <a:endParaRPr/>
          </a:p>
        </p:txBody>
      </p:sp>
      <p:sp>
        <p:nvSpPr>
          <p:cNvPr id="1799" name="Google Shape;1799;hc7cc306779174be_6_2"/>
          <p:cNvSpPr txBox="1"/>
          <p:nvPr/>
        </p:nvSpPr>
        <p:spPr>
          <a:xfrm>
            <a:off x="12390120" y="4626864"/>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R-017 Sindicato · R-021 Rutas</a:t>
            </a:r>
            <a:endParaRPr/>
          </a:p>
        </p:txBody>
      </p:sp>
      <p:cxnSp>
        <p:nvCxnSpPr>
          <p:cNvPr id="1800" name="Google Shape;1800;hc7cc306779174be_6_2"/>
          <p:cNvCxnSpPr/>
          <p:nvPr/>
        </p:nvCxnSpPr>
        <p:spPr>
          <a:xfrm>
            <a:off x="11064240" y="5678424"/>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1" name="Google Shape;1801;hc7cc306779174be_6_2"/>
          <p:cNvSpPr/>
          <p:nvPr/>
        </p:nvSpPr>
        <p:spPr>
          <a:xfrm>
            <a:off x="11430000" y="5230368"/>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4</a:t>
            </a:r>
            <a:endParaRPr/>
          </a:p>
        </p:txBody>
      </p:sp>
      <p:sp>
        <p:nvSpPr>
          <p:cNvPr id="1803" name="Google Shape;1803;hc7cc306779174be_6_2"/>
          <p:cNvSpPr txBox="1"/>
          <p:nvPr/>
        </p:nvSpPr>
        <p:spPr>
          <a:xfrm>
            <a:off x="12390120" y="5303520"/>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5 · Contrato y licitación</a:t>
            </a:r>
            <a:endParaRPr/>
          </a:p>
        </p:txBody>
      </p:sp>
      <p:sp>
        <p:nvSpPr>
          <p:cNvPr id="1804" name="Google Shape;1804;hc7cc306779174be_6_2"/>
          <p:cNvSpPr txBox="1"/>
          <p:nvPr/>
        </p:nvSpPr>
        <p:spPr>
          <a:xfrm>
            <a:off x="12390120" y="5705856"/>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R-026 Aceptación · R-027 Alcance</a:t>
            </a:r>
            <a:endParaRPr/>
          </a:p>
        </p:txBody>
      </p:sp>
      <p:cxnSp>
        <p:nvCxnSpPr>
          <p:cNvPr id="1805" name="Google Shape;1805;hc7cc306779174be_6_2"/>
          <p:cNvCxnSpPr/>
          <p:nvPr/>
        </p:nvCxnSpPr>
        <p:spPr>
          <a:xfrm>
            <a:off x="11064240" y="675741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6" name="Google Shape;1806;hc7cc306779174be_6_2"/>
          <p:cNvSpPr/>
          <p:nvPr/>
        </p:nvSpPr>
        <p:spPr>
          <a:xfrm>
            <a:off x="11430000" y="6309359"/>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2</a:t>
            </a:r>
            <a:endParaRPr/>
          </a:p>
        </p:txBody>
      </p:sp>
      <p:sp>
        <p:nvSpPr>
          <p:cNvPr id="1808" name="Google Shape;1808;hc7cc306779174be_6_2"/>
          <p:cNvSpPr txBox="1"/>
          <p:nvPr/>
        </p:nvSpPr>
        <p:spPr>
          <a:xfrm>
            <a:off x="12390120" y="638251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6 · Regulatorio y externo</a:t>
            </a:r>
            <a:endParaRPr/>
          </a:p>
        </p:txBody>
      </p:sp>
      <p:sp>
        <p:nvSpPr>
          <p:cNvPr id="1809" name="Google Shape;1809;hc7cc306779174be_6_2"/>
          <p:cNvSpPr txBox="1"/>
          <p:nvPr/>
        </p:nvSpPr>
        <p:spPr>
          <a:xfrm>
            <a:off x="12390120" y="678484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R-029 Evidencia · R-042 Normativa</a:t>
            </a:r>
            <a:endParaRPr/>
          </a:p>
        </p:txBody>
      </p:sp>
      <p:cxnSp>
        <p:nvCxnSpPr>
          <p:cNvPr id="1810" name="Google Shape;1810;hc7cc306779174be_6_2"/>
          <p:cNvCxnSpPr/>
          <p:nvPr/>
        </p:nvCxnSpPr>
        <p:spPr>
          <a:xfrm>
            <a:off x="11064240" y="783640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11" name="Google Shape;1811;hc7cc306779174be_6_2"/>
          <p:cNvSpPr/>
          <p:nvPr/>
        </p:nvSpPr>
        <p:spPr>
          <a:xfrm>
            <a:off x="11430000" y="7388352"/>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3</a:t>
            </a:r>
            <a:endParaRPr/>
          </a:p>
        </p:txBody>
      </p:sp>
      <p:sp>
        <p:nvSpPr>
          <p:cNvPr id="1813" name="Google Shape;1813;hc7cc306779174be_6_2"/>
          <p:cNvSpPr txBox="1"/>
          <p:nvPr/>
        </p:nvSpPr>
        <p:spPr>
          <a:xfrm>
            <a:off x="12390120" y="7461504"/>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7 · Empresa proveedora</a:t>
            </a:r>
            <a:endParaRPr/>
          </a:p>
        </p:txBody>
      </p:sp>
      <p:sp>
        <p:nvSpPr>
          <p:cNvPr id="1814" name="Google Shape;1814;hc7cc306779174be_6_2"/>
          <p:cNvSpPr txBox="1"/>
          <p:nvPr/>
        </p:nvSpPr>
        <p:spPr>
          <a:xfrm>
            <a:off x="12390120" y="7863840"/>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R-025 Dotación · R-034 Mesa y NOC</a:t>
            </a:r>
            <a:endParaRPr/>
          </a:p>
        </p:txBody>
      </p:sp>
      <p:sp>
        <p:nvSpPr>
          <p:cNvPr id="18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8"/>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1764"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1766" name="Connector 1765"/>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1</a:t>
            </a:r>
          </a:p>
          <a:p>
            <a:pPr algn="l"/>
            <a:r>
              <a:rPr sz="1500" b="1">
                <a:solidFill>
                  <a:srgbClr val="111111"/>
                </a:solidFill>
                <a:latin typeface="Inter SemiBold"/>
              </a:rPr>
              <a:t>Solución y tecnología</a:t>
            </a:r>
          </a:p>
        </p:txBody>
      </p:sp>
      <p:sp>
        <p:nvSpPr>
          <p:cNvPr id="1770"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14 riesgos</a:t>
            </a:r>
          </a:p>
        </p:txBody>
      </p:sp>
      <p:sp>
        <p:nvSpPr>
          <p:cNvPr id="1771" name="Oval 1770"/>
          <p:cNvSpPr/>
          <p:nvPr/>
        </p:nvSpPr>
        <p:spPr>
          <a:xfrm>
            <a:off x="96012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2" name="Oval 1771"/>
          <p:cNvSpPr/>
          <p:nvPr/>
        </p:nvSpPr>
        <p:spPr>
          <a:xfrm>
            <a:off x="1252728"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3" name="Oval 1772"/>
          <p:cNvSpPr/>
          <p:nvPr/>
        </p:nvSpPr>
        <p:spPr>
          <a:xfrm>
            <a:off x="154533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4" name="Oval 1773"/>
          <p:cNvSpPr/>
          <p:nvPr/>
        </p:nvSpPr>
        <p:spPr>
          <a:xfrm>
            <a:off x="183794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5" name="Oval 1774"/>
          <p:cNvSpPr/>
          <p:nvPr/>
        </p:nvSpPr>
        <p:spPr>
          <a:xfrm>
            <a:off x="213055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6" name="Oval 1775"/>
          <p:cNvSpPr/>
          <p:nvPr/>
        </p:nvSpPr>
        <p:spPr>
          <a:xfrm>
            <a:off x="242316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7" name="Oval 1776"/>
          <p:cNvSpPr/>
          <p:nvPr/>
        </p:nvSpPr>
        <p:spPr>
          <a:xfrm>
            <a:off x="2715768" y="46177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8" name="Oval 1777"/>
          <p:cNvSpPr/>
          <p:nvPr/>
        </p:nvSpPr>
        <p:spPr>
          <a:xfrm>
            <a:off x="960120"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9" name="Oval 1778"/>
          <p:cNvSpPr/>
          <p:nvPr/>
        </p:nvSpPr>
        <p:spPr>
          <a:xfrm>
            <a:off x="1252728" y="49103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0" name="Oval 1779"/>
          <p:cNvSpPr/>
          <p:nvPr/>
        </p:nvSpPr>
        <p:spPr>
          <a:xfrm>
            <a:off x="1545336"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1" name="Oval 1780"/>
          <p:cNvSpPr/>
          <p:nvPr/>
        </p:nvSpPr>
        <p:spPr>
          <a:xfrm>
            <a:off x="1837943"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2" name="Oval 1781"/>
          <p:cNvSpPr/>
          <p:nvPr/>
        </p:nvSpPr>
        <p:spPr>
          <a:xfrm>
            <a:off x="2130552"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3" name="Oval 1782"/>
          <p:cNvSpPr/>
          <p:nvPr/>
        </p:nvSpPr>
        <p:spPr>
          <a:xfrm>
            <a:off x="2423160"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4" name="Oval 1783"/>
          <p:cNvSpPr/>
          <p:nvPr/>
        </p:nvSpPr>
        <p:spPr>
          <a:xfrm>
            <a:off x="2715768"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85" name="Connector 1784"/>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2</a:t>
            </a:r>
          </a:p>
          <a:p>
            <a:pPr algn="l"/>
            <a:r>
              <a:rPr sz="1500" b="1">
                <a:solidFill>
                  <a:srgbClr val="111111"/>
                </a:solidFill>
                <a:latin typeface="Inter SemiBold"/>
              </a:rPr>
              <a:t>Integración y legado</a:t>
            </a:r>
          </a:p>
        </p:txBody>
      </p:sp>
      <p:sp>
        <p:nvSpPr>
          <p:cNvPr id="1787"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788" name="Oval 1787"/>
          <p:cNvSpPr/>
          <p:nvPr/>
        </p:nvSpPr>
        <p:spPr>
          <a:xfrm>
            <a:off x="335715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9" name="Oval 1788"/>
          <p:cNvSpPr/>
          <p:nvPr/>
        </p:nvSpPr>
        <p:spPr>
          <a:xfrm>
            <a:off x="3649762"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0" name="Oval 1789"/>
          <p:cNvSpPr/>
          <p:nvPr/>
        </p:nvSpPr>
        <p:spPr>
          <a:xfrm>
            <a:off x="394237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1" name="Oval 1790"/>
          <p:cNvSpPr/>
          <p:nvPr/>
        </p:nvSpPr>
        <p:spPr>
          <a:xfrm>
            <a:off x="423497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2" name="Oval 1791"/>
          <p:cNvSpPr/>
          <p:nvPr/>
        </p:nvSpPr>
        <p:spPr>
          <a:xfrm>
            <a:off x="452758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3" name="Oval 1792"/>
          <p:cNvSpPr/>
          <p:nvPr/>
        </p:nvSpPr>
        <p:spPr>
          <a:xfrm>
            <a:off x="4820194"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4" name="Oval 1793"/>
          <p:cNvSpPr/>
          <p:nvPr/>
        </p:nvSpPr>
        <p:spPr>
          <a:xfrm>
            <a:off x="511280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95" name="Connector 1794"/>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3</a:t>
            </a:r>
          </a:p>
          <a:p>
            <a:pPr algn="l"/>
            <a:r>
              <a:rPr sz="1500" b="1">
                <a:solidFill>
                  <a:srgbClr val="111111"/>
                </a:solidFill>
                <a:latin typeface="Inter SemiBold"/>
              </a:rPr>
              <a:t>Operación del cliente</a:t>
            </a:r>
          </a:p>
        </p:txBody>
      </p:sp>
      <p:sp>
        <p:nvSpPr>
          <p:cNvPr id="1797"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8 riesgos</a:t>
            </a:r>
          </a:p>
        </p:txBody>
      </p:sp>
      <p:sp>
        <p:nvSpPr>
          <p:cNvPr id="1798" name="Oval 1797"/>
          <p:cNvSpPr/>
          <p:nvPr/>
        </p:nvSpPr>
        <p:spPr>
          <a:xfrm>
            <a:off x="575418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9" name="Oval 1798"/>
          <p:cNvSpPr/>
          <p:nvPr/>
        </p:nvSpPr>
        <p:spPr>
          <a:xfrm>
            <a:off x="6046796"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0" name="Oval 1799"/>
          <p:cNvSpPr/>
          <p:nvPr/>
        </p:nvSpPr>
        <p:spPr>
          <a:xfrm>
            <a:off x="633940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1" name="Oval 1800"/>
          <p:cNvSpPr/>
          <p:nvPr/>
        </p:nvSpPr>
        <p:spPr>
          <a:xfrm>
            <a:off x="663201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2" name="Oval 1801"/>
          <p:cNvSpPr/>
          <p:nvPr/>
        </p:nvSpPr>
        <p:spPr>
          <a:xfrm>
            <a:off x="6924620"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3" name="Oval 1802"/>
          <p:cNvSpPr/>
          <p:nvPr/>
        </p:nvSpPr>
        <p:spPr>
          <a:xfrm>
            <a:off x="721722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4" name="Oval 1803"/>
          <p:cNvSpPr/>
          <p:nvPr/>
        </p:nvSpPr>
        <p:spPr>
          <a:xfrm>
            <a:off x="750983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5" name="Oval 1804"/>
          <p:cNvSpPr/>
          <p:nvPr/>
        </p:nvSpPr>
        <p:spPr>
          <a:xfrm>
            <a:off x="5754188" y="49103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06" name="Connector 1805"/>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4</a:t>
            </a:r>
          </a:p>
          <a:p>
            <a:pPr algn="l"/>
            <a:r>
              <a:rPr sz="1500" b="1">
                <a:solidFill>
                  <a:srgbClr val="111111"/>
                </a:solidFill>
                <a:latin typeface="Inter SemiBold"/>
              </a:rPr>
              <a:t>Personas y adopción</a:t>
            </a:r>
          </a:p>
        </p:txBody>
      </p:sp>
      <p:sp>
        <p:nvSpPr>
          <p:cNvPr id="1808"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809" name="Oval 1808"/>
          <p:cNvSpPr/>
          <p:nvPr/>
        </p:nvSpPr>
        <p:spPr>
          <a:xfrm>
            <a:off x="815122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0" name="Oval 1809"/>
          <p:cNvSpPr/>
          <p:nvPr/>
        </p:nvSpPr>
        <p:spPr>
          <a:xfrm>
            <a:off x="844383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1" name="Oval 1810"/>
          <p:cNvSpPr/>
          <p:nvPr/>
        </p:nvSpPr>
        <p:spPr>
          <a:xfrm>
            <a:off x="8736438"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2" name="Oval 1811"/>
          <p:cNvSpPr/>
          <p:nvPr/>
        </p:nvSpPr>
        <p:spPr>
          <a:xfrm>
            <a:off x="902904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3" name="Oval 1812"/>
          <p:cNvSpPr/>
          <p:nvPr/>
        </p:nvSpPr>
        <p:spPr>
          <a:xfrm>
            <a:off x="932165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4" name="Oval 1813"/>
          <p:cNvSpPr/>
          <p:nvPr/>
        </p:nvSpPr>
        <p:spPr>
          <a:xfrm>
            <a:off x="9614262"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5" name="Oval 1814"/>
          <p:cNvSpPr/>
          <p:nvPr/>
        </p:nvSpPr>
        <p:spPr>
          <a:xfrm>
            <a:off x="9906870"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16" name="Connector 1815"/>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5</a:t>
            </a:r>
          </a:p>
          <a:p>
            <a:pPr algn="l"/>
            <a:r>
              <a:rPr sz="1500" b="1">
                <a:solidFill>
                  <a:srgbClr val="111111"/>
                </a:solidFill>
                <a:latin typeface="Inter SemiBold"/>
              </a:rPr>
              <a:t>Contrato y licitación</a:t>
            </a:r>
          </a:p>
        </p:txBody>
      </p:sp>
      <p:sp>
        <p:nvSpPr>
          <p:cNvPr id="1818"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4 riesgos</a:t>
            </a:r>
          </a:p>
        </p:txBody>
      </p:sp>
      <p:sp>
        <p:nvSpPr>
          <p:cNvPr id="1819" name="Oval 1818"/>
          <p:cNvSpPr/>
          <p:nvPr/>
        </p:nvSpPr>
        <p:spPr>
          <a:xfrm>
            <a:off x="10548257"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0" name="Oval 1819"/>
          <p:cNvSpPr/>
          <p:nvPr/>
        </p:nvSpPr>
        <p:spPr>
          <a:xfrm>
            <a:off x="10840865"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1" name="Oval 1820"/>
          <p:cNvSpPr/>
          <p:nvPr/>
        </p:nvSpPr>
        <p:spPr>
          <a:xfrm>
            <a:off x="1113347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2" name="Oval 1821"/>
          <p:cNvSpPr/>
          <p:nvPr/>
        </p:nvSpPr>
        <p:spPr>
          <a:xfrm>
            <a:off x="11426081"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3" name="Connector 1822"/>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6</a:t>
            </a:r>
          </a:p>
          <a:p>
            <a:pPr algn="l"/>
            <a:r>
              <a:rPr sz="1500" b="1">
                <a:solidFill>
                  <a:srgbClr val="111111"/>
                </a:solidFill>
                <a:latin typeface="Inter SemiBold"/>
              </a:rPr>
              <a:t>Regulatorio y externo</a:t>
            </a:r>
          </a:p>
        </p:txBody>
      </p:sp>
      <p:sp>
        <p:nvSpPr>
          <p:cNvPr id="1825"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2 riesgos</a:t>
            </a:r>
          </a:p>
        </p:txBody>
      </p:sp>
      <p:sp>
        <p:nvSpPr>
          <p:cNvPr id="1826" name="Oval 1825"/>
          <p:cNvSpPr/>
          <p:nvPr/>
        </p:nvSpPr>
        <p:spPr>
          <a:xfrm>
            <a:off x="12945291"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7" name="Oval 1826"/>
          <p:cNvSpPr/>
          <p:nvPr/>
        </p:nvSpPr>
        <p:spPr>
          <a:xfrm>
            <a:off x="13237899"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8" name="Connector 1827"/>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7</a:t>
            </a:r>
          </a:p>
          <a:p>
            <a:pPr algn="l"/>
            <a:r>
              <a:rPr sz="1500" b="1">
                <a:solidFill>
                  <a:srgbClr val="111111"/>
                </a:solidFill>
                <a:latin typeface="Inter SemiBold"/>
              </a:rPr>
              <a:t>Empresa proveedora</a:t>
            </a:r>
          </a:p>
        </p:txBody>
      </p:sp>
      <p:sp>
        <p:nvSpPr>
          <p:cNvPr id="1830"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3 riesgos</a:t>
            </a:r>
          </a:p>
        </p:txBody>
      </p:sp>
      <p:sp>
        <p:nvSpPr>
          <p:cNvPr id="1831" name="Oval 1830"/>
          <p:cNvSpPr/>
          <p:nvPr/>
        </p:nvSpPr>
        <p:spPr>
          <a:xfrm>
            <a:off x="15342325"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2" name="Oval 1831"/>
          <p:cNvSpPr/>
          <p:nvPr/>
        </p:nvSpPr>
        <p:spPr>
          <a:xfrm>
            <a:off x="1563493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3" name="Oval 1832"/>
          <p:cNvSpPr/>
          <p:nvPr/>
        </p:nvSpPr>
        <p:spPr>
          <a:xfrm>
            <a:off x="15927541"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4" name="TextBox 1833"/>
          <p:cNvSpPr txBox="1"/>
          <p:nvPr/>
        </p:nvSpPr>
        <p:spPr>
          <a:xfrm>
            <a:off x="822960" y="5715000"/>
            <a:ext cx="16642080" cy="365760"/>
          </a:xfrm>
          <a:prstGeom prst="rect">
            <a:avLst/>
          </a:prstGeom>
          <a:noFill/>
        </p:spPr>
        <p:txBody>
          <a:bodyPr wrap="square" lIns="0" rIns="0" tIns="0" bIns="0" anchor="t">
            <a:spAutoFit/>
          </a:bodyPr>
          <a:lstStyle/>
          <a:p>
            <a:pPr algn="ctr"/>
            <a:r>
              <a:rPr sz="1400" b="0">
                <a:solidFill>
                  <a:srgbClr val="606060"/>
                </a:solidFill>
                <a:latin typeface="Inter"/>
              </a:rPr>
              <a:t>Cada punto es un riesgo, coloreado por zona</a:t>
            </a:r>
          </a:p>
        </p:txBody>
      </p:sp>
      <p:sp>
        <p:nvSpPr>
          <p:cNvPr id="1835" name="Rounded Rectangle 1834"/>
          <p:cNvSpPr/>
          <p:nvPr/>
        </p:nvSpPr>
        <p:spPr>
          <a:xfrm>
            <a:off x="3291840" y="65836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400" b="1">
                <a:solidFill>
                  <a:srgbClr val="111111"/>
                </a:solidFill>
                <a:latin typeface="Inter SemiBold"/>
              </a:rPr>
              <a:t>7 ramas · 45 riesgos</a:t>
            </a:r>
          </a:p>
          <a:p>
            <a:pPr algn="ctr"/>
            <a:r>
              <a:rPr sz="1500" b="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1</a:t>
            </a:r>
          </a:p>
          <a:p>
            <a:pPr algn="l"/>
            <a:r>
              <a:rPr sz="1700" b="1">
                <a:solidFill>
                  <a:srgbClr val="FFFFFF"/>
                </a:solidFill>
                <a:latin typeface="Inter SemiBold"/>
              </a:rPr>
              <a:t>Solución y tecnología</a:t>
            </a:r>
          </a:p>
        </p:txBody>
      </p:sp>
      <p:sp>
        <p:nvSpPr>
          <p:cNvPr id="795" name="!!brn1"/>
          <p:cNvSpPr txBox="1"/>
          <p:nvPr/>
        </p:nvSpPr>
        <p:spPr>
          <a:xfrm>
            <a:off x="960120"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1 · SOLUCIÓN Y TECNOLOGÍA · 14 RIESGOS</a:t>
            </a:r>
          </a:p>
        </p:txBody>
      </p:sp>
      <p:sp>
        <p:nvSpPr>
          <p:cNvPr id="815" name="Rounded Rectangle 814"/>
          <p:cNvSpPr/>
          <p:nvPr/>
        </p:nvSpPr>
        <p:spPr>
          <a:xfrm>
            <a:off x="822960" y="54406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R-005</a:t>
            </a:r>
            <a:r>
              <a:rPr sz="1300" b="0">
                <a:solidFill>
                  <a:srgbClr val="111111"/>
                </a:solidFill>
                <a:latin typeface="Inter"/>
              </a:rPr>
              <a:t>  · Alta</a:t>
            </a:r>
          </a:p>
          <a:p>
            <a:pPr algn="l"/>
            <a:r>
              <a:rPr sz="1600" b="1">
                <a:solidFill>
                  <a:srgbClr val="111111"/>
                </a:solidFill>
                <a:latin typeface="Inter SemiBold"/>
              </a:rPr>
              <a:t>Duplicados tras reconexión</a:t>
            </a:r>
          </a:p>
        </p:txBody>
      </p:sp>
      <p:sp>
        <p:nvSpPr>
          <p:cNvPr id="816" name="Rounded Rectangle 815"/>
          <p:cNvSpPr/>
          <p:nvPr/>
        </p:nvSpPr>
        <p:spPr>
          <a:xfrm>
            <a:off x="4178807"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R-008</a:t>
            </a:r>
            <a:r>
              <a:rPr sz="1300" b="0">
                <a:solidFill>
                  <a:srgbClr val="111111"/>
                </a:solidFill>
                <a:latin typeface="Inter"/>
              </a:rPr>
              <a:t>  · Media</a:t>
            </a:r>
          </a:p>
          <a:p>
            <a:pPr algn="l"/>
            <a:r>
              <a:rPr sz="1600" b="1">
                <a:solidFill>
                  <a:srgbClr val="111111"/>
                </a:solidFill>
                <a:latin typeface="Inter SemiBold"/>
              </a:rPr>
              <a:t>Turno sin señal o batería</a:t>
            </a:r>
          </a:p>
        </p:txBody>
      </p:sp>
      <p:sp>
        <p:nvSpPr>
          <p:cNvPr id="817" name="Rounded Rectangle 816"/>
          <p:cNvSpPr/>
          <p:nvPr/>
        </p:nvSpPr>
        <p:spPr>
          <a:xfrm>
            <a:off x="7534655"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R-009</a:t>
            </a:r>
            <a:r>
              <a:rPr sz="1300" b="0">
                <a:solidFill>
                  <a:srgbClr val="111111"/>
                </a:solidFill>
                <a:latin typeface="Inter"/>
              </a:rPr>
              <a:t>  · Media</a:t>
            </a:r>
          </a:p>
          <a:p>
            <a:pPr algn="l"/>
            <a:r>
              <a:rPr sz="1600" b="1">
                <a:solidFill>
                  <a:srgbClr val="111111"/>
                </a:solidFill>
                <a:latin typeface="Inter SemiBold"/>
              </a:rPr>
              <a:t>Relevo local en corte</a:t>
            </a:r>
          </a:p>
        </p:txBody>
      </p:sp>
      <p:sp>
        <p:nvSpPr>
          <p:cNvPr id="818" name="Rounded Rectangle 817"/>
          <p:cNvSpPr/>
          <p:nvPr/>
        </p:nvSpPr>
        <p:spPr>
          <a:xfrm>
            <a:off x="10890503"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R-010</a:t>
            </a:r>
            <a:r>
              <a:rPr sz="1300" b="0">
                <a:solidFill>
                  <a:srgbClr val="111111"/>
                </a:solidFill>
                <a:latin typeface="Inter"/>
              </a:rPr>
              <a:t>  · Media</a:t>
            </a:r>
          </a:p>
          <a:p>
            <a:pPr algn="l"/>
            <a:r>
              <a:rPr sz="1600" b="1">
                <a:solidFill>
                  <a:srgbClr val="111111"/>
                </a:solidFill>
                <a:latin typeface="Inter SemiBold"/>
              </a:rPr>
              <a:t>Terminales a −22 °C</a:t>
            </a:r>
          </a:p>
        </p:txBody>
      </p:sp>
      <p:sp>
        <p:nvSpPr>
          <p:cNvPr id="819" name="Rounded Rectangle 818"/>
          <p:cNvSpPr/>
          <p:nvPr/>
        </p:nvSpPr>
        <p:spPr>
          <a:xfrm>
            <a:off x="14246351" y="54406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R-004</a:t>
            </a:r>
            <a:r>
              <a:rPr sz="1300" b="0">
                <a:solidFill>
                  <a:srgbClr val="111111"/>
                </a:solidFill>
                <a:latin typeface="Inter"/>
              </a:rPr>
              <a:t>  · Alta</a:t>
            </a:r>
          </a:p>
          <a:p>
            <a:pPr algn="l"/>
            <a:r>
              <a:rPr sz="1600" b="1">
                <a:solidFill>
                  <a:srgbClr val="111111"/>
                </a:solidFill>
                <a:latin typeface="Inter SemiBold"/>
              </a:rPr>
              <a:t>Maestros e historia</a:t>
            </a:r>
          </a:p>
        </p:txBody>
      </p:sp>
      <p:sp>
        <p:nvSpPr>
          <p:cNvPr id="820" name="Rounded Rectangle 819"/>
          <p:cNvSpPr/>
          <p:nvPr/>
        </p:nvSpPr>
        <p:spPr>
          <a:xfrm>
            <a:off x="822960"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R-011</a:t>
            </a:r>
            <a:r>
              <a:rPr sz="1300" b="0">
                <a:solidFill>
                  <a:srgbClr val="111111"/>
                </a:solidFill>
                <a:latin typeface="Inter"/>
              </a:rPr>
              <a:t>  · Alta</a:t>
            </a:r>
          </a:p>
          <a:p>
            <a:pPr algn="l"/>
            <a:r>
              <a:rPr sz="1600" b="1">
                <a:solidFill>
                  <a:srgbClr val="111111"/>
                </a:solidFill>
                <a:latin typeface="Inter SemiBold"/>
              </a:rPr>
              <a:t>Regla o sensor térmico</a:t>
            </a:r>
          </a:p>
        </p:txBody>
      </p:sp>
      <p:sp>
        <p:nvSpPr>
          <p:cNvPr id="821" name="Rounded Rectangle 820"/>
          <p:cNvSpPr/>
          <p:nvPr/>
        </p:nvSpPr>
        <p:spPr>
          <a:xfrm>
            <a:off x="4178807" y="64648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R-012</a:t>
            </a:r>
            <a:r>
              <a:rPr sz="1300" b="0">
                <a:solidFill>
                  <a:srgbClr val="FFFFFF"/>
                </a:solidFill>
                <a:latin typeface="Inter"/>
              </a:rPr>
              <a:t>  · Crítica</a:t>
            </a:r>
          </a:p>
          <a:p>
            <a:pPr algn="l"/>
            <a:r>
              <a:rPr sz="1600" b="1">
                <a:solidFill>
                  <a:srgbClr val="FFFFFF"/>
                </a:solidFill>
                <a:latin typeface="Inter SemiBold"/>
              </a:rPr>
              <a:t>Retiro sin trazabilidad</a:t>
            </a:r>
          </a:p>
        </p:txBody>
      </p:sp>
      <p:sp>
        <p:nvSpPr>
          <p:cNvPr id="822" name="Rounded Rectangle 821"/>
          <p:cNvSpPr/>
          <p:nvPr/>
        </p:nvSpPr>
        <p:spPr>
          <a:xfrm>
            <a:off x="7534655"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R-013</a:t>
            </a:r>
            <a:r>
              <a:rPr sz="1300" b="0">
                <a:solidFill>
                  <a:srgbClr val="111111"/>
                </a:solidFill>
                <a:latin typeface="Inter"/>
              </a:rPr>
              <a:t>  · Alta</a:t>
            </a:r>
          </a:p>
          <a:p>
            <a:pPr algn="l"/>
            <a:r>
              <a:rPr sz="1600" b="1">
                <a:solidFill>
                  <a:srgbClr val="111111"/>
                </a:solidFill>
                <a:latin typeface="Inter SemiBold"/>
              </a:rPr>
              <a:t>Peak sin capacidad</a:t>
            </a:r>
          </a:p>
        </p:txBody>
      </p:sp>
      <p:sp>
        <p:nvSpPr>
          <p:cNvPr id="823" name="Rounded Rectangle 822"/>
          <p:cNvSpPr/>
          <p:nvPr/>
        </p:nvSpPr>
        <p:spPr>
          <a:xfrm>
            <a:off x="10890503" y="64648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R-015</a:t>
            </a:r>
            <a:r>
              <a:rPr sz="1300" b="0">
                <a:solidFill>
                  <a:srgbClr val="FFFFFF"/>
                </a:solidFill>
                <a:latin typeface="Inter"/>
              </a:rPr>
              <a:t>  · Crítica</a:t>
            </a:r>
          </a:p>
          <a:p>
            <a:pPr algn="l"/>
            <a:r>
              <a:rPr sz="1600" b="1">
                <a:solidFill>
                  <a:srgbClr val="FFFFFF"/>
                </a:solidFill>
                <a:latin typeface="Inter SemiBold"/>
              </a:rPr>
              <a:t>RTO/RPO excedidos</a:t>
            </a:r>
          </a:p>
        </p:txBody>
      </p:sp>
      <p:sp>
        <p:nvSpPr>
          <p:cNvPr id="824" name="Rounded Rectangle 823"/>
          <p:cNvSpPr/>
          <p:nvPr/>
        </p:nvSpPr>
        <p:spPr>
          <a:xfrm>
            <a:off x="14246351"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R-016</a:t>
            </a:r>
            <a:r>
              <a:rPr sz="1300" b="0">
                <a:solidFill>
                  <a:srgbClr val="111111"/>
                </a:solidFill>
                <a:latin typeface="Inter"/>
              </a:rPr>
              <a:t>  · Alta</a:t>
            </a:r>
          </a:p>
          <a:p>
            <a:pPr algn="l"/>
            <a:r>
              <a:rPr sz="1600" b="1">
                <a:solidFill>
                  <a:srgbClr val="111111"/>
                </a:solidFill>
                <a:latin typeface="Inter SemiBold"/>
              </a:rPr>
              <a:t>Uso indebido de privilegios</a:t>
            </a:r>
          </a:p>
        </p:txBody>
      </p:sp>
      <p:sp>
        <p:nvSpPr>
          <p:cNvPr id="825" name="Rounded Rectangle 824"/>
          <p:cNvSpPr/>
          <p:nvPr/>
        </p:nvSpPr>
        <p:spPr>
          <a:xfrm>
            <a:off x="822960"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R-032</a:t>
            </a:r>
            <a:r>
              <a:rPr sz="1300" b="0">
                <a:solidFill>
                  <a:srgbClr val="111111"/>
                </a:solidFill>
                <a:latin typeface="Inter"/>
              </a:rPr>
              <a:t>  · Media</a:t>
            </a:r>
          </a:p>
          <a:p>
            <a:pPr algn="l"/>
            <a:r>
              <a:rPr sz="1600" b="1">
                <a:solidFill>
                  <a:srgbClr val="111111"/>
                </a:solidFill>
                <a:latin typeface="Inter SemiBold"/>
              </a:rPr>
              <a:t>Bloqueo de nube o terceros</a:t>
            </a:r>
          </a:p>
        </p:txBody>
      </p:sp>
      <p:sp>
        <p:nvSpPr>
          <p:cNvPr id="826" name="Rounded Rectangle 825"/>
          <p:cNvSpPr/>
          <p:nvPr/>
        </p:nvSpPr>
        <p:spPr>
          <a:xfrm>
            <a:off x="4178807"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R-033</a:t>
            </a:r>
            <a:r>
              <a:rPr sz="1300" b="0">
                <a:solidFill>
                  <a:srgbClr val="111111"/>
                </a:solidFill>
                <a:latin typeface="Inter"/>
              </a:rPr>
              <a:t>  · Media</a:t>
            </a:r>
          </a:p>
          <a:p>
            <a:pPr algn="l"/>
            <a:r>
              <a:rPr sz="1600" b="1">
                <a:solidFill>
                  <a:srgbClr val="111111"/>
                </a:solidFill>
                <a:latin typeface="Inter SemiBold"/>
              </a:rPr>
              <a:t>Fin de soporte</a:t>
            </a:r>
          </a:p>
        </p:txBody>
      </p:sp>
      <p:sp>
        <p:nvSpPr>
          <p:cNvPr id="827" name="Rounded Rectangle 826"/>
          <p:cNvSpPr/>
          <p:nvPr/>
        </p:nvSpPr>
        <p:spPr>
          <a:xfrm>
            <a:off x="7534655"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R-037</a:t>
            </a:r>
            <a:r>
              <a:rPr sz="1300" b="0">
                <a:solidFill>
                  <a:srgbClr val="111111"/>
                </a:solidFill>
                <a:latin typeface="Inter"/>
              </a:rPr>
              <a:t>  · Media</a:t>
            </a:r>
          </a:p>
          <a:p>
            <a:pPr algn="l"/>
            <a:r>
              <a:rPr sz="1600" b="1">
                <a:solidFill>
                  <a:srgbClr val="111111"/>
                </a:solidFill>
                <a:latin typeface="Inter SemiBold"/>
              </a:rPr>
              <a:t>INN-02 no reproduce</a:t>
            </a:r>
          </a:p>
        </p:txBody>
      </p:sp>
      <p:sp>
        <p:nvSpPr>
          <p:cNvPr id="828" name="Rounded Rectangle 827"/>
          <p:cNvSpPr/>
          <p:nvPr/>
        </p:nvSpPr>
        <p:spPr>
          <a:xfrm>
            <a:off x="10890503" y="74889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R-038</a:t>
            </a:r>
            <a:r>
              <a:rPr sz="1300" b="0">
                <a:solidFill>
                  <a:srgbClr val="111111"/>
                </a:solidFill>
                <a:latin typeface="Inter"/>
              </a:rPr>
              <a:t>  · Alta</a:t>
            </a:r>
          </a:p>
          <a:p>
            <a:pPr algn="l"/>
            <a:r>
              <a:rPr sz="1600" b="1">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26</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2</a:t>
            </a:r>
          </a:p>
          <a:p>
            <a:pPr algn="l"/>
            <a:r>
              <a:rPr sz="1700" b="1">
                <a:solidFill>
                  <a:srgbClr val="FFFFFF"/>
                </a:solidFill>
                <a:latin typeface="Inter SemiBold"/>
              </a:rPr>
              <a:t>Integración y legado</a:t>
            </a:r>
          </a:p>
        </p:txBody>
      </p:sp>
      <p:sp>
        <p:nvSpPr>
          <p:cNvPr id="798" name="!!brn2"/>
          <p:cNvSpPr txBox="1"/>
          <p:nvPr/>
        </p:nvSpPr>
        <p:spPr>
          <a:xfrm>
            <a:off x="3357154"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2 · INTEGRACIÓN Y LEGADO · 7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R-001</a:t>
            </a:r>
            <a:r>
              <a:rPr sz="1300" b="0">
                <a:solidFill>
                  <a:srgbClr val="111111"/>
                </a:solidFill>
                <a:latin typeface="Inter"/>
              </a:rPr>
              <a:t>  · Alta</a:t>
            </a:r>
          </a:p>
          <a:p>
            <a:pPr algn="l"/>
            <a:r>
              <a:rPr sz="1600" b="1">
                <a:solidFill>
                  <a:srgbClr val="111111"/>
                </a:solidFill>
                <a:latin typeface="Inter SemiBold"/>
              </a:rPr>
              <a:t>Interfaces del ERP</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R-002</a:t>
            </a:r>
            <a:r>
              <a:rPr sz="1300" b="0">
                <a:solidFill>
                  <a:srgbClr val="111111"/>
                </a:solidFill>
                <a:latin typeface="Inter"/>
              </a:rPr>
              <a:t>  · Media</a:t>
            </a:r>
          </a:p>
          <a:p>
            <a:pPr algn="l"/>
            <a:r>
              <a:rPr sz="1600" b="1">
                <a:solidFill>
                  <a:srgbClr val="111111"/>
                </a:solidFill>
                <a:latin typeface="Inter SemiBold"/>
              </a:rPr>
              <a:t>Telemetría del tercero</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R-003</a:t>
            </a:r>
            <a:r>
              <a:rPr sz="1300" b="0">
                <a:solidFill>
                  <a:srgbClr val="111111"/>
                </a:solidFill>
                <a:latin typeface="Inter"/>
              </a:rPr>
              <a:t>  · Alta</a:t>
            </a:r>
          </a:p>
          <a:p>
            <a:pPr algn="l"/>
            <a:r>
              <a:rPr sz="1600" b="1">
                <a:solidFill>
                  <a:srgbClr val="111111"/>
                </a:solidFill>
                <a:latin typeface="Inter SemiBold"/>
              </a:rPr>
              <a:t>Convivencia del WMS</a:t>
            </a:r>
          </a:p>
        </p:txBody>
      </p:sp>
      <p:sp>
        <p:nvSpPr>
          <p:cNvPr id="818" name="Rounded Rectangle 817"/>
          <p:cNvSpPr/>
          <p:nvPr/>
        </p:nvSpPr>
        <p:spPr>
          <a:xfrm>
            <a:off x="1340739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R-030</a:t>
            </a:r>
            <a:r>
              <a:rPr sz="1300" b="0">
                <a:solidFill>
                  <a:srgbClr val="111111"/>
                </a:solidFill>
                <a:latin typeface="Inter"/>
              </a:rPr>
              <a:t>  · Alta</a:t>
            </a:r>
          </a:p>
          <a:p>
            <a:pPr algn="l"/>
            <a:r>
              <a:rPr sz="1600" b="1">
                <a:solidFill>
                  <a:srgbClr val="111111"/>
                </a:solidFill>
                <a:latin typeface="Inter SemiBold"/>
              </a:rPr>
              <a:t>Certificación EDI</a:t>
            </a:r>
          </a:p>
        </p:txBody>
      </p:sp>
      <p:sp>
        <p:nvSpPr>
          <p:cNvPr id="819" name="Rounded Rectangle 818"/>
          <p:cNvSpPr/>
          <p:nvPr/>
        </p:nvSpPr>
        <p:spPr>
          <a:xfrm>
            <a:off x="82296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R-031</a:t>
            </a:r>
            <a:r>
              <a:rPr sz="1300" b="0">
                <a:solidFill>
                  <a:srgbClr val="111111"/>
                </a:solidFill>
                <a:latin typeface="Inter"/>
              </a:rPr>
              <a:t>  · Media</a:t>
            </a:r>
          </a:p>
          <a:p>
            <a:pPr algn="l"/>
            <a:r>
              <a:rPr sz="1600" b="1">
                <a:solidFill>
                  <a:srgbClr val="111111"/>
                </a:solidFill>
                <a:latin typeface="Inter SemiBold"/>
              </a:rPr>
              <a:t>Avisos confusos</a:t>
            </a:r>
          </a:p>
        </p:txBody>
      </p:sp>
      <p:sp>
        <p:nvSpPr>
          <p:cNvPr id="820" name="Rounded Rectangle 819"/>
          <p:cNvSpPr/>
          <p:nvPr/>
        </p:nvSpPr>
        <p:spPr>
          <a:xfrm>
            <a:off x="501777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R-043</a:t>
            </a:r>
            <a:r>
              <a:rPr sz="1300" b="0">
                <a:solidFill>
                  <a:srgbClr val="111111"/>
                </a:solidFill>
                <a:latin typeface="Inter"/>
              </a:rPr>
              <a:t>  · Media</a:t>
            </a:r>
          </a:p>
          <a:p>
            <a:pPr algn="l"/>
            <a:r>
              <a:rPr sz="1600" b="1">
                <a:solidFill>
                  <a:srgbClr val="111111"/>
                </a:solidFill>
                <a:latin typeface="Inter SemiBold"/>
              </a:rPr>
              <a:t>Pago con doble cargo</a:t>
            </a:r>
          </a:p>
        </p:txBody>
      </p:sp>
      <p:sp>
        <p:nvSpPr>
          <p:cNvPr id="821" name="Rounded Rectangle 820"/>
          <p:cNvSpPr/>
          <p:nvPr/>
        </p:nvSpPr>
        <p:spPr>
          <a:xfrm>
            <a:off x="921258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R-045</a:t>
            </a:r>
            <a:r>
              <a:rPr sz="1300" b="0">
                <a:solidFill>
                  <a:srgbClr val="111111"/>
                </a:solidFill>
                <a:latin typeface="Inter"/>
              </a:rPr>
              <a:t>  · Alta</a:t>
            </a:r>
          </a:p>
          <a:p>
            <a:pPr algn="l"/>
            <a:r>
              <a:rPr sz="1600" b="1">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27</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3</a:t>
            </a:r>
          </a:p>
          <a:p>
            <a:pPr algn="l"/>
            <a:r>
              <a:rPr sz="1700" b="1">
                <a:solidFill>
                  <a:srgbClr val="FFFFFF"/>
                </a:solidFill>
                <a:latin typeface="Inter SemiBold"/>
              </a:rPr>
              <a:t>Operación del cliente</a:t>
            </a:r>
          </a:p>
        </p:txBody>
      </p:sp>
      <p:sp>
        <p:nvSpPr>
          <p:cNvPr id="801" name="!!brn3"/>
          <p:cNvSpPr txBox="1"/>
          <p:nvPr/>
        </p:nvSpPr>
        <p:spPr>
          <a:xfrm>
            <a:off x="5754188"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3 · OPERACIÓN DEL CLIENTE · 8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R-006</a:t>
            </a:r>
            <a:r>
              <a:rPr sz="1300" b="0">
                <a:solidFill>
                  <a:srgbClr val="111111"/>
                </a:solidFill>
                <a:latin typeface="Inter"/>
              </a:rPr>
              <a:t>  · Alta</a:t>
            </a:r>
          </a:p>
          <a:p>
            <a:pPr algn="l"/>
            <a:r>
              <a:rPr sz="1600" b="1">
                <a:solidFill>
                  <a:srgbClr val="111111"/>
                </a:solidFill>
                <a:latin typeface="Inter SemiBold"/>
              </a:rPr>
              <a:t>Enlaces de Concepción</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R-007</a:t>
            </a:r>
            <a:r>
              <a:rPr sz="1300" b="0">
                <a:solidFill>
                  <a:srgbClr val="111111"/>
                </a:solidFill>
                <a:latin typeface="Inter"/>
              </a:rPr>
              <a:t>  · Alta</a:t>
            </a:r>
          </a:p>
          <a:p>
            <a:pPr algn="l"/>
            <a:r>
              <a:rPr sz="1600" b="1">
                <a:solidFill>
                  <a:srgbClr val="111111"/>
                </a:solidFill>
                <a:latin typeface="Inter SemiBold"/>
              </a:rPr>
              <a:t>Cross-docking sin enlace</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R-014</a:t>
            </a:r>
            <a:r>
              <a:rPr sz="1300" b="0">
                <a:solidFill>
                  <a:srgbClr val="111111"/>
                </a:solidFill>
                <a:latin typeface="Inter"/>
              </a:rPr>
              <a:t>  · Alta</a:t>
            </a:r>
          </a:p>
          <a:p>
            <a:pPr algn="l"/>
            <a:r>
              <a:rPr sz="1600" b="1">
                <a:solidFill>
                  <a:srgbClr val="111111"/>
                </a:solidFill>
                <a:latin typeface="Inter SemiBold"/>
              </a:rPr>
              <a:t>Sala y energía</a:t>
            </a:r>
          </a:p>
        </p:txBody>
      </p:sp>
      <p:sp>
        <p:nvSpPr>
          <p:cNvPr id="818" name="Rounded Rectangle 817"/>
          <p:cNvSpPr/>
          <p:nvPr/>
        </p:nvSpPr>
        <p:spPr>
          <a:xfrm>
            <a:off x="1340739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R-022</a:t>
            </a:r>
            <a:r>
              <a:rPr sz="1300" b="0">
                <a:solidFill>
                  <a:srgbClr val="111111"/>
                </a:solidFill>
                <a:latin typeface="Inter"/>
              </a:rPr>
              <a:t>  · Alta</a:t>
            </a:r>
          </a:p>
          <a:p>
            <a:pPr algn="l"/>
            <a:r>
              <a:rPr sz="1600" b="1">
                <a:solidFill>
                  <a:srgbClr val="111111"/>
                </a:solidFill>
                <a:latin typeface="Inter SemiBold"/>
              </a:rPr>
              <a:t>Contrapartes tardías</a:t>
            </a:r>
          </a:p>
        </p:txBody>
      </p:sp>
      <p:sp>
        <p:nvSpPr>
          <p:cNvPr id="819" name="Rounded Rectangle 818"/>
          <p:cNvSpPr/>
          <p:nvPr/>
        </p:nvSpPr>
        <p:spPr>
          <a:xfrm>
            <a:off x="82296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R-023</a:t>
            </a:r>
            <a:r>
              <a:rPr sz="1300" b="0">
                <a:solidFill>
                  <a:srgbClr val="111111"/>
                </a:solidFill>
                <a:latin typeface="Inter"/>
              </a:rPr>
              <a:t>  · Media</a:t>
            </a:r>
          </a:p>
          <a:p>
            <a:pPr algn="l"/>
            <a:r>
              <a:rPr sz="1600" b="1">
                <a:solidFill>
                  <a:srgbClr val="111111"/>
                </a:solidFill>
                <a:latin typeface="Inter SemiBold"/>
              </a:rPr>
              <a:t>Choque con congelamientos</a:t>
            </a:r>
          </a:p>
        </p:txBody>
      </p:sp>
      <p:sp>
        <p:nvSpPr>
          <p:cNvPr id="820" name="Rounded Rectangle 819"/>
          <p:cNvSpPr/>
          <p:nvPr/>
        </p:nvSpPr>
        <p:spPr>
          <a:xfrm>
            <a:off x="501777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R-024</a:t>
            </a:r>
            <a:r>
              <a:rPr sz="1300" b="0">
                <a:solidFill>
                  <a:srgbClr val="111111"/>
                </a:solidFill>
                <a:latin typeface="Inter"/>
              </a:rPr>
              <a:t>  · Alta</a:t>
            </a:r>
          </a:p>
          <a:p>
            <a:pPr algn="l"/>
            <a:r>
              <a:rPr sz="1600" b="1">
                <a:solidFill>
                  <a:srgbClr val="111111"/>
                </a:solidFill>
                <a:latin typeface="Inter SemiBold"/>
              </a:rPr>
              <a:t>Terreno o instalación tarde</a:t>
            </a:r>
          </a:p>
        </p:txBody>
      </p:sp>
      <p:sp>
        <p:nvSpPr>
          <p:cNvPr id="821" name="Rounded Rectangle 820"/>
          <p:cNvSpPr/>
          <p:nvPr/>
        </p:nvSpPr>
        <p:spPr>
          <a:xfrm>
            <a:off x="921258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R-028</a:t>
            </a:r>
            <a:r>
              <a:rPr sz="1300" b="0">
                <a:solidFill>
                  <a:srgbClr val="111111"/>
                </a:solidFill>
                <a:latin typeface="Inter"/>
              </a:rPr>
              <a:t>  · Media</a:t>
            </a:r>
          </a:p>
          <a:p>
            <a:pPr algn="l"/>
            <a:r>
              <a:rPr sz="1600" b="1">
                <a:solidFill>
                  <a:srgbClr val="111111"/>
                </a:solidFill>
                <a:latin typeface="Inter SemiBold"/>
              </a:rPr>
              <a:t>Rendición insuficiente</a:t>
            </a:r>
          </a:p>
        </p:txBody>
      </p:sp>
      <p:sp>
        <p:nvSpPr>
          <p:cNvPr id="822" name="Rounded Rectangle 821"/>
          <p:cNvSpPr/>
          <p:nvPr/>
        </p:nvSpPr>
        <p:spPr>
          <a:xfrm>
            <a:off x="13407390" y="64648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R-044</a:t>
            </a:r>
            <a:r>
              <a:rPr sz="1300" b="0">
                <a:solidFill>
                  <a:srgbClr val="111111"/>
                </a:solidFill>
                <a:latin typeface="Inter"/>
              </a:rPr>
              <a:t>  · Baja</a:t>
            </a:r>
          </a:p>
          <a:p>
            <a:pPr algn="l"/>
            <a:r>
              <a:rPr sz="1600" b="1">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28</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4</a:t>
            </a:r>
          </a:p>
          <a:p>
            <a:pPr algn="l"/>
            <a:r>
              <a:rPr sz="1700" b="1">
                <a:solidFill>
                  <a:srgbClr val="FFFFFF"/>
                </a:solidFill>
                <a:latin typeface="Inter SemiBold"/>
              </a:rPr>
              <a:t>Personas y adopción</a:t>
            </a:r>
          </a:p>
        </p:txBody>
      </p:sp>
      <p:sp>
        <p:nvSpPr>
          <p:cNvPr id="804" name="!!brn4"/>
          <p:cNvSpPr txBox="1"/>
          <p:nvPr/>
        </p:nvSpPr>
        <p:spPr>
          <a:xfrm>
            <a:off x="8151222"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4 · PERSONAS Y ADOPCIÓN · 7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R-017</a:t>
            </a:r>
            <a:r>
              <a:rPr sz="1300" b="0">
                <a:solidFill>
                  <a:srgbClr val="111111"/>
                </a:solidFill>
                <a:latin typeface="Inter"/>
              </a:rPr>
              <a:t>  · Alta</a:t>
            </a:r>
          </a:p>
          <a:p>
            <a:pPr algn="l"/>
            <a:r>
              <a:rPr sz="1600" b="1">
                <a:solidFill>
                  <a:srgbClr val="111111"/>
                </a:solidFill>
                <a:latin typeface="Inter SemiBold"/>
              </a:rPr>
              <a:t>Objeción sindical</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R-018</a:t>
            </a:r>
            <a:r>
              <a:rPr sz="1300" b="0">
                <a:solidFill>
                  <a:srgbClr val="111111"/>
                </a:solidFill>
                <a:latin typeface="Inter"/>
              </a:rPr>
              <a:t>  · Alta</a:t>
            </a:r>
          </a:p>
          <a:p>
            <a:pPr algn="l"/>
            <a:r>
              <a:rPr sz="1600" b="1">
                <a:solidFill>
                  <a:srgbClr val="111111"/>
                </a:solidFill>
                <a:latin typeface="Inter SemiBold"/>
              </a:rPr>
              <a:t>Conductores rotativos</a:t>
            </a:r>
          </a:p>
        </p:txBody>
      </p:sp>
      <p:sp>
        <p:nvSpPr>
          <p:cNvPr id="817" name="Rounded Rectangle 816"/>
          <p:cNvSpPr/>
          <p:nvPr/>
        </p:nvSpPr>
        <p:spPr>
          <a:xfrm>
            <a:off x="921258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R-019</a:t>
            </a:r>
            <a:r>
              <a:rPr sz="1300" b="0">
                <a:solidFill>
                  <a:srgbClr val="111111"/>
                </a:solidFill>
                <a:latin typeface="Inter"/>
              </a:rPr>
              <a:t>  · Media</a:t>
            </a:r>
          </a:p>
          <a:p>
            <a:pPr algn="l"/>
            <a:r>
              <a:rPr sz="1600" b="1">
                <a:solidFill>
                  <a:srgbClr val="111111"/>
                </a:solidFill>
                <a:latin typeface="Inter SemiBold"/>
              </a:rPr>
              <a:t>Bodega nocturna</a:t>
            </a:r>
          </a:p>
        </p:txBody>
      </p:sp>
      <p:sp>
        <p:nvSpPr>
          <p:cNvPr id="818" name="Rounded Rectangle 817"/>
          <p:cNvSpPr/>
          <p:nvPr/>
        </p:nvSpPr>
        <p:spPr>
          <a:xfrm>
            <a:off x="1340739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R-020</a:t>
            </a:r>
            <a:r>
              <a:rPr sz="1300" b="0">
                <a:solidFill>
                  <a:srgbClr val="111111"/>
                </a:solidFill>
                <a:latin typeface="Inter"/>
              </a:rPr>
              <a:t>  · Media</a:t>
            </a:r>
          </a:p>
          <a:p>
            <a:pPr algn="l"/>
            <a:r>
              <a:rPr sz="1600" b="1">
                <a:solidFill>
                  <a:srgbClr val="111111"/>
                </a:solidFill>
                <a:latin typeface="Inter SemiBold"/>
              </a:rPr>
              <a:t>Capacitación interrumpe</a:t>
            </a:r>
          </a:p>
        </p:txBody>
      </p:sp>
      <p:sp>
        <p:nvSpPr>
          <p:cNvPr id="819" name="Rounded Rectangle 818"/>
          <p:cNvSpPr/>
          <p:nvPr/>
        </p:nvSpPr>
        <p:spPr>
          <a:xfrm>
            <a:off x="82296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R-021</a:t>
            </a:r>
            <a:r>
              <a:rPr sz="1300" b="0">
                <a:solidFill>
                  <a:srgbClr val="111111"/>
                </a:solidFill>
                <a:latin typeface="Inter"/>
              </a:rPr>
              <a:t>  · Alta</a:t>
            </a:r>
          </a:p>
          <a:p>
            <a:pPr algn="l"/>
            <a:r>
              <a:rPr sz="1600" b="1">
                <a:solidFill>
                  <a:srgbClr val="111111"/>
                </a:solidFill>
                <a:latin typeface="Inter SemiBold"/>
              </a:rPr>
              <a:t>Conocimiento de rutas</a:t>
            </a:r>
          </a:p>
        </p:txBody>
      </p:sp>
      <p:sp>
        <p:nvSpPr>
          <p:cNvPr id="820" name="Rounded Rectangle 819"/>
          <p:cNvSpPr/>
          <p:nvPr/>
        </p:nvSpPr>
        <p:spPr>
          <a:xfrm>
            <a:off x="501777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R-036</a:t>
            </a:r>
            <a:r>
              <a:rPr sz="1300" b="0">
                <a:solidFill>
                  <a:srgbClr val="111111"/>
                </a:solidFill>
                <a:latin typeface="Inter"/>
              </a:rPr>
              <a:t>  · Media</a:t>
            </a:r>
          </a:p>
          <a:p>
            <a:pPr algn="l"/>
            <a:r>
              <a:rPr sz="1600" b="1">
                <a:solidFill>
                  <a:srgbClr val="111111"/>
                </a:solidFill>
                <a:latin typeface="Inter SemiBold"/>
              </a:rPr>
              <a:t>INN-01 sin confirmación</a:t>
            </a:r>
          </a:p>
        </p:txBody>
      </p:sp>
      <p:sp>
        <p:nvSpPr>
          <p:cNvPr id="821" name="Rounded Rectangle 820"/>
          <p:cNvSpPr/>
          <p:nvPr/>
        </p:nvSpPr>
        <p:spPr>
          <a:xfrm>
            <a:off x="921258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R-040</a:t>
            </a:r>
            <a:r>
              <a:rPr sz="1300" b="0">
                <a:solidFill>
                  <a:srgbClr val="111111"/>
                </a:solidFill>
                <a:latin typeface="Inter"/>
              </a:rPr>
              <a:t>  · Media</a:t>
            </a:r>
          </a:p>
          <a:p>
            <a:pPr algn="l"/>
            <a:r>
              <a:rPr sz="1600" b="1">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5</a:t>
            </a:r>
          </a:p>
          <a:p>
            <a:pPr algn="l"/>
            <a:r>
              <a:rPr sz="1700" b="1">
                <a:solidFill>
                  <a:srgbClr val="FFFFFF"/>
                </a:solidFill>
                <a:latin typeface="Inter SemiBold"/>
              </a:rPr>
              <a:t>Contrato y licitación</a:t>
            </a:r>
          </a:p>
        </p:txBody>
      </p:sp>
      <p:sp>
        <p:nvSpPr>
          <p:cNvPr id="807" name="!!brn5"/>
          <p:cNvSpPr txBox="1"/>
          <p:nvPr/>
        </p:nvSpPr>
        <p:spPr>
          <a:xfrm>
            <a:off x="10548257"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5 · CONTRATO Y LICITACIÓN · 4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R-026</a:t>
            </a:r>
            <a:r>
              <a:rPr sz="1300" b="0">
                <a:solidFill>
                  <a:srgbClr val="111111"/>
                </a:solidFill>
                <a:latin typeface="Inter"/>
              </a:rPr>
              <a:t>  · Alta</a:t>
            </a:r>
          </a:p>
          <a:p>
            <a:pPr algn="l"/>
            <a:r>
              <a:rPr sz="1600" b="1">
                <a:solidFill>
                  <a:srgbClr val="111111"/>
                </a:solidFill>
                <a:latin typeface="Inter SemiBold"/>
              </a:rPr>
              <a:t>Marcha blanca sin aceptación</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R-027</a:t>
            </a:r>
            <a:r>
              <a:rPr sz="1300" b="0">
                <a:solidFill>
                  <a:srgbClr val="111111"/>
                </a:solidFill>
                <a:latin typeface="Inter"/>
              </a:rPr>
              <a:t>  · Media</a:t>
            </a:r>
          </a:p>
          <a:p>
            <a:pPr algn="l"/>
            <a:r>
              <a:rPr sz="1600" b="1">
                <a:solidFill>
                  <a:srgbClr val="111111"/>
                </a:solidFill>
                <a:latin typeface="Inter SemiBold"/>
              </a:rPr>
              <a:t>Alcance sin aprobación</a:t>
            </a:r>
          </a:p>
        </p:txBody>
      </p:sp>
      <p:sp>
        <p:nvSpPr>
          <p:cNvPr id="817" name="Rounded Rectangle 816"/>
          <p:cNvSpPr/>
          <p:nvPr/>
        </p:nvSpPr>
        <p:spPr>
          <a:xfrm>
            <a:off x="921258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R-039</a:t>
            </a:r>
            <a:r>
              <a:rPr sz="1300" b="0">
                <a:solidFill>
                  <a:srgbClr val="111111"/>
                </a:solidFill>
                <a:latin typeface="Inter"/>
              </a:rPr>
              <a:t>  · Media</a:t>
            </a:r>
          </a:p>
          <a:p>
            <a:pPr algn="l"/>
            <a:r>
              <a:rPr sz="1600" b="1">
                <a:solidFill>
                  <a:srgbClr val="111111"/>
                </a:solidFill>
                <a:latin typeface="Inter SemiBold"/>
              </a:rPr>
              <a:t>INN-04 costo de servir</a:t>
            </a:r>
          </a:p>
        </p:txBody>
      </p:sp>
      <p:sp>
        <p:nvSpPr>
          <p:cNvPr id="818" name="Rounded Rectangle 817"/>
          <p:cNvSpPr/>
          <p:nvPr/>
        </p:nvSpPr>
        <p:spPr>
          <a:xfrm>
            <a:off x="1340739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R-041</a:t>
            </a:r>
            <a:r>
              <a:rPr sz="1300" b="0">
                <a:solidFill>
                  <a:srgbClr val="111111"/>
                </a:solidFill>
                <a:latin typeface="Inter"/>
              </a:rPr>
              <a:t>  · Media</a:t>
            </a:r>
          </a:p>
          <a:p>
            <a:pPr algn="l"/>
            <a:r>
              <a:rPr sz="1600" b="1">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6</a:t>
            </a:r>
          </a:p>
          <a:p>
            <a:pPr algn="l"/>
            <a:r>
              <a:rPr sz="1700" b="1">
                <a:solidFill>
                  <a:srgbClr val="FFFFFF"/>
                </a:solidFill>
                <a:latin typeface="Inter SemiBold"/>
              </a:rPr>
              <a:t>Regulatorio y externo</a:t>
            </a:r>
          </a:p>
        </p:txBody>
      </p:sp>
      <p:sp>
        <p:nvSpPr>
          <p:cNvPr id="810" name="!!brn6"/>
          <p:cNvSpPr txBox="1"/>
          <p:nvPr/>
        </p:nvSpPr>
        <p:spPr>
          <a:xfrm>
            <a:off x="12945291"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6 · REGULATORIO Y EXTERNO · 2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R-029</a:t>
            </a:r>
            <a:r>
              <a:rPr sz="1300" b="0">
                <a:solidFill>
                  <a:srgbClr val="111111"/>
                </a:solidFill>
                <a:latin typeface="Inter"/>
              </a:rPr>
              <a:t>  · Alta</a:t>
            </a:r>
          </a:p>
          <a:p>
            <a:pPr algn="l"/>
            <a:r>
              <a:rPr sz="1600" b="1">
                <a:solidFill>
                  <a:srgbClr val="111111"/>
                </a:solidFill>
                <a:latin typeface="Inter SemiBold"/>
              </a:rPr>
              <a:t>POD sin evidencia</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R-042</a:t>
            </a:r>
            <a:r>
              <a:rPr sz="1300" b="0">
                <a:solidFill>
                  <a:srgbClr val="111111"/>
                </a:solidFill>
                <a:latin typeface="Inter"/>
              </a:rPr>
              <a:t>  · Alta</a:t>
            </a:r>
          </a:p>
          <a:p>
            <a:pPr algn="l"/>
            <a:r>
              <a:rPr sz="1600" b="1">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7</a:t>
            </a:r>
          </a:p>
          <a:p>
            <a:pPr algn="l"/>
            <a:r>
              <a:rPr sz="1700" b="1">
                <a:solidFill>
                  <a:srgbClr val="FFFFFF"/>
                </a:solidFill>
                <a:latin typeface="Inter SemiBold"/>
              </a:rPr>
              <a:t>Empresa proveedora</a:t>
            </a:r>
          </a:p>
        </p:txBody>
      </p:sp>
      <p:sp>
        <p:nvSpPr>
          <p:cNvPr id="813" name="!!brn7"/>
          <p:cNvSpPr txBox="1"/>
          <p:nvPr/>
        </p:nvSpPr>
        <p:spPr>
          <a:xfrm>
            <a:off x="15342325"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7 · EMPRESA PROVEEDORA · 3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R-025</a:t>
            </a:r>
            <a:r>
              <a:rPr sz="1300" b="0">
                <a:solidFill>
                  <a:srgbClr val="111111"/>
                </a:solidFill>
                <a:latin typeface="Inter"/>
              </a:rPr>
              <a:t>  · Alta</a:t>
            </a:r>
          </a:p>
          <a:p>
            <a:pPr algn="l"/>
            <a:r>
              <a:rPr sz="1600" b="1">
                <a:solidFill>
                  <a:srgbClr val="111111"/>
                </a:solidFill>
                <a:latin typeface="Inter SemiBold"/>
              </a:rPr>
              <a:t>Dotación compartida</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R-034</a:t>
            </a:r>
            <a:r>
              <a:rPr sz="1300" b="0">
                <a:solidFill>
                  <a:srgbClr val="111111"/>
                </a:solidFill>
                <a:latin typeface="Inter"/>
              </a:rPr>
              <a:t>  · Media</a:t>
            </a:r>
          </a:p>
          <a:p>
            <a:pPr algn="l"/>
            <a:r>
              <a:rPr sz="1600" b="1">
                <a:solidFill>
                  <a:srgbClr val="111111"/>
                </a:solidFill>
                <a:latin typeface="Inter SemiBold"/>
              </a:rPr>
              <a:t>Mesa o NOC insuficiente</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R-035</a:t>
            </a:r>
            <a:r>
              <a:rPr sz="1300" b="0">
                <a:solidFill>
                  <a:srgbClr val="111111"/>
                </a:solidFill>
                <a:latin typeface="Inter"/>
              </a:rPr>
              <a:t>  · Alta</a:t>
            </a:r>
          </a:p>
          <a:p>
            <a:pPr algn="l"/>
            <a:r>
              <a:rPr sz="1600" b="1">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1" name="!!title"/>
          <p:cNvSpPr txBox="1"/>
          <p:nvPr/>
        </p:nvSpPr>
        <p:spPr>
          <a:xfrm>
            <a:off x="1463040" y="1188720"/>
            <a:ext cx="4572000" cy="21945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Riesgos principales</a:t>
            </a:r>
            <a:endParaRPr/>
          </a:p>
        </p:txBody>
      </p:sp>
      <p:sp>
        <p:nvSpPr>
          <p:cNvPr id="1826" name="TextBox 1825"/>
          <p:cNvSpPr txBox="1"/>
          <p:nvPr/>
        </p:nvSpPr>
        <p:spPr>
          <a:xfrm>
            <a:off x="1463040" y="3520440"/>
            <a:ext cx="4389120" cy="731520"/>
          </a:xfrm>
          <a:prstGeom prst="rect">
            <a:avLst/>
          </a:prstGeom>
          <a:noFill/>
        </p:spPr>
        <p:txBody>
          <a:bodyPr wrap="square" lIns="0" rIns="0" tIns="0" bIns="0" anchor="t">
            <a:spAutoFit/>
          </a:bodyPr>
          <a:lstStyle/>
          <a:p>
            <a:pPr algn="l"/>
            <a:r>
              <a:rPr sz="1600" b="0">
                <a:solidFill>
                  <a:srgbClr val="606060"/>
                </a:solidFill>
                <a:latin typeface="Inter"/>
              </a:rPr>
              <a:t>Los 10 de mayor exposición</a:t>
            </a:r>
          </a:p>
          <a:p>
            <a:pPr algn="l"/>
            <a:r>
              <a:rPr sz="1600" b="0">
                <a:solidFill>
                  <a:srgbClr val="606060"/>
                </a:solidFill>
                <a:latin typeface="Inter"/>
              </a:rPr>
              <a:t>Respuesta: mitigar</a:t>
            </a:r>
          </a:p>
        </p:txBody>
      </p:sp>
      <p:sp>
        <p:nvSpPr>
          <p:cNvPr id="1827" name="TextBox 1826"/>
          <p:cNvSpPr txBox="1"/>
          <p:nvPr/>
        </p:nvSpPr>
        <p:spPr>
          <a:xfrm>
            <a:off x="1463040" y="4754880"/>
            <a:ext cx="4389120" cy="548640"/>
          </a:xfrm>
          <a:prstGeom prst="rect">
            <a:avLst/>
          </a:prstGeom>
          <a:noFill/>
        </p:spPr>
        <p:txBody>
          <a:bodyPr wrap="square" lIns="0" rIns="0" tIns="0" bIns="0" anchor="t">
            <a:spAutoFit/>
          </a:bodyPr>
          <a:lstStyle/>
          <a:p>
            <a:pPr algn="l"/>
            <a:r>
              <a:rPr sz="3400" b="1">
                <a:solidFill>
                  <a:srgbClr val="E8641B"/>
                </a:solidFill>
                <a:latin typeface="Inter SemiBold"/>
              </a:rPr>
              <a:t>2.058 HH</a:t>
            </a:r>
          </a:p>
        </p:txBody>
      </p:sp>
      <p:sp>
        <p:nvSpPr>
          <p:cNvPr id="1828" name="TextBox 1827"/>
          <p:cNvSpPr txBox="1"/>
          <p:nvPr/>
        </p:nvSpPr>
        <p:spPr>
          <a:xfrm>
            <a:off x="1463040" y="5349240"/>
            <a:ext cx="4389120" cy="365760"/>
          </a:xfrm>
          <a:prstGeom prst="rect">
            <a:avLst/>
          </a:prstGeom>
          <a:noFill/>
        </p:spPr>
        <p:txBody>
          <a:bodyPr wrap="square" lIns="0" rIns="0" tIns="0" bIns="0" anchor="t">
            <a:spAutoFit/>
          </a:bodyPr>
          <a:lstStyle/>
          <a:p>
            <a:pPr algn="l"/>
            <a:r>
              <a:rPr sz="1500" b="0">
                <a:solidFill>
                  <a:srgbClr val="606060"/>
                </a:solidFill>
                <a:latin typeface="Inter"/>
              </a:rPr>
              <a:t>de contingencia</a:t>
            </a:r>
          </a:p>
        </p:txBody>
      </p:sp>
      <p:sp>
        <p:nvSpPr>
          <p:cNvPr id="1829" name="TextBox 1828"/>
          <p:cNvSpPr txBox="1"/>
          <p:nvPr/>
        </p:nvSpPr>
        <p:spPr>
          <a:xfrm>
            <a:off x="1463040" y="5989320"/>
            <a:ext cx="4389120" cy="548640"/>
          </a:xfrm>
          <a:prstGeom prst="rect">
            <a:avLst/>
          </a:prstGeom>
          <a:noFill/>
        </p:spPr>
        <p:txBody>
          <a:bodyPr wrap="square" lIns="0" rIns="0" tIns="0" bIns="0" anchor="t">
            <a:spAutoFit/>
          </a:bodyPr>
          <a:lstStyle/>
          <a:p>
            <a:pPr algn="l"/>
            <a:r>
              <a:rPr sz="3400" b="1">
                <a:solidFill>
                  <a:srgbClr val="111111"/>
                </a:solidFill>
                <a:latin typeface="Inter SemiBold"/>
              </a:rPr>
              <a:t>1.600 HH</a:t>
            </a:r>
          </a:p>
        </p:txBody>
      </p:sp>
      <p:sp>
        <p:nvSpPr>
          <p:cNvPr id="1830" name="TextBox 1829"/>
          <p:cNvSpPr txBox="1"/>
          <p:nvPr/>
        </p:nvSpPr>
        <p:spPr>
          <a:xfrm>
            <a:off x="1463040" y="6583679"/>
            <a:ext cx="4389120" cy="365760"/>
          </a:xfrm>
          <a:prstGeom prst="rect">
            <a:avLst/>
          </a:prstGeom>
          <a:noFill/>
        </p:spPr>
        <p:txBody>
          <a:bodyPr wrap="square" lIns="0" rIns="0" tIns="0" bIns="0" anchor="t">
            <a:spAutoFit/>
          </a:bodyPr>
          <a:lstStyle/>
          <a:p>
            <a:pPr algn="l"/>
            <a:r>
              <a:rPr sz="1500" b="0">
                <a:solidFill>
                  <a:srgbClr val="606060"/>
                </a:solidFill>
                <a:latin typeface="Inter"/>
              </a:rPr>
              <a:t>de reserva de gestión</a:t>
            </a:r>
          </a:p>
        </p:txBody>
      </p:sp>
      <p:sp>
        <p:nvSpPr>
          <p:cNvPr id="1831" name="TextBox 1830"/>
          <p:cNvSpPr txBox="1"/>
          <p:nvPr/>
        </p:nvSpPr>
        <p:spPr>
          <a:xfrm>
            <a:off x="1463040" y="7315200"/>
            <a:ext cx="4206240" cy="731520"/>
          </a:xfrm>
          <a:prstGeom prst="rect">
            <a:avLst/>
          </a:prstGeom>
          <a:noFill/>
        </p:spPr>
        <p:txBody>
          <a:bodyPr wrap="square" lIns="0" rIns="0" tIns="0" bIns="0" anchor="t">
            <a:spAutoFit/>
          </a:bodyPr>
          <a:lstStyle/>
          <a:p>
            <a:pPr algn="l"/>
            <a:r>
              <a:rPr sz="1300" b="0">
                <a:solidFill>
                  <a:srgbClr val="9A9A9A"/>
                </a:solidFill>
                <a:latin typeface="Inter"/>
              </a:rPr>
              <a:t>Prob. objetivo condicionada a validación</a:t>
            </a:r>
          </a:p>
        </p:txBody>
      </p:sp>
      <p:sp>
        <p:nvSpPr>
          <p:cNvPr id="1832" name="TextBox 1831"/>
          <p:cNvSpPr txBox="1"/>
          <p:nvPr/>
        </p:nvSpPr>
        <p:spPr>
          <a:xfrm>
            <a:off x="69494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R-012  </a:t>
            </a:r>
            <a:r>
              <a:rPr sz="1500" b="1">
                <a:solidFill>
                  <a:srgbClr val="111111"/>
                </a:solidFill>
                <a:latin typeface="Inter SemiBold"/>
              </a:rPr>
              <a:t>Retiro sin trazabilidad</a:t>
            </a:r>
          </a:p>
        </p:txBody>
      </p:sp>
      <p:sp>
        <p:nvSpPr>
          <p:cNvPr id="1839" name="TextBox 1838"/>
          <p:cNvSpPr txBox="1"/>
          <p:nvPr/>
        </p:nvSpPr>
        <p:spPr>
          <a:xfrm>
            <a:off x="6995160" y="1289304"/>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1" name="TextBox 1840"/>
          <p:cNvSpPr txBox="1"/>
          <p:nvPr/>
        </p:nvSpPr>
        <p:spPr>
          <a:xfrm>
            <a:off x="10744200" y="1307592"/>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Retiro simulado de punta a punta</a:t>
            </a:r>
          </a:p>
        </p:txBody>
      </p:sp>
      <p:sp>
        <p:nvSpPr>
          <p:cNvPr id="1844" name="TextBox 1843"/>
          <p:cNvSpPr txBox="1"/>
          <p:nvPr/>
        </p:nvSpPr>
        <p:spPr>
          <a:xfrm>
            <a:off x="14721840" y="1325880"/>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R-015  </a:t>
            </a:r>
            <a:r>
              <a:rPr sz="1500" b="1">
                <a:solidFill>
                  <a:srgbClr val="111111"/>
                </a:solidFill>
                <a:latin typeface="Inter SemiBold"/>
              </a:rPr>
              <a:t>RTO/RPO excedidos</a:t>
            </a:r>
          </a:p>
        </p:txBody>
      </p:sp>
      <p:sp>
        <p:nvSpPr>
          <p:cNvPr id="1848" name="TextBox 1847"/>
          <p:cNvSpPr txBox="1"/>
          <p:nvPr/>
        </p:nvSpPr>
        <p:spPr>
          <a:xfrm>
            <a:off x="6995160" y="2148840"/>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0" name="TextBox 1849"/>
          <p:cNvSpPr txBox="1"/>
          <p:nvPr/>
        </p:nvSpPr>
        <p:spPr>
          <a:xfrm>
            <a:off x="10744200" y="2167128"/>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desastre total</a:t>
            </a:r>
          </a:p>
        </p:txBody>
      </p:sp>
      <p:sp>
        <p:nvSpPr>
          <p:cNvPr id="1853" name="TextBox 1852"/>
          <p:cNvSpPr txBox="1"/>
          <p:nvPr/>
        </p:nvSpPr>
        <p:spPr>
          <a:xfrm>
            <a:off x="14721840" y="2185415"/>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R-005  </a:t>
            </a:r>
            <a:r>
              <a:rPr sz="1500" b="1">
                <a:solidFill>
                  <a:srgbClr val="111111"/>
                </a:solidFill>
                <a:latin typeface="Inter SemiBold"/>
              </a:rPr>
              <a:t>Duplicados tras reconexión</a:t>
            </a:r>
          </a:p>
        </p:txBody>
      </p:sp>
      <p:sp>
        <p:nvSpPr>
          <p:cNvPr id="1857" name="TextBox 1856"/>
          <p:cNvSpPr txBox="1"/>
          <p:nvPr/>
        </p:nvSpPr>
        <p:spPr>
          <a:xfrm>
            <a:off x="6995160" y="3008376"/>
            <a:ext cx="3749039" cy="320040"/>
          </a:xfrm>
          <a:prstGeom prst="rect">
            <a:avLst/>
          </a:prstGeom>
          <a:noFill/>
        </p:spPr>
        <p:txBody>
          <a:bodyPr wrap="square" lIns="0" rIns="0" tIns="0" bIns="0" anchor="t">
            <a:spAutoFit/>
          </a:bodyPr>
          <a:lstStyle/>
          <a:p>
            <a:pPr algn="l"/>
            <a:r>
              <a:rPr sz="1300" b="0">
                <a:solidFill>
                  <a:srgbClr val="606060"/>
                </a:solidFill>
                <a:latin typeface="Inter"/>
              </a:rPr>
              <a:t>Rama 1 · T. Pérez</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9" name="TextBox 1858"/>
          <p:cNvSpPr txBox="1"/>
          <p:nvPr/>
        </p:nvSpPr>
        <p:spPr>
          <a:xfrm>
            <a:off x="10744200" y="302666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Inyección de fallas</a:t>
            </a:r>
          </a:p>
        </p:txBody>
      </p:sp>
      <p:sp>
        <p:nvSpPr>
          <p:cNvPr id="1862" name="TextBox 1861"/>
          <p:cNvSpPr txBox="1"/>
          <p:nvPr/>
        </p:nvSpPr>
        <p:spPr>
          <a:xfrm>
            <a:off x="14721840" y="304495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R-006  </a:t>
            </a:r>
            <a:r>
              <a:rPr sz="1500" b="1">
                <a:solidFill>
                  <a:srgbClr val="111111"/>
                </a:solidFill>
                <a:latin typeface="Inter SemiBold"/>
              </a:rPr>
              <a:t>Enlaces de Concepción</a:t>
            </a:r>
          </a:p>
        </p:txBody>
      </p:sp>
      <p:sp>
        <p:nvSpPr>
          <p:cNvPr id="1866" name="TextBox 1865"/>
          <p:cNvSpPr txBox="1"/>
          <p:nvPr/>
        </p:nvSpPr>
        <p:spPr>
          <a:xfrm>
            <a:off x="6995160" y="3867911"/>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8" name="TextBox 1867"/>
          <p:cNvSpPr txBox="1"/>
          <p:nvPr/>
        </p:nvSpPr>
        <p:spPr>
          <a:xfrm>
            <a:off x="10744200" y="3886200"/>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Simulacro de caída de enlaces</a:t>
            </a:r>
          </a:p>
        </p:txBody>
      </p:sp>
      <p:sp>
        <p:nvSpPr>
          <p:cNvPr id="1871" name="TextBox 1870"/>
          <p:cNvSpPr txBox="1"/>
          <p:nvPr/>
        </p:nvSpPr>
        <p:spPr>
          <a:xfrm>
            <a:off x="14721840" y="390448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25 % → 10 %</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R-011  </a:t>
            </a:r>
            <a:r>
              <a:rPr sz="1500" b="1">
                <a:solidFill>
                  <a:srgbClr val="111111"/>
                </a:solidFill>
                <a:latin typeface="Inter SemiBold"/>
              </a:rPr>
              <a:t>Regla o sensor térmico</a:t>
            </a:r>
          </a:p>
        </p:txBody>
      </p:sp>
      <p:sp>
        <p:nvSpPr>
          <p:cNvPr id="1875" name="TextBox 1874"/>
          <p:cNvSpPr txBox="1"/>
          <p:nvPr/>
        </p:nvSpPr>
        <p:spPr>
          <a:xfrm>
            <a:off x="6995160" y="4727448"/>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7" name="TextBox 1876"/>
          <p:cNvSpPr txBox="1"/>
          <p:nvPr/>
        </p:nvSpPr>
        <p:spPr>
          <a:xfrm>
            <a:off x="10744200" y="4745736"/>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rIns="0" tIns="0" bIns="0" anchor="t">
            <a:spAutoFit/>
          </a:bodyPr>
          <a:lstStyle/>
          <a:p>
            <a:pPr algn="l"/>
            <a:r>
              <a:rPr sz="1400" b="1">
                <a:solidFill>
                  <a:srgbClr val="111111"/>
                </a:solidFill>
                <a:latin typeface="Inter SemiBold"/>
              </a:rPr>
              <a:t>Validar rangos y sensor</a:t>
            </a:r>
          </a:p>
        </p:txBody>
      </p:sp>
      <p:sp>
        <p:nvSpPr>
          <p:cNvPr id="1880" name="TextBox 1879"/>
          <p:cNvSpPr txBox="1"/>
          <p:nvPr/>
        </p:nvSpPr>
        <p:spPr>
          <a:xfrm>
            <a:off x="14721840" y="4764024"/>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R-013  </a:t>
            </a:r>
            <a:r>
              <a:rPr sz="1500" b="1">
                <a:solidFill>
                  <a:srgbClr val="111111"/>
                </a:solidFill>
                <a:latin typeface="Inter SemiBold"/>
              </a:rPr>
              <a:t>Peak sin capacidad</a:t>
            </a:r>
          </a:p>
        </p:txBody>
      </p:sp>
      <p:sp>
        <p:nvSpPr>
          <p:cNvPr id="1884" name="TextBox 1883"/>
          <p:cNvSpPr txBox="1"/>
          <p:nvPr/>
        </p:nvSpPr>
        <p:spPr>
          <a:xfrm>
            <a:off x="6995160" y="5586983"/>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6" name="TextBox 1885"/>
          <p:cNvSpPr txBox="1"/>
          <p:nvPr/>
        </p:nvSpPr>
        <p:spPr>
          <a:xfrm>
            <a:off x="10744200" y="5605271"/>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Prueba de carga en despacho</a:t>
            </a:r>
          </a:p>
        </p:txBody>
      </p:sp>
      <p:sp>
        <p:nvSpPr>
          <p:cNvPr id="1889" name="TextBox 1888"/>
          <p:cNvSpPr txBox="1"/>
          <p:nvPr/>
        </p:nvSpPr>
        <p:spPr>
          <a:xfrm>
            <a:off x="14721840" y="5623559"/>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R-014  </a:t>
            </a:r>
            <a:r>
              <a:rPr sz="1500" b="1">
                <a:solidFill>
                  <a:srgbClr val="111111"/>
                </a:solidFill>
                <a:latin typeface="Inter SemiBold"/>
              </a:rPr>
              <a:t>Sala y energía</a:t>
            </a:r>
          </a:p>
        </p:txBody>
      </p:sp>
      <p:sp>
        <p:nvSpPr>
          <p:cNvPr id="1893" name="TextBox 1892"/>
          <p:cNvSpPr txBox="1"/>
          <p:nvPr/>
        </p:nvSpPr>
        <p:spPr>
          <a:xfrm>
            <a:off x="6995160" y="6446520"/>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5" name="TextBox 1894"/>
          <p:cNvSpPr txBox="1"/>
          <p:nvPr/>
        </p:nvSpPr>
        <p:spPr>
          <a:xfrm>
            <a:off x="10744200" y="6464808"/>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Recepcionar energía y clima</a:t>
            </a:r>
          </a:p>
        </p:txBody>
      </p:sp>
      <p:sp>
        <p:nvSpPr>
          <p:cNvPr id="1898" name="TextBox 1897"/>
          <p:cNvSpPr txBox="1"/>
          <p:nvPr/>
        </p:nvSpPr>
        <p:spPr>
          <a:xfrm>
            <a:off x="14721840" y="6483096"/>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20 % → 10 %</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R-016  </a:t>
            </a:r>
            <a:r>
              <a:rPr sz="1500" b="1">
                <a:solidFill>
                  <a:srgbClr val="111111"/>
                </a:solidFill>
                <a:latin typeface="Inter SemiBold"/>
              </a:rPr>
              <a:t>Uso indebido de privilegios</a:t>
            </a:r>
          </a:p>
        </p:txBody>
      </p:sp>
      <p:sp>
        <p:nvSpPr>
          <p:cNvPr id="1902" name="TextBox 1901"/>
          <p:cNvSpPr txBox="1"/>
          <p:nvPr/>
        </p:nvSpPr>
        <p:spPr>
          <a:xfrm>
            <a:off x="6995160" y="7306056"/>
            <a:ext cx="3749039" cy="320040"/>
          </a:xfrm>
          <a:prstGeom prst="rect">
            <a:avLst/>
          </a:prstGeom>
          <a:noFill/>
        </p:spPr>
        <p:txBody>
          <a:bodyPr wrap="square" lIns="0" rIns="0" tIns="0" bIns="0" anchor="t">
            <a:spAutoFit/>
          </a:bodyPr>
          <a:lstStyle/>
          <a:p>
            <a:pPr algn="l"/>
            <a:r>
              <a:rPr sz="1300" b="0">
                <a:solidFill>
                  <a:srgbClr val="606060"/>
                </a:solidFill>
                <a:latin typeface="Inter"/>
              </a:rPr>
              <a:t>Rama 1 · Á. Catalán</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4" name="TextBox 1903"/>
          <p:cNvSpPr txBox="1"/>
          <p:nvPr/>
        </p:nvSpPr>
        <p:spPr>
          <a:xfrm>
            <a:off x="10744200" y="732434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Pentest y contención</a:t>
            </a:r>
          </a:p>
        </p:txBody>
      </p:sp>
      <p:sp>
        <p:nvSpPr>
          <p:cNvPr id="1907" name="TextBox 1906"/>
          <p:cNvSpPr txBox="1"/>
          <p:nvPr/>
        </p:nvSpPr>
        <p:spPr>
          <a:xfrm>
            <a:off x="14721840" y="734263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R-001  </a:t>
            </a:r>
            <a:r>
              <a:rPr sz="1500" b="1">
                <a:solidFill>
                  <a:srgbClr val="111111"/>
                </a:solidFill>
                <a:latin typeface="Inter SemiBold"/>
              </a:rPr>
              <a:t>Interfaces del ERP</a:t>
            </a:r>
          </a:p>
        </p:txBody>
      </p:sp>
      <p:sp>
        <p:nvSpPr>
          <p:cNvPr id="1911" name="TextBox 1910"/>
          <p:cNvSpPr txBox="1"/>
          <p:nvPr/>
        </p:nvSpPr>
        <p:spPr>
          <a:xfrm>
            <a:off x="6995160" y="8165592"/>
            <a:ext cx="3749039" cy="320040"/>
          </a:xfrm>
          <a:prstGeom prst="rect">
            <a:avLst/>
          </a:prstGeom>
          <a:noFill/>
        </p:spPr>
        <p:txBody>
          <a:bodyPr wrap="square" lIns="0" rIns="0" tIns="0" bIns="0" anchor="t">
            <a:spAutoFit/>
          </a:bodyPr>
          <a:lstStyle/>
          <a:p>
            <a:pPr algn="l"/>
            <a:r>
              <a:rPr sz="1300" b="0">
                <a:solidFill>
                  <a:srgbClr val="606060"/>
                </a:solidFill>
                <a:latin typeface="Inter"/>
              </a:rPr>
              <a:t>Rama 2 · B. Trejo</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3" name="TextBox 1912"/>
          <p:cNvSpPr txBox="1"/>
          <p:nvPr/>
        </p:nvSpPr>
        <p:spPr>
          <a:xfrm>
            <a:off x="10744200" y="8183879"/>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Contrato de interfaz probado</a:t>
            </a:r>
          </a:p>
        </p:txBody>
      </p:sp>
      <p:sp>
        <p:nvSpPr>
          <p:cNvPr id="1916" name="TextBox 1915"/>
          <p:cNvSpPr txBox="1"/>
          <p:nvPr/>
        </p:nvSpPr>
        <p:spPr>
          <a:xfrm>
            <a:off x="14721840" y="820216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45 % → 20 %</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R-003  </a:t>
            </a:r>
            <a:r>
              <a:rPr sz="1500" b="1">
                <a:solidFill>
                  <a:srgbClr val="111111"/>
                </a:solidFill>
                <a:latin typeface="Inter SemiBold"/>
              </a:rPr>
              <a:t>Convivencia del WMS</a:t>
            </a:r>
          </a:p>
        </p:txBody>
      </p:sp>
      <p:sp>
        <p:nvSpPr>
          <p:cNvPr id="1920" name="TextBox 1919"/>
          <p:cNvSpPr txBox="1"/>
          <p:nvPr/>
        </p:nvSpPr>
        <p:spPr>
          <a:xfrm>
            <a:off x="6995160" y="9025128"/>
            <a:ext cx="3749039" cy="320040"/>
          </a:xfrm>
          <a:prstGeom prst="rect">
            <a:avLst/>
          </a:prstGeom>
          <a:noFill/>
        </p:spPr>
        <p:txBody>
          <a:bodyPr wrap="square" lIns="0" rIns="0" tIns="0" bIns="0" anchor="t">
            <a:spAutoFit/>
          </a:bodyPr>
          <a:lstStyle/>
          <a:p>
            <a:pPr algn="l"/>
            <a:r>
              <a:rPr sz="1300" b="0">
                <a:solidFill>
                  <a:srgbClr val="606060"/>
                </a:solidFill>
                <a:latin typeface="Inter"/>
              </a:rPr>
              <a:t>Rama 2 · L. Chamorro</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22" name="TextBox 1921"/>
          <p:cNvSpPr txBox="1"/>
          <p:nvPr/>
        </p:nvSpPr>
        <p:spPr>
          <a:xfrm>
            <a:off x="10744200" y="9043415"/>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delta y reversión</a:t>
            </a:r>
          </a:p>
        </p:txBody>
      </p:sp>
      <p:sp>
        <p:nvSpPr>
          <p:cNvPr id="1925" name="TextBox 1924"/>
          <p:cNvSpPr txBox="1"/>
          <p:nvPr/>
        </p:nvSpPr>
        <p:spPr>
          <a:xfrm>
            <a:off x="14721840" y="9061703"/>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40 % → 20 %</a:t>
            </a:r>
          </a:p>
        </p:txBody>
      </p:sp>
      <p:sp>
        <p:nvSpPr>
          <p:cNvPr id="1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8" name="!!title"/>
          <p:cNvSpPr txBox="1"/>
          <p:nvPr/>
        </p:nvSpPr>
        <p:spPr>
          <a:xfrm>
            <a:off x="1463040" y="411480"/>
            <a:ext cx="10972800" cy="8229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4400">
                <a:solidFill>
                  <a:srgbClr val="111111"/>
                </a:solidFill>
                <a:latin typeface="Inter SemiBold"/>
                <a:ea typeface="Inter SemiBold"/>
                <a:cs typeface="Inter SemiBold"/>
                <a:sym typeface="Inter SemiBold"/>
              </a:rPr>
              <a:t>Matriz de exposición</a:t>
            </a:r>
            <a:endParaRPr/>
          </a:p>
        </p:txBody>
      </p:sp>
      <p:sp>
        <p:nvSpPr>
          <p:cNvPr id="1832" name="TextBox 1831"/>
          <p:cNvSpPr txBox="1"/>
          <p:nvPr/>
        </p:nvSpPr>
        <p:spPr>
          <a:xfrm>
            <a:off x="1417320" y="1325880"/>
            <a:ext cx="457200" cy="7379208"/>
          </a:xfrm>
          <a:prstGeom prst="rect">
            <a:avLst/>
          </a:prstGeom>
          <a:noFill/>
        </p:spPr>
        <p:txBody>
          <a:bodyPr wrap="square" lIns="0" rIns="0" tIns="0" bIns="0" anchor="ctr" vert="vert270">
            <a:spAutoFit/>
          </a:bodyPr>
          <a:lstStyle/>
          <a:p>
            <a:pPr algn="ctr"/>
            <a:r>
              <a:rPr sz="1500" b="1">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alta</a:t>
            </a:r>
          </a:p>
          <a:p>
            <a:pPr algn="r"/>
            <a:r>
              <a:rPr sz="1400" b="1">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9" name="TextBox 1838"/>
          <p:cNvSpPr txBox="1"/>
          <p:nvPr/>
        </p:nvSpPr>
        <p:spPr>
          <a:xfrm>
            <a:off x="1965960" y="2816352"/>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Alta</a:t>
            </a:r>
          </a:p>
          <a:p>
            <a:pPr algn="r"/>
            <a:r>
              <a:rPr sz="1400" b="1">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5" name="TextBox 1844"/>
          <p:cNvSpPr txBox="1"/>
          <p:nvPr/>
        </p:nvSpPr>
        <p:spPr>
          <a:xfrm>
            <a:off x="1965960" y="4306824"/>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Media</a:t>
            </a:r>
          </a:p>
          <a:p>
            <a:pPr algn="r"/>
            <a:r>
              <a:rPr sz="1400" b="1">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10</a:t>
            </a:r>
          </a:p>
          <a:p>
            <a:pPr algn="l"/>
            <a:r>
              <a:rPr sz="1300" b="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17</a:t>
            </a:r>
          </a:p>
          <a:p>
            <a:pPr algn="l"/>
            <a:r>
              <a:rPr sz="1300" b="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FFFFFF"/>
                </a:solidFill>
                <a:latin typeface="Inter SemiBold"/>
              </a:rPr>
              <a:t>2</a:t>
            </a:r>
          </a:p>
          <a:p>
            <a:pPr algn="l"/>
            <a:r>
              <a:rPr sz="1300" b="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1" name="TextBox 1850"/>
          <p:cNvSpPr txBox="1"/>
          <p:nvPr/>
        </p:nvSpPr>
        <p:spPr>
          <a:xfrm>
            <a:off x="1965960" y="5797296"/>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Baja</a:t>
            </a:r>
          </a:p>
          <a:p>
            <a:pPr algn="r"/>
            <a:r>
              <a:rPr sz="1400" b="1">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a:t>
            </a:r>
          </a:p>
          <a:p>
            <a:pPr algn="l"/>
            <a:r>
              <a:rPr sz="1300" b="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9</a:t>
            </a:r>
          </a:p>
          <a:p>
            <a:pPr algn="l"/>
            <a:r>
              <a:rPr sz="1300" b="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6</a:t>
            </a:r>
          </a:p>
          <a:p>
            <a:pPr algn="l"/>
            <a:r>
              <a:rPr sz="1300" b="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7" name="TextBox 1856"/>
          <p:cNvSpPr txBox="1"/>
          <p:nvPr/>
        </p:nvSpPr>
        <p:spPr>
          <a:xfrm>
            <a:off x="1965960" y="7287768"/>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baja</a:t>
            </a:r>
          </a:p>
          <a:p>
            <a:pPr algn="r"/>
            <a:r>
              <a:rPr sz="1400" b="1">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3" name="TextBox 1862"/>
          <p:cNvSpPr txBox="1"/>
          <p:nvPr/>
        </p:nvSpPr>
        <p:spPr>
          <a:xfrm>
            <a:off x="356616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bajo</a:t>
            </a:r>
          </a:p>
          <a:p>
            <a:pPr algn="ctr"/>
            <a:r>
              <a:rPr sz="1400" b="1">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Bajo</a:t>
            </a:r>
          </a:p>
          <a:p>
            <a:pPr algn="ctr"/>
            <a:r>
              <a:rPr sz="1400" b="1">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Medio</a:t>
            </a:r>
          </a:p>
          <a:p>
            <a:pPr algn="ctr"/>
            <a:r>
              <a:rPr sz="1400" b="1">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Alto</a:t>
            </a:r>
          </a:p>
          <a:p>
            <a:pPr algn="ctr"/>
            <a:r>
              <a:rPr sz="1400" b="1">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alto</a:t>
            </a:r>
          </a:p>
          <a:p>
            <a:pPr algn="ctr"/>
            <a:r>
              <a:rPr sz="1400" b="1">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rIns="0" tIns="0" bIns="0" anchor="t">
            <a:spAutoFit/>
          </a:bodyPr>
          <a:lstStyle/>
          <a:p>
            <a:pPr algn="ctr"/>
            <a:r>
              <a:rPr sz="1500" b="1">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rIns="0" tIns="0" bIns="0" anchor="t">
            <a:spAutoFit/>
          </a:bodyPr>
          <a:lstStyle/>
          <a:p>
            <a:pPr algn="r"/>
            <a:r>
              <a:rPr sz="1300" b="0">
                <a:solidFill>
                  <a:srgbClr val="E8641B"/>
                </a:solidFill>
                <a:latin typeface="Inter"/>
              </a:rPr>
              <a:t>■ </a:t>
            </a:r>
            <a:r>
              <a:rPr sz="1300" b="0">
                <a:solidFill>
                  <a:srgbClr val="3C3C3C"/>
                </a:solidFill>
                <a:latin typeface="Inter"/>
              </a:rPr>
              <a:t>Crítica ≥ 0,40   </a:t>
            </a:r>
            <a:r>
              <a:rPr sz="1300" b="0">
                <a:solidFill>
                  <a:srgbClr val="F29A5E"/>
                </a:solidFill>
                <a:latin typeface="Inter"/>
              </a:rPr>
              <a:t>■ </a:t>
            </a:r>
            <a:r>
              <a:rPr sz="1300" b="0">
                <a:solidFill>
                  <a:srgbClr val="3C3C3C"/>
                </a:solidFill>
                <a:latin typeface="Inter"/>
              </a:rPr>
              <a:t>Alta ≥ 0,20   </a:t>
            </a:r>
            <a:r>
              <a:rPr sz="1300" b="0">
                <a:solidFill>
                  <a:srgbClr val="FBD5BA"/>
                </a:solidFill>
                <a:latin typeface="Inter"/>
              </a:rPr>
              <a:t>■ </a:t>
            </a:r>
            <a:r>
              <a:rPr sz="1300" b="0">
                <a:solidFill>
                  <a:srgbClr val="3C3C3C"/>
                </a:solidFill>
                <a:latin typeface="Inter"/>
              </a:rPr>
              <a:t>Media ≥ 0,08   </a:t>
            </a:r>
            <a:r>
              <a:rPr sz="1300" b="0">
                <a:solidFill>
                  <a:srgbClr val="FDEBDD"/>
                </a:solidFill>
                <a:latin typeface="Inter"/>
              </a:rPr>
              <a:t>■ </a:t>
            </a:r>
            <a:r>
              <a:rPr sz="1300" b="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1835" name="!!title"/>
          <p:cNvSpPr txBox="1"/>
          <p:nvPr/>
        </p:nvSpPr>
        <p:spPr>
          <a:xfrm>
            <a:off x="9389512" y="1188720"/>
            <a:ext cx="5486400" cy="1662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Normas y leyes</a:t>
            </a:r>
            <a:endParaRPr sz="1400"/>
          </a:p>
        </p:txBody>
      </p:sp>
      <p:sp>
        <p:nvSpPr>
          <p:cNvPr id="1836" name="!!brand"/>
          <p:cNvSpPr txBox="1"/>
          <p:nvPr/>
        </p:nvSpPr>
        <p:spPr>
          <a:xfrm>
            <a:off x="13217409" y="1000125"/>
            <a:ext cx="332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sz="1400"/>
          </a:p>
        </p:txBody>
      </p:sp>
      <p:pic>
        <p:nvPicPr>
          <p:cNvPr descr="Isotipo LafroX" id="1837" name="!!logo"/>
          <p:cNvPicPr preferRelativeResize="0"/>
          <p:nvPr/>
        </p:nvPicPr>
        <p:blipFill rotWithShape="1">
          <a:blip r:embed="rId3">
            <a:alphaModFix/>
          </a:blip>
          <a:srcRect b="0" l="0" r="0" t="0"/>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NORMA → CÓMO SE ACREDITA</a:t>
            </a:r>
            <a:endParaRPr sz="1400"/>
          </a:p>
        </p:txBody>
      </p:sp>
      <p:sp>
        <p:nvSpPr>
          <p:cNvPr id="1839" name="Google Shape;1839;hc7cc306779174be_4_255"/>
          <p:cNvSpPr/>
          <p:nvPr/>
        </p:nvSpPr>
        <p:spPr>
          <a:xfrm>
            <a:off x="731520" y="169164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25010</a:t>
            </a:r>
            <a:endParaRPr sz="1400"/>
          </a:p>
        </p:txBody>
      </p:sp>
      <p:sp>
        <p:nvSpPr>
          <p:cNvPr id="1841" name="Google Shape;1841;hc7cc306779174be_4_255"/>
          <p:cNvSpPr txBox="1"/>
          <p:nvPr/>
        </p:nvSpPr>
        <p:spPr>
          <a:xfrm>
            <a:off x="3657600" y="169164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8 características con umbral</a:t>
            </a:r>
            <a:endParaRPr sz="1400"/>
          </a:p>
        </p:txBody>
      </p:sp>
      <p:sp>
        <p:nvSpPr>
          <p:cNvPr id="1842" name="Google Shape;1842;hc7cc306779174be_4_255"/>
          <p:cNvSpPr/>
          <p:nvPr/>
        </p:nvSpPr>
        <p:spPr>
          <a:xfrm>
            <a:off x="731520" y="258775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25012</a:t>
            </a:r>
            <a:endParaRPr sz="1400"/>
          </a:p>
        </p:txBody>
      </p:sp>
      <p:sp>
        <p:nvSpPr>
          <p:cNvPr id="1844" name="Google Shape;1844;hc7cc306779174be_4_255"/>
          <p:cNvSpPr txBox="1"/>
          <p:nvPr/>
        </p:nvSpPr>
        <p:spPr>
          <a:xfrm>
            <a:off x="3657600" y="258775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Datos medidos y conciliados</a:t>
            </a:r>
            <a:endParaRPr sz="1400"/>
          </a:p>
        </p:txBody>
      </p:sp>
      <p:sp>
        <p:nvSpPr>
          <p:cNvPr id="1845" name="Google Shape;1845;hc7cc306779174be_4_255"/>
          <p:cNvSpPr/>
          <p:nvPr/>
        </p:nvSpPr>
        <p:spPr>
          <a:xfrm>
            <a:off x="731520" y="3483864"/>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29119</a:t>
            </a:r>
            <a:endParaRPr sz="1400"/>
          </a:p>
        </p:txBody>
      </p:sp>
      <p:sp>
        <p:nvSpPr>
          <p:cNvPr id="1847" name="Google Shape;1847;hc7cc306779174be_4_255"/>
          <p:cNvSpPr txBox="1"/>
          <p:nvPr/>
        </p:nvSpPr>
        <p:spPr>
          <a:xfrm>
            <a:off x="3657600" y="3483864"/>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Proceso de pruebas en 3 niveles</a:t>
            </a:r>
            <a:endParaRPr sz="1400"/>
          </a:p>
        </p:txBody>
      </p:sp>
      <p:sp>
        <p:nvSpPr>
          <p:cNvPr id="1848" name="Google Shape;1848;hc7cc306779174be_4_255"/>
          <p:cNvSpPr/>
          <p:nvPr/>
        </p:nvSpPr>
        <p:spPr>
          <a:xfrm>
            <a:off x="731520" y="4379976"/>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PMBOK cap. 8</a:t>
            </a:r>
            <a:endParaRPr sz="1400"/>
          </a:p>
        </p:txBody>
      </p:sp>
      <p:sp>
        <p:nvSpPr>
          <p:cNvPr id="1850" name="Google Shape;1850;hc7cc306779174be_4_255"/>
          <p:cNvSpPr txBox="1"/>
          <p:nvPr/>
        </p:nvSpPr>
        <p:spPr>
          <a:xfrm>
            <a:off x="3657600" y="4379976"/>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Planificar, gestionar y controlar</a:t>
            </a:r>
            <a:endParaRPr sz="1400"/>
          </a:p>
        </p:txBody>
      </p:sp>
      <p:sp>
        <p:nvSpPr>
          <p:cNvPr id="1851" name="Google Shape;1851;hc7cc306779174be_4_255"/>
          <p:cNvSpPr/>
          <p:nvPr/>
        </p:nvSpPr>
        <p:spPr>
          <a:xfrm>
            <a:off x="731520" y="5276088"/>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WCAG 2.2 AA</a:t>
            </a:r>
            <a:endParaRPr sz="1400"/>
          </a:p>
        </p:txBody>
      </p:sp>
      <p:sp>
        <p:nvSpPr>
          <p:cNvPr id="1853" name="Google Shape;1853;hc7cc306779174be_4_255"/>
          <p:cNvSpPr txBox="1"/>
          <p:nvPr/>
        </p:nvSpPr>
        <p:spPr>
          <a:xfrm>
            <a:off x="3657600" y="5276088"/>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Herramienta + revisión manual</a:t>
            </a:r>
            <a:endParaRPr sz="1400"/>
          </a:p>
        </p:txBody>
      </p:sp>
      <p:sp>
        <p:nvSpPr>
          <p:cNvPr id="1854" name="Google Shape;1854;hc7cc306779174be_4_255"/>
          <p:cNvSpPr/>
          <p:nvPr/>
        </p:nvSpPr>
        <p:spPr>
          <a:xfrm>
            <a:off x="731520" y="617220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OWASP</a:t>
            </a:r>
            <a:endParaRPr sz="1400"/>
          </a:p>
        </p:txBody>
      </p:sp>
      <p:sp>
        <p:nvSpPr>
          <p:cNvPr id="1856" name="Google Shape;1856;hc7cc306779174be_4_255"/>
          <p:cNvSpPr txBox="1"/>
          <p:nvPr/>
        </p:nvSpPr>
        <p:spPr>
          <a:xfrm>
            <a:off x="3657600" y="617220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Análisis estático y dinámico</a:t>
            </a:r>
            <a:endParaRPr sz="1400"/>
          </a:p>
        </p:txBody>
      </p:sp>
      <p:sp>
        <p:nvSpPr>
          <p:cNvPr id="1857" name="Google Shape;1857;hc7cc306779174be_4_255"/>
          <p:cNvSpPr/>
          <p:nvPr/>
        </p:nvSpPr>
        <p:spPr>
          <a:xfrm>
            <a:off x="731520" y="706831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 9001</a:t>
            </a:r>
            <a:endParaRPr sz="1400"/>
          </a:p>
        </p:txBody>
      </p:sp>
      <p:sp>
        <p:nvSpPr>
          <p:cNvPr id="1859" name="Google Shape;1859;hc7cc306779174be_4_255"/>
          <p:cNvSpPr txBox="1"/>
          <p:nvPr/>
        </p:nvSpPr>
        <p:spPr>
          <a:xfrm>
            <a:off x="3657600" y="706831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Marco de auditoría</a:t>
            </a:r>
            <a:endParaRPr sz="1400"/>
          </a:p>
        </p:txBody>
      </p:sp>
      <p:sp>
        <p:nvSpPr>
          <p:cNvPr id="1860" name="Google Shape;1860;hc7cc306779174be_4_255"/>
          <p:cNvSpPr/>
          <p:nvPr/>
        </p:nvSpPr>
        <p:spPr>
          <a:xfrm>
            <a:off x="731520" y="7964423"/>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CMMI-DEV N3</a:t>
            </a:r>
            <a:endParaRPr sz="1400"/>
          </a:p>
        </p:txBody>
      </p:sp>
      <p:sp>
        <p:nvSpPr>
          <p:cNvPr id="1862" name="Google Shape;1862;hc7cc306779174be_4_255"/>
          <p:cNvSpPr txBox="1"/>
          <p:nvPr/>
        </p:nvSpPr>
        <p:spPr>
          <a:xfrm>
            <a:off x="3657600" y="7964423"/>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Madurez del proceso</a:t>
            </a:r>
            <a:endParaRPr sz="1400"/>
          </a:p>
        </p:txBody>
      </p:sp>
      <p:sp>
        <p:nvSpPr>
          <p:cNvPr id="1863" name="Google Shape;1863;hc7cc306779174be_4_255"/>
          <p:cNvSpPr txBox="1"/>
          <p:nvPr/>
        </p:nvSpPr>
        <p:spPr>
          <a:xfrm>
            <a:off x="9390888" y="365760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LEYES</a:t>
            </a:r>
            <a:endParaRPr sz="1400"/>
          </a:p>
        </p:txBody>
      </p:sp>
      <p:sp>
        <p:nvSpPr>
          <p:cNvPr id="1864" name="Google Shape;1864;hc7cc306779174be_4_255"/>
          <p:cNvSpPr txBox="1"/>
          <p:nvPr/>
        </p:nvSpPr>
        <p:spPr>
          <a:xfrm>
            <a:off x="9390888" y="40690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Decreto 977</a:t>
            </a:r>
            <a:endParaRPr sz="1400"/>
          </a:p>
        </p:txBody>
      </p:sp>
      <p:sp>
        <p:nvSpPr>
          <p:cNvPr id="1865" name="Google Shape;1865;hc7cc306779174be_4_255"/>
          <p:cNvSpPr txBox="1"/>
          <p:nvPr/>
        </p:nvSpPr>
        <p:spPr>
          <a:xfrm>
            <a:off x="9390888" y="44348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 −18 °C registrado y retiro expedito</a:t>
            </a:r>
            <a:endParaRPr sz="1400"/>
          </a:p>
        </p:txBody>
      </p:sp>
      <p:sp>
        <p:nvSpPr>
          <p:cNvPr id="1866" name="Google Shape;1866;hc7cc306779174be_4_255"/>
          <p:cNvSpPr txBox="1"/>
          <p:nvPr/>
        </p:nvSpPr>
        <p:spPr>
          <a:xfrm>
            <a:off x="9390888" y="49834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SII · DTE</a:t>
            </a:r>
            <a:endParaRPr sz="1400"/>
          </a:p>
        </p:txBody>
      </p:sp>
      <p:sp>
        <p:nvSpPr>
          <p:cNvPr id="1867" name="Google Shape;1867;hc7cc306779174be_4_255"/>
          <p:cNvSpPr txBox="1"/>
          <p:nvPr/>
        </p:nvSpPr>
        <p:spPr>
          <a:xfrm>
            <a:off x="9390888" y="53492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Guía electrónica y acuse de recibo</a:t>
            </a:r>
            <a:endParaRPr sz="1400"/>
          </a:p>
        </p:txBody>
      </p:sp>
      <p:sp>
        <p:nvSpPr>
          <p:cNvPr id="1868" name="Google Shape;1868;hc7cc306779174be_4_255"/>
          <p:cNvSpPr txBox="1"/>
          <p:nvPr/>
        </p:nvSpPr>
        <p:spPr>
          <a:xfrm>
            <a:off x="9390888" y="58978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Art. 25 bis</a:t>
            </a:r>
            <a:endParaRPr sz="1400"/>
          </a:p>
        </p:txBody>
      </p:sp>
      <p:sp>
        <p:nvSpPr>
          <p:cNvPr id="1869" name="Google Shape;1869;hc7cc306779174be_4_255"/>
          <p:cNvSpPr txBox="1"/>
          <p:nvPr/>
        </p:nvSpPr>
        <p:spPr>
          <a:xfrm>
            <a:off x="9390888" y="62636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Jornada de conductores en el ruteo</a:t>
            </a:r>
            <a:endParaRPr sz="1400"/>
          </a:p>
        </p:txBody>
      </p:sp>
      <p:sp>
        <p:nvSpPr>
          <p:cNvPr id="1870" name="Google Shape;1870;hc7cc306779174be_4_255"/>
          <p:cNvSpPr txBox="1"/>
          <p:nvPr/>
        </p:nvSpPr>
        <p:spPr>
          <a:xfrm>
            <a:off x="9390888" y="68122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Ley 21.719</a:t>
            </a:r>
            <a:endParaRPr sz="1400"/>
          </a:p>
        </p:txBody>
      </p:sp>
      <p:sp>
        <p:nvSpPr>
          <p:cNvPr id="1871" name="Google Shape;1871;hc7cc306779174be_4_255"/>
          <p:cNvSpPr txBox="1"/>
          <p:nvPr/>
        </p:nvSpPr>
        <p:spPr>
          <a:xfrm>
            <a:off x="9390888" y="71780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Datos personales, desde dic-2026</a:t>
            </a:r>
            <a:endParaRPr sz="1400"/>
          </a:p>
        </p:txBody>
      </p:sp>
      <p:sp>
        <p:nvSpPr>
          <p:cNvPr id="1872" name="Google Shape;1872;hc7cc306779174be_4_255"/>
          <p:cNvSpPr txBox="1"/>
          <p:nvPr/>
        </p:nvSpPr>
        <p:spPr>
          <a:xfrm>
            <a:off x="9390888" y="7726679"/>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GS1 · EDI</a:t>
            </a:r>
            <a:endParaRPr sz="1400"/>
          </a:p>
        </p:txBody>
      </p:sp>
      <p:sp>
        <p:nvSpPr>
          <p:cNvPr id="1873" name="Google Shape;1873;hc7cc306779174be_4_255"/>
          <p:cNvSpPr txBox="1"/>
          <p:nvPr/>
        </p:nvSpPr>
        <p:spPr>
          <a:xfrm>
            <a:off x="9390888" y="80924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GTIN, GLN y SSCC</a:t>
            </a:r>
            <a:endParaRPr sz="1400"/>
          </a:p>
        </p:txBody>
      </p:sp>
      <p:sp>
        <p:nvSpPr>
          <p:cNvPr id="187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0"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Calidad del producto</a:t>
            </a:r>
            <a:endParaRPr sz="140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5" name="Google Shape;1885;hc7cc306779174be_4_489"/>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886" name="Google Shape;1886;hc7cc306779174be_4_489"/>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4 objetivos medibles · 8 características ISO/IEC 25010, cada una con su umbral</a:t>
            </a:r>
            <a:endParaRPr sz="1400"/>
          </a:p>
        </p:txBody>
      </p:sp>
      <p:sp>
        <p:nvSpPr>
          <p:cNvPr id="1887" name="Google Shape;1887;hc7cc306779174be_4_489"/>
          <p:cNvSpPr/>
          <p:nvPr/>
        </p:nvSpPr>
        <p:spPr>
          <a:xfrm>
            <a:off x="91440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100 %</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requisitos con prueba aprobada</a:t>
            </a:r>
            <a:endParaRPr sz="1400"/>
          </a:p>
        </p:txBody>
      </p:sp>
      <p:sp>
        <p:nvSpPr>
          <p:cNvPr id="1888" name="Google Shape;1888;hc7cc306779174be_4_489"/>
          <p:cNvSpPr/>
          <p:nvPr/>
        </p:nvSpPr>
        <p:spPr>
          <a:xfrm>
            <a:off x="507492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defectos críticos o altos al cierre</a:t>
            </a:r>
            <a:endParaRPr sz="1400"/>
          </a:p>
        </p:txBody>
      </p:sp>
      <p:sp>
        <p:nvSpPr>
          <p:cNvPr id="1889" name="Google Shape;1889;hc7cc306779174be_4_489"/>
          <p:cNvSpPr/>
          <p:nvPr/>
        </p:nvSpPr>
        <p:spPr>
          <a:xfrm>
            <a:off x="923544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 min</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 caída entre 05:30 y 07:00</a:t>
            </a:r>
            <a:endParaRPr sz="1400"/>
          </a:p>
        </p:txBody>
      </p:sp>
      <p:sp>
        <p:nvSpPr>
          <p:cNvPr id="1890" name="Google Shape;1890;hc7cc306779174be_4_489"/>
          <p:cNvSpPr/>
          <p:nvPr/>
        </p:nvSpPr>
        <p:spPr>
          <a:xfrm>
            <a:off x="13395959"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16 de 16</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resultados del Caso</a:t>
            </a:r>
            <a:endParaRPr sz="1400"/>
          </a:p>
        </p:txBody>
      </p:sp>
      <p:sp>
        <p:nvSpPr>
          <p:cNvPr id="1891" name="Google Shape;1891;hc7cc306779174be_4_489"/>
          <p:cNvSpPr/>
          <p:nvPr/>
        </p:nvSpPr>
        <p:spPr>
          <a:xfrm>
            <a:off x="91440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Funcionalidad</a:t>
            </a:r>
            <a:endParaRPr sz="1400"/>
          </a:p>
        </p:txBody>
      </p:sp>
      <p:sp>
        <p:nvSpPr>
          <p:cNvPr id="1893" name="Google Shape;1893;hc7cc306779174be_4_489"/>
          <p:cNvSpPr txBox="1"/>
          <p:nvPr/>
        </p:nvSpPr>
        <p:spPr>
          <a:xfrm>
            <a:off x="114300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100 % de requisitos probados</a:t>
            </a:r>
            <a:endParaRPr sz="1400"/>
          </a:p>
        </p:txBody>
      </p:sp>
      <p:sp>
        <p:nvSpPr>
          <p:cNvPr id="1894" name="Google Shape;1894;hc7cc306779174be_4_489"/>
          <p:cNvSpPr/>
          <p:nvPr/>
        </p:nvSpPr>
        <p:spPr>
          <a:xfrm>
            <a:off x="5074920" y="470916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Desempeño</a:t>
            </a:r>
            <a:endParaRPr sz="1400"/>
          </a:p>
        </p:txBody>
      </p:sp>
      <p:sp>
        <p:nvSpPr>
          <p:cNvPr id="1896" name="Google Shape;1896;hc7cc306779174be_4_489"/>
          <p:cNvSpPr txBox="1"/>
          <p:nvPr/>
        </p:nvSpPr>
        <p:spPr>
          <a:xfrm>
            <a:off x="5303520" y="536752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p95: preparación ≤ 1 s · preventa ≤ 1,5 s</a:t>
            </a:r>
            <a:endParaRPr sz="1400"/>
          </a:p>
        </p:txBody>
      </p:sp>
      <p:sp>
        <p:nvSpPr>
          <p:cNvPr id="1897" name="Google Shape;1897;hc7cc306779174be_4_489"/>
          <p:cNvSpPr/>
          <p:nvPr/>
        </p:nvSpPr>
        <p:spPr>
          <a:xfrm>
            <a:off x="923544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Compatibilidad</a:t>
            </a:r>
            <a:endParaRPr sz="1400"/>
          </a:p>
        </p:txBody>
      </p:sp>
      <p:sp>
        <p:nvSpPr>
          <p:cNvPr id="1899" name="Google Shape;1899;hc7cc306779174be_4_489"/>
          <p:cNvSpPr txBox="1"/>
          <p:nvPr/>
        </p:nvSpPr>
        <p:spPr>
          <a:xfrm>
            <a:off x="946404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15 de 15 integraciones</a:t>
            </a:r>
            <a:endParaRPr sz="1400"/>
          </a:p>
        </p:txBody>
      </p:sp>
      <p:sp>
        <p:nvSpPr>
          <p:cNvPr id="1900" name="Google Shape;1900;hc7cc306779174be_4_489"/>
          <p:cNvSpPr/>
          <p:nvPr/>
        </p:nvSpPr>
        <p:spPr>
          <a:xfrm>
            <a:off x="13395959"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Usabilidad</a:t>
            </a:r>
            <a:endParaRPr sz="1400"/>
          </a:p>
        </p:txBody>
      </p:sp>
      <p:sp>
        <p:nvSpPr>
          <p:cNvPr id="1902" name="Google Shape;1902;hc7cc306779174be_4_489"/>
          <p:cNvSpPr txBox="1"/>
          <p:nvPr/>
        </p:nvSpPr>
        <p:spPr>
          <a:xfrm>
            <a:off x="13624559"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WCAG 2.2 AA · guantes a −22 °C</a:t>
            </a:r>
            <a:endParaRPr sz="1400"/>
          </a:p>
        </p:txBody>
      </p:sp>
      <p:sp>
        <p:nvSpPr>
          <p:cNvPr id="1903" name="Google Shape;1903;hc7cc306779174be_4_489"/>
          <p:cNvSpPr/>
          <p:nvPr/>
        </p:nvSpPr>
        <p:spPr>
          <a:xfrm>
            <a:off x="914400" y="649224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Fiabilidad</a:t>
            </a:r>
            <a:endParaRPr sz="1400"/>
          </a:p>
        </p:txBody>
      </p:sp>
      <p:sp>
        <p:nvSpPr>
          <p:cNvPr id="1905" name="Google Shape;1905;hc7cc306779174be_4_489"/>
          <p:cNvSpPr txBox="1"/>
          <p:nvPr/>
        </p:nvSpPr>
        <p:spPr>
          <a:xfrm>
            <a:off x="114300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 99,9 % · RTO ≤ 4 h · RPO ≤ 15 min</a:t>
            </a:r>
            <a:endParaRPr sz="1400"/>
          </a:p>
        </p:txBody>
      </p:sp>
      <p:sp>
        <p:nvSpPr>
          <p:cNvPr id="1906" name="Google Shape;1906;hc7cc306779174be_4_489"/>
          <p:cNvSpPr/>
          <p:nvPr/>
        </p:nvSpPr>
        <p:spPr>
          <a:xfrm>
            <a:off x="507492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Seguridad</a:t>
            </a:r>
            <a:endParaRPr sz="1400"/>
          </a:p>
        </p:txBody>
      </p:sp>
      <p:sp>
        <p:nvSpPr>
          <p:cNvPr id="1908" name="Google Shape;1908;hc7cc306779174be_4_489"/>
          <p:cNvSpPr txBox="1"/>
          <p:nvPr/>
        </p:nvSpPr>
        <p:spPr>
          <a:xfrm>
            <a:off x="530352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0 hallazgos críticos o altos</a:t>
            </a:r>
            <a:endParaRPr sz="1400"/>
          </a:p>
        </p:txBody>
      </p:sp>
      <p:sp>
        <p:nvSpPr>
          <p:cNvPr id="1909" name="Google Shape;1909;hc7cc306779174be_4_489"/>
          <p:cNvSpPr/>
          <p:nvPr/>
        </p:nvSpPr>
        <p:spPr>
          <a:xfrm>
            <a:off x="923544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Mantenibilidad</a:t>
            </a:r>
            <a:endParaRPr sz="1400"/>
          </a:p>
        </p:txBody>
      </p:sp>
      <p:sp>
        <p:nvSpPr>
          <p:cNvPr id="1911" name="Google Shape;1911;hc7cc306779174be_4_489"/>
          <p:cNvSpPr txBox="1"/>
          <p:nvPr/>
        </p:nvSpPr>
        <p:spPr>
          <a:xfrm>
            <a:off x="9464040" y="715060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Cobertura 70 % negocio · 80 % global</a:t>
            </a:r>
            <a:endParaRPr sz="1400"/>
          </a:p>
        </p:txBody>
      </p:sp>
      <p:sp>
        <p:nvSpPr>
          <p:cNvPr id="1912" name="Google Shape;1912;hc7cc306779174be_4_489"/>
          <p:cNvSpPr/>
          <p:nvPr/>
        </p:nvSpPr>
        <p:spPr>
          <a:xfrm>
            <a:off x="13395959"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Portabilidad</a:t>
            </a:r>
            <a:endParaRPr sz="1400"/>
          </a:p>
        </p:txBody>
      </p:sp>
      <p:sp>
        <p:nvSpPr>
          <p:cNvPr id="1914" name="Google Shape;1914;hc7cc306779174be_4_489"/>
          <p:cNvSpPr txBox="1"/>
          <p:nvPr/>
        </p:nvSpPr>
        <p:spPr>
          <a:xfrm>
            <a:off x="13624559"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Mismo artefacto de QA a Producción</a:t>
            </a:r>
            <a:endParaRPr sz="1400"/>
          </a:p>
        </p:txBody>
      </p:sp>
      <p:sp>
        <p:nvSpPr>
          <p:cNvPr id="19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925" name="!!title"/>
          <p:cNvSpPr txBox="1"/>
          <p:nvPr/>
        </p:nvSpPr>
        <p:spPr>
          <a:xfrm>
            <a:off x="1431044" y="1908274"/>
            <a:ext cx="8336653" cy="2790501"/>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7926">
                <a:solidFill>
                  <a:srgbClr val="111111"/>
                </a:solidFill>
                <a:latin typeface="Inter SemiBold"/>
                <a:ea typeface="Inter SemiBold"/>
                <a:cs typeface="Inter SemiBold"/>
                <a:sym typeface="Inter SemiBold"/>
              </a:rPr>
              <a:t>Calidad que bloquea</a:t>
            </a:r>
            <a:endParaRPr/>
          </a:p>
        </p:txBody>
      </p:sp>
      <p:sp>
        <p:nvSpPr>
          <p:cNvPr id="1926" name="Google Shape;1926;p31"/>
          <p:cNvSpPr txBox="1"/>
          <p:nvPr/>
        </p:nvSpPr>
        <p:spPr>
          <a:xfrm>
            <a:off x="1435608" y="4846320"/>
            <a:ext cx="758952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7 puertas. Sin excepciones.</a:t>
            </a:r>
            <a:endParaRPr/>
          </a:p>
        </p:txBody>
      </p:sp>
      <p:sp>
        <p:nvSpPr>
          <p:cNvPr id="1927" name="Google Shape;1927;p31"/>
          <p:cNvSpPr txBox="1"/>
          <p:nvPr/>
        </p:nvSpPr>
        <p:spPr>
          <a:xfrm>
            <a:off x="1435608" y="5760720"/>
            <a:ext cx="76809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ART. 17.3 · 6 CONDICIONES PARA ACEPTAR</a:t>
            </a:r>
            <a:endParaRPr/>
          </a:p>
        </p:txBody>
      </p:sp>
      <p:sp>
        <p:nvSpPr>
          <p:cNvPr id="1928" name="Google Shape;1928;p31"/>
          <p:cNvSpPr/>
          <p:nvPr/>
        </p:nvSpPr>
        <p:spPr>
          <a:xfrm>
            <a:off x="143560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1</a:t>
            </a:r>
            <a:endParaRPr/>
          </a:p>
        </p:txBody>
      </p:sp>
      <p:sp>
        <p:nvSpPr>
          <p:cNvPr id="1929" name="Google Shape;1929;p31"/>
          <p:cNvSpPr txBox="1"/>
          <p:nvPr/>
        </p:nvSpPr>
        <p:spPr>
          <a:xfrm>
            <a:off x="1984248" y="6398011"/>
            <a:ext cx="3291840" cy="26161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0 incidentes críticos o altos</a:t>
            </a:r>
            <a:endParaRPr b="0" sz="1700">
              <a:solidFill>
                <a:srgbClr val="3C3C3C"/>
              </a:solidFill>
              <a:latin typeface="Inter"/>
              <a:ea typeface="Inter"/>
              <a:cs typeface="Inter"/>
              <a:sym typeface="Inter"/>
            </a:endParaRPr>
          </a:p>
        </p:txBody>
      </p:sp>
      <p:sp>
        <p:nvSpPr>
          <p:cNvPr id="1930" name="Google Shape;1930;p31"/>
          <p:cNvSpPr/>
          <p:nvPr/>
        </p:nvSpPr>
        <p:spPr>
          <a:xfrm>
            <a:off x="536752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2</a:t>
            </a:r>
            <a:endParaRPr/>
          </a:p>
        </p:txBody>
      </p:sp>
      <p:sp>
        <p:nvSpPr>
          <p:cNvPr id="1931" name="Google Shape;1931;p31"/>
          <p:cNvSpPr txBox="1"/>
          <p:nvPr/>
        </p:nvSpPr>
        <p:spPr>
          <a:xfrm>
            <a:off x="5916168" y="6217920"/>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4 semanas de volumen real</a:t>
            </a:r>
            <a:endParaRPr/>
          </a:p>
        </p:txBody>
      </p:sp>
      <p:sp>
        <p:nvSpPr>
          <p:cNvPr id="1932" name="Google Shape;1932;p31"/>
          <p:cNvSpPr/>
          <p:nvPr/>
        </p:nvSpPr>
        <p:spPr>
          <a:xfrm>
            <a:off x="143560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3</a:t>
            </a:r>
            <a:endParaRPr/>
          </a:p>
        </p:txBody>
      </p:sp>
      <p:sp>
        <p:nvSpPr>
          <p:cNvPr id="1933" name="Google Shape;1933;p31"/>
          <p:cNvSpPr txBox="1"/>
          <p:nvPr/>
        </p:nvSpPr>
        <p:spPr>
          <a:xfrm>
            <a:off x="198424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caída en despacho</a:t>
            </a:r>
            <a:endParaRPr/>
          </a:p>
        </p:txBody>
      </p:sp>
      <p:sp>
        <p:nvSpPr>
          <p:cNvPr id="1934" name="Google Shape;1934;p31"/>
          <p:cNvSpPr/>
          <p:nvPr/>
        </p:nvSpPr>
        <p:spPr>
          <a:xfrm>
            <a:off x="536752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4</a:t>
            </a:r>
            <a:endParaRPr/>
          </a:p>
        </p:txBody>
      </p:sp>
      <p:sp>
        <p:nvSpPr>
          <p:cNvPr id="1935" name="Google Shape;1935;p31"/>
          <p:cNvSpPr txBox="1"/>
          <p:nvPr/>
        </p:nvSpPr>
        <p:spPr>
          <a:xfrm>
            <a:off x="591616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diferencias sin explicar</a:t>
            </a:r>
            <a:endParaRPr/>
          </a:p>
        </p:txBody>
      </p:sp>
      <p:sp>
        <p:nvSpPr>
          <p:cNvPr id="1936" name="Google Shape;1936;p31"/>
          <p:cNvSpPr/>
          <p:nvPr/>
        </p:nvSpPr>
        <p:spPr>
          <a:xfrm>
            <a:off x="143560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5</a:t>
            </a:r>
            <a:endParaRPr/>
          </a:p>
        </p:txBody>
      </p:sp>
      <p:sp>
        <p:nvSpPr>
          <p:cNvPr id="1937" name="Google Shape;1937;p31"/>
          <p:cNvSpPr txBox="1"/>
          <p:nvPr/>
        </p:nvSpPr>
        <p:spPr>
          <a:xfrm>
            <a:off x="198424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100 % usuarios certificados</a:t>
            </a:r>
            <a:endParaRPr/>
          </a:p>
        </p:txBody>
      </p:sp>
      <p:sp>
        <p:nvSpPr>
          <p:cNvPr id="1938" name="Google Shape;1938;p31"/>
          <p:cNvSpPr/>
          <p:nvPr/>
        </p:nvSpPr>
        <p:spPr>
          <a:xfrm>
            <a:off x="536752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6</a:t>
            </a:r>
            <a:endParaRPr/>
          </a:p>
        </p:txBody>
      </p:sp>
      <p:sp>
        <p:nvSpPr>
          <p:cNvPr id="1939" name="Google Shape;1939;p31"/>
          <p:cNvSpPr txBox="1"/>
          <p:nvPr/>
        </p:nvSpPr>
        <p:spPr>
          <a:xfrm>
            <a:off x="591616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Acta de la Contraparte</a:t>
            </a:r>
            <a:endParaRPr/>
          </a:p>
        </p:txBody>
      </p:sp>
      <p:sp>
        <p:nvSpPr>
          <p:cNvPr id="1940" name="Google Shape;1940;p31"/>
          <p:cNvSpPr/>
          <p:nvPr/>
        </p:nvSpPr>
        <p:spPr>
          <a:xfrm>
            <a:off x="9509760" y="91440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G0</a:t>
            </a:r>
            <a:endParaRPr/>
          </a:p>
        </p:txBody>
      </p:sp>
      <p:sp>
        <p:nvSpPr>
          <p:cNvPr id="1942" name="Google Shape;1942;p31"/>
          <p:cNvSpPr txBox="1"/>
          <p:nvPr/>
        </p:nvSpPr>
        <p:spPr>
          <a:xfrm>
            <a:off x="10561320" y="9875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Compromiso local</a:t>
            </a:r>
            <a:endParaRPr/>
          </a:p>
        </p:txBody>
      </p:sp>
      <p:sp>
        <p:nvSpPr>
          <p:cNvPr id="1943" name="Google Shape;1943;p31"/>
          <p:cNvSpPr txBox="1"/>
          <p:nvPr/>
        </p:nvSpPr>
        <p:spPr>
          <a:xfrm>
            <a:off x="10561320" y="14173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Formato y pruebas</a:t>
            </a:r>
            <a:endParaRPr/>
          </a:p>
        </p:txBody>
      </p:sp>
      <p:sp>
        <p:nvSpPr>
          <p:cNvPr id="1944" name="Google Shape;1944;p31"/>
          <p:cNvSpPr/>
          <p:nvPr/>
        </p:nvSpPr>
        <p:spPr>
          <a:xfrm>
            <a:off x="9509760" y="201168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G1</a:t>
            </a:r>
            <a:endParaRPr/>
          </a:p>
        </p:txBody>
      </p:sp>
      <p:sp>
        <p:nvSpPr>
          <p:cNvPr id="1946" name="Google Shape;1946;p31"/>
          <p:cNvSpPr txBox="1"/>
          <p:nvPr/>
        </p:nvSpPr>
        <p:spPr>
          <a:xfrm>
            <a:off x="10561320" y="208483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Solicitud de fusión</a:t>
            </a:r>
            <a:endParaRPr/>
          </a:p>
        </p:txBody>
      </p:sp>
      <p:sp>
        <p:nvSpPr>
          <p:cNvPr id="1947" name="Google Shape;1947;p31"/>
          <p:cNvSpPr txBox="1"/>
          <p:nvPr/>
        </p:nvSpPr>
        <p:spPr>
          <a:xfrm>
            <a:off x="10561320" y="25146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Revisión por pares</a:t>
            </a:r>
            <a:endParaRPr/>
          </a:p>
        </p:txBody>
      </p:sp>
      <p:sp>
        <p:nvSpPr>
          <p:cNvPr id="1948" name="Google Shape;1948;p31"/>
          <p:cNvSpPr/>
          <p:nvPr/>
        </p:nvSpPr>
        <p:spPr>
          <a:xfrm>
            <a:off x="9509760" y="310896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G2</a:t>
            </a:r>
            <a:endParaRPr/>
          </a:p>
        </p:txBody>
      </p:sp>
      <p:sp>
        <p:nvSpPr>
          <p:cNvPr id="1950" name="Google Shape;1950;p31"/>
          <p:cNvSpPr txBox="1"/>
          <p:nvPr/>
        </p:nvSpPr>
        <p:spPr>
          <a:xfrm>
            <a:off x="10561320" y="318211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Integración continua</a:t>
            </a:r>
            <a:endParaRPr/>
          </a:p>
        </p:txBody>
      </p:sp>
      <p:sp>
        <p:nvSpPr>
          <p:cNvPr id="1951" name="Google Shape;1951;p31"/>
          <p:cNvSpPr txBox="1"/>
          <p:nvPr/>
        </p:nvSpPr>
        <p:spPr>
          <a:xfrm>
            <a:off x="10561320" y="361188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Cobertura · complejidad · contratos</a:t>
            </a:r>
            <a:endParaRPr/>
          </a:p>
        </p:txBody>
      </p:sp>
      <p:sp>
        <p:nvSpPr>
          <p:cNvPr id="1952" name="Google Shape;1952;p31"/>
          <p:cNvSpPr/>
          <p:nvPr/>
        </p:nvSpPr>
        <p:spPr>
          <a:xfrm>
            <a:off x="9509760" y="420624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G3</a:t>
            </a:r>
            <a:endParaRPr/>
          </a:p>
        </p:txBody>
      </p:sp>
      <p:sp>
        <p:nvSpPr>
          <p:cNvPr id="1954" name="Google Shape;1954;p31"/>
          <p:cNvSpPr txBox="1"/>
          <p:nvPr/>
        </p:nvSpPr>
        <p:spPr>
          <a:xfrm>
            <a:off x="10561320" y="427939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Promoción a QA</a:t>
            </a:r>
            <a:endParaRPr/>
          </a:p>
        </p:txBody>
      </p:sp>
      <p:sp>
        <p:nvSpPr>
          <p:cNvPr id="1955" name="Google Shape;1955;p31"/>
          <p:cNvSpPr txBox="1"/>
          <p:nvPr/>
        </p:nvSpPr>
        <p:spPr>
          <a:xfrm>
            <a:off x="10561320" y="4709159"/>
            <a:ext cx="66751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Sin vulnerabilidades críticas o altas</a:t>
            </a:r>
            <a:endParaRPr b="0" sz="1600">
              <a:solidFill>
                <a:srgbClr val="606060"/>
              </a:solidFill>
              <a:latin typeface="Inter"/>
              <a:ea typeface="Inter"/>
              <a:cs typeface="Inter"/>
              <a:sym typeface="Inter"/>
            </a:endParaRPr>
          </a:p>
        </p:txBody>
      </p:sp>
      <p:sp>
        <p:nvSpPr>
          <p:cNvPr id="1956" name="Google Shape;1956;p31"/>
          <p:cNvSpPr/>
          <p:nvPr/>
        </p:nvSpPr>
        <p:spPr>
          <a:xfrm>
            <a:off x="9509760" y="530352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G4</a:t>
            </a:r>
            <a:endParaRPr/>
          </a:p>
        </p:txBody>
      </p:sp>
      <p:sp>
        <p:nvSpPr>
          <p:cNvPr id="1958" name="Google Shape;1958;p31"/>
          <p:cNvSpPr txBox="1"/>
          <p:nvPr/>
        </p:nvSpPr>
        <p:spPr>
          <a:xfrm>
            <a:off x="10561320" y="537667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Preproducción</a:t>
            </a:r>
            <a:endParaRPr/>
          </a:p>
        </p:txBody>
      </p:sp>
      <p:sp>
        <p:nvSpPr>
          <p:cNvPr id="1959" name="Google Shape;1959;p31"/>
          <p:cNvSpPr txBox="1"/>
          <p:nvPr/>
        </p:nvSpPr>
        <p:spPr>
          <a:xfrm>
            <a:off x="10561320" y="580644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Regresión · DAST · WCAG</a:t>
            </a:r>
            <a:endParaRPr/>
          </a:p>
        </p:txBody>
      </p:sp>
      <p:sp>
        <p:nvSpPr>
          <p:cNvPr id="1960" name="Google Shape;1960;p31"/>
          <p:cNvSpPr/>
          <p:nvPr/>
        </p:nvSpPr>
        <p:spPr>
          <a:xfrm>
            <a:off x="9509760" y="6400800"/>
            <a:ext cx="7863840" cy="96012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G5</a:t>
            </a:r>
            <a:endParaRPr/>
          </a:p>
        </p:txBody>
      </p:sp>
      <p:sp>
        <p:nvSpPr>
          <p:cNvPr id="1962" name="Google Shape;1962;p31"/>
          <p:cNvSpPr txBox="1"/>
          <p:nvPr/>
        </p:nvSpPr>
        <p:spPr>
          <a:xfrm>
            <a:off x="10561320" y="64739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FFFFF"/>
                </a:solidFill>
                <a:latin typeface="Inter SemiBold"/>
                <a:ea typeface="Inter SemiBold"/>
                <a:cs typeface="Inter SemiBold"/>
                <a:sym typeface="Inter SemiBold"/>
              </a:rPr>
              <a:t>Entrada a Producción</a:t>
            </a:r>
            <a:endParaRPr/>
          </a:p>
        </p:txBody>
      </p:sp>
      <p:sp>
        <p:nvSpPr>
          <p:cNvPr id="1963" name="Google Shape;1963;p31"/>
          <p:cNvSpPr txBox="1"/>
          <p:nvPr/>
        </p:nvSpPr>
        <p:spPr>
          <a:xfrm>
            <a:off x="10561320" y="69037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C7C7C7"/>
                </a:solidFill>
                <a:latin typeface="Inter"/>
                <a:ea typeface="Inter"/>
                <a:cs typeface="Inter"/>
                <a:sym typeface="Inter"/>
              </a:rPr>
              <a:t>Pruebas habilitantes · reversión</a:t>
            </a:r>
            <a:endParaRPr/>
          </a:p>
        </p:txBody>
      </p:sp>
      <p:sp>
        <p:nvSpPr>
          <p:cNvPr id="1964" name="Google Shape;1964;p31"/>
          <p:cNvSpPr/>
          <p:nvPr/>
        </p:nvSpPr>
        <p:spPr>
          <a:xfrm>
            <a:off x="9509760" y="7498079"/>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G6</a:t>
            </a:r>
            <a:endParaRPr/>
          </a:p>
        </p:txBody>
      </p:sp>
      <p:sp>
        <p:nvSpPr>
          <p:cNvPr id="1966" name="Google Shape;1966;p31"/>
          <p:cNvSpPr txBox="1"/>
          <p:nvPr/>
        </p:nvSpPr>
        <p:spPr>
          <a:xfrm>
            <a:off x="10561320" y="7571231"/>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Producción supervisada</a:t>
            </a:r>
            <a:endParaRPr/>
          </a:p>
        </p:txBody>
      </p:sp>
      <p:sp>
        <p:nvSpPr>
          <p:cNvPr id="1967" name="Google Shape;1967;p31"/>
          <p:cNvSpPr txBox="1"/>
          <p:nvPr/>
        </p:nvSpPr>
        <p:spPr>
          <a:xfrm>
            <a:off x="10561320" y="80010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Canario · presupuesto de error</a:t>
            </a:r>
            <a:endParaRPr/>
          </a:p>
        </p:txBody>
      </p:sp>
      <p:sp>
        <p:nvSpPr>
          <p:cNvPr id="19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4"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Pruebas: del código al terreno</a:t>
            </a:r>
            <a:endParaRPr sz="140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9" name="Google Shape;1979;hc7cc306779174be_4_957"/>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980" name="Google Shape;1980;hc7cc306779174be_4_957"/>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12 tipos de prueba · todas terminan en un número o en una firma</a:t>
            </a:r>
            <a:endParaRPr sz="1400"/>
          </a:p>
        </p:txBody>
      </p:sp>
      <p:sp>
        <p:nvSpPr>
          <p:cNvPr id="1981" name="Google Shape;1981;hc7cc306779174be_4_957"/>
          <p:cNvSpPr/>
          <p:nvPr/>
        </p:nvSpPr>
        <p:spPr>
          <a:xfrm>
            <a:off x="914400" y="3246120"/>
            <a:ext cx="3154800" cy="567000"/>
          </a:xfrm>
          <a:prstGeom prst="roundRect">
            <a:avLst>
              <a:gd fmla="val 2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Desarrollo</a:t>
            </a:r>
            <a:endParaRPr sz="1400"/>
          </a:p>
        </p:txBody>
      </p:sp>
      <p:sp>
        <p:nvSpPr>
          <p:cNvPr id="1982" name="Google Shape;1982;hc7cc306779174be_4_957"/>
          <p:cNvSpPr/>
          <p:nvPr/>
        </p:nvSpPr>
        <p:spPr>
          <a:xfrm>
            <a:off x="914400"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Unitarias y componente</a:t>
            </a:r>
            <a:endParaRPr sz="1400"/>
          </a:p>
        </p:txBody>
      </p:sp>
      <p:sp>
        <p:nvSpPr>
          <p:cNvPr id="1983" name="Google Shape;1983;hc7cc306779174be_4_957"/>
          <p:cNvSpPr/>
          <p:nvPr/>
        </p:nvSpPr>
        <p:spPr>
          <a:xfrm>
            <a:off x="914400"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Contratos de API</a:t>
            </a:r>
            <a:endParaRPr sz="1400"/>
          </a:p>
        </p:txBody>
      </p:sp>
      <p:cxnSp>
        <p:nvCxnSpPr>
          <p:cNvPr id="1984" name="Google Shape;1984;hc7cc306779174be_4_957"/>
          <p:cNvCxnSpPr/>
          <p:nvPr/>
        </p:nvCxnSpPr>
        <p:spPr>
          <a:xfrm>
            <a:off x="4069080"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85" name="Google Shape;1985;hc7cc306779174be_4_957"/>
          <p:cNvSpPr/>
          <p:nvPr/>
        </p:nvSpPr>
        <p:spPr>
          <a:xfrm>
            <a:off x="4242816" y="3246120"/>
            <a:ext cx="3154800" cy="567000"/>
          </a:xfrm>
          <a:prstGeom prst="roundRect">
            <a:avLst>
              <a:gd fmla="val 2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QA</a:t>
            </a:r>
            <a:endParaRPr sz="1400"/>
          </a:p>
        </p:txBody>
      </p:sp>
      <p:sp>
        <p:nvSpPr>
          <p:cNvPr id="1986" name="Google Shape;1986;hc7cc306779174be_4_957"/>
          <p:cNvSpPr/>
          <p:nvPr/>
        </p:nvSpPr>
        <p:spPr>
          <a:xfrm>
            <a:off x="4242816"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Integración de 15 flujos</a:t>
            </a:r>
            <a:endParaRPr sz="1400"/>
          </a:p>
        </p:txBody>
      </p:sp>
      <p:sp>
        <p:nvSpPr>
          <p:cNvPr id="1987" name="Google Shape;1987;hc7cc306779174be_4_957"/>
          <p:cNvSpPr/>
          <p:nvPr/>
        </p:nvSpPr>
        <p:spPr>
          <a:xfrm>
            <a:off x="4242816"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Sistema y regresión</a:t>
            </a:r>
            <a:endParaRPr sz="1400"/>
          </a:p>
        </p:txBody>
      </p:sp>
      <p:sp>
        <p:nvSpPr>
          <p:cNvPr id="1988" name="Google Shape;1988;hc7cc306779174be_4_957"/>
          <p:cNvSpPr/>
          <p:nvPr/>
        </p:nvSpPr>
        <p:spPr>
          <a:xfrm>
            <a:off x="4242816"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DAST y accesibilidad</a:t>
            </a:r>
            <a:endParaRPr sz="1400"/>
          </a:p>
        </p:txBody>
      </p:sp>
      <p:cxnSp>
        <p:nvCxnSpPr>
          <p:cNvPr id="1989" name="Google Shape;1989;hc7cc306779174be_4_957"/>
          <p:cNvCxnSpPr/>
          <p:nvPr/>
        </p:nvCxnSpPr>
        <p:spPr>
          <a:xfrm>
            <a:off x="7397496"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0" name="Google Shape;1990;hc7cc306779174be_4_957"/>
          <p:cNvSpPr/>
          <p:nvPr/>
        </p:nvSpPr>
        <p:spPr>
          <a:xfrm>
            <a:off x="7571232" y="3246120"/>
            <a:ext cx="3154800" cy="567000"/>
          </a:xfrm>
          <a:prstGeom prst="roundRect">
            <a:avLst>
              <a:gd fmla="val 2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Preproducción</a:t>
            </a:r>
            <a:endParaRPr sz="1400"/>
          </a:p>
        </p:txBody>
      </p:sp>
      <p:sp>
        <p:nvSpPr>
          <p:cNvPr id="1991" name="Google Shape;1991;hc7cc306779174be_4_957"/>
          <p:cNvSpPr/>
          <p:nvPr/>
        </p:nvSpPr>
        <p:spPr>
          <a:xfrm>
            <a:off x="7571232"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Aceptación de usuario</a:t>
            </a:r>
            <a:endParaRPr sz="1400"/>
          </a:p>
        </p:txBody>
      </p:sp>
      <p:sp>
        <p:nvSpPr>
          <p:cNvPr id="1992" name="Google Shape;1992;hc7cc306779174be_4_957"/>
          <p:cNvSpPr/>
          <p:nvPr/>
        </p:nvSpPr>
        <p:spPr>
          <a:xfrm>
            <a:off x="7571232"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Carga 1,5× y estrés</a:t>
            </a:r>
            <a:endParaRPr sz="1400"/>
          </a:p>
        </p:txBody>
      </p:sp>
      <p:sp>
        <p:nvSpPr>
          <p:cNvPr id="1993" name="Google Shape;1993;hc7cc306779174be_4_957"/>
          <p:cNvSpPr/>
          <p:nvPr/>
        </p:nvSpPr>
        <p:spPr>
          <a:xfrm>
            <a:off x="7571232"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Resiliencia: sitios 24 h</a:t>
            </a:r>
            <a:endParaRPr sz="1400"/>
          </a:p>
        </p:txBody>
      </p:sp>
      <p:sp>
        <p:nvSpPr>
          <p:cNvPr id="1994" name="Google Shape;1994;hc7cc306779174be_4_957"/>
          <p:cNvSpPr/>
          <p:nvPr/>
        </p:nvSpPr>
        <p:spPr>
          <a:xfrm>
            <a:off x="7571232" y="585215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Migración y despliegue</a:t>
            </a:r>
            <a:endParaRPr sz="1400"/>
          </a:p>
        </p:txBody>
      </p:sp>
      <p:sp>
        <p:nvSpPr>
          <p:cNvPr id="1995" name="Google Shape;1995;hc7cc306779174be_4_957"/>
          <p:cNvSpPr/>
          <p:nvPr/>
        </p:nvSpPr>
        <p:spPr>
          <a:xfrm>
            <a:off x="7571232" y="649224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Intrusión por un tercero</a:t>
            </a:r>
            <a:endParaRPr sz="1400"/>
          </a:p>
        </p:txBody>
      </p:sp>
      <p:cxnSp>
        <p:nvCxnSpPr>
          <p:cNvPr id="1996" name="Google Shape;1996;hc7cc306779174be_4_957"/>
          <p:cNvCxnSpPr/>
          <p:nvPr/>
        </p:nvCxnSpPr>
        <p:spPr>
          <a:xfrm>
            <a:off x="10725912"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7" name="Google Shape;1997;hc7cc306779174be_4_957"/>
          <p:cNvSpPr/>
          <p:nvPr/>
        </p:nvSpPr>
        <p:spPr>
          <a:xfrm>
            <a:off x="10899648" y="3246120"/>
            <a:ext cx="3154800" cy="567000"/>
          </a:xfrm>
          <a:prstGeom prst="roundRect">
            <a:avLst>
              <a:gd fmla="val 2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Terreno</a:t>
            </a:r>
            <a:endParaRPr sz="1400"/>
          </a:p>
        </p:txBody>
      </p:sp>
      <p:sp>
        <p:nvSpPr>
          <p:cNvPr id="1998" name="Google Shape;1998;hc7cc306779174be_4_957"/>
          <p:cNvSpPr/>
          <p:nvPr/>
        </p:nvSpPr>
        <p:spPr>
          <a:xfrm>
            <a:off x="10899648"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14 h sin señal</a:t>
            </a:r>
            <a:endParaRPr sz="1400"/>
          </a:p>
        </p:txBody>
      </p:sp>
      <p:sp>
        <p:nvSpPr>
          <p:cNvPr id="1999" name="Google Shape;1999;hc7cc306779174be_4_957"/>
          <p:cNvSpPr/>
          <p:nvPr/>
        </p:nvSpPr>
        <p:spPr>
          <a:xfrm>
            <a:off x="10899648"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−22 °C con guantes</a:t>
            </a:r>
            <a:endParaRPr sz="1400"/>
          </a:p>
        </p:txBody>
      </p:sp>
      <p:sp>
        <p:nvSpPr>
          <p:cNvPr id="2000" name="Google Shape;2000;hc7cc306779174be_4_957"/>
          <p:cNvSpPr/>
          <p:nvPr/>
        </p:nvSpPr>
        <p:spPr>
          <a:xfrm>
            <a:off x="10899648"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Lluvia · &gt; 34 °C · una mano</a:t>
            </a:r>
            <a:endParaRPr sz="1400"/>
          </a:p>
        </p:txBody>
      </p:sp>
      <p:cxnSp>
        <p:nvCxnSpPr>
          <p:cNvPr id="2001" name="Google Shape;2001;hc7cc306779174be_4_957"/>
          <p:cNvCxnSpPr/>
          <p:nvPr/>
        </p:nvCxnSpPr>
        <p:spPr>
          <a:xfrm>
            <a:off x="14054328"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2002" name="Google Shape;2002;hc7cc306779174be_4_957"/>
          <p:cNvSpPr/>
          <p:nvPr/>
        </p:nvSpPr>
        <p:spPr>
          <a:xfrm>
            <a:off x="14228064" y="3246120"/>
            <a:ext cx="3154800" cy="567000"/>
          </a:xfrm>
          <a:prstGeom prst="roundRect">
            <a:avLst>
              <a:gd fmla="val 20000" name="adj"/>
            </a:avLst>
          </a:prstGeom>
          <a:solidFill>
            <a:srgbClr val="B84A0F"/>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Producción</a:t>
            </a:r>
            <a:endParaRPr sz="1400"/>
          </a:p>
        </p:txBody>
      </p:sp>
      <p:sp>
        <p:nvSpPr>
          <p:cNvPr id="2003" name="Google Shape;2003;hc7cc306779174be_4_957"/>
          <p:cNvSpPr/>
          <p:nvPr/>
        </p:nvSpPr>
        <p:spPr>
          <a:xfrm>
            <a:off x="14228064"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Recuperación: RTO ≤ 4 h</a:t>
            </a:r>
            <a:endParaRPr sz="1400"/>
          </a:p>
        </p:txBody>
      </p:sp>
      <p:sp>
        <p:nvSpPr>
          <p:cNvPr id="2004" name="Google Shape;2004;hc7cc306779174be_4_957"/>
          <p:cNvSpPr/>
          <p:nvPr/>
        </p:nvSpPr>
        <p:spPr>
          <a:xfrm>
            <a:off x="14228064"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Marcha blanca: indicadores diarios</a:t>
            </a:r>
            <a:endParaRPr sz="1400"/>
          </a:p>
        </p:txBody>
      </p:sp>
      <p:sp>
        <p:nvSpPr>
          <p:cNvPr id="2005" name="Google Shape;2005;hc7cc306779174be_4_957"/>
          <p:cNvSpPr/>
          <p:nvPr/>
        </p:nvSpPr>
        <p:spPr>
          <a:xfrm>
            <a:off x="91440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1.316 casos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80 % automatizados</a:t>
            </a:r>
            <a:endParaRPr sz="1400"/>
          </a:p>
        </p:txBody>
      </p:sp>
      <p:sp>
        <p:nvSpPr>
          <p:cNvPr id="2006" name="Google Shape;2006;hc7cc306779174be_4_957"/>
          <p:cNvSpPr/>
          <p:nvPr/>
        </p:nvSpPr>
        <p:spPr>
          <a:xfrm>
            <a:off x="507492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21,99 TPS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carga = 1,5 × peak de septiembre</a:t>
            </a:r>
            <a:endParaRPr sz="1400"/>
          </a:p>
        </p:txBody>
      </p:sp>
      <p:sp>
        <p:nvSpPr>
          <p:cNvPr id="2007" name="Google Shape;2007;hc7cc306779174be_4_957"/>
          <p:cNvSpPr/>
          <p:nvPr/>
        </p:nvSpPr>
        <p:spPr>
          <a:xfrm>
            <a:off x="923544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4,4 h</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regresión completa, en una noche</a:t>
            </a:r>
            <a:endParaRPr sz="1400"/>
          </a:p>
        </p:txBody>
      </p:sp>
      <p:sp>
        <p:nvSpPr>
          <p:cNvPr id="2008" name="Google Shape;2008;hc7cc306779174be_4_957"/>
          <p:cNvSpPr/>
          <p:nvPr/>
        </p:nvSpPr>
        <p:spPr>
          <a:xfrm>
            <a:off x="13395959"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0 datos reales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en pruebas sin anonimizar</a:t>
            </a:r>
            <a:endParaRPr sz="1400"/>
          </a:p>
        </p:txBody>
      </p:sp>
      <p:sp>
        <p:nvSpPr>
          <p:cNvPr id="200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018" name="!!title"/>
          <p:cNvSpPr txBox="1"/>
          <p:nvPr/>
        </p:nvSpPr>
        <p:spPr>
          <a:xfrm>
            <a:off x="1431044" y="1908274"/>
            <a:ext cx="8336400" cy="2847900"/>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8000">
                <a:solidFill>
                  <a:srgbClr val="111111"/>
                </a:solidFill>
                <a:latin typeface="Inter SemiBold"/>
                <a:ea typeface="Inter SemiBold"/>
                <a:cs typeface="Inter SemiBold"/>
                <a:sym typeface="Inter SemiBold"/>
              </a:rPr>
              <a:t>Trazabilidad y mejora</a:t>
            </a:r>
            <a:endParaRPr sz="1400"/>
          </a:p>
        </p:txBody>
      </p:sp>
      <p:sp>
        <p:nvSpPr>
          <p:cNvPr id="2019" name="Google Shape;2019;hc7cc306779174be_4_1072"/>
          <p:cNvSpPr txBox="1"/>
          <p:nvPr/>
        </p:nvSpPr>
        <p:spPr>
          <a:xfrm>
            <a:off x="9418320" y="457200"/>
            <a:ext cx="813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DE EXTREMO A EXTREMO · EJEMPLO: RETIRO EN &lt; 2 H</a:t>
            </a:r>
            <a:endParaRPr sz="1400"/>
          </a:p>
        </p:txBody>
      </p:sp>
      <p:sp>
        <p:nvSpPr>
          <p:cNvPr id="2020" name="Google Shape;2020;hc7cc306779174be_4_1072"/>
          <p:cNvSpPr/>
          <p:nvPr/>
        </p:nvSpPr>
        <p:spPr>
          <a:xfrm>
            <a:off x="9418320" y="86868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Origen</a:t>
            </a:r>
            <a:endParaRPr sz="1400"/>
          </a:p>
        </p:txBody>
      </p:sp>
      <p:sp>
        <p:nvSpPr>
          <p:cNvPr id="2021" name="Google Shape;2021;hc7cc306779174be_4_1072"/>
          <p:cNvSpPr/>
          <p:nvPr/>
        </p:nvSpPr>
        <p:spPr>
          <a:xfrm>
            <a:off x="11932920" y="86868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Retiro sanitario en &lt; 2 h</a:t>
            </a:r>
            <a:endParaRPr sz="1400"/>
          </a:p>
        </p:txBody>
      </p:sp>
      <p:cxnSp>
        <p:nvCxnSpPr>
          <p:cNvPr id="2022" name="Google Shape;2022;hc7cc306779174be_4_1072"/>
          <p:cNvCxnSpPr/>
          <p:nvPr/>
        </p:nvCxnSpPr>
        <p:spPr>
          <a:xfrm>
            <a:off x="10607040" y="161848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3" name="Google Shape;2023;hc7cc306779174be_4_1072"/>
          <p:cNvSpPr/>
          <p:nvPr/>
        </p:nvSpPr>
        <p:spPr>
          <a:xfrm>
            <a:off x="9418320" y="185623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Requisito</a:t>
            </a:r>
            <a:endParaRPr sz="1400"/>
          </a:p>
        </p:txBody>
      </p:sp>
      <p:sp>
        <p:nvSpPr>
          <p:cNvPr id="2024" name="Google Shape;2024;hc7cc306779174be_4_1072"/>
          <p:cNvSpPr/>
          <p:nvPr/>
        </p:nvSpPr>
        <p:spPr>
          <a:xfrm>
            <a:off x="11932920" y="185623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RF-09.01 trazabilidad</a:t>
            </a:r>
            <a:endParaRPr sz="1400"/>
          </a:p>
        </p:txBody>
      </p:sp>
      <p:cxnSp>
        <p:nvCxnSpPr>
          <p:cNvPr id="2025" name="Google Shape;2025;hc7cc306779174be_4_1072"/>
          <p:cNvCxnSpPr/>
          <p:nvPr/>
        </p:nvCxnSpPr>
        <p:spPr>
          <a:xfrm>
            <a:off x="10607040" y="260604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6" name="Google Shape;2026;hc7cc306779174be_4_1072"/>
          <p:cNvSpPr/>
          <p:nvPr/>
        </p:nvSpPr>
        <p:spPr>
          <a:xfrm>
            <a:off x="9418320" y="2843784"/>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Componente</a:t>
            </a:r>
            <a:endParaRPr sz="1400"/>
          </a:p>
        </p:txBody>
      </p:sp>
      <p:sp>
        <p:nvSpPr>
          <p:cNvPr id="2027" name="Google Shape;2027;hc7cc306779174be_4_1072"/>
          <p:cNvSpPr/>
          <p:nvPr/>
        </p:nvSpPr>
        <p:spPr>
          <a:xfrm>
            <a:off x="11932920" y="284378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M9 Calidad y trazabilidad</a:t>
            </a:r>
            <a:endParaRPr sz="1400"/>
          </a:p>
        </p:txBody>
      </p:sp>
      <p:cxnSp>
        <p:nvCxnSpPr>
          <p:cNvPr id="2028" name="Google Shape;2028;hc7cc306779174be_4_1072"/>
          <p:cNvCxnSpPr/>
          <p:nvPr/>
        </p:nvCxnSpPr>
        <p:spPr>
          <a:xfrm>
            <a:off x="10607040" y="3593592"/>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9" name="Google Shape;2029;hc7cc306779174be_4_1072"/>
          <p:cNvSpPr/>
          <p:nvPr/>
        </p:nvSpPr>
        <p:spPr>
          <a:xfrm>
            <a:off x="9418320" y="3831336"/>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Paquete EDT</a:t>
            </a:r>
            <a:endParaRPr sz="1400"/>
          </a:p>
        </p:txBody>
      </p:sp>
      <p:sp>
        <p:nvSpPr>
          <p:cNvPr id="2030" name="Google Shape;2030;hc7cc306779174be_4_1072"/>
          <p:cNvSpPr/>
          <p:nvPr/>
        </p:nvSpPr>
        <p:spPr>
          <a:xfrm>
            <a:off x="11932920" y="3831336"/>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3.4.4 Cadena de frío y retiro</a:t>
            </a:r>
            <a:endParaRPr sz="1400"/>
          </a:p>
        </p:txBody>
      </p:sp>
      <p:cxnSp>
        <p:nvCxnSpPr>
          <p:cNvPr id="2031" name="Google Shape;2031;hc7cc306779174be_4_1072"/>
          <p:cNvCxnSpPr/>
          <p:nvPr/>
        </p:nvCxnSpPr>
        <p:spPr>
          <a:xfrm>
            <a:off x="10607040" y="4581144"/>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2" name="Google Shape;2032;hc7cc306779174be_4_1072"/>
          <p:cNvSpPr/>
          <p:nvPr/>
        </p:nvSpPr>
        <p:spPr>
          <a:xfrm>
            <a:off x="9418320" y="4818888"/>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Prueba</a:t>
            </a:r>
            <a:endParaRPr sz="1400"/>
          </a:p>
        </p:txBody>
      </p:sp>
      <p:sp>
        <p:nvSpPr>
          <p:cNvPr id="2033" name="Google Shape;2033;hc7cc306779174be_4_1072"/>
          <p:cNvSpPr/>
          <p:nvPr/>
        </p:nvSpPr>
        <p:spPr>
          <a:xfrm>
            <a:off x="11932920" y="4818888"/>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Simulacro de retiro</a:t>
            </a:r>
            <a:endParaRPr sz="1400"/>
          </a:p>
        </p:txBody>
      </p:sp>
      <p:cxnSp>
        <p:nvCxnSpPr>
          <p:cNvPr id="2034" name="Google Shape;2034;hc7cc306779174be_4_1072"/>
          <p:cNvCxnSpPr/>
          <p:nvPr/>
        </p:nvCxnSpPr>
        <p:spPr>
          <a:xfrm>
            <a:off x="10607040" y="5568696"/>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5" name="Google Shape;2035;hc7cc306779174be_4_1072"/>
          <p:cNvSpPr/>
          <p:nvPr/>
        </p:nvSpPr>
        <p:spPr>
          <a:xfrm>
            <a:off x="9418320" y="580644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Código</a:t>
            </a:r>
            <a:endParaRPr sz="1400"/>
          </a:p>
        </p:txBody>
      </p:sp>
      <p:sp>
        <p:nvSpPr>
          <p:cNvPr id="2036" name="Google Shape;2036;hc7cc306779174be_4_1072"/>
          <p:cNvSpPr/>
          <p:nvPr/>
        </p:nvSpPr>
        <p:spPr>
          <a:xfrm>
            <a:off x="11932920" y="580644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Fusión con el ID del requisito</a:t>
            </a:r>
            <a:endParaRPr sz="1400"/>
          </a:p>
        </p:txBody>
      </p:sp>
      <p:cxnSp>
        <p:nvCxnSpPr>
          <p:cNvPr id="2037" name="Google Shape;2037;hc7cc306779174be_4_1072"/>
          <p:cNvCxnSpPr/>
          <p:nvPr/>
        </p:nvCxnSpPr>
        <p:spPr>
          <a:xfrm>
            <a:off x="10607040" y="655624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8" name="Google Shape;2038;hc7cc306779174be_4_1072"/>
          <p:cNvSpPr/>
          <p:nvPr/>
        </p:nvSpPr>
        <p:spPr>
          <a:xfrm>
            <a:off x="9418320" y="679399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Despliegue</a:t>
            </a:r>
            <a:endParaRPr sz="1400"/>
          </a:p>
        </p:txBody>
      </p:sp>
      <p:sp>
        <p:nvSpPr>
          <p:cNvPr id="2039" name="Google Shape;2039;hc7cc306779174be_4_1072"/>
          <p:cNvSpPr/>
          <p:nvPr/>
        </p:nvSpPr>
        <p:spPr>
          <a:xfrm>
            <a:off x="11932920" y="679399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Digest de la imagen firmada</a:t>
            </a:r>
            <a:endParaRPr sz="1400"/>
          </a:p>
        </p:txBody>
      </p:sp>
      <p:cxnSp>
        <p:nvCxnSpPr>
          <p:cNvPr id="2040" name="Google Shape;2040;hc7cc306779174be_4_1072"/>
          <p:cNvCxnSpPr/>
          <p:nvPr/>
        </p:nvCxnSpPr>
        <p:spPr>
          <a:xfrm>
            <a:off x="10607040" y="754380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41" name="Google Shape;2041;hc7cc306779174be_4_1072"/>
          <p:cNvSpPr/>
          <p:nvPr/>
        </p:nvSpPr>
        <p:spPr>
          <a:xfrm>
            <a:off x="9418320" y="7781544"/>
            <a:ext cx="2377200" cy="750000"/>
          </a:xfrm>
          <a:prstGeom prst="roundRect">
            <a:avLst>
              <a:gd fmla="val 2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Aceptación</a:t>
            </a:r>
            <a:endParaRPr sz="1400"/>
          </a:p>
        </p:txBody>
      </p:sp>
      <p:sp>
        <p:nvSpPr>
          <p:cNvPr id="2042" name="Google Shape;2042;hc7cc306779174be_4_1072"/>
          <p:cNvSpPr/>
          <p:nvPr/>
        </p:nvSpPr>
        <p:spPr>
          <a:xfrm>
            <a:off x="11932920" y="778154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Acta del H7</a:t>
            </a:r>
            <a:endParaRPr sz="1400"/>
          </a:p>
        </p:txBody>
      </p:sp>
      <p:sp>
        <p:nvSpPr>
          <p:cNvPr id="2043" name="Google Shape;2043;hc7cc306779174be_4_1072"/>
          <p:cNvSpPr txBox="1"/>
          <p:nvPr/>
        </p:nvSpPr>
        <p:spPr>
          <a:xfrm>
            <a:off x="1435608" y="4572000"/>
            <a:ext cx="7589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MEJORA CONTINUA · PDCA</a:t>
            </a:r>
            <a:endParaRPr sz="1400"/>
          </a:p>
        </p:txBody>
      </p:sp>
      <p:sp>
        <p:nvSpPr>
          <p:cNvPr id="2044" name="Google Shape;2044;hc7cc306779174be_4_1072"/>
          <p:cNvSpPr/>
          <p:nvPr/>
        </p:nvSpPr>
        <p:spPr>
          <a:xfrm>
            <a:off x="1435608" y="4937760"/>
            <a:ext cx="2011800" cy="960000"/>
          </a:xfrm>
          <a:prstGeom prst="roundRect">
            <a:avLst>
              <a:gd fmla="val 12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Planificar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causa raíz y dueño</a:t>
            </a:r>
            <a:endParaRPr sz="1400"/>
          </a:p>
        </p:txBody>
      </p:sp>
      <p:sp>
        <p:nvSpPr>
          <p:cNvPr id="2045" name="Google Shape;2045;hc7cc306779174be_4_1072"/>
          <p:cNvSpPr/>
          <p:nvPr/>
        </p:nvSpPr>
        <p:spPr>
          <a:xfrm>
            <a:off x="3584448" y="493776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Hacer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corregir proceso</a:t>
            </a:r>
            <a:endParaRPr sz="1400"/>
          </a:p>
        </p:txBody>
      </p:sp>
      <p:sp>
        <p:nvSpPr>
          <p:cNvPr id="2046" name="Google Shape;2046;hc7cc306779174be_4_1072"/>
          <p:cNvSpPr/>
          <p:nvPr/>
        </p:nvSpPr>
        <p:spPr>
          <a:xfrm>
            <a:off x="1435608" y="603504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Actuar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cerrar o escalar</a:t>
            </a:r>
            <a:endParaRPr sz="1400"/>
          </a:p>
        </p:txBody>
      </p:sp>
      <p:sp>
        <p:nvSpPr>
          <p:cNvPr id="2047" name="Google Shape;2047;hc7cc306779174be_4_1072"/>
          <p:cNvSpPr/>
          <p:nvPr/>
        </p:nvSpPr>
        <p:spPr>
          <a:xfrm>
            <a:off x="3584448" y="6035040"/>
            <a:ext cx="2011800" cy="960000"/>
          </a:xfrm>
          <a:prstGeom prst="roundRect">
            <a:avLst>
              <a:gd fmla="val 12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Verificar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mismo criterio</a:t>
            </a:r>
            <a:endParaRPr sz="1400"/>
          </a:p>
        </p:txBody>
      </p:sp>
      <p:sp>
        <p:nvSpPr>
          <p:cNvPr id="2048" name="Google Shape;2048;hc7cc306779174be_4_1072"/>
          <p:cNvSpPr txBox="1"/>
          <p:nvPr/>
        </p:nvSpPr>
        <p:spPr>
          <a:xfrm>
            <a:off x="1435608" y="7086600"/>
            <a:ext cx="4206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Diagramas de control · Pareto · causa raíz</a:t>
            </a:r>
            <a:endParaRPr sz="1400"/>
          </a:p>
        </p:txBody>
      </p:sp>
      <p:sp>
        <p:nvSpPr>
          <p:cNvPr id="2049" name="Google Shape;2049;hc7cc306779174be_4_1072"/>
          <p:cNvSpPr txBox="1"/>
          <p:nvPr/>
        </p:nvSpPr>
        <p:spPr>
          <a:xfrm>
            <a:off x="5943600" y="4572000"/>
            <a:ext cx="310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COSTO DE LA CALIDAD</a:t>
            </a:r>
            <a:endParaRPr sz="1400"/>
          </a:p>
        </p:txBody>
      </p:sp>
      <p:sp>
        <p:nvSpPr>
          <p:cNvPr id="2050" name="Google Shape;2050;hc7cc306779174be_4_1072"/>
          <p:cNvSpPr txBox="1"/>
          <p:nvPr/>
        </p:nvSpPr>
        <p:spPr>
          <a:xfrm>
            <a:off x="5943600" y="4937760"/>
            <a:ext cx="3109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E8641B"/>
                </a:solidFill>
                <a:latin typeface="Inter SemiBold"/>
                <a:ea typeface="Inter SemiBold"/>
                <a:cs typeface="Inter SemiBold"/>
                <a:sym typeface="Inter SemiBold"/>
              </a:rPr>
              <a:t>11.136 HH</a:t>
            </a:r>
            <a:endParaRPr sz="1400"/>
          </a:p>
        </p:txBody>
      </p:sp>
      <p:sp>
        <p:nvSpPr>
          <p:cNvPr id="2051" name="Google Shape;2051;hc7cc306779174be_4_1072"/>
          <p:cNvSpPr txBox="1"/>
          <p:nvPr/>
        </p:nvSpPr>
        <p:spPr>
          <a:xfrm>
            <a:off x="5943600" y="553212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5,1 % del total</a:t>
            </a:r>
            <a:endParaRPr sz="140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29A5E"/>
                </a:solidFill>
                <a:latin typeface="Inter"/>
                <a:ea typeface="Inter"/>
                <a:cs typeface="Inter"/>
                <a:sym typeface="Inter"/>
              </a:rPr>
              <a:t>■ </a:t>
            </a:r>
            <a:r>
              <a:rPr b="0" lang="en-US" sz="1600">
                <a:solidFill>
                  <a:srgbClr val="3C3C3C"/>
                </a:solidFill>
                <a:latin typeface="Inter"/>
                <a:ea typeface="Inter"/>
                <a:cs typeface="Inter"/>
                <a:sym typeface="Inter"/>
              </a:rPr>
              <a:t>Prevención 37,9 %</a:t>
            </a:r>
            <a:endParaRPr sz="1400"/>
          </a:p>
        </p:txBody>
      </p:sp>
      <p:sp>
        <p:nvSpPr>
          <p:cNvPr id="2055" name="Google Shape;2055;hc7cc306779174be_4_1072"/>
          <p:cNvSpPr txBox="1"/>
          <p:nvPr/>
        </p:nvSpPr>
        <p:spPr>
          <a:xfrm>
            <a:off x="5943600" y="694944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111111"/>
                </a:solidFill>
                <a:latin typeface="Inter"/>
                <a:ea typeface="Inter"/>
                <a:cs typeface="Inter"/>
                <a:sym typeface="Inter"/>
              </a:rPr>
              <a:t>■ </a:t>
            </a:r>
            <a:r>
              <a:rPr b="0" lang="en-US" sz="1600">
                <a:solidFill>
                  <a:srgbClr val="3C3C3C"/>
                </a:solidFill>
                <a:latin typeface="Inter"/>
                <a:ea typeface="Inter"/>
                <a:cs typeface="Inter"/>
                <a:sym typeface="Inter"/>
              </a:rPr>
              <a:t>Evaluación 62,1 %</a:t>
            </a:r>
            <a:endParaRPr sz="1400"/>
          </a:p>
        </p:txBody>
      </p:sp>
      <p:sp>
        <p:nvSpPr>
          <p:cNvPr id="20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63" name="Google Shape;2063;p32"/>
          <p:cNvSpPr txBox="1"/>
          <p:nvPr/>
        </p:nvSpPr>
        <p:spPr>
          <a:xfrm>
            <a:off x="1028700" y="5318360"/>
            <a:ext cx="8326675" cy="2579594"/>
          </a:xfrm>
          <a:prstGeom prst="rect">
            <a:avLst/>
          </a:prstGeom>
          <a:noFill/>
          <a:ln>
            <a:noFill/>
          </a:ln>
        </p:spPr>
        <p:txBody>
          <a:bodyPr anchorCtr="0" anchor="t" bIns="0" lIns="0" spcFirstLastPara="1" rIns="0" wrap="square" tIns="0">
            <a:spAutoFit/>
          </a:bodyPr>
          <a:lstStyle/>
          <a:p>
            <a:pPr indent="0" lvl="0" marL="0" marR="0" rtl="0" algn="l">
              <a:lnSpc>
                <a:spcPct val="131255"/>
              </a:lnSpc>
              <a:spcBef>
                <a:spcPts val="0"/>
              </a:spcBef>
              <a:spcAft>
                <a:spcPts val="0"/>
              </a:spcAft>
              <a:buNone/>
            </a:pPr>
            <a:r>
              <a:rPr b="1" lang="en-US" sz="7333">
                <a:solidFill>
                  <a:srgbClr val="111111"/>
                </a:solidFill>
                <a:latin typeface="Inter SemiBold"/>
                <a:ea typeface="Inter SemiBold"/>
                <a:cs typeface="Inter SemiBold"/>
                <a:sym typeface="Inter SemiBold"/>
              </a:rPr>
              <a:t>5 innovaciones</a:t>
            </a:r>
            <a:endParaRPr/>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7" name="Google Shape;2067;p32"/>
          <p:cNvSpPr txBox="1"/>
          <p:nvPr/>
        </p:nvSpPr>
        <p:spPr>
          <a:xfrm>
            <a:off x="543274" y="8926358"/>
            <a:ext cx="1572710"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a:p>
        </p:txBody>
      </p:sp>
      <p:sp>
        <p:nvSpPr>
          <p:cNvPr id="2068" name="Google Shape;2068;p32"/>
          <p:cNvSpPr txBox="1"/>
          <p:nvPr/>
        </p:nvSpPr>
        <p:spPr>
          <a:xfrm>
            <a:off x="1024128" y="6720840"/>
            <a:ext cx="8686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606060"/>
                </a:solidFill>
                <a:latin typeface="Inter"/>
                <a:ea typeface="Inter"/>
                <a:cs typeface="Inter"/>
                <a:sym typeface="Inter"/>
              </a:rPr>
              <a:t>Sin hardware nuevo · TRL 2 → 4 → 6</a:t>
            </a:r>
            <a:endParaRPr/>
          </a:p>
        </p:txBody>
      </p:sp>
      <p:sp>
        <p:nvSpPr>
          <p:cNvPr id="2069" name="Google Shape;2069;p32"/>
          <p:cNvSpPr txBox="1"/>
          <p:nvPr/>
        </p:nvSpPr>
        <p:spPr>
          <a:xfrm>
            <a:off x="10058400" y="8686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01</a:t>
            </a:r>
            <a:endParaRPr/>
          </a:p>
        </p:txBody>
      </p:sp>
      <p:sp>
        <p:nvSpPr>
          <p:cNvPr id="2070" name="Google Shape;2070;p32"/>
          <p:cNvSpPr txBox="1"/>
          <p:nvPr/>
        </p:nvSpPr>
        <p:spPr>
          <a:xfrm>
            <a:off x="11430000" y="8686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PRODUCTO</a:t>
            </a:r>
            <a:endParaRPr/>
          </a:p>
        </p:txBody>
      </p:sp>
      <p:sp>
        <p:nvSpPr>
          <p:cNvPr id="2071" name="Google Shape;2071;p32"/>
          <p:cNvSpPr txBox="1"/>
          <p:nvPr/>
        </p:nvSpPr>
        <p:spPr>
          <a:xfrm>
            <a:off x="11430000" y="1188719"/>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Vencimiento posentrega</a:t>
            </a:r>
            <a:endParaRPr/>
          </a:p>
        </p:txBody>
      </p:sp>
      <p:sp>
        <p:nvSpPr>
          <p:cNvPr id="2072" name="Google Shape;2072;p32"/>
          <p:cNvSpPr txBox="1"/>
          <p:nvPr/>
        </p:nvSpPr>
        <p:spPr>
          <a:xfrm>
            <a:off x="11430000" y="16916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−25 % de vencido</a:t>
            </a:r>
            <a:endParaRPr/>
          </a:p>
        </p:txBody>
      </p:sp>
      <p:sp>
        <p:nvSpPr>
          <p:cNvPr id="2073" name="Google Shape;2073;p32"/>
          <p:cNvSpPr txBox="1"/>
          <p:nvPr/>
        </p:nvSpPr>
        <p:spPr>
          <a:xfrm>
            <a:off x="10058400" y="24688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02</a:t>
            </a:r>
            <a:endParaRPr/>
          </a:p>
        </p:txBody>
      </p:sp>
      <p:sp>
        <p:nvSpPr>
          <p:cNvPr id="2074" name="Google Shape;2074;p32"/>
          <p:cNvSpPr txBox="1"/>
          <p:nvPr/>
        </p:nvSpPr>
        <p:spPr>
          <a:xfrm>
            <a:off x="11430000" y="24688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PROCESO</a:t>
            </a:r>
            <a:endParaRPr/>
          </a:p>
        </p:txBody>
      </p:sp>
      <p:sp>
        <p:nvSpPr>
          <p:cNvPr id="2075" name="Google Shape;2075;p32"/>
          <p:cNvSpPr txBox="1"/>
          <p:nvPr/>
        </p:nvSpPr>
        <p:spPr>
          <a:xfrm>
            <a:off x="11430000" y="27889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Reproducción de incidentes</a:t>
            </a:r>
            <a:endParaRPr/>
          </a:p>
        </p:txBody>
      </p:sp>
      <p:sp>
        <p:nvSpPr>
          <p:cNvPr id="2076" name="Google Shape;2076;p32"/>
          <p:cNvSpPr txBox="1"/>
          <p:nvPr/>
        </p:nvSpPr>
        <p:spPr>
          <a:xfrm>
            <a:off x="11430000" y="32918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−30 % horas de diagnóstico</a:t>
            </a:r>
            <a:endParaRPr/>
          </a:p>
        </p:txBody>
      </p:sp>
      <p:sp>
        <p:nvSpPr>
          <p:cNvPr id="2077" name="Google Shape;2077;p32"/>
          <p:cNvSpPr txBox="1"/>
          <p:nvPr/>
        </p:nvSpPr>
        <p:spPr>
          <a:xfrm>
            <a:off x="10058400" y="40690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03</a:t>
            </a:r>
            <a:endParaRPr/>
          </a:p>
        </p:txBody>
      </p:sp>
      <p:sp>
        <p:nvSpPr>
          <p:cNvPr id="2078" name="Google Shape;2078;p32"/>
          <p:cNvSpPr txBox="1"/>
          <p:nvPr/>
        </p:nvSpPr>
        <p:spPr>
          <a:xfrm>
            <a:off x="11430000" y="40690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TECNOLÓGICA</a:t>
            </a:r>
            <a:endParaRPr/>
          </a:p>
        </p:txBody>
      </p:sp>
      <p:sp>
        <p:nvSpPr>
          <p:cNvPr id="2079" name="Google Shape;2079;p32"/>
          <p:cNvSpPr txBox="1"/>
          <p:nvPr/>
        </p:nvSpPr>
        <p:spPr>
          <a:xfrm>
            <a:off x="11430000" y="43891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Vida útil por historia térmica</a:t>
            </a:r>
            <a:endParaRPr/>
          </a:p>
        </p:txBody>
      </p:sp>
      <p:sp>
        <p:nvSpPr>
          <p:cNvPr id="2080" name="Google Shape;2080;p32"/>
          <p:cNvSpPr txBox="1"/>
          <p:nvPr/>
        </p:nvSpPr>
        <p:spPr>
          <a:xfrm>
            <a:off x="11430000" y="4892040"/>
            <a:ext cx="62179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±15 % en ≥80 % de los lotes</a:t>
            </a:r>
            <a:endParaRPr b="0" sz="1700">
              <a:solidFill>
                <a:srgbClr val="606060"/>
              </a:solidFill>
              <a:latin typeface="Inter"/>
              <a:ea typeface="Inter"/>
              <a:cs typeface="Inter"/>
              <a:sym typeface="Inter"/>
            </a:endParaRPr>
          </a:p>
        </p:txBody>
      </p:sp>
      <p:sp>
        <p:nvSpPr>
          <p:cNvPr id="2081" name="Google Shape;2081;p32"/>
          <p:cNvSpPr txBox="1"/>
          <p:nvPr/>
        </p:nvSpPr>
        <p:spPr>
          <a:xfrm>
            <a:off x="10058400" y="56692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04</a:t>
            </a:r>
            <a:endParaRPr/>
          </a:p>
        </p:txBody>
      </p:sp>
      <p:sp>
        <p:nvSpPr>
          <p:cNvPr id="2082" name="Google Shape;2082;p32"/>
          <p:cNvSpPr txBox="1"/>
          <p:nvPr/>
        </p:nvSpPr>
        <p:spPr>
          <a:xfrm>
            <a:off x="11430000" y="56692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MODELO DE NEGOCIO</a:t>
            </a:r>
            <a:endParaRPr/>
          </a:p>
        </p:txBody>
      </p:sp>
      <p:sp>
        <p:nvSpPr>
          <p:cNvPr id="2083" name="Google Shape;2083;p32"/>
          <p:cNvSpPr txBox="1"/>
          <p:nvPr/>
        </p:nvSpPr>
        <p:spPr>
          <a:xfrm>
            <a:off x="11430000" y="59893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Pago ligado al costo de servir</a:t>
            </a:r>
            <a:endParaRPr/>
          </a:p>
        </p:txBody>
      </p:sp>
      <p:sp>
        <p:nvSpPr>
          <p:cNvPr id="2084" name="Google Shape;2084;p32"/>
          <p:cNvSpPr txBox="1"/>
          <p:nvPr/>
        </p:nvSpPr>
        <p:spPr>
          <a:xfrm>
            <a:off x="11430000" y="64922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≥5 % menos costo, OTIF ≥95 %</a:t>
            </a:r>
            <a:endParaRPr/>
          </a:p>
        </p:txBody>
      </p:sp>
      <p:sp>
        <p:nvSpPr>
          <p:cNvPr id="2085" name="Google Shape;2085;p32"/>
          <p:cNvSpPr txBox="1"/>
          <p:nvPr/>
        </p:nvSpPr>
        <p:spPr>
          <a:xfrm>
            <a:off x="10058400" y="72694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05</a:t>
            </a:r>
            <a:endParaRPr/>
          </a:p>
        </p:txBody>
      </p:sp>
      <p:sp>
        <p:nvSpPr>
          <p:cNvPr id="2086" name="Google Shape;2086;p32"/>
          <p:cNvSpPr txBox="1"/>
          <p:nvPr/>
        </p:nvSpPr>
        <p:spPr>
          <a:xfrm>
            <a:off x="11430000" y="72694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IMPACTO SOCIAL</a:t>
            </a:r>
            <a:endParaRPr/>
          </a:p>
        </p:txBody>
      </p:sp>
      <p:sp>
        <p:nvSpPr>
          <p:cNvPr id="2087" name="Google Shape;2087;p32"/>
          <p:cNvSpPr txBox="1"/>
          <p:nvPr/>
        </p:nvSpPr>
        <p:spPr>
          <a:xfrm>
            <a:off x="11430000" y="75895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Hoja del almacenero</a:t>
            </a:r>
            <a:endParaRPr/>
          </a:p>
        </p:txBody>
      </p:sp>
      <p:sp>
        <p:nvSpPr>
          <p:cNvPr id="2088" name="Google Shape;2088;p32"/>
          <p:cNvSpPr txBox="1"/>
          <p:nvPr/>
        </p:nvSpPr>
        <p:spPr>
          <a:xfrm>
            <a:off x="11430000" y="80924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Sin internet: pantalla o impresa</a:t>
            </a:r>
            <a:endParaRPr/>
          </a:p>
        </p:txBody>
      </p:sp>
      <p:sp>
        <p:nvSpPr>
          <p:cNvPr id="208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2096" name="Google Shape;2096;p33"/>
          <p:cNvSpPr txBox="1"/>
          <p:nvPr/>
        </p:nvSpPr>
        <p:spPr>
          <a:xfrm>
            <a:off x="1231420" y="4072951"/>
            <a:ext cx="7960220" cy="1632652"/>
          </a:xfrm>
          <a:prstGeom prst="rect">
            <a:avLst/>
          </a:prstGeom>
          <a:noFill/>
          <a:ln>
            <a:noFill/>
          </a:ln>
        </p:spPr>
        <p:txBody>
          <a:bodyPr anchorCtr="0" anchor="t" bIns="0" lIns="0" spcFirstLastPara="1" rIns="0" wrap="square" tIns="0">
            <a:spAutoFit/>
          </a:bodyPr>
          <a:lstStyle/>
          <a:p>
            <a:pPr indent="0" lvl="0" marL="0" marR="0" rtl="0" algn="l">
              <a:lnSpc>
                <a:spcPct val="131254"/>
              </a:lnSpc>
              <a:spcBef>
                <a:spcPts val="0"/>
              </a:spcBef>
              <a:spcAft>
                <a:spcPts val="0"/>
              </a:spcAft>
              <a:buNone/>
            </a:pPr>
            <a:r>
              <a:rPr b="1" lang="en-US" sz="8786">
                <a:solidFill>
                  <a:srgbClr val="111111"/>
                </a:solidFill>
                <a:latin typeface="Inter SemiBold"/>
                <a:ea typeface="Inter SemiBold"/>
                <a:cs typeface="Inter SemiBold"/>
                <a:sym typeface="Inter SemiBold"/>
              </a:rPr>
              <a:t>El Equipo</a:t>
            </a:r>
            <a:endParaRPr/>
          </a:p>
        </p:txBody>
      </p:sp>
      <p:sp>
        <p:nvSpPr>
          <p:cNvPr id="2097" name="!!deco_ee5e8b06_1"/>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98" name="!!deco_bde12890_1"/>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99" name="!!deco_d7392e04_1"/>
          <p:cNvSpPr/>
          <p:nvPr/>
        </p:nvSpPr>
        <p:spPr>
          <a:xfrm flipH="1" rot="9727523">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100" name="Google Shape;2100;p33"/>
          <p:cNvSpPr txBox="1"/>
          <p:nvPr/>
        </p:nvSpPr>
        <p:spPr>
          <a:xfrm>
            <a:off x="1234440" y="5760720"/>
            <a:ext cx="77724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8 personas · 10 roles</a:t>
            </a:r>
            <a:endParaRPr/>
          </a:p>
        </p:txBody>
      </p:sp>
      <p:sp>
        <p:nvSpPr>
          <p:cNvPr id="2101" name="Google Shape;2101;p33"/>
          <p:cNvSpPr txBox="1"/>
          <p:nvPr/>
        </p:nvSpPr>
        <p:spPr>
          <a:xfrm>
            <a:off x="1234440" y="6400800"/>
            <a:ext cx="7772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000">
                <a:solidFill>
                  <a:srgbClr val="606060"/>
                </a:solidFill>
                <a:latin typeface="Inter"/>
                <a:ea typeface="Inter"/>
                <a:cs typeface="Inter"/>
                <a:sym typeface="Inter"/>
              </a:rPr>
              <a:t>7 líderes reportan al Jefe de Proyecto</a:t>
            </a:r>
            <a:endParaRPr/>
          </a:p>
        </p:txBody>
      </p:sp>
      <p:sp>
        <p:nvSpPr>
          <p:cNvPr id="2102" name="Google Shape;2102;p33"/>
          <p:cNvSpPr/>
          <p:nvPr/>
        </p:nvSpPr>
        <p:spPr>
          <a:xfrm>
            <a:off x="9509760" y="914400"/>
            <a:ext cx="7863840" cy="1463040"/>
          </a:xfrm>
          <a:prstGeom prst="roundRect">
            <a:avLst>
              <a:gd fmla="val 1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2200">
                <a:solidFill>
                  <a:srgbClr val="FFFFFF"/>
                </a:solidFill>
                <a:latin typeface="Inter SemiBold"/>
                <a:ea typeface="Inter SemiBold"/>
                <a:cs typeface="Inter SemiBold"/>
                <a:sym typeface="Inter SemiBold"/>
              </a:rPr>
              <a:t>AA</a:t>
            </a:r>
            <a:endParaRPr/>
          </a:p>
        </p:txBody>
      </p:sp>
      <p:sp>
        <p:nvSpPr>
          <p:cNvPr id="2104" name="Google Shape;2104;p33"/>
          <p:cNvSpPr txBox="1"/>
          <p:nvPr/>
        </p:nvSpPr>
        <p:spPr>
          <a:xfrm>
            <a:off x="10972800" y="1143000"/>
            <a:ext cx="621792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FFFFFF"/>
                </a:solidFill>
                <a:latin typeface="Inter SemiBold"/>
                <a:ea typeface="Inter SemiBold"/>
                <a:cs typeface="Inter SemiBold"/>
                <a:sym typeface="Inter SemiBold"/>
              </a:rPr>
              <a:t>Alex Aravena</a:t>
            </a:r>
            <a:endParaRPr/>
          </a:p>
        </p:txBody>
      </p:sp>
      <p:sp>
        <p:nvSpPr>
          <p:cNvPr id="2105" name="Google Shape;2105;p33"/>
          <p:cNvSpPr txBox="1"/>
          <p:nvPr/>
        </p:nvSpPr>
        <p:spPr>
          <a:xfrm>
            <a:off x="10972800" y="169164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C7C7C7"/>
                </a:solidFill>
                <a:latin typeface="Inter"/>
                <a:ea typeface="Inter"/>
                <a:cs typeface="Inter"/>
                <a:sym typeface="Inter"/>
              </a:rPr>
              <a:t>Jefe de Proyecto</a:t>
            </a:r>
            <a:endParaRPr/>
          </a:p>
        </p:txBody>
      </p:sp>
      <p:sp>
        <p:nvSpPr>
          <p:cNvPr id="2106" name="Google Shape;2106;p33"/>
          <p:cNvSpPr/>
          <p:nvPr/>
        </p:nvSpPr>
        <p:spPr>
          <a:xfrm>
            <a:off x="950976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BT</a:t>
            </a:r>
            <a:endParaRPr/>
          </a:p>
        </p:txBody>
      </p:sp>
      <p:sp>
        <p:nvSpPr>
          <p:cNvPr id="2108" name="Google Shape;2108;p33"/>
          <p:cNvSpPr txBox="1"/>
          <p:nvPr/>
        </p:nvSpPr>
        <p:spPr>
          <a:xfrm>
            <a:off x="1069848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Bastián Trejo</a:t>
            </a:r>
            <a:endParaRPr/>
          </a:p>
        </p:txBody>
      </p:sp>
      <p:sp>
        <p:nvSpPr>
          <p:cNvPr id="2109" name="Google Shape;2109;p33"/>
          <p:cNvSpPr txBox="1"/>
          <p:nvPr/>
        </p:nvSpPr>
        <p:spPr>
          <a:xfrm>
            <a:off x="1069848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Arquitectura e Integración</a:t>
            </a:r>
            <a:endParaRPr/>
          </a:p>
        </p:txBody>
      </p:sp>
      <p:sp>
        <p:nvSpPr>
          <p:cNvPr id="2110" name="Google Shape;2110;p33"/>
          <p:cNvSpPr/>
          <p:nvPr/>
        </p:nvSpPr>
        <p:spPr>
          <a:xfrm>
            <a:off x="1357884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ÁC</a:t>
            </a:r>
            <a:endParaRPr/>
          </a:p>
        </p:txBody>
      </p:sp>
      <p:sp>
        <p:nvSpPr>
          <p:cNvPr id="2112" name="Google Shape;2112;p33"/>
          <p:cNvSpPr txBox="1"/>
          <p:nvPr/>
        </p:nvSpPr>
        <p:spPr>
          <a:xfrm>
            <a:off x="1476756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Álvaro Catalán</a:t>
            </a:r>
            <a:endParaRPr/>
          </a:p>
        </p:txBody>
      </p:sp>
      <p:sp>
        <p:nvSpPr>
          <p:cNvPr id="2113" name="Google Shape;2113;p33"/>
          <p:cNvSpPr txBox="1"/>
          <p:nvPr/>
        </p:nvSpPr>
        <p:spPr>
          <a:xfrm>
            <a:off x="1476756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Seguridad</a:t>
            </a:r>
            <a:endParaRPr/>
          </a:p>
        </p:txBody>
      </p:sp>
      <p:sp>
        <p:nvSpPr>
          <p:cNvPr id="2114" name="Google Shape;2114;p33"/>
          <p:cNvSpPr/>
          <p:nvPr/>
        </p:nvSpPr>
        <p:spPr>
          <a:xfrm>
            <a:off x="950976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LC</a:t>
            </a:r>
            <a:endParaRPr/>
          </a:p>
        </p:txBody>
      </p:sp>
      <p:sp>
        <p:nvSpPr>
          <p:cNvPr id="2116" name="Google Shape;2116;p33"/>
          <p:cNvSpPr txBox="1"/>
          <p:nvPr/>
        </p:nvSpPr>
        <p:spPr>
          <a:xfrm>
            <a:off x="1069848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Leandro Chamorro</a:t>
            </a:r>
            <a:endParaRPr/>
          </a:p>
        </p:txBody>
      </p:sp>
      <p:sp>
        <p:nvSpPr>
          <p:cNvPr id="2117" name="Google Shape;2117;p33"/>
          <p:cNvSpPr txBox="1"/>
          <p:nvPr/>
        </p:nvSpPr>
        <p:spPr>
          <a:xfrm>
            <a:off x="1069848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Datos</a:t>
            </a:r>
            <a:endParaRPr/>
          </a:p>
        </p:txBody>
      </p:sp>
      <p:sp>
        <p:nvSpPr>
          <p:cNvPr id="2118" name="Google Shape;2118;p33"/>
          <p:cNvSpPr/>
          <p:nvPr/>
        </p:nvSpPr>
        <p:spPr>
          <a:xfrm>
            <a:off x="1357884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TP</a:t>
            </a:r>
            <a:endParaRPr/>
          </a:p>
        </p:txBody>
      </p:sp>
      <p:sp>
        <p:nvSpPr>
          <p:cNvPr id="2120" name="Google Shape;2120;p33"/>
          <p:cNvSpPr txBox="1"/>
          <p:nvPr/>
        </p:nvSpPr>
        <p:spPr>
          <a:xfrm>
            <a:off x="1476756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Tomás Pérez</a:t>
            </a:r>
            <a:endParaRPr/>
          </a:p>
        </p:txBody>
      </p:sp>
      <p:sp>
        <p:nvSpPr>
          <p:cNvPr id="2121" name="Google Shape;2121;p33"/>
          <p:cNvSpPr txBox="1"/>
          <p:nvPr/>
        </p:nvSpPr>
        <p:spPr>
          <a:xfrm>
            <a:off x="1476756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Desarrollo</a:t>
            </a:r>
            <a:endParaRPr/>
          </a:p>
        </p:txBody>
      </p:sp>
      <p:sp>
        <p:nvSpPr>
          <p:cNvPr id="2122" name="Google Shape;2122;p33"/>
          <p:cNvSpPr/>
          <p:nvPr/>
        </p:nvSpPr>
        <p:spPr>
          <a:xfrm>
            <a:off x="950976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MM</a:t>
            </a:r>
            <a:endParaRPr/>
          </a:p>
        </p:txBody>
      </p:sp>
      <p:sp>
        <p:nvSpPr>
          <p:cNvPr id="2124" name="Google Shape;2124;p33"/>
          <p:cNvSpPr txBox="1"/>
          <p:nvPr/>
        </p:nvSpPr>
        <p:spPr>
          <a:xfrm>
            <a:off x="1069848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Maximiliano Miño</a:t>
            </a:r>
            <a:endParaRPr/>
          </a:p>
        </p:txBody>
      </p:sp>
      <p:sp>
        <p:nvSpPr>
          <p:cNvPr id="2125" name="Google Shape;2125;p33"/>
          <p:cNvSpPr txBox="1"/>
          <p:nvPr/>
        </p:nvSpPr>
        <p:spPr>
          <a:xfrm>
            <a:off x="1069848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Calidad y Pruebas</a:t>
            </a:r>
            <a:endParaRPr/>
          </a:p>
        </p:txBody>
      </p:sp>
      <p:sp>
        <p:nvSpPr>
          <p:cNvPr id="2126" name="Google Shape;2126;p33"/>
          <p:cNvSpPr/>
          <p:nvPr/>
        </p:nvSpPr>
        <p:spPr>
          <a:xfrm>
            <a:off x="1357884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GC</a:t>
            </a:r>
            <a:endParaRPr/>
          </a:p>
        </p:txBody>
      </p:sp>
      <p:sp>
        <p:nvSpPr>
          <p:cNvPr id="2128" name="Google Shape;2128;p33"/>
          <p:cNvSpPr txBox="1"/>
          <p:nvPr/>
        </p:nvSpPr>
        <p:spPr>
          <a:xfrm>
            <a:off x="1476756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Guillermo Castillo</a:t>
            </a:r>
            <a:endParaRPr/>
          </a:p>
        </p:txBody>
      </p:sp>
      <p:sp>
        <p:nvSpPr>
          <p:cNvPr id="2129" name="Google Shape;2129;p33"/>
          <p:cNvSpPr txBox="1"/>
          <p:nvPr/>
        </p:nvSpPr>
        <p:spPr>
          <a:xfrm>
            <a:off x="1476756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Operación / SRE</a:t>
            </a:r>
            <a:endParaRPr/>
          </a:p>
        </p:txBody>
      </p:sp>
      <p:sp>
        <p:nvSpPr>
          <p:cNvPr id="2130" name="Google Shape;2130;p33"/>
          <p:cNvSpPr/>
          <p:nvPr/>
        </p:nvSpPr>
        <p:spPr>
          <a:xfrm>
            <a:off x="9509760" y="736092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PH</a:t>
            </a:r>
            <a:endParaRPr/>
          </a:p>
        </p:txBody>
      </p:sp>
      <p:sp>
        <p:nvSpPr>
          <p:cNvPr id="2132" name="Google Shape;2132;p33"/>
          <p:cNvSpPr txBox="1"/>
          <p:nvPr/>
        </p:nvSpPr>
        <p:spPr>
          <a:xfrm>
            <a:off x="10698480" y="758952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Patricio Henríquez</a:t>
            </a:r>
            <a:endParaRPr/>
          </a:p>
        </p:txBody>
      </p:sp>
      <p:sp>
        <p:nvSpPr>
          <p:cNvPr id="2133" name="Google Shape;2133;p33"/>
          <p:cNvSpPr txBox="1"/>
          <p:nvPr/>
        </p:nvSpPr>
        <p:spPr>
          <a:xfrm>
            <a:off x="10698480" y="804672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Funcional e Implantación</a:t>
            </a:r>
            <a:endParaRPr/>
          </a:p>
        </p:txBody>
      </p:sp>
      <p:sp>
        <p:nvSpPr>
          <p:cNvPr id="2134" name="Google Shape;2134;p33"/>
          <p:cNvSpPr/>
          <p:nvPr/>
        </p:nvSpPr>
        <p:spPr>
          <a:xfrm>
            <a:off x="13578840" y="7360920"/>
            <a:ext cx="3794760" cy="132588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69</a:t>
            </a:r>
            <a:endParaRPr/>
          </a:p>
        </p:txBody>
      </p:sp>
      <p:sp>
        <p:nvSpPr>
          <p:cNvPr id="2136" name="Google Shape;2136;p33"/>
          <p:cNvSpPr txBox="1"/>
          <p:nvPr/>
        </p:nvSpPr>
        <p:spPr>
          <a:xfrm>
            <a:off x="14859000" y="7777639"/>
            <a:ext cx="2468880" cy="49244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personas equivalentes en el peak (mes 15)</a:t>
            </a:r>
            <a:endParaRPr b="0" sz="1600">
              <a:solidFill>
                <a:srgbClr val="3C3C3C"/>
              </a:solidFill>
              <a:latin typeface="Inter"/>
              <a:ea typeface="Inter"/>
              <a:cs typeface="Inter"/>
              <a:sym typeface="Inter"/>
            </a:endParaRPr>
          </a:p>
        </p:txBody>
      </p:sp>
      <p:sp>
        <p:nvSpPr>
          <p:cNvPr id="21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7"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8"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151"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15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p:transition spd="med" advTm="1500">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contacto@lafrox.cl</a:t>
            </a:r>
            <a:endParaRPr/>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7"/>
                </a:ext>
              </a:extLst>
            </a:blip>
            <a:stretch>
              <a:fillRect t="-800" b="-8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Av. Brasil 2241, Valparaíso</a:t>
            </a:r>
            <a:endParaRPr/>
          </a:p>
        </p:txBody>
      </p:sp>
      <p:sp>
        <p:nvSpPr>
          <p:cNvPr id="2167" name="Google Shape;2167;p35"/>
          <p:cNvSpPr txBox="1"/>
          <p:nvPr/>
        </p:nvSpPr>
        <p:spPr>
          <a:xfrm>
            <a:off x="10736647" y="7329375"/>
            <a:ext cx="2823062" cy="30014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lafrox.github.io</a:t>
            </a:r>
            <a:endParaRPr/>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+56 32 250 4100</a:t>
            </a:r>
            <a:endParaRPr/>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1"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2"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sp>
        <p:nvSpPr>
          <p:cNvPr id="2175" name="Google Shape;2175;p35"/>
          <p:cNvSpPr txBox="1"/>
          <p:nvPr/>
        </p:nvSpPr>
        <p:spPr>
          <a:xfrm>
            <a:off x="2743200" y="8850630"/>
            <a:ext cx="12801600" cy="407670"/>
          </a:xfrm>
          <a:prstGeom prst="rect">
            <a:avLst/>
          </a:prstGeom>
          <a:noFill/>
          <a:ln>
            <a:noFill/>
          </a:ln>
        </p:spPr>
        <p:txBody>
          <a:bodyPr anchorCtr="0" anchor="t" bIns="0" lIns="0" spcFirstLastPara="1" rIns="0" wrap="square" tIns="0">
            <a:spAutoFit/>
          </a:bodyPr>
          <a:lstStyle/>
          <a:p>
            <a:pPr indent="0" lvl="0" marL="0" marR="0" rtl="0" algn="ctr">
              <a:lnSpc>
                <a:spcPct val="104937"/>
              </a:lnSpc>
              <a:spcBef>
                <a:spcPts val="0"/>
              </a:spcBef>
              <a:spcAft>
                <a:spcPts val="0"/>
              </a:spcAft>
              <a:buNone/>
            </a:pPr>
            <a:r>
              <a:rPr lang="en-US" sz="1600">
                <a:solidFill>
                  <a:srgbClr val="FFFFFF"/>
                </a:solidFill>
                <a:latin typeface="Inter"/>
                <a:ea typeface="Inter"/>
                <a:cs typeface="Inter"/>
                <a:sym typeface="Inter"/>
              </a:rPr>
              <a:t>Sistema Integral de Gestión Logística Puelche · LafroX SpA</a:t>
            </a:r>
            <a:endParaRPr/>
          </a:p>
        </p:txBody>
      </p:sp>
      <p:pic>
        <p:nvPicPr>
          <p:cNvPr descr="Isotipo LafroX" id="2176"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6000">
                <a:solidFill>
                  <a:srgbClr val="FFFFFF"/>
                </a:solidFill>
                <a:latin typeface="Inter Light"/>
                <a:ea typeface="Inter Light"/>
                <a:cs typeface="Inter Light"/>
                <a:sym typeface="Inter Light"/>
              </a:rPr>
              <a:t>De 9 días a</a:t>
            </a:r>
            <a:endParaRPr/>
          </a:p>
        </p:txBody>
      </p:sp>
      <p:sp>
        <p:nvSpPr>
          <p:cNvPr id="2178" name="!!title"/>
          <p:cNvSpPr txBox="1"/>
          <p:nvPr/>
        </p:nvSpPr>
        <p:spPr>
          <a:xfrm>
            <a:off x="1828800" y="2514600"/>
            <a:ext cx="14630400" cy="30175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9000">
                <a:solidFill>
                  <a:srgbClr val="E8641B"/>
                </a:solidFill>
                <a:latin typeface="Inter SemiBold"/>
                <a:ea typeface="Inter SemiBold"/>
                <a:cs typeface="Inter SemiBold"/>
                <a:sym typeface="Inter SemiBold"/>
              </a:rPr>
              <a:t>&lt; 2 horas</a:t>
            </a:r>
            <a:endParaRPr/>
          </a:p>
        </p:txBody>
      </p:sp>
      <p:sp>
        <p:nvSpPr>
          <p:cNvPr id="2179" name="Google Shape;2179;p35"/>
          <p:cNvSpPr txBox="1"/>
          <p:nvPr/>
        </p:nvSpPr>
        <p:spPr>
          <a:xfrm>
            <a:off x="1828800" y="5669280"/>
            <a:ext cx="1463040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400">
                <a:solidFill>
                  <a:srgbClr val="FFFFFF"/>
                </a:solidFill>
                <a:latin typeface="Inter Light"/>
                <a:ea typeface="Inter Light"/>
                <a:cs typeface="Inter Light"/>
                <a:sym typeface="Inter Light"/>
              </a:rPr>
              <a:t>para identificar a los clientes afectados</a:t>
            </a:r>
            <a:endParaRPr/>
          </a:p>
        </p:txBody>
      </p:sp>
      <p:sp>
        <p:nvSpPr>
          <p:cNvPr id="21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