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65" r:id="rId15"/>
    <p:sldId id="257" r:id="rId7"/>
    <p:sldId id="262" r:id="rId12"/>
    <p:sldId id="260" r:id="rId10"/>
    <p:sldId id="258" r:id="rId8"/>
    <p:sldId id="263" r:id="rId13"/>
    <p:sldId id="259" r:id="rId9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61" r:id="rId11"/>
    <p:sldId id="264" r:id="rId14"/>
    <p:sldId id="277" r:id="rId33"/>
    <p:sldId id="278" r:id="rId34"/>
  </p:sldIdLst>
  <p:sldSz cx="18288000" cy="10287000"/>
  <p:notesSz cx="6858000" cy="9144000"/>
  <p:embeddedFontLst>
    <p:embeddedFont>
      <p:font typeface="Telegraf" charset="1" panose="00000500000000000000"/>
      <p:regular r:id="rId16"/>
    </p:embeddedFont>
    <p:embeddedFont>
      <p:font typeface="Telegraf Heavy" charset="1" panose="00000A00000000000000"/>
      <p:regular r:id="rId17"/>
    </p:embeddedFont>
    <p:embeddedFont>
      <p:font typeface="Open Sans" charset="1" panose="00000000000000000000"/>
      <p:regular r:id="rId18"/>
    </p:embeddedFont>
    <p:embeddedFont>
      <p:font typeface="Open Sans Bold" charset="1" panose="00000000000000000000"/>
      <p:regular r:id="rId19"/>
    </p:embeddedFont>
    <p:embeddedFont>
      <p:font typeface="Telegraf Bold" charset="1" panose="00000800000000000000"/>
      <p:regular r:id="rId20"/>
    </p:embeddedFont>
    <p:embeddedFont>
      <p:font typeface="Telegraf Extra-Light" charset="1" panose="000003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5.xml"/><Relationship Id="rId11" Type="http://schemas.openxmlformats.org/officeDocument/2006/relationships/slide" Target="slides/slide20.xml"/><Relationship Id="rId12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21.xml"/><Relationship Id="rId15" Type="http://schemas.openxmlformats.org/officeDocument/2006/relationships/slide" Target="slides/slide2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11111"/>
                </a:solidFill>
                <a:latin typeface="Inter SemiBold"/>
              </a:rPr>
              <a:t>Horas-hombre por mes (T-15, Tabla 7.5)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4640.86</c:v>
                </c:pt>
                <c:pt idx="8">
                  <c:v>3151.92</c:v>
                </c:pt>
                <c:pt idx="9">
                  <c:v>2060.57</c:v>
                </c:pt>
                <c:pt idx="10">
                  <c:v>1676.35</c:v>
                </c:pt>
                <c:pt idx="11">
                  <c:v>1299.14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</c:v>
                </c:pt>
                <c:pt idx="13">
                  <c:v>571.43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4715.0</c:v>
                </c:pt>
                <c:pt idx="16">
                  <c:v>3498.0</c:v>
                </c:pt>
                <c:pt idx="17">
                  <c:v>2754.0</c:v>
                </c:pt>
                <c:pt idx="18">
                  <c:v>2779.0</c:v>
                </c:pt>
                <c:pt idx="19">
                  <c:v>2966.0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</c:ser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Somos LafroX SpA y presentamos nuestra Propuesta Técnica para la Licitación TFEP-01/2026 de Distribuidora Puelche: el Sistema Integral de Gestión Logística Puelche. En 20 minutos vamos a mostrar el problema, la solución, cómo la construimos y cómo aseguramos que funcione.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Marzo de 2026. Un retiro sanitario. Puelche tardó nueve días en saber a qué clientes había llegado el producto. El resultado: 4.800 kilos retirados y el proveedor de lácteos suspendió a Puelche por seis meses, un proveedor que representa el 6 % de las ventas. Recuerden este número: nueve días. Volveremos a él al final. (Fuente: 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diagnóstico. Puelche tiene tres problemas que parecen distintos: la habilitación sanitaria está comprometida, el servicio pierde competitividad con un OTIF de 82,4 %, y nadie conoce el costo de servir, que se calcula con un prorrateo de 2016. Pero los tres tienen la misma causa: el dato no se registra donde ocurre el hecho. Sin captura no hay trazabilidad; sin trazabilidad no se mide el servicio; sin eso no se conoce el costo. (SD2)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son los números con los que nos van a medir. Hoy el OTIF es 82,4 % y la meta es sobre 95 %. Las reentregas bajan de 4,2 % a menos de 1 %. Ninguna recepción sin lote. La merma por vencimiento baja de 1,7 % a 1 %. La rendición cuadra el mismo día. Y el retiro sanitario: de nueve días a menos de dos horas. (SD2, Tabla 2.1)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¿Por qué LafroX? Porque ya resolvimos este problema a mayor escala. LogiNacional opera 420 camiones y 22.000 entregas diarias; Puelche tiene 96 camiones y unas 1.400 entregas. Somos 124 especialistas, operamos un NOC 24×7 desde Valparaíso y mantenemos ISO 9001, 27001, 20000-1 y CMMI nivel 3. (SD1 y Formulario T-6)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alcance tiene dos etapas. La Etapa 1 captura el dato donde nace: preventa, recepción con lote, bodega con FEFO, rutas, frío, entrega y efectivo; entra a producción en el mes 16. La Etapa 2 lo explota: portal, canal moderno con EDI y costo de servir; producción en el mes 21. El ERP no se reemplaza: sigue emitiendo los documentos tributarios. (SD3)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arquitectura es híbrida. El núcleo corre en AWS São Paulo con recuperación en Virginia, y cada centro de distribución y cross-docking tiene cómputo local. Si se corta el enlace, la bodega opera 24 horas sola y la preventa y el reparto 14 horas sin señal; al volver, todo se reconcilia sin duplicados porque cada registro lleva un UUID. Tres caminos de comunicación: fibra, LTE y Starlink. RTO de 4 horas, RPO de 15 minutos. (SD4, 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que la trazabilidad funcione, cada dato tiene una sola fuente que puede escribirlo. El lote se sigue de punta a punta con el estándar EPCIS 2.0: recepción, lote con su historia térmica, unidad logística, ruta y entrega con evidencia. La decisión sanitaria la toma Calidad, no el sensor. Migramos 32 GB con cero diferencias sin explicar, de noche, sin tocar el despacho. (SD5)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Gestionamos con PMBOK adaptado a un contrato de 56 meses, midiendo el avance con valor ganado: si el SPI o el CPI baja de 0,90, se activa una alerta. Desarrollamos con RUP en iteraciones de dos semanas y DevSecOps: el pipeline bloquea cualquier cambio que no pase las pruebas. Y respetamos los congelamientos de Puelche: nada se despliega en septiembre ni en diciembre. (SD6)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calidad no se inspecciona al final: se previene. Siete puertas, de G0 a G6, desde el computador del desarrollador hasta la operación; ninguna tiene a alguien que pueda levantar el bloqueo. Y la aceptación exige las seis condiciones del Artículo 17.3, que son copulativas: ninguna compensa a otra. Además: 1.316 casos de prueba con 80 % automatizados y pruebas en cámara a −22 °C. (SD9, SD7)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innovaciones, una por cada tipo que piden las Bases, y cada una nace de un problema documentado del caso. Seguimos el vencimiento después de la entrega; reproducimos los incidentes de terreno; estimamos la vida útil con la historia térmica del lote; ligamos parte del pago al costo de servir; y entregamos al almacenero una hoja de negocio que funciona sin internet. Ninguna agrega hardware ni usa modelos de IA aprendidos. (SD13)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equipo lo dirige Alex Aravena, Jefe de Proyecto e interlocutor único con Puelche. Siete líderes de dominio cubren arquitectura e integración, seguridad, datos, desarrollo, calidad, operación e implantación: ocho personas para los diez roles mínimos de las Bases. En el peak, el proyecto suma 69 personas. (SD1, Tabla 1.6)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 Volvamos al número del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nueve días a menos de dos horas. Eso es lo que entrega el Sistema Integral de Gestión Logística Puelche: el dato capturado donde ocurre el hecho, trazable de punta a punta, aun sin señal. Gracias.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del sistema. A la izquierda, las siete interfaces: tres apps Android, tres portales y las consolas. Al centro, los doce módulos agrupados en los frentes con que los construimos: bodega y calidad, preventa-rutas-reparto, datos y rendición, y canal moderno. Cada módulo indica la etapa en que entra a producción; solo el canal moderno espera a la Etapa 2. El dato fluye de la recepción al inventario, a la preparación y al reparto. A la derecha, el ERP sigue siendo el único emisor tributario y solo se toca a través de una capa anticorrupción. (SD3 Fig. 3.4–3.8, SD4 Anexo 4-F)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EDT ordena todo el trabajo en nueve fases, 49 cuentas de control y 222 paquetes. Las fases 1 a 4 —inicio, elaboración, construcción y transición— se ejecutan una vez por cada etapa. Construcción es la fase más grande en paquetes: once cuentas, de los ambientes a la documentación, pasando por migración y pruebas. Operación concentra la mayor parte de las horas, porque son 36 meses de servicio. (T-14 Tabla 7.1, T-15 Tabla 7.3)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¿Cómo se divide el proyecto? En dos niveles. Primero, tres bloques contractuales: la Etapa 1, la Etapa 2 y la operación, que se solapan en los meses 13 a 15 y 19 a 20. Segundo, ocho frentes de trabajo, cada uno con un responsable nominado: dirección, arquitectura, construcción de cada etapa, plataforma, calidad, implantación y operación. Así cada entregable tiene un dueño. (T-14 Tabla 7.52, T-15 Tabla 7.1)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(Transición automática.)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Gantt de implementación, mes a mes. En gris, los congelamientos de septiembre y diciembre: ahí no se despliega nada. La migración corre de los meses 7 a 12 y el corte final se hace fuera de esas ventanas. La Etapa 1 entra en marcha blanca en tres olas y pasa a producción en el H7, mes 16; la Etapa 2 en el H12, mes 21. Cada paso a producción tiene un procedimiento de reversión. En la última fila, los riesgos principales en su mes estimado: se concentran en el mes 11, justo antes de la certificación. (T-14, T-15, T-18, SD8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Así se distribuye el esfuerzo mes a mes. La curva sube con la construcción de la Etapa 1, baja hacia la certificación y vuelve a subir cuando se solapan la marcha blanca de la Etapa 1 y el desarrollo de la Etapa 2: el máximo es de 8.106 horas en el mes 15, con 69 personas. Desde el mes 21 la operación se estabiliza entre 3.200 y 3.900 horas mensuales. En total, 217.543 horas. (T-15 Tablas 7.5 y 7.6)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hablar de riesgos partimos por el contexto: la RBS. Agrupamos los 45 riesgos en siete ramas. La más grande es Solución y tecnología, con 14, donde están los dos críticos: el retiro sin trazabilidad completa y una recuperación que exceda el RTO o el RPO. Le siguen Operación del cliente, Integración y legado y Personas. Cada rama tiene un color: los van a ver de nuevo en la siguiente lámina. (SD8 Fig. 8.1)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son los seis riesgos de mayor exposición, con el color de su rama de la RBS. Para cada uno definimos una respuesta de mitigación concreta, un responsable y un disparador. Por ejemplo, el retiro sin trazabilidad lo atacamos con un retiro simulado de punta a punta, lo que baja su probabilidad objetivo de 35 % a 10 %. Las horas de contingencia salen del valor esperado de los 45 riesgos: 2.058 horas, más 1.600 de reserva de gestión. (SD8 Tabla 8.4, T-16, Anexo 8.B)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¿Qué dicen las normas y las leyes? A la izquierda, cada norma de calidad y la regla concreta que nos impone: ISO 25010 fija umbrales del producto, como responder en menos de un segundo en preparación; WCAG y OWASP bloquean una promoción si no se cumplen. A la derecha, las leyes que el sistema debe cumplir: el Decreto 977 exige registro de temperatura inviolable y retiro expedito, el SII exige guía electrónica y acuse, y la Ley 21.719 protege los datos personales desde diciembre de 2026. (SD9 Tabla 9.2, SD2 §2.2.2)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lafrox_iso_naranja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lafrox_iso_negro.png"/><Relationship Id="rId11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chart" Target="../charts/chart1.xml"/><Relationship Id="rId9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eg"/><Relationship Id="rId3" Type="http://schemas.openxmlformats.org/officeDocument/2006/relationships/image" Target="../media/image34.png"/><Relationship Id="rId4" Type="http://schemas.openxmlformats.org/officeDocument/2006/relationships/image" Target="../media/image35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lafrox_iso_negro.png"/><Relationship Id="rId8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image" Target="../media/image26.png"/><Relationship Id="rId11" Type="http://schemas.openxmlformats.org/officeDocument/2006/relationships/image" Target="../media/image27.svg"/><Relationship Id="rId12" Type="http://schemas.openxmlformats.org/officeDocument/2006/relationships/image" Target="../media/image8.png"/><Relationship Id="rId13" Type="http://schemas.openxmlformats.org/officeDocument/2006/relationships/image" Target="../media/image9.svg"/><Relationship Id="rId14" Type="http://schemas.openxmlformats.org/officeDocument/2006/relationships/image" Target="../media/image4.png"/><Relationship Id="rId15" Type="http://schemas.openxmlformats.org/officeDocument/2006/relationships/image" Target="../media/image5.svg"/><Relationship Id="rId16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Relationship Id="rId7" Type="http://schemas.openxmlformats.org/officeDocument/2006/relationships/image" Target="../media/image41.png"/><Relationship Id="rId8" Type="http://schemas.openxmlformats.org/officeDocument/2006/relationships/image" Target="../media/image42.svg"/><Relationship Id="rId9" Type="http://schemas.openxmlformats.org/officeDocument/2006/relationships/image" Target="../media/image43.png"/><Relationship Id="rId10" Type="http://schemas.openxmlformats.org/officeDocument/2006/relationships/image" Target="../media/image44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5.png"/><Relationship Id="rId4" Type="http://schemas.openxmlformats.org/officeDocument/2006/relationships/image" Target="../media/image46.svg"/><Relationship Id="rId5" Type="http://schemas.openxmlformats.org/officeDocument/2006/relationships/image" Target="../media/image47.png"/><Relationship Id="rId6" Type="http://schemas.openxmlformats.org/officeDocument/2006/relationships/image" Target="../media/image48.svg"/><Relationship Id="rId7" Type="http://schemas.openxmlformats.org/officeDocument/2006/relationships/image" Target="../media/image49.png"/><Relationship Id="rId8" Type="http://schemas.openxmlformats.org/officeDocument/2006/relationships/image" Target="../media/image50.svg"/><Relationship Id="rId9" Type="http://schemas.openxmlformats.org/officeDocument/2006/relationships/image" Target="../media/image51.png"/><Relationship Id="rId10" Type="http://schemas.openxmlformats.org/officeDocument/2006/relationships/image" Target="../media/image52.svg"/><Relationship Id="rId11" Type="http://schemas.openxmlformats.org/officeDocument/2006/relationships/image" Target="../media/image53.png"/><Relationship Id="rId12" Type="http://schemas.openxmlformats.org/officeDocument/2006/relationships/image" Target="../media/image54.svg"/><Relationship Id="rId13" Type="http://schemas.openxmlformats.org/officeDocument/2006/relationships/image" Target="../media/image4.png"/><Relationship Id="rId14" Type="http://schemas.openxmlformats.org/officeDocument/2006/relationships/image" Target="../media/image5.svg"/><Relationship Id="rId15" Type="http://schemas.openxmlformats.org/officeDocument/2006/relationships/image" Target="../media/image55.png"/><Relationship Id="rId16" Type="http://schemas.openxmlformats.org/officeDocument/2006/relationships/image" Target="../media/image56.svg"/><Relationship Id="rId17" Type="http://schemas.openxmlformats.org/officeDocument/2006/relationships/image" Target="../media/image2.png"/><Relationship Id="rId18" Type="http://schemas.openxmlformats.org/officeDocument/2006/relationships/image" Target="../media/image3.svg"/><Relationship Id="rId19" Type="http://schemas.openxmlformats.org/officeDocument/2006/relationships/image" Target="../media/lafrox_iso_naranja.png"/><Relationship Id="rId20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091994" y="-6797913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true" rot="0">
            <a:off x="7574342" y="898768"/>
            <a:ext cx="22093321" cy="11046661"/>
          </a:xfrm>
          <a:custGeom>
            <a:avLst/>
            <a:gdLst/>
            <a:ahLst/>
            <a:cxnLst/>
            <a:rect r="r" b="b" t="t" l="l"/>
            <a:pathLst>
              <a:path h="11046661" w="2209332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28123" y="2520990"/>
            <a:ext cx="12946574" cy="193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0"/>
              </a:lnSpc>
            </a:pPr>
            <a:r>
              <a:rPr lang="en-US" sz="106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123" y="3820932"/>
            <a:ext cx="12950077" cy="2374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6"/>
              </a:lnSpc>
            </a:pPr>
            <a:r>
              <a:rPr lang="en-US" sz="10494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123" y="6162459"/>
            <a:ext cx="8734851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</a:p>
          <a:p>
            <a:pPr algn="l">
              <a:lnSpc>
                <a:spcPts val="2665"/>
              </a:lnSpc>
            </a:pPr>
            <a:r>
              <a:rPr lang="en-US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5324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3761" y="8961120"/>
            <a:ext cx="4041891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pic>
        <p:nvPicPr>
          <p:cNvPr id="13" name="!!logo" descr="Isotipo Lafro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F29A5E"/>
                </a:solidFill>
                <a:latin typeface="Inter SemiBold"/>
              </a:rPr>
              <a:t>MARZO 2026 · RETIRO SANITARIO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Inter Light"/>
              </a:rPr>
              <a:t>para identificar a los clientes afectados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4.800 kg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producto retirado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6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suspensión del proveedor lácteo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29A5E"/>
                </a:solidFill>
                <a:latin typeface="Inter SemiBold"/>
              </a:rPr>
              <a:t>6 %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7863840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Inter"/>
              </a:rPr>
              <a:t>de las ventas dependen de ese proveedor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Tres problemas encadenados, una sola causa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l"/>
            <a:r>
              <a:rPr sz="1600" b="1">
                <a:solidFill>
                  <a:srgbClr val="F29A5E"/>
                </a:solidFill>
                <a:latin typeface="Inter SemiBold"/>
              </a:rPr>
              <a:t>CAUSA RAÍZ</a:t>
            </a:r>
          </a:p>
          <a:p>
            <a:pPr algn="l"/>
            <a:r>
              <a:rPr sz="2800" b="1">
                <a:solidFill>
                  <a:srgbClr val="FFFFFF"/>
                </a:solidFill>
                <a:latin typeface="Inter SemiBold"/>
              </a:rPr>
              <a:t>El dato no se registra donde ocurre el hecho.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4173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459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96596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Habilitación sanitaria comprometida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743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Recepciones sin lote: 41 %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0" y="17373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retiro</a:t>
            </a:r>
          </a:p>
        </p:txBody>
      </p:sp>
      <p:sp>
        <p:nvSpPr>
          <p:cNvPr id="20" name="!!reloj"/>
          <p:cNvSpPr txBox="1"/>
          <p:nvPr/>
        </p:nvSpPr>
        <p:spPr>
          <a:xfrm>
            <a:off x="12984480" y="20574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9 días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787384" y="2331720"/>
            <a:ext cx="722376" cy="315468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356616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37947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41148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Servicio que pierde competitividad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892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Reentregas: 4,2 % (≈59 al día)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0" y="38862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OTIF</a:t>
            </a:r>
          </a:p>
        </p:txBody>
      </p:sp>
      <p:sp>
        <p:nvSpPr>
          <p:cNvPr id="27" name="!!otif"/>
          <p:cNvSpPr txBox="1"/>
          <p:nvPr/>
        </p:nvSpPr>
        <p:spPr>
          <a:xfrm>
            <a:off x="12984480" y="420624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82,4 %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787384" y="4480560"/>
            <a:ext cx="722376" cy="100584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5715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59436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62636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11111"/>
                </a:solidFill>
                <a:latin typeface="Inter SemiBold"/>
              </a:rPr>
              <a:t>Costo de servir desconocido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70408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Diferencias de rendición: $4,2 M/mes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41680" y="6035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9A9A9A"/>
                </a:solidFill>
                <a:latin typeface="Inter"/>
              </a:rPr>
              <a:t>prorrateo de</a:t>
            </a:r>
          </a:p>
        </p:txBody>
      </p:sp>
      <p:sp>
        <p:nvSpPr>
          <p:cNvPr id="34" name="!!costo"/>
          <p:cNvSpPr txBox="1"/>
          <p:nvPr/>
        </p:nvSpPr>
        <p:spPr>
          <a:xfrm>
            <a:off x="12984480" y="635508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800" b="1">
                <a:solidFill>
                  <a:srgbClr val="E8641B"/>
                </a:solidFill>
                <a:latin typeface="Inter SemiBold"/>
              </a:rPr>
              <a:t>2016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87384" y="5486400"/>
            <a:ext cx="722376" cy="114300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280160"/>
            <a:ext cx="6643896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Clave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384048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606060"/>
                </a:solidFill>
                <a:latin typeface="Inter"/>
              </a:rPr>
              <a:t>Lo que mide Puelche hoy y la meta que comprometemos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4864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9A9A"/>
                </a:solidFill>
                <a:latin typeface="Inter"/>
              </a:rPr>
              <a:t>Fuente: Subdocumento 2, Tabla 2.1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Tiempo para identificar un retiro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17" name="!!reloj"/>
          <p:cNvSpPr txBox="1"/>
          <p:nvPr/>
        </p:nvSpPr>
        <p:spPr>
          <a:xfrm>
            <a:off x="795528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9 días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8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5528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&lt; 2 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OTIF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24" name="!!otif"/>
          <p:cNvSpPr txBox="1"/>
          <p:nvPr/>
        </p:nvSpPr>
        <p:spPr>
          <a:xfrm>
            <a:off x="1124712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82,4 %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4712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24712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&gt; 95 %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264640" y="109728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38960" y="137160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Recepciones sin lote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38960" y="2331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0" y="2606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41 %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538960" y="338328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538960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38960" y="38404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0 %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Reentregas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4,2 %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95528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95528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&lt; 1 %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4712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Merma por vencimiento (inventario/año)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606060"/>
                </a:solidFill>
                <a:latin typeface="Inter"/>
              </a:rPr>
              <a:t>1,7 %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24712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124712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≤ 1,0 %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64640" y="5120640"/>
            <a:ext cx="3017520" cy="3749039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538960" y="539496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C3C3C"/>
                </a:solidFill>
                <a:latin typeface="Inter SemiBold"/>
              </a:rPr>
              <a:t>Diferencias de rendición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38960" y="6355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9A9A"/>
                </a:solidFill>
                <a:latin typeface="Inter SemiBold"/>
              </a:rPr>
              <a:t>HOY</a:t>
            </a:r>
          </a:p>
        </p:txBody>
      </p:sp>
      <p:sp>
        <p:nvSpPr>
          <p:cNvPr id="52" name="!!costo2"/>
          <p:cNvSpPr txBox="1"/>
          <p:nvPr/>
        </p:nvSpPr>
        <p:spPr>
          <a:xfrm>
            <a:off x="14538960" y="662940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06060"/>
                </a:solidFill>
                <a:latin typeface="Inter"/>
              </a:rPr>
              <a:t>$4,2 M/mes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4538960" y="7406640"/>
            <a:ext cx="2468880" cy="0"/>
          </a:xfrm>
          <a:prstGeom prst="line">
            <a:avLst/>
          </a:prstGeom>
          <a:ln w="1270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4538960" y="7589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META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538960" y="786384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641B"/>
                </a:solidFill>
                <a:latin typeface="Inter SemiBold"/>
              </a:rPr>
              <a:t>Mismo día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280160"/>
            <a:ext cx="54864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Quiénes somos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420624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124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427939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especialistas · desde 2012 en Santiago y Valparaíso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5532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24×7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560527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NOC, SOC y Mesa de Servicios propios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85800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8641B"/>
                </a:solidFill>
                <a:latin typeface="Inter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931152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Inter"/>
              </a:rPr>
              <a:t>certificaciones: ISO 9001 · ISO/IEC 27001 · ISO/IEC 20000-1 · CMMI-DEV N3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55448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Inter SemiBold"/>
              </a:rPr>
              <a:t>Ya operamos a mayor 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488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Inter"/>
              </a:rPr>
              <a:t>Puelche frente a nuestros proyectos de referencia (Formulario T-6)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Camiones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033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420 · LogiNacional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251960"/>
            <a:ext cx="1672045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3605" y="42793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96 · Puelche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Entregas diarias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5321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22.000 · LogiNacional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6080760"/>
            <a:ext cx="465512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17072" y="61081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≈1.400 · Puelche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5800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11111"/>
                </a:solidFill>
                <a:latin typeface="Inter SemiBold"/>
              </a:rPr>
              <a:t>Preventistas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7360920"/>
            <a:ext cx="7315200" cy="457200"/>
          </a:xfrm>
          <a:prstGeom prst="roundRect">
            <a:avLst>
              <a:gd name="adj" fmla="val 5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r"/>
            <a:r>
              <a:rPr sz="1500" b="0">
                <a:solidFill>
                  <a:srgbClr val="111111"/>
                </a:solidFill>
                <a:latin typeface="Inter"/>
              </a:rPr>
              <a:t>280 · Lácteos del Sur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7909560"/>
            <a:ext cx="1619794" cy="45720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1354" y="7936992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62 · Puelche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5509" y="-8090895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924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656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619980"/>
            <a:ext cx="5153525" cy="5344669"/>
            <a:chOff x="0" y="0"/>
            <a:chExt cx="1357307" cy="1407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370156" y="7182945"/>
            <a:ext cx="7547688" cy="20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9"/>
              </a:lnSpc>
            </a:pPr>
            <a:r>
              <a:rPr lang="en-US" sz="1115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5775" y="1619980"/>
            <a:ext cx="5153525" cy="5344669"/>
            <a:chOff x="0" y="0"/>
            <a:chExt cx="1357307" cy="1407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7307" cy="1407650"/>
            </a:xfrm>
            <a:custGeom>
              <a:avLst/>
              <a:gdLst/>
              <a:ahLst/>
              <a:cxnLst/>
              <a:rect r="r" b="b" t="t" l="l"/>
              <a:pathLst>
                <a:path h="1407650" w="1357307">
                  <a:moveTo>
                    <a:pt x="61593" y="0"/>
                  </a:moveTo>
                  <a:lnTo>
                    <a:pt x="1295714" y="0"/>
                  </a:lnTo>
                  <a:cubicBezTo>
                    <a:pt x="1329731" y="0"/>
                    <a:pt x="1357307" y="27576"/>
                    <a:pt x="1357307" y="61593"/>
                  </a:cubicBezTo>
                  <a:lnTo>
                    <a:pt x="1357307" y="1346057"/>
                  </a:lnTo>
                  <a:cubicBezTo>
                    <a:pt x="1357307" y="1362392"/>
                    <a:pt x="1350818" y="1378059"/>
                    <a:pt x="1339267" y="1389610"/>
                  </a:cubicBezTo>
                  <a:cubicBezTo>
                    <a:pt x="1327716" y="1401160"/>
                    <a:pt x="1312050" y="1407650"/>
                    <a:pt x="1295714" y="1407650"/>
                  </a:cubicBezTo>
                  <a:lnTo>
                    <a:pt x="61593" y="1407650"/>
                  </a:lnTo>
                  <a:cubicBezTo>
                    <a:pt x="45257" y="1407650"/>
                    <a:pt x="29591" y="1401160"/>
                    <a:pt x="18040" y="1389610"/>
                  </a:cubicBezTo>
                  <a:cubicBezTo>
                    <a:pt x="6489" y="1378059"/>
                    <a:pt x="0" y="1362392"/>
                    <a:pt x="0" y="1346057"/>
                  </a:cubicBezTo>
                  <a:lnTo>
                    <a:pt x="0" y="61593"/>
                  </a:lnTo>
                  <a:cubicBezTo>
                    <a:pt x="0" y="45257"/>
                    <a:pt x="6489" y="29591"/>
                    <a:pt x="18040" y="18040"/>
                  </a:cubicBezTo>
                  <a:cubicBezTo>
                    <a:pt x="29591" y="6489"/>
                    <a:pt x="45257" y="0"/>
                    <a:pt x="61593" y="0"/>
                  </a:cubicBezTo>
                  <a:close/>
                </a:path>
              </a:pathLst>
            </a:custGeom>
            <a:ln w="114300" cap="rnd">
              <a:solidFill>
                <a:srgbClr val="E8641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7307" cy="1455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001050" y="2894964"/>
            <a:ext cx="4285901" cy="325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200" b="1">
                <a:solidFill>
                  <a:srgbClr val="000000"/>
                </a:solidFill>
                <a:latin typeface="Inter SemiBold"/>
                <a:ea typeface="Inter"/>
                <a:cs typeface="Inter"/>
                <a:sym typeface="Inter"/>
              </a:rPr>
              <a:t>Primero capturamos, después explotamos.</a:t>
            </a:r>
          </a:p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ERP sigue siendo el único emisor tributario: la solución captura la evidencia (firma, foto o QR) y el ERP registra el acuse.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3067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60143" y="2460411"/>
            <a:ext cx="3244790" cy="70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3807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1640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Capturar el dato en origen: preventa, recepción con lote, bodega FEFO, cross-docking, rutas, frío, entrega y efectivo.</a:t>
            </a:r>
          </a:p>
          <a:p>
            <a:pPr algn="l">
              <a:lnSpc>
                <a:spcPts val="2856"/>
              </a:lnSpc>
            </a:pPr>
            <a:r>
              <a:rPr lang="en-US" sz="1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16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28715" y="3875794"/>
            <a:ext cx="3907644" cy="252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Explotar el dato: portal de clientes, canal moderno con EDI y costo de servir por entrega.</a:t>
            </a:r>
          </a:p>
          <a:p>
            <a:pPr algn="l">
              <a:lnSpc>
                <a:spcPts val="2856"/>
              </a:lnSpc>
            </a:pPr>
            <a:r>
              <a:rPr lang="en-US" sz="1800" b="1">
                <a:solidFill>
                  <a:srgbClr val="E8641B"/>
                </a:solidFill>
                <a:latin typeface="Inter SemiBold"/>
                <a:ea typeface="Inter"/>
                <a:cs typeface="Inter"/>
                <a:sym typeface="Inter"/>
              </a:rPr>
              <a:t>Producción: mes 21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2322398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50802" y="79872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módulos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 interfaces → 12 módulos sobre una base común → sistemas externos · la etiqueta indica la etapa en que entra a producción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32918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INTERFACES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611880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App Preventa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233672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App Reparto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855464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App Bodega (HHT)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77256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Portal Clientes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6099048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Portal Transportistas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6720840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Portal Proveedores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7342632"/>
            <a:ext cx="2377440" cy="512064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111"/>
                </a:solidFill>
                <a:latin typeface="Inter SemiBold"/>
              </a:rPr>
              <a:t>Consolas back-office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971800" y="5760720"/>
            <a:ext cx="274320" cy="0"/>
          </a:xfrm>
          <a:prstGeom prst="line">
            <a:avLst/>
          </a:prstGeom>
          <a:ln w="25400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291840" y="3291840"/>
            <a:ext cx="6766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29000" y="33832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Inter SemiBold"/>
              </a:rPr>
              <a:t>Bodega y calidad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29000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20440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0440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Recepción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20440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45736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37175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37175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Inventario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37175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62472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3912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53912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Preparación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53912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79208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70648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 SemiBold"/>
              </a:rPr>
              <a:t>M9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70648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 SemiBold"/>
              </a:rPr>
              <a:t>Calidad y trazabilidad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70648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695944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87384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87384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Telemetría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87384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241280" y="3291840"/>
            <a:ext cx="40233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78440" y="338328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Inter SemiBold"/>
              </a:rPr>
              <a:t>Canal moderno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378440" y="3749039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469880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469880" y="4096511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EDI canal moderno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469880" y="4937759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95176" y="3840480"/>
            <a:ext cx="2432304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Pedido electrónico y aviso de despacho; entrega el pedido normalizado a M3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91840" y="562356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29000" y="57150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Inter SemiBold"/>
              </a:rPr>
              <a:t>Preventa, rutas y reparto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429000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520440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20440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Preventa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20440" y="7269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45736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37175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37175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Rutas + GIS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37175" y="7269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062472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53912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53912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Reparto (POD)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53912" y="7269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379208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70648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70648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Devoluciones y envases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470648" y="7269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961120" y="562356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09828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  <a:latin typeface="Inter SemiBold"/>
              </a:rPr>
              <a:t>Datos y rendición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98280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89720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89720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Cobranza y rendición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89720" y="72694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0415016" y="6080760"/>
            <a:ext cx="1188720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506456" y="61539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M10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506456" y="6428232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Analítica BI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506456" y="72694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Etapa 1 y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731752" y="6172200"/>
            <a:ext cx="2395727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M10 consolida M1–M9 y M12: OTIF en la Etapa 1 y costo de servir en la Etapa 2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617720" y="4526279"/>
            <a:ext cx="128016" cy="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934455" y="4526279"/>
            <a:ext cx="128017" cy="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617720" y="6858000"/>
            <a:ext cx="128016" cy="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934455" y="6858000"/>
            <a:ext cx="128017" cy="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251192" y="6858000"/>
            <a:ext cx="128016" cy="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6656832" y="5303520"/>
            <a:ext cx="0" cy="777240"/>
          </a:xfrm>
          <a:prstGeom prst="line">
            <a:avLst/>
          </a:prstGeom>
          <a:ln w="22225">
            <a:solidFill>
              <a:srgbClr val="E864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23"/>
          <p:cNvSpPr/>
          <p:nvPr/>
        </p:nvSpPr>
        <p:spPr>
          <a:xfrm>
            <a:off x="3291840" y="8001000"/>
            <a:ext cx="10972800" cy="59436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>
                <a:solidFill>
                  <a:srgbClr val="F29A5E"/>
                </a:solidFill>
                <a:latin typeface="Inter SemiBold"/>
              </a:rPr>
              <a:t>BASE COMÚN  </a:t>
            </a:r>
            <a:r>
              <a:rPr sz="1300" b="0">
                <a:solidFill>
                  <a:srgbClr val="FFFFFF"/>
                </a:solidFill>
                <a:latin typeface="Inter"/>
              </a:rPr>
              <a:t>identidad · integración · registro auditable · operación sin conexión · observabilidad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630400" y="32918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SISTEMAS EXTERNOS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630400" y="3611880"/>
            <a:ext cx="3108960" cy="14173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ERP 2017</a:t>
            </a:r>
          </a:p>
          <a:p>
            <a:pPr algn="l"/>
            <a:r>
              <a:rPr sz="1200" b="0">
                <a:solidFill>
                  <a:srgbClr val="C7C7C7"/>
                </a:solidFill>
                <a:latin typeface="Inter"/>
              </a:rPr>
              <a:t>Único emisor tributario. Acceso solo vía ACL (M1, M5, M7, M8, M11)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4310360" y="432054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ounded Rectangle 127"/>
          <p:cNvSpPr/>
          <p:nvPr/>
        </p:nvSpPr>
        <p:spPr>
          <a:xfrm>
            <a:off x="14630400" y="516636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GIS y GPS</a:t>
            </a:r>
          </a:p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Mapas para M4 y posición de flota para M12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4310360" y="576072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4630400" y="649224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/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Cadenas</a:t>
            </a:r>
          </a:p>
          <a:p>
            <a:pPr algn="l"/>
            <a:r>
              <a:rPr sz="1200" b="0">
                <a:solidFill>
                  <a:srgbClr val="606060"/>
                </a:solidFill>
                <a:latin typeface="Inter"/>
              </a:rPr>
              <a:t>EDI/AS2 con el canal moderno (M11)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4310360" y="7086600"/>
            <a:ext cx="274320" cy="0"/>
          </a:xfrm>
          <a:prstGeom prst="line">
            <a:avLst/>
          </a:prstGeom>
          <a:ln w="19050">
            <a:solidFill>
              <a:srgbClr val="9A9A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zoom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híbrida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C3C3C"/>
                </a:solidFill>
                <a:latin typeface="Inter"/>
              </a:rPr>
              <a:t>La nube coordina; cada bodega sigue operando sola y se reconcilia al reconectar.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560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RTO ≤ 4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RPO ≤ 15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47688" y="640080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≥ 99,9 %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914400"/>
            <a:ext cx="5120640" cy="1463040"/>
          </a:xfrm>
          <a:prstGeom prst="roundRect">
            <a:avLst>
              <a:gd name="adj" fmla="val 1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2000" b="1">
                <a:solidFill>
                  <a:srgbClr val="FFFFFF"/>
                </a:solidFill>
                <a:latin typeface="Inter SemiBold"/>
              </a:rPr>
              <a:t>AWS sa-east-1 · São Paulo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Inter"/>
              </a:rPr>
              <a:t>Núcleo de la solución · 2 zonas de disponibilidad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59000" y="91440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DR us-east-1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activo-pasivo en caliente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8136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Fibra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353312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2344400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LTE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53312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184880" y="237744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4996159" y="3108960"/>
            <a:ext cx="23774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86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E8641B"/>
                </a:solidFill>
                <a:latin typeface="Inter SemiBold"/>
              </a:rPr>
              <a:t>Starlink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184880" y="3840480"/>
            <a:ext cx="0" cy="73152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976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 b="1">
                <a:solidFill>
                  <a:srgbClr val="FFFFFF"/>
                </a:solidFill>
                <a:latin typeface="Inter SemiBold"/>
              </a:rPr>
              <a:t>CD Talca</a:t>
            </a:r>
          </a:p>
          <a:p>
            <a:pPr algn="l"/>
            <a:r>
              <a:rPr sz="1300" b="0">
                <a:solidFill>
                  <a:srgbClr val="C7C7C7"/>
                </a:solidFill>
                <a:latin typeface="Inter"/>
              </a:rPr>
              <a:t>Clúster Proxmox/Ceph · 3 nodos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670280" y="457200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800" b="1">
                <a:solidFill>
                  <a:srgbClr val="FFFFFF"/>
                </a:solidFill>
                <a:latin typeface="Inter SemiBold"/>
              </a:rPr>
              <a:t>CD Concepción</a:t>
            </a:r>
          </a:p>
          <a:p>
            <a:pPr algn="l"/>
            <a:r>
              <a:rPr sz="1300" b="0">
                <a:solidFill>
                  <a:srgbClr val="C7C7C7"/>
                </a:solidFill>
                <a:latin typeface="Inter"/>
              </a:rPr>
              <a:t>2 servidores · activo y en espera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Curicó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9868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Chillán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0" y="6309360"/>
            <a:ext cx="2514600" cy="12344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>
                <a:solidFill>
                  <a:srgbClr val="111111"/>
                </a:solidFill>
                <a:latin typeface="Inter SemiBold"/>
              </a:rPr>
              <a:t>XD Los Ángeles</a:t>
            </a:r>
          </a:p>
          <a:p>
            <a:pPr algn="l"/>
            <a:r>
              <a:rPr sz="1300" b="0">
                <a:solidFill>
                  <a:srgbClr val="606060"/>
                </a:solidFill>
                <a:latin typeface="Inter"/>
              </a:rPr>
              <a:t>2 mini-PC con Docker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777240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3 caminos de comunicación: fibra, LTE y Starlink · monolito modular Laravel 13 · 8 capas · 22 decisiones de arquitectura (ADR)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5608" y="7360920"/>
            <a:ext cx="3749039" cy="7315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14 h sin señal en terreno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67528" y="7360920"/>
            <a:ext cx="3749039" cy="73152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24 h sin enlace en el CD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1131" y="5377797"/>
            <a:ext cx="1975674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6339" y="5230464"/>
            <a:ext cx="294667" cy="29466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24391" y="5211414"/>
            <a:ext cx="294667" cy="2946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02443" y="5192364"/>
            <a:ext cx="294667" cy="2946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68287" y="5230464"/>
            <a:ext cx="294667" cy="2946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690235" y="5230464"/>
            <a:ext cx="294667" cy="29466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641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9989" y="5829931"/>
            <a:ext cx="2719575" cy="2347765"/>
            <a:chOff x="0" y="0"/>
            <a:chExt cx="716267" cy="6183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28825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 registra el lote y su vencimiento al ingresar.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5575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Historia térmica del sensor; Calidad decide.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82684" y="6148634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Pallet o canastillo vinculado a su lote.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4632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Viaje, paradas y temperatura en tránsito.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31484" y="6166883"/>
            <a:ext cx="2421977" cy="164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Firma, foto o QR; el ERP registra el acuse.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11937" y="5811682"/>
            <a:ext cx="2719575" cy="2347765"/>
            <a:chOff x="0" y="0"/>
            <a:chExt cx="716267" cy="61834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833885" y="5793433"/>
            <a:ext cx="2719575" cy="2347765"/>
            <a:chOff x="0" y="0"/>
            <a:chExt cx="716267" cy="6183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155833" y="5775184"/>
            <a:ext cx="2719575" cy="2347765"/>
            <a:chOff x="0" y="0"/>
            <a:chExt cx="716267" cy="6183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477781" y="5756936"/>
            <a:ext cx="2719575" cy="2347765"/>
            <a:chOff x="0" y="0"/>
            <a:chExt cx="716267" cy="6183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6267" cy="618341"/>
            </a:xfrm>
            <a:custGeom>
              <a:avLst/>
              <a:gdLst/>
              <a:ahLst/>
              <a:cxnLst/>
              <a:rect r="r" b="b" t="t" l="l"/>
              <a:pathLst>
                <a:path h="618341" w="716267">
                  <a:moveTo>
                    <a:pt x="116716" y="0"/>
                  </a:moveTo>
                  <a:lnTo>
                    <a:pt x="599550" y="0"/>
                  </a:lnTo>
                  <a:cubicBezTo>
                    <a:pt x="664011" y="0"/>
                    <a:pt x="716267" y="52256"/>
                    <a:pt x="716267" y="116716"/>
                  </a:cubicBezTo>
                  <a:lnTo>
                    <a:pt x="716267" y="501625"/>
                  </a:lnTo>
                  <a:cubicBezTo>
                    <a:pt x="716267" y="532580"/>
                    <a:pt x="703970" y="562267"/>
                    <a:pt x="682081" y="584156"/>
                  </a:cubicBezTo>
                  <a:cubicBezTo>
                    <a:pt x="660193" y="606044"/>
                    <a:pt x="630505" y="618341"/>
                    <a:pt x="599550" y="618341"/>
                  </a:cubicBezTo>
                  <a:lnTo>
                    <a:pt x="116716" y="618341"/>
                  </a:lnTo>
                  <a:cubicBezTo>
                    <a:pt x="85761" y="618341"/>
                    <a:pt x="56074" y="606044"/>
                    <a:pt x="34185" y="584156"/>
                  </a:cubicBezTo>
                  <a:cubicBezTo>
                    <a:pt x="12297" y="562267"/>
                    <a:pt x="0" y="532580"/>
                    <a:pt x="0" y="501625"/>
                  </a:cubicBezTo>
                  <a:lnTo>
                    <a:pt x="0" y="116716"/>
                  </a:lnTo>
                  <a:cubicBezTo>
                    <a:pt x="0" y="85761"/>
                    <a:pt x="12297" y="56074"/>
                    <a:pt x="34185" y="34185"/>
                  </a:cubicBezTo>
                  <a:cubicBezTo>
                    <a:pt x="56074" y="12297"/>
                    <a:pt x="85761" y="0"/>
                    <a:pt x="116716" y="0"/>
                  </a:cubicBezTo>
                  <a:close/>
                </a:path>
              </a:pathLst>
            </a:custGeom>
            <a:ln w="38100" cap="rnd">
              <a:solidFill>
                <a:srgbClr val="141414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16267" cy="665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Datos con una sola verdad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8788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60736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Lote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82684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Unidad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04632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26580" y="4251679"/>
            <a:ext cx="2421977" cy="6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0"/>
              </a:lnSpc>
            </a:pPr>
            <a:r>
              <a:rPr lang="en-US" sz="28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Entrega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 dominios · cada dato tiene una sola fuente que puede escribirlo · cadena de custodia EPCIS 2.0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8366760"/>
            <a:ext cx="1280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3C3C3C"/>
                </a:solidFill>
                <a:latin typeface="Inter"/>
              </a:rPr>
              <a:t>Migración: 32,11 GB · 0 diferencias sin explicar · ventana 22:00–06:00 que protege el despacho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5409758" y="6975062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9404926" y="5717771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6117519" y="-2801973"/>
            <a:ext cx="6415501" cy="6415501"/>
          </a:xfrm>
          <a:custGeom>
            <a:avLst/>
            <a:gdLst/>
            <a:ahLst/>
            <a:cxnLst/>
            <a:rect r="r" b="b" t="t" l="l"/>
            <a:pathLst>
              <a:path h="6415501" w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475324" y="1600200"/>
            <a:ext cx="766867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1"/>
              </a:lnSpc>
            </a:pPr>
            <a:r>
              <a:rPr lang="en-US" sz="8115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2188556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84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06324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8641B"/>
                </a:solidFill>
                <a:latin typeface="Inter SemiBold"/>
              </a:rPr>
              <a:t>PMBOK adaptado + RUP iterativo + DevSecOps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840480"/>
            <a:ext cx="731520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Avance medido con valor ganado: alerta si SPI o CPI cae bajo 0,90.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Iteraciones de construcción de 2 semanas; Kanban ordena el día a día.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Compuertas que bloquean: pruebas, análisis estático, contratos y cobertura 70/80 %.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C3C3C"/>
                </a:solidFill>
                <a:latin typeface="Inter"/>
              </a:rPr>
              <a:t>Sin despliegues en septiembre, diciembre ni los 3 primeros días hábiles del 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188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Ritmo de gobierno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82880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41480" y="182880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Seguimiento del proyecto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92608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41480" y="29260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 de Proyecto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402336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41480" y="402336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Comités Ejecutivo y de Arquitectura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120640"/>
            <a:ext cx="2103120" cy="82296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41480" y="51206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111111"/>
                </a:solidFill>
                <a:latin typeface="Inter"/>
              </a:rPr>
              <a:t>Comité de Operación mensual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4008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6060"/>
                </a:solidFill>
                <a:latin typeface="Inter SemiBold"/>
              </a:rPr>
              <a:t>Fases RUP</a:t>
            </a:r>
          </a:p>
        </p:txBody>
      </p:sp>
      <p:sp>
        <p:nvSpPr>
          <p:cNvPr id="25" name="Chevron 24"/>
          <p:cNvSpPr/>
          <p:nvPr/>
        </p:nvSpPr>
        <p:spPr>
          <a:xfrm>
            <a:off x="9509760" y="6812280"/>
            <a:ext cx="2194560" cy="822960"/>
          </a:xfrm>
          <a:prstGeom prst="chevron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26" name="Chevron 25"/>
          <p:cNvSpPr/>
          <p:nvPr/>
        </p:nvSpPr>
        <p:spPr>
          <a:xfrm>
            <a:off x="11475720" y="6812280"/>
            <a:ext cx="2194560" cy="822960"/>
          </a:xfrm>
          <a:prstGeom prst="chevron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27" name="Chevron 26"/>
          <p:cNvSpPr/>
          <p:nvPr/>
        </p:nvSpPr>
        <p:spPr>
          <a:xfrm>
            <a:off x="13441680" y="6812280"/>
            <a:ext cx="2194560" cy="822960"/>
          </a:xfrm>
          <a:prstGeom prst="chevron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28" name="Chevron 27"/>
          <p:cNvSpPr/>
          <p:nvPr/>
        </p:nvSpPr>
        <p:spPr>
          <a:xfrm>
            <a:off x="15407640" y="6812280"/>
            <a:ext cx="2194560" cy="822960"/>
          </a:xfrm>
          <a:prstGeom prst="chevron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EDT: así se organiza el trabajo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9 fases · 49 cuentas de control · 222 paquetes de trabajo · horas estimadas por fase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3291840"/>
            <a:ext cx="5029200" cy="77724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  <a:latin typeface="Inter SemiBold"/>
              </a:rPr>
              <a:t>Proyecto LafroX · 56 meses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44000" y="406908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73936" y="4389120"/>
            <a:ext cx="14776704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773936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14400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4128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6.920 HH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621024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761488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71216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71216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71216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71216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4.320 HH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468112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608576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18304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Inter SemiBold"/>
              </a:rPr>
              <a:t>Fase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18304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18304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18304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315200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455664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65392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5392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65392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20.672 HH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162288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8302752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80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80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1.040 HH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1009376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10149840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59567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7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Infraestructura y sitios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59567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59567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3.840 HH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856464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11996928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106656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06656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06656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06656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4.736 HH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4703552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13844016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3953744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953744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953744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953744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129.879 HH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6550640" y="43891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15691104" y="4709160"/>
            <a:ext cx="1719072" cy="18288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5800832" y="480060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5800832" y="5074920"/>
            <a:ext cx="14996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800832" y="5760720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800832" y="6035040"/>
            <a:ext cx="14996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641B"/>
                </a:solidFill>
                <a:latin typeface="Inter SemiBold"/>
              </a:rPr>
              <a:t>320 HH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468112" y="6537960"/>
            <a:ext cx="0" cy="274320"/>
          </a:xfrm>
          <a:prstGeom prst="line">
            <a:avLst/>
          </a:prstGeom>
          <a:ln w="19050">
            <a:solidFill>
              <a:srgbClr val="E864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914400" y="681228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FASE 3 · CONSTRUCCIÓN: 11 CUENTAS DE CONTROL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14400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3.1 Ambientes y CI/CD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624328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3.2 Servicios de nube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34256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3.3 Base compartida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44184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3.4 Módulos Etapa 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754112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3.5 Módulos Etapa 2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464040" y="7132320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3.6 Integraciones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14400" y="7845552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3.7 Migración de datos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624328" y="7845552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3.8 Pruebas Etapa 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334256" y="7845552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3.9 Pruebas Etapa 2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044184" y="7845552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3.10 Innovaciones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754112" y="7845552"/>
            <a:ext cx="160020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3.11 Documentación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1521440" y="6812280"/>
            <a:ext cx="5852160" cy="173736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500" b="1">
                <a:solidFill>
                  <a:srgbClr val="FFFFFF"/>
                </a:solidFill>
                <a:latin typeface="Inter SemiBold"/>
              </a:rPr>
              <a:t>Las fases 1 a 4 se repiten en cada etapa</a:t>
            </a:r>
          </a:p>
          <a:p>
            <a:pPr algn="l"/>
            <a:r>
              <a:rPr sz="1300" b="0">
                <a:solidFill>
                  <a:srgbClr val="C7C7C7"/>
                </a:solidFill>
                <a:latin typeface="Inter"/>
              </a:rPr>
              <a:t>Operación concentra 129.879 HH: 36 meses de servicio continuo. Construcción es la fase con más paquetes (79).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097280"/>
            <a:ext cx="6035040" cy="265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402336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06060"/>
                </a:solidFill>
                <a:latin typeface="Inter"/>
              </a:rPr>
              <a:t>2 etapas y la operación como bloques contractuales, y 8 frentes de trabajo, cada uno con un responsable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7607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641B"/>
                </a:solidFill>
                <a:latin typeface="Inter SemiBold"/>
              </a:rPr>
              <a:t>Las etapas se solapan en los meses 13–15 y 19–20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625942" y="1188720"/>
            <a:ext cx="391885" cy="722376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409714" y="1188720"/>
            <a:ext cx="261257" cy="7223760"/>
          </a:xfrm>
          <a:prstGeom prst="rect">
            <a:avLst/>
          </a:prstGeom>
          <a:solidFill>
            <a:srgbClr val="FD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1887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BLOQUES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087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Etapa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08760"/>
            <a:ext cx="2090057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m1–16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Etapa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625942" y="2011680"/>
            <a:ext cx="1175657" cy="384048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m13–21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146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Operación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70971" y="2514600"/>
            <a:ext cx="4702628" cy="384048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m21–56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154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FRENTES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45643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F1 Dirección y gobierno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2160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Jefe de Proyecto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3520439"/>
            <a:ext cx="73152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05993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F2 Arquitectura y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32511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Arquitecto de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4123944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46634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F3 Construcción E1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9286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4727448"/>
            <a:ext cx="2612571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526694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F4 Construcción E2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5532119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Desarrollo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25942" y="5330951"/>
            <a:ext cx="1045028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58704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F5 Plataforma e infra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613562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5934455"/>
            <a:ext cx="2612571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647395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F6 Calidad y pruebas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6739127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Calidad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6537959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7077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F7 Implantación y cambio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734263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Implantación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103428" y="7141464"/>
            <a:ext cx="1698171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76809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F8 Operación y soporte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794613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Líder de Operación/SRE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670971" y="7744968"/>
            <a:ext cx="4702628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0" y="8458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m1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51622" y="8458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m13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96651" y="8458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m21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68651" y="8458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m56</a:t>
            </a:r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migración, pruebas,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666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52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246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332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391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477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108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429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Diseño y arquitectura</a:t>
            </a:r>
          </a:p>
        </p:txBody>
      </p:sp>
      <p:sp>
        <p:nvSpPr>
          <p:cNvPr id="61" name="!!gv_0"/>
          <p:cNvSpPr/>
          <p:nvPr/>
        </p:nvSpPr>
        <p:spPr>
          <a:xfrm>
            <a:off x="3566160" y="3429000"/>
            <a:ext cx="18288" cy="256032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7764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Infraestructura y sitios</a:t>
            </a:r>
          </a:p>
        </p:txBody>
      </p:sp>
      <p:sp>
        <p:nvSpPr>
          <p:cNvPr id="63" name="!!gv_1"/>
          <p:cNvSpPr/>
          <p:nvPr/>
        </p:nvSpPr>
        <p:spPr>
          <a:xfrm>
            <a:off x="4709159" y="3776472"/>
            <a:ext cx="18288" cy="256032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239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Construcción E1</a:t>
            </a:r>
          </a:p>
        </p:txBody>
      </p:sp>
      <p:sp>
        <p:nvSpPr>
          <p:cNvPr id="65" name="!!gv_2"/>
          <p:cNvSpPr/>
          <p:nvPr/>
        </p:nvSpPr>
        <p:spPr>
          <a:xfrm>
            <a:off x="5852159" y="4123944"/>
            <a:ext cx="18288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47141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7" name="!!gv_3"/>
          <p:cNvSpPr/>
          <p:nvPr/>
        </p:nvSpPr>
        <p:spPr>
          <a:xfrm>
            <a:off x="6995159" y="4471416"/>
            <a:ext cx="18288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8188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Pruebas E1</a:t>
            </a:r>
          </a:p>
        </p:txBody>
      </p:sp>
      <p:sp>
        <p:nvSpPr>
          <p:cNvPr id="69" name="!!gv_4"/>
          <p:cNvSpPr/>
          <p:nvPr/>
        </p:nvSpPr>
        <p:spPr>
          <a:xfrm>
            <a:off x="8138159" y="4818888"/>
            <a:ext cx="18288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1663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71" name="!!gv_5"/>
          <p:cNvSpPr/>
          <p:nvPr/>
        </p:nvSpPr>
        <p:spPr>
          <a:xfrm>
            <a:off x="10424159" y="5166360"/>
            <a:ext cx="18288" cy="256032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5138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Construcción E2</a:t>
            </a:r>
          </a:p>
        </p:txBody>
      </p:sp>
      <p:sp>
        <p:nvSpPr>
          <p:cNvPr id="73" name="!!gv_6"/>
          <p:cNvSpPr/>
          <p:nvPr/>
        </p:nvSpPr>
        <p:spPr>
          <a:xfrm>
            <a:off x="10424159" y="5513832"/>
            <a:ext cx="18288" cy="256032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861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Pruebas E2</a:t>
            </a:r>
          </a:p>
        </p:txBody>
      </p:sp>
      <p:sp>
        <p:nvSpPr>
          <p:cNvPr id="75" name="!!gv_7"/>
          <p:cNvSpPr/>
          <p:nvPr/>
        </p:nvSpPr>
        <p:spPr>
          <a:xfrm>
            <a:off x="12138659" y="5861304"/>
            <a:ext cx="18288" cy="256032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6208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7" name="!!gv_8"/>
          <p:cNvSpPr/>
          <p:nvPr/>
        </p:nvSpPr>
        <p:spPr>
          <a:xfrm>
            <a:off x="13853159" y="6208776"/>
            <a:ext cx="18288" cy="256032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65562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79" name="!!gv_9"/>
          <p:cNvSpPr/>
          <p:nvPr/>
        </p:nvSpPr>
        <p:spPr>
          <a:xfrm>
            <a:off x="4137659" y="6556248"/>
            <a:ext cx="18288" cy="256032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9037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81" name="!!gv_10"/>
          <p:cNvSpPr/>
          <p:nvPr/>
        </p:nvSpPr>
        <p:spPr>
          <a:xfrm>
            <a:off x="14996159" y="6903720"/>
            <a:ext cx="18288" cy="256032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72511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759866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79461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Riesgos (mes estimado)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566160" y="8311896"/>
            <a:ext cx="1371600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3566160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37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9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80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52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23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5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566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38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709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81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52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24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5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567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138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710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3281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853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424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996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567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139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710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  <p:transition spd="med" advTm="100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38" id="38"/>
          <p:cNvSpPr/>
          <p:nvPr/>
        </p:nvSpPr>
        <p:spPr>
          <a:xfrm flipH="false" flipV="false" rot="0">
            <a:off x="-778247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286000" y="1226844"/>
            <a:ext cx="13716000" cy="147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22"/>
              </a:lnSpc>
            </a:pPr>
            <a:r>
              <a:rPr lang="en-US" sz="54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951973" y="-147854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-2254297" y="8863496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true" flipV="false" rot="0">
            <a:off x="17055578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6902895" y="8954933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4856791" y="8961120"/>
            <a:ext cx="194886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86000" y="2579477"/>
            <a:ext cx="1371600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congelamientos, migración, pruebas, reversión y riesgos a la vista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666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752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4246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3332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Sep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139159" y="3383280"/>
            <a:ext cx="571499" cy="4864608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6047719" y="3108960"/>
            <a:ext cx="7543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06060"/>
                </a:solidFill>
                <a:latin typeface="Inter SemiBold"/>
              </a:rPr>
              <a:t>Dic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31089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Gris = congelamiento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3429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Diseño y arquitectura</a:t>
            </a:r>
          </a:p>
        </p:txBody>
      </p:sp>
      <p:sp>
        <p:nvSpPr>
          <p:cNvPr id="61" name="!!gv_0"/>
          <p:cNvSpPr/>
          <p:nvPr/>
        </p:nvSpPr>
        <p:spPr>
          <a:xfrm>
            <a:off x="3566160" y="3429000"/>
            <a:ext cx="2285999" cy="256032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37764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Infraestructura y sitios</a:t>
            </a:r>
          </a:p>
        </p:txBody>
      </p:sp>
      <p:sp>
        <p:nvSpPr>
          <p:cNvPr id="63" name="!!gv_1"/>
          <p:cNvSpPr/>
          <p:nvPr/>
        </p:nvSpPr>
        <p:spPr>
          <a:xfrm>
            <a:off x="4709159" y="3776472"/>
            <a:ext cx="5714999" cy="256032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1239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Construcción E1</a:t>
            </a:r>
          </a:p>
        </p:txBody>
      </p:sp>
      <p:sp>
        <p:nvSpPr>
          <p:cNvPr id="65" name="!!gv_2"/>
          <p:cNvSpPr/>
          <p:nvPr/>
        </p:nvSpPr>
        <p:spPr>
          <a:xfrm>
            <a:off x="5852159" y="4123944"/>
            <a:ext cx="2285999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47141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67" name="!!gv_3"/>
          <p:cNvSpPr/>
          <p:nvPr/>
        </p:nvSpPr>
        <p:spPr>
          <a:xfrm>
            <a:off x="6995159" y="4471416"/>
            <a:ext cx="3428999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81888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Pruebas E1</a:t>
            </a:r>
          </a:p>
        </p:txBody>
      </p:sp>
      <p:sp>
        <p:nvSpPr>
          <p:cNvPr id="69" name="!!gv_4"/>
          <p:cNvSpPr/>
          <p:nvPr/>
        </p:nvSpPr>
        <p:spPr>
          <a:xfrm>
            <a:off x="8138159" y="4818888"/>
            <a:ext cx="1142999" cy="256032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51663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Marcha blanca E1</a:t>
            </a:r>
          </a:p>
        </p:txBody>
      </p:sp>
      <p:sp>
        <p:nvSpPr>
          <p:cNvPr id="71" name="!!gv_5"/>
          <p:cNvSpPr/>
          <p:nvPr/>
        </p:nvSpPr>
        <p:spPr>
          <a:xfrm>
            <a:off x="10424159" y="5166360"/>
            <a:ext cx="1714499" cy="256032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424159" y="5166360"/>
            <a:ext cx="171449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Olas 1 · 2 ·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51383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Construcción E2</a:t>
            </a:r>
          </a:p>
        </p:txBody>
      </p:sp>
      <p:sp>
        <p:nvSpPr>
          <p:cNvPr id="74" name="!!gv_6"/>
          <p:cNvSpPr/>
          <p:nvPr/>
        </p:nvSpPr>
        <p:spPr>
          <a:xfrm>
            <a:off x="10424159" y="5513832"/>
            <a:ext cx="3428999" cy="256032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586130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Pruebas E2</a:t>
            </a:r>
          </a:p>
        </p:txBody>
      </p:sp>
      <p:sp>
        <p:nvSpPr>
          <p:cNvPr id="76" name="!!gv_7"/>
          <p:cNvSpPr/>
          <p:nvPr/>
        </p:nvSpPr>
        <p:spPr>
          <a:xfrm>
            <a:off x="12138659" y="5861304"/>
            <a:ext cx="1142999" cy="256032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208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Marcha blanca E2</a:t>
            </a:r>
          </a:p>
        </p:txBody>
      </p:sp>
      <p:sp>
        <p:nvSpPr>
          <p:cNvPr id="78" name="!!gv_8"/>
          <p:cNvSpPr/>
          <p:nvPr/>
        </p:nvSpPr>
        <p:spPr>
          <a:xfrm>
            <a:off x="13853159" y="6208776"/>
            <a:ext cx="1142999" cy="256032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655624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80" name="!!gv_9"/>
          <p:cNvSpPr/>
          <p:nvPr/>
        </p:nvSpPr>
        <p:spPr>
          <a:xfrm>
            <a:off x="4137659" y="6556248"/>
            <a:ext cx="11429999" cy="256032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1520" y="69037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Operación → m56</a:t>
            </a:r>
          </a:p>
        </p:txBody>
      </p:sp>
      <p:sp>
        <p:nvSpPr>
          <p:cNvPr id="82" name="!!gv_10"/>
          <p:cNvSpPr/>
          <p:nvPr/>
        </p:nvSpPr>
        <p:spPr>
          <a:xfrm>
            <a:off x="14996159" y="6903720"/>
            <a:ext cx="2285999" cy="256032"/>
          </a:xfrm>
          <a:prstGeom prst="homePlat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72511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Cambios de software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759866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Inter SemiBold"/>
              </a:rPr>
              <a:t>Hitos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79461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Riesgos (mes estimado)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566160" y="8311896"/>
            <a:ext cx="13716000" cy="0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566160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37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09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80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52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23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95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66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38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709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81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52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95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567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38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710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281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853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19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424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996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567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1391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710659" y="8357616"/>
            <a:ext cx="5714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06060"/>
                </a:solidFill>
                <a:latin typeface="Inter"/>
              </a:rPr>
              <a:t>24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281159" y="7251192"/>
            <a:ext cx="148589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↺ Reversión E1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2710159" y="7251192"/>
            <a:ext cx="148589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100" b="1">
                <a:solidFill>
                  <a:srgbClr val="111111"/>
                </a:solidFill>
                <a:latin typeface="Inter SemiBold"/>
              </a:rPr>
              <a:t>↺ Reversión E2</a:t>
            </a:r>
          </a:p>
        </p:txBody>
      </p:sp>
      <p:sp>
        <p:nvSpPr>
          <p:cNvPr id="113" name="Diamond 112"/>
          <p:cNvSpPr/>
          <p:nvPr/>
        </p:nvSpPr>
        <p:spPr>
          <a:xfrm>
            <a:off x="41742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84548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H1</a:t>
            </a:r>
          </a:p>
        </p:txBody>
      </p:sp>
      <p:sp>
        <p:nvSpPr>
          <p:cNvPr id="115" name="Diamond 114"/>
          <p:cNvSpPr/>
          <p:nvPr/>
        </p:nvSpPr>
        <p:spPr>
          <a:xfrm>
            <a:off x="5317236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527548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H2</a:t>
            </a:r>
          </a:p>
        </p:txBody>
      </p:sp>
      <p:sp>
        <p:nvSpPr>
          <p:cNvPr id="117" name="Diamond 116"/>
          <p:cNvSpPr/>
          <p:nvPr/>
        </p:nvSpPr>
        <p:spPr>
          <a:xfrm>
            <a:off x="6460236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670548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H3</a:t>
            </a:r>
          </a:p>
        </p:txBody>
      </p:sp>
      <p:sp>
        <p:nvSpPr>
          <p:cNvPr id="119" name="Diamond 118"/>
          <p:cNvSpPr/>
          <p:nvPr/>
        </p:nvSpPr>
        <p:spPr>
          <a:xfrm>
            <a:off x="87462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9565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H4</a:t>
            </a:r>
          </a:p>
        </p:txBody>
      </p:sp>
      <p:sp>
        <p:nvSpPr>
          <p:cNvPr id="121" name="Diamond 120"/>
          <p:cNvSpPr/>
          <p:nvPr/>
        </p:nvSpPr>
        <p:spPr>
          <a:xfrm>
            <a:off x="98892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0995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H5</a:t>
            </a:r>
          </a:p>
        </p:txBody>
      </p:sp>
      <p:sp>
        <p:nvSpPr>
          <p:cNvPr id="123" name="Diamond 122"/>
          <p:cNvSpPr/>
          <p:nvPr/>
        </p:nvSpPr>
        <p:spPr>
          <a:xfrm>
            <a:off x="104607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6710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H6</a:t>
            </a:r>
          </a:p>
        </p:txBody>
      </p:sp>
      <p:sp>
        <p:nvSpPr>
          <p:cNvPr id="125" name="Diamond 124"/>
          <p:cNvSpPr/>
          <p:nvPr/>
        </p:nvSpPr>
        <p:spPr>
          <a:xfrm>
            <a:off x="110322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2425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H8</a:t>
            </a:r>
          </a:p>
        </p:txBody>
      </p:sp>
      <p:sp>
        <p:nvSpPr>
          <p:cNvPr id="127" name="Diamond 126"/>
          <p:cNvSpPr/>
          <p:nvPr/>
        </p:nvSpPr>
        <p:spPr>
          <a:xfrm>
            <a:off x="12175235" y="7626096"/>
            <a:ext cx="201168" cy="201168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23855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41B"/>
                </a:solidFill>
                <a:latin typeface="Inter SemiBold"/>
              </a:rPr>
              <a:t>H7</a:t>
            </a:r>
          </a:p>
        </p:txBody>
      </p:sp>
      <p:sp>
        <p:nvSpPr>
          <p:cNvPr id="129" name="Diamond 128"/>
          <p:cNvSpPr/>
          <p:nvPr/>
        </p:nvSpPr>
        <p:spPr>
          <a:xfrm>
            <a:off x="127467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9570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H9</a:t>
            </a:r>
          </a:p>
        </p:txBody>
      </p:sp>
      <p:sp>
        <p:nvSpPr>
          <p:cNvPr id="131" name="Diamond 130"/>
          <p:cNvSpPr/>
          <p:nvPr/>
        </p:nvSpPr>
        <p:spPr>
          <a:xfrm>
            <a:off x="133182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5285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H10</a:t>
            </a:r>
          </a:p>
        </p:txBody>
      </p:sp>
      <p:sp>
        <p:nvSpPr>
          <p:cNvPr id="133" name="Diamond 132"/>
          <p:cNvSpPr/>
          <p:nvPr/>
        </p:nvSpPr>
        <p:spPr>
          <a:xfrm>
            <a:off x="13889735" y="7626096"/>
            <a:ext cx="201168" cy="201168"/>
          </a:xfrm>
          <a:prstGeom prst="diamond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41000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  <a:latin typeface="Inter SemiBold"/>
              </a:rPr>
              <a:t>H11</a:t>
            </a:r>
          </a:p>
        </p:txBody>
      </p:sp>
      <p:sp>
        <p:nvSpPr>
          <p:cNvPr id="135" name="Diamond 134"/>
          <p:cNvSpPr/>
          <p:nvPr/>
        </p:nvSpPr>
        <p:spPr>
          <a:xfrm>
            <a:off x="15032735" y="7626096"/>
            <a:ext cx="201168" cy="201168"/>
          </a:xfrm>
          <a:prstGeom prst="diamond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5243047" y="75986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41B"/>
                </a:solidFill>
                <a:latin typeface="Inter SemiBold"/>
              </a:rPr>
              <a:t>H12</a:t>
            </a:r>
          </a:p>
        </p:txBody>
      </p:sp>
      <p:sp>
        <p:nvSpPr>
          <p:cNvPr id="137" name="Oval 136"/>
          <p:cNvSpPr/>
          <p:nvPr/>
        </p:nvSpPr>
        <p:spPr>
          <a:xfrm>
            <a:off x="4304538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8" name="Oval 137"/>
          <p:cNvSpPr/>
          <p:nvPr/>
        </p:nvSpPr>
        <p:spPr>
          <a:xfrm>
            <a:off x="5447538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39" name="Oval 138"/>
          <p:cNvSpPr/>
          <p:nvPr/>
        </p:nvSpPr>
        <p:spPr>
          <a:xfrm>
            <a:off x="6590538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40" name="Oval 139"/>
          <p:cNvSpPr/>
          <p:nvPr/>
        </p:nvSpPr>
        <p:spPr>
          <a:xfrm>
            <a:off x="7733537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41" name="Oval 140"/>
          <p:cNvSpPr/>
          <p:nvPr/>
        </p:nvSpPr>
        <p:spPr>
          <a:xfrm>
            <a:off x="9448037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42" name="Oval 141"/>
          <p:cNvSpPr/>
          <p:nvPr/>
        </p:nvSpPr>
        <p:spPr>
          <a:xfrm>
            <a:off x="10019537" y="7955279"/>
            <a:ext cx="237744" cy="237744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566160" y="867765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8641B"/>
                </a:solidFill>
                <a:latin typeface="Inter SemiBold"/>
              </a:rPr>
              <a:t>Riesgos por mes: m2 R-001 · m4 R-014 · m6 R-006 · m8 R-005, R-011 · m11 R-003, R-013, R-015, R-016 · m12 R-012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188720"/>
            <a:ext cx="566928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0888" y="38862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8.106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44165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máximo mensual en el mes 15, por el solape de etapas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498348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69 personas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551383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peak de dotación en el mes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608076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≈3.200–3.900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661111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HH por mes durante la operación (m21–56)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717804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217.543 HH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770839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programadas en total</a:t>
            </a:r>
          </a:p>
        </p:txBody>
      </p:sp>
      <p:graphicFrame>
        <p:nvGraphicFramePr>
          <p:cNvPr id="21" name="Esfuerzo mensual"/>
          <p:cNvGraphicFramePr>
            <a:graphicFrameLocks noGrp="1"/>
          </p:cNvGraphicFramePr>
          <p:nvPr/>
        </p:nvGraphicFramePr>
        <p:xfrm>
          <a:off x="457200" y="1188720"/>
          <a:ext cx="8686800" cy="768096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  <p:transition spd="med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7589520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2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3C3C3C"/>
                </a:solidFill>
                <a:latin typeface="Inter"/>
              </a:rPr>
              <a:t>Estructura de desglose de riesgos · 7 ramas · 45 riesgos · ISO 31000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35608" y="6035040"/>
            <a:ext cx="325120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0728" y="6035040"/>
            <a:ext cx="3738879" cy="45720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99608" y="6035040"/>
            <a:ext cx="3088640" cy="45720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88248" y="6035040"/>
            <a:ext cx="162560" cy="457200"/>
          </a:xfrm>
          <a:prstGeom prst="rect">
            <a:avLst/>
          </a:prstGeom>
          <a:solidFill>
            <a:srgbClr val="C7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5608" y="658368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C3C3C"/>
                </a:solidFill>
                <a:latin typeface="Inter"/>
              </a:rPr>
              <a:t>Por zona: 2 críticos · 23 altos · 19 medios · 1 bajo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914400"/>
            <a:ext cx="1737360" cy="7370064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4000" b="1">
                <a:solidFill>
                  <a:srgbClr val="FFFFFF"/>
                </a:solidFill>
                <a:latin typeface="Inter SemiBold"/>
              </a:rPr>
              <a:t>45</a:t>
            </a:r>
          </a:p>
          <a:p>
            <a:pPr algn="ctr"/>
            <a:r>
              <a:rPr sz="1500" b="0">
                <a:solidFill>
                  <a:srgbClr val="C7C7C7"/>
                </a:solidFill>
                <a:latin typeface="Inter"/>
              </a:rPr>
              <a:t>riesgos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064240" y="136245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0" y="914400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!!rama1"/>
          <p:cNvSpPr/>
          <p:nvPr/>
        </p:nvSpPr>
        <p:spPr>
          <a:xfrm>
            <a:off x="11567160" y="1042416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90120" y="1005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1 · Solución y tecnología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90120" y="1344168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R-012 Retiro sin trazabilidad · R-015 RTO/RPO · R-005 Duplicados · R-013 Peak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064240" y="244144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1430000" y="1993391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6" name="!!rama2"/>
          <p:cNvSpPr/>
          <p:nvPr/>
        </p:nvSpPr>
        <p:spPr>
          <a:xfrm>
            <a:off x="11567160" y="2121408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90120" y="2084831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2 · Integración y legado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90120" y="2423159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R-001 Interfaces ERP · R-003 Convivencia WMS · R-030 EDI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064240" y="3520439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430000" y="3072384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1" name="!!rama3"/>
          <p:cNvSpPr/>
          <p:nvPr/>
        </p:nvSpPr>
        <p:spPr>
          <a:xfrm>
            <a:off x="11567160" y="3200400"/>
            <a:ext cx="640080" cy="64008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90120" y="316382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3 · Operación del cliente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90120" y="350215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R-006 Enlaces Concepción · R-014 Sala y energía · R-023 Congelamientos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064240" y="4599432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430000" y="4151376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!!rama4"/>
          <p:cNvSpPr/>
          <p:nvPr/>
        </p:nvSpPr>
        <p:spPr>
          <a:xfrm>
            <a:off x="11567160" y="4279392"/>
            <a:ext cx="640080" cy="640080"/>
          </a:xfrm>
          <a:prstGeom prst="ellipse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90120" y="424281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4 · Personas y adopción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90120" y="4581144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R-017 Objeción sindical · R-021 Conocimiento de rutas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1064240" y="5678424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1430000" y="5230368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1" name="!!rama5"/>
          <p:cNvSpPr/>
          <p:nvPr/>
        </p:nvSpPr>
        <p:spPr>
          <a:xfrm>
            <a:off x="11567160" y="5358383"/>
            <a:ext cx="640080" cy="64008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90120" y="5321807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5 · Contrato y licitación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90120" y="566013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R-026 Aceptación · R-027 Cambio de alcance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1064240" y="6757416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1430000" y="6309359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6" name="!!rama6"/>
          <p:cNvSpPr/>
          <p:nvPr/>
        </p:nvSpPr>
        <p:spPr>
          <a:xfrm>
            <a:off x="11567160" y="6437375"/>
            <a:ext cx="640080" cy="640080"/>
          </a:xfrm>
          <a:prstGeom prst="ellips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390120" y="640079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6 · Regulatorio y externo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90120" y="6739127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R-029 Evidencia POD y guía · R-042 Cambio normativo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064240" y="7836408"/>
            <a:ext cx="365760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1430000" y="7388352"/>
            <a:ext cx="6217920" cy="896112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!!rama7"/>
          <p:cNvSpPr/>
          <p:nvPr/>
        </p:nvSpPr>
        <p:spPr>
          <a:xfrm>
            <a:off x="11567160" y="7516368"/>
            <a:ext cx="640080" cy="640080"/>
          </a:xfrm>
          <a:prstGeom prst="ellipse">
            <a:avLst/>
          </a:prstGeom>
          <a:solidFill>
            <a:srgbClr val="B84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390120" y="747979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Inter SemiBold"/>
              </a:rPr>
              <a:t>7 · Empresa proveedora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90120" y="78181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R-025 Dotación entre etapas · R-034 Mesa y NOC</a:t>
            </a:r>
          </a:p>
        </p:txBody>
      </p:sp>
    </p:spTree>
  </p:cSld>
  <p:clrMapOvr>
    <a:masterClrMapping/>
  </p:clrMapOvr>
  <p:transition spd="med">
    <p:zoom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3838" y="1097280"/>
            <a:ext cx="603504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6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4730695" y="-7442573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2" name="TextBox 11"/>
          <p:cNvSpPr txBox="1"/>
          <p:nvPr/>
        </p:nvSpPr>
        <p:spPr>
          <a:xfrm>
            <a:off x="1499616" y="365760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Todos con respuesta «mitigar», responsable y disparador definidos. Probabilidad inicial → objetivo residual.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48640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2.058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60167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 contingencia (valor esperado)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653796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641B"/>
                </a:solidFill>
                <a:latin typeface="Inter SemiBold"/>
              </a:rPr>
              <a:t>1.600 HH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70683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 reserva de gestión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78638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9A9A"/>
                </a:solidFill>
                <a:latin typeface="Inter"/>
              </a:rPr>
              <a:t>Objetivo residual condicionado a la validación de sus pruebas (SD8, Anexo 8.B)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868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Inter SemiBold"/>
              </a:rPr>
              <a:t>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868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Inter SemiBold"/>
              </a:rPr>
              <a:t>RIESGO Y RESPONSABLE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8686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Inter SemiBold"/>
              </a:rPr>
              <a:t>MITIGACIÓN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0" y="868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A9A9A"/>
                </a:solidFill>
                <a:latin typeface="Inter SemiBold"/>
              </a:rPr>
              <a:t>PROBABILIDAD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23444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3" name="!!rama1"/>
          <p:cNvSpPr/>
          <p:nvPr/>
        </p:nvSpPr>
        <p:spPr>
          <a:xfrm>
            <a:off x="7680960" y="1508760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3258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58191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Retiro sanitario sin trazabilidad completa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848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Maximiliano Miño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1344168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Retiro simulado de extremo a extremo con lote repartido, devolución y sitio desconectado.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0" y="1344168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35 %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2496312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80960" y="2770632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5877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843784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Recuperación excede RTO/RPO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3467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Guillermo Castillo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2606040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Ensayo de desastre total con escritura en curso, exclusión del escritor y retorno.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636240" y="260604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35 %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3758183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80960" y="4032503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4962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105655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Conflictos y duplicados tras reconexión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60857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Tomás Pérez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3867911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Inyección de fallas entre persistencia y acuse, con dos sitios y un móvil.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36240" y="3867911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30 %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9520" y="5020056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4" name="!!rama3"/>
          <p:cNvSpPr/>
          <p:nvPr/>
        </p:nvSpPr>
        <p:spPr>
          <a:xfrm>
            <a:off x="7680960" y="5294376"/>
            <a:ext cx="594360" cy="594360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367528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Caída simultánea de enlaces de Concepción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8704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Guillermo Castillo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5129784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Inspección de rutas físicas y simulación de caída de fibra y LTE con satélite activo.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636240" y="5129784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25 %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6281927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80960" y="6556247"/>
            <a:ext cx="594360" cy="5943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637336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662939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Despacho crítico o peak sin capacidad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713231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Guillermo Castillo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6391655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Prueba de carga con un nodo fuera, backlog y periféricos reales en la ventana de despacho.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636240" y="6391655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30 %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10 %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9520" y="7543800"/>
            <a:ext cx="9966960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!!rama2"/>
          <p:cNvSpPr/>
          <p:nvPr/>
        </p:nvSpPr>
        <p:spPr>
          <a:xfrm>
            <a:off x="7680960" y="7818120"/>
            <a:ext cx="594360" cy="5943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76352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R-001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78912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Inter SemiBold"/>
              </a:rPr>
              <a:t>Interfaces del ERP no utilizables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83941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06060"/>
                </a:solidFill>
                <a:latin typeface="Inter"/>
              </a:rPr>
              <a:t>Bastián Trejo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21440" y="7653527"/>
            <a:ext cx="3931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Probar lectura, escritura autorizada y emisión con el proveedor; cerrar el contrato de interfaz.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636240" y="7653527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9A9A9A"/>
                </a:solidFill>
                <a:latin typeface="Inter SemiBold"/>
              </a:rPr>
              <a:t>45 %</a:t>
            </a:r>
            <a:r>
              <a:rPr sz="1800" b="1">
                <a:solidFill>
                  <a:srgbClr val="9A9A9A"/>
                </a:solidFill>
                <a:latin typeface="Inter SemiBold"/>
              </a:rPr>
              <a:t>  →  </a:t>
            </a:r>
            <a:r>
              <a:rPr sz="1800" b="1">
                <a:solidFill>
                  <a:srgbClr val="E8641B"/>
                </a:solidFill>
                <a:latin typeface="Inter SemiBold"/>
              </a:rPr>
              <a:t>20 %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83713" y="-82223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4926022" y="3069031"/>
            <a:ext cx="4308206" cy="8647858"/>
          </a:xfrm>
          <a:custGeom>
            <a:avLst/>
            <a:gdLst/>
            <a:ahLst/>
            <a:cxnLst/>
            <a:rect r="r" b="b" t="t" l="l"/>
            <a:pathLst>
              <a:path h="8647858" w="4308206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9389512" y="1188720"/>
            <a:ext cx="5486400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000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y leyes</a:t>
            </a:r>
          </a:p>
        </p:txBody>
      </p:sp>
      <p:sp>
        <p:nvSpPr>
          <p:cNvPr name="!!brand" id="11"/>
          <p:cNvSpPr txBox="true"/>
          <p:nvPr/>
        </p:nvSpPr>
        <p:spPr>
          <a:xfrm rot="0">
            <a:off x="13217409" y="1000125"/>
            <a:ext cx="3328659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12" name="!!logo" descr="Isotipo Lafr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6088" y="850392"/>
            <a:ext cx="551723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13258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NORMAS DE CALIDAD → REGLA EN ESTE PROYECTO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69164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691640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ISO/IEC 25010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91640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Producto: 8 características con umbral; p95 ≤ 1 s en preparación, ≥ 99,9 % de disponibilidad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8775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87752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ISO/IEC 25012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587752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Datos: completitud, exactitud, consistencia y actualidad medidas con conciliaciones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83864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83864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ISO/IEC/IEEE 29119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483864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Pruebas: proceso en tres niveles y técnicas según el tipo de regla (T-13)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79976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79976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PMBOK cap.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379976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Costo de la calidad: 11.136 HH, el 5,1 % del total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76088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76088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WCAG 2.2 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76088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Accesibilidad: 0 incumplimientos; bloquea la puerta G4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172200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172200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OWASP ASVS · SAMM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172200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Seguridad: 0 hallazgos críticos o altos abiertos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7068312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7068312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ISO 9001:2015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7068312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Sistema de gestión de calidad de LafroX: marco de auditoría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7964423"/>
            <a:ext cx="8229600" cy="786384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7964423"/>
            <a:ext cx="23774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CMMI-DEV nivel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7964423"/>
            <a:ext cx="54406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Inter"/>
              </a:rPr>
              <a:t>Proceso: verificación, revisión por pares y auditorías trimestrales de trazabilidad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374903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641B"/>
                </a:solidFill>
                <a:latin typeface="Inter SemiBold"/>
              </a:rPr>
              <a:t>LEYES Y REGLAMENTOS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0888" y="4114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Decreto 977 · Reglamento Sanitario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407408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Registro de temperatura inviolable (≤ −18 °C) y retiro en plazos expeditos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90888" y="50109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SII · DTE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90888" y="53035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Guía de despacho electrónica y acuse de recibo con mérito ejecutivo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59070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Art. 25 bis Código del Trabajo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6199632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Jornada y descanso de los conductores en el ruteo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90888" y="680313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Ley 21.719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90888" y="7095744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Datos personales (vigente desde el 1-dic-2026); controles telemáticos proporcionales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76992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Inter SemiBold"/>
              </a:rPr>
              <a:t>GS1 · EDI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90888" y="7991856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GTIN, GLN y SSCC; intercambio electrónico con las cadenas</a:t>
            </a:r>
          </a:p>
        </p:txBody>
      </p:sp>
    </p:spTree>
  </p:cSld>
  <p:clrMapOvr>
    <a:masterClrMapping/>
  </p:clrMapOvr>
  <p:transition spd="med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5" id="5"/>
          <p:cNvSpPr/>
          <p:nvPr/>
        </p:nvSpPr>
        <p:spPr>
          <a:xfrm flipH="false" flipV="false" rot="0">
            <a:off x="249822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2265" y="8434217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59547" y="3602090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972526" y="-2876909"/>
            <a:ext cx="11109212" cy="5554606"/>
          </a:xfrm>
          <a:custGeom>
            <a:avLst/>
            <a:gdLst/>
            <a:ahLst/>
            <a:cxnLst/>
            <a:rect r="r" b="b" t="t" l="l"/>
            <a:pathLst>
              <a:path h="5554606" w="11109212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1044" y="1908274"/>
            <a:ext cx="8336653" cy="279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4"/>
              </a:lnSpc>
            </a:pPr>
            <a:r>
              <a:rPr lang="en-US" sz="792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que bloquea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846320"/>
            <a:ext cx="7589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3C3C3C"/>
                </a:solidFill>
                <a:latin typeface="Inter"/>
              </a:rPr>
              <a:t>7 puertas de control, de G0 a G6. Ninguna admite excepciones: se corrige o no se avanza.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61722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ART. 17.3 · 6 CONDICIONES COPULATIVAS PARA ACEPTAR</a:t>
            </a:r>
          </a:p>
        </p:txBody>
      </p:sp>
      <p:sp>
        <p:nvSpPr>
          <p:cNvPr id="14" name="Oval 13"/>
          <p:cNvSpPr/>
          <p:nvPr/>
        </p:nvSpPr>
        <p:spPr>
          <a:xfrm>
            <a:off x="1435608" y="6565392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6492240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Cero incidentes críticos o altos abiertos</a:t>
            </a:r>
          </a:p>
        </p:txBody>
      </p:sp>
      <p:sp>
        <p:nvSpPr>
          <p:cNvPr id="16" name="Oval 15"/>
          <p:cNvSpPr/>
          <p:nvPr/>
        </p:nvSpPr>
        <p:spPr>
          <a:xfrm>
            <a:off x="5367528" y="6565392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6492240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Volumen real completo las últimas 4 semanas</a:t>
            </a:r>
          </a:p>
        </p:txBody>
      </p:sp>
      <p:sp>
        <p:nvSpPr>
          <p:cNvPr id="18" name="Oval 17"/>
          <p:cNvSpPr/>
          <p:nvPr/>
        </p:nvSpPr>
        <p:spPr>
          <a:xfrm>
            <a:off x="1435608" y="7168896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7095744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Sin caída en despacho; disponibilidad en umbral</a:t>
            </a:r>
          </a:p>
        </p:txBody>
      </p:sp>
      <p:sp>
        <p:nvSpPr>
          <p:cNvPr id="20" name="Oval 19"/>
          <p:cNvSpPr/>
          <p:nvPr/>
        </p:nvSpPr>
        <p:spPr>
          <a:xfrm>
            <a:off x="5367528" y="7168896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7095744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Sin diferencias inexplicadas ni pedidos perdidos</a:t>
            </a:r>
          </a:p>
        </p:txBody>
      </p:sp>
      <p:sp>
        <p:nvSpPr>
          <p:cNvPr id="22" name="Oval 21"/>
          <p:cNvSpPr/>
          <p:nvPr/>
        </p:nvSpPr>
        <p:spPr>
          <a:xfrm>
            <a:off x="1435608" y="7772400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7699248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100 % de usuarios capacitados y certificados</a:t>
            </a:r>
          </a:p>
        </p:txBody>
      </p:sp>
      <p:sp>
        <p:nvSpPr>
          <p:cNvPr id="24" name="Oval 23"/>
          <p:cNvSpPr/>
          <p:nvPr/>
        </p:nvSpPr>
        <p:spPr>
          <a:xfrm>
            <a:off x="5367528" y="7772400"/>
            <a:ext cx="384048" cy="384048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7699248"/>
            <a:ext cx="33375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C3C3C"/>
                </a:solidFill>
                <a:latin typeface="Inter"/>
              </a:rPr>
              <a:t>Acta de aceptación de la Contraparte Técnica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91440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46920" y="10515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00584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Compromiso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138988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Formato y pruebas del módulo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201168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10312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248716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Revisión por pares · detección de secretos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10896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46920" y="3246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20040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35844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Cobertura, complejidad, SAST/SCA y contratos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420624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46920" y="4343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429767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681727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Sin vulnerabilidades altas ni regresión de desempeño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530352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46920" y="54406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39495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Promoción a Preproducción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577900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Regresión · DAST · accesibilidad WCAG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6400800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646920" y="65379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92240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 SemiBold"/>
              </a:rPr>
              <a:t>Entrada a Producción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87628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7C7C7"/>
                </a:solidFill>
                <a:latin typeface="Inter"/>
              </a:rPr>
              <a:t>Pruebas T-13 · reversión ensayada · datos conciliados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09760" y="7498079"/>
            <a:ext cx="7863840" cy="9144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46920" y="76352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Inter SemiBold"/>
              </a:rPr>
              <a:t>G6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7589519"/>
            <a:ext cx="6675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Producción supervisada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7973567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Canario · presupuesto de error</a:t>
            </a:r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3192" y="-1969519"/>
            <a:ext cx="7495547" cy="5996438"/>
          </a:xfrm>
          <a:custGeom>
            <a:avLst/>
            <a:gdLst/>
            <a:ahLst/>
            <a:cxnLst/>
            <a:rect r="r" b="b" t="t" l="l"/>
            <a:pathLst>
              <a:path h="5996438" w="7495547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318360"/>
            <a:ext cx="8326675" cy="257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333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innovaciones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3864" y="8249107"/>
            <a:ext cx="10236981" cy="10236981"/>
          </a:xfrm>
          <a:custGeom>
            <a:avLst/>
            <a:gdLst/>
            <a:ahLst/>
            <a:cxnLst/>
            <a:rect r="r" b="b" t="t" l="l"/>
            <a:pathLst>
              <a:path h="10236981" w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2365909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2213227" y="8920171"/>
            <a:ext cx="203722" cy="338129"/>
          </a:xfrm>
          <a:custGeom>
            <a:avLst/>
            <a:gdLst/>
            <a:ahLst/>
            <a:cxnLst/>
            <a:rect r="r" b="b" t="t" l="l"/>
            <a:pathLst>
              <a:path h="338129" w="203722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43274" y="8926358"/>
            <a:ext cx="15727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67208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  <a:latin typeface="Inter"/>
              </a:rPr>
              <a:t>Sin hardware nuevo · sin modelos de IA aprendidos · madurez TRL 2 → 4 →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8686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PRODUCTO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11430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Vencimiento después de la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16002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Avisos en el local antes de vencer. Meta: −25 % de vencido. Mes 16.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27432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Reproducción de incidentes de terreno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32004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Evidencia que reproduce la falla. Meta: −30 % en horas de diagnóstico.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40690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TECNOLÓGICA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43434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Vida útil según la historia térmica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48006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EPCIS 2.0 + Arrhenius/Q10. Meta: ±15 % en ≥80 % de los casos.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56692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MODELO DE NEGOCIO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59436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Pago ligado al costo de servir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008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Tramo variable de la Operación. Meta: ≥5 % menos costo con OTIF ≥95 %.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E8641B"/>
                </a:solidFill>
                <a:latin typeface="Inter SemiBol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72694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641B"/>
                </a:solidFill>
                <a:latin typeface="Inter SemiBold"/>
              </a:rPr>
              <a:t>IMPACTO SOCIAL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75438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Inter SemiBold"/>
              </a:rPr>
              <a:t>Hoja de negocio del almacenero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80010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  <a:latin typeface="Inter"/>
              </a:rPr>
              <a:t>Sin internet: en pantalla o impresa en la cabina. Mes 21.</a:t>
            </a:r>
          </a:p>
        </p:txBody>
      </p:sp>
    </p:spTree>
  </p:cSld>
  <p:clrMapOvr>
    <a:masterClrMapping/>
  </p:clrMapOvr>
  <p:transition spd="med">
    <p:zoom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1956" y="761746"/>
            <a:ext cx="8752087" cy="8752087"/>
          </a:xfrm>
          <a:custGeom>
            <a:avLst/>
            <a:gdLst/>
            <a:ahLst/>
            <a:cxnLst/>
            <a:rect r="r" b="b" t="t" l="l"/>
            <a:pathLst>
              <a:path h="8752087" w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1420" y="4072951"/>
            <a:ext cx="7960220" cy="1632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786" b="true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2876576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true" rot="0">
            <a:off x="-413735" y="-1904501"/>
            <a:ext cx="3290311" cy="3290311"/>
          </a:xfrm>
          <a:custGeom>
            <a:avLst/>
            <a:gdLst/>
            <a:ahLst/>
            <a:cxnLst/>
            <a:rect r="r" b="b" t="t" l="l"/>
            <a:pathLst>
              <a:path h="3290311" w="3290311">
                <a:moveTo>
                  <a:pt x="3290311" y="3290311"/>
                </a:moveTo>
                <a:lnTo>
                  <a:pt x="0" y="3290311"/>
                </a:lnTo>
                <a:lnTo>
                  <a:pt x="0" y="0"/>
                </a:lnTo>
                <a:lnTo>
                  <a:pt x="3290311" y="0"/>
                </a:lnTo>
                <a:lnTo>
                  <a:pt x="3290311" y="329031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true" rot="-1072477">
            <a:off x="118443" y="766281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31420" y="5657978"/>
            <a:ext cx="6865981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 personas cubren los 10 roles mínimos de las Bases. Siete líderes de dominio reportan al Jefe de Proyecto.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Inter SemiBold"/>
              </a:rPr>
              <a:t>AA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11887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Inter SemiBold"/>
              </a:rPr>
              <a:t>Alex Aravena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C7C7C7"/>
                </a:solidFill>
                <a:latin typeface="Inter"/>
              </a:rPr>
              <a:t>Jefe de Proyecto · interlocutor único con Puelche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2953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Bastián Trejo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33832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Arquitectura e Integración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ÁC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67560" y="295351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Álvaro Catalán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67560" y="33832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Seguridad de la Información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LC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4507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Leandro Chamorro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937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Datos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767560" y="450799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Tomás Pérez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67560" y="49377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Desarrollo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MM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60624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Maximiliano Miño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492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Calidad y Pruebas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GC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767560" y="606247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Guillermo Castillo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767560" y="649224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Operación / SRE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Inter SemiBold"/>
              </a:rPr>
              <a:t>PH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7616952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11111"/>
                </a:solidFill>
                <a:latin typeface="Inter SemiBold"/>
              </a:rPr>
              <a:t>Patricio Henríquez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804672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06060"/>
                </a:solidFill>
                <a:latin typeface="Inter"/>
              </a:rPr>
              <a:t>Funcional e Implantación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57884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61720" y="7360920"/>
            <a:ext cx="109728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E8641B"/>
                </a:solidFill>
                <a:latin typeface="Inter SemiBold"/>
              </a:rPr>
              <a:t>69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859000" y="7360920"/>
            <a:ext cx="23774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C3C3C"/>
                </a:solidFill>
                <a:latin typeface="Inter"/>
              </a:rPr>
              <a:t>personas en el peak del proyecto (mes 15)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000" b="1">
                <a:solidFill>
                  <a:srgbClr val="FFFFFF"/>
                </a:solidFill>
                <a:latin typeface="Inter SemiBold"/>
              </a:rPr>
              <a:t>9 días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747827" y="1028700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762513" y="9056741"/>
            <a:ext cx="806235" cy="201559"/>
          </a:xfrm>
          <a:custGeom>
            <a:avLst/>
            <a:gdLst/>
            <a:ahLst/>
            <a:cxnLst/>
            <a:rect r="r" b="b" t="t" l="l"/>
            <a:pathLst>
              <a:path h="201559" w="806235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069298" y="7296286"/>
            <a:ext cx="387808" cy="387810"/>
          </a:xfrm>
          <a:custGeom>
            <a:avLst/>
            <a:gdLst/>
            <a:ahLst/>
            <a:cxnLst/>
            <a:rect r="r" b="b" t="t" l="l"/>
            <a:pathLst>
              <a:path h="387810" w="387808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747919" y="6690083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69298" y="6732646"/>
            <a:ext cx="325031" cy="325031"/>
          </a:xfrm>
          <a:custGeom>
            <a:avLst/>
            <a:gdLst/>
            <a:ahLst/>
            <a:cxnLst/>
            <a:rect r="r" b="b" t="t" l="l"/>
            <a:pathLst>
              <a:path h="325031" w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00" r="0" b="-80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5052380" y="7208371"/>
            <a:ext cx="308824" cy="441177"/>
          </a:xfrm>
          <a:custGeom>
            <a:avLst/>
            <a:gdLst/>
            <a:ahLst/>
            <a:cxnLst/>
            <a:rect r="r" b="b" t="t" l="l"/>
            <a:pathLst>
              <a:path h="441177" w="308824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5747919" y="7268144"/>
            <a:ext cx="279487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6647" y="7329375"/>
            <a:ext cx="2823062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www.lafrox.cl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985939" y="6693491"/>
            <a:ext cx="441707" cy="314817"/>
          </a:xfrm>
          <a:custGeom>
            <a:avLst/>
            <a:gdLst/>
            <a:ahLst/>
            <a:cxnLst/>
            <a:rect r="r" b="b" t="t" l="l"/>
            <a:pathLst>
              <a:path h="314817" w="44170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758453" y="6734346"/>
            <a:ext cx="2801256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70"/>
              </a:lnSpc>
              <a:spcBef>
                <a:spcPct val="0"/>
              </a:spcBef>
            </a:pPr>
            <a:r>
              <a:rPr lang="en-US" sz="1764" spc="-61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9059637" y="228388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true" rot="0">
            <a:off x="-9028175" y="4664565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true" rot="0">
            <a:off x="15793975" y="1769006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8" id="18"/>
          <p:cNvSpPr/>
          <p:nvPr/>
        </p:nvSpPr>
        <p:spPr>
          <a:xfrm flipH="false" flipV="false" rot="0">
            <a:off x="15762513" y="-611673"/>
            <a:ext cx="11582237" cy="5791118"/>
          </a:xfrm>
          <a:custGeom>
            <a:avLst/>
            <a:gdLst/>
            <a:ahLst/>
            <a:cxnLst/>
            <a:rect r="r" b="b" t="t" l="l"/>
            <a:pathLst>
              <a:path h="5791118" w="11582237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!!brand" id="19"/>
          <p:cNvSpPr txBox="true"/>
          <p:nvPr/>
        </p:nvSpPr>
        <p:spPr>
          <a:xfrm rot="0">
            <a:off x="7123055" y="987552"/>
            <a:ext cx="40418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SpA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3200" y="8850630"/>
            <a:ext cx="128016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Propuesta Técnica · LafroX SpA</a:t>
            </a:r>
          </a:p>
        </p:txBody>
      </p:sp>
      <p:pic>
        <p:nvPicPr>
          <p:cNvPr id="21" name="!!logo" descr="Isotipo LafroX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14816" y="228600"/>
            <a:ext cx="658508" cy="676656"/>
          </a:xfrm>
          <a:prstGeom prst="rect">
            <a:avLst/>
          </a:prstGeom>
        </p:spPr>
      </p:pic>
      <p:sp>
        <p:nvSpPr>
          <p:cNvPr id="22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Inter Light"/>
              </a:rPr>
              <a:t>De 9 días a</a:t>
            </a:r>
          </a:p>
        </p:txBody>
      </p:sp>
      <p:sp>
        <p:nvSpPr>
          <p:cNvPr id="23" name="!!reloj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0" b="1">
                <a:solidFill>
                  <a:srgbClr val="E8641B"/>
                </a:solidFill>
                <a:latin typeface="Inter SemiBold"/>
              </a:rPr>
              <a:t>&lt; 2 horas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Inter Light"/>
              </a:rPr>
              <a:t>para identificar a los clientes afectados por un retiro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ysClr val="window" lastClr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LafroX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DAHYeykrAKU</dc:identifier>
  <dcterms:modified xsi:type="dcterms:W3CDTF">2011-08-01T06:04:30Z</dcterms:modified>
  <cp:revision>1</cp:revision>
  <dc:title>LafroX - Plantilla de Presentación</dc:title>
</cp:coreProperties>
</file>