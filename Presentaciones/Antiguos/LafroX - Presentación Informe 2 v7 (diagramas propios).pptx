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dia/v7img1.svg" ContentType="image/svg+xml"/>
  <Override PartName="/ppt/media/v7img10.svg" ContentType="image/svg+xml"/>
  <Override PartName="/ppt/media/v7img11.svg" ContentType="image/svg+xml"/>
  <Override PartName="/ppt/media/v7img12.svg" ContentType="image/svg+xml"/>
  <Override PartName="/ppt/media/v7img13.svg" ContentType="image/svg+xml"/>
  <Override PartName="/ppt/media/v7img14.svg" ContentType="image/svg+xml"/>
  <Override PartName="/ppt/media/v7img15.svg" ContentType="image/svg+xml"/>
  <Override PartName="/ppt/media/v7img16.svg" ContentType="image/svg+xml"/>
  <Override PartName="/ppt/media/v7img17.svg" ContentType="image/svg+xml"/>
  <Override PartName="/ppt/media/v7img18.svg" ContentType="image/svg+xml"/>
  <Override PartName="/ppt/media/v7img19.svg" ContentType="image/svg+xml"/>
  <Override PartName="/ppt/media/v7img2.svg" ContentType="image/svg+xml"/>
  <Override PartName="/ppt/media/v7img3.svg" ContentType="image/svg+xml"/>
  <Override PartName="/ppt/media/v7img4.svg" ContentType="image/svg+xml"/>
  <Override PartName="/ppt/media/v7img5.svg" ContentType="image/svg+xml"/>
  <Override PartName="/ppt/media/v7img6.svg" ContentType="image/svg+xml"/>
  <Override PartName="/ppt/media/v7img7.svg" ContentType="image/svg+xml"/>
  <Override PartName="/ppt/media/v7img8.svg" ContentType="image/svg+xml"/>
  <Override PartName="/ppt/media/v7img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Lst>
  <p:sldSz cy="10287000" cx="18288000"/>
  <p:notesSz cx="6858000" cy="9144000"/>
  <p:embeddedFontLst>
    <p:embeddedFont>
      <p:font typeface="Inter SemiBold"/>
      <p:regular r:id="rId56"/>
      <p:bold r:id="rId57"/>
      <p:italic r:id="rId58"/>
      <p:boldItalic r:id="rId59"/>
    </p:embeddedFont>
    <p:embeddedFont>
      <p:font typeface="Inter Light"/>
      <p:regular r:id="rId60"/>
      <p:bold r:id="rId61"/>
      <p:italic r:id="rId62"/>
      <p:boldItalic r:id="rId63"/>
    </p:embeddedFont>
    <p:embeddedFont>
      <p:font typeface="Int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8" roundtripDataSignature="AMtx7mjMn/eJYygyYAIOBg2whbyUSml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A5C758-D4A7-4D3F-9BCE-32F5856BC382}">
  <a:tblStyle styleId="{C4A5C758-D4A7-4D3F-9BCE-32F5856BC3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font" Target="fonts/InterSemiBold-regular.fntdata"/><Relationship Id="rId57" Type="http://schemas.openxmlformats.org/officeDocument/2006/relationships/font" Target="fonts/InterSemiBold-bold.fntdata"/><Relationship Id="rId58" Type="http://schemas.openxmlformats.org/officeDocument/2006/relationships/font" Target="fonts/InterSemiBold-italic.fntdata"/><Relationship Id="rId59" Type="http://schemas.openxmlformats.org/officeDocument/2006/relationships/font" Target="fonts/InterSemiBold-boldItalic.fntdata"/><Relationship Id="rId60" Type="http://schemas.openxmlformats.org/officeDocument/2006/relationships/font" Target="fonts/InterLight-regular.fntdata"/><Relationship Id="rId61" Type="http://schemas.openxmlformats.org/officeDocument/2006/relationships/font" Target="fonts/InterLight-bold.fntdata"/><Relationship Id="rId62" Type="http://schemas.openxmlformats.org/officeDocument/2006/relationships/font" Target="fonts/InterLight-italic.fntdata"/><Relationship Id="rId63" Type="http://schemas.openxmlformats.org/officeDocument/2006/relationships/font" Target="fonts/InterLight-boldItalic.fntdata"/><Relationship Id="rId64" Type="http://schemas.openxmlformats.org/officeDocument/2006/relationships/font" Target="fonts/Inter-regular.fntdata"/><Relationship Id="rId65" Type="http://schemas.openxmlformats.org/officeDocument/2006/relationships/font" Target="fonts/Inter-bold.fntdata"/><Relationship Id="rId66" Type="http://schemas.openxmlformats.org/officeDocument/2006/relationships/font" Target="fonts/Inter-italic.fntdata"/><Relationship Id="rId67" Type="http://schemas.openxmlformats.org/officeDocument/2006/relationships/font" Target="fonts/Inter-boldItalic.fntdata"/><Relationship Id="rId68"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800" b="1">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c7cc306779174be_1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hc7cc306779174be_1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c7cc306779174be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hc7cc306779174be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c7cc306779174be_1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hc7cc306779174be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c7cc306779174be_1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c7cc306779174be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c7cc306779174be_1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c7cc306779174be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c7cc306779174be_1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c7cc306779174be_1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c7cc306779174be_1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c7cc306779174be_1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c7cc306779174be_1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hc7cc306779174be_1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hc7cc306779174be_1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hc7cc306779174be_1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dato tiene una sola fuente que puede escribirlo. El lote se sigue de punta a punta con EPCIS 2.0: recepción, lote con historia térmica, unidad, ruta y entrega con evidencia. La decisión sanitaria la toma Calidad. Migramos unos 16 GB de origen (32 GB estimados en destino) con cero diferencias sin explicar, en la ventana 22:00–06:00. (SD5)</a:t>
            </a:r>
            <a:endParaRPr/>
          </a:p>
        </p:txBody>
      </p:sp>
      <p:sp>
        <p:nvSpPr>
          <p:cNvPr id="647" name="Google Shape;64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c7cc306779174be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hc7cc306779174be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hc7cc306779174b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hc7cc306779174be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58" name="Google Shape;758;hc7cc306779174be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c7cc306779174be_8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hc7cc306779174be_8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La EDT ordena el trabajo en nueve fases, 49 cuentas de control y 222 paquetes. Las fases 1 a 4 se ejecutan una vez por etapa. Recorramos cada fase. (T-14 Tabla 7.1, T-15 Tabla 7.3)</a:t>
            </a:r>
            <a:endParaRPr/>
          </a:p>
        </p:txBody>
      </p:sp>
      <p:sp>
        <p:nvSpPr>
          <p:cNvPr id="783" name="Google Shape;783;hc7cc306779174be_8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hc7cc306779174be_8_1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hc7cc306779174be_8_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Inicio: nueve cuentas de gestión —alcance, planificación, interesados, calidad, riesgos, reversibilidad, gobierno y cumplimiento—. Se ejecuta una vez por etapa. (T-14 §7.2)</a:t>
            </a:r>
            <a:endParaRPr/>
          </a:p>
        </p:txBody>
      </p:sp>
      <p:sp>
        <p:nvSpPr>
          <p:cNvPr id="853" name="Google Shape;853;hc7cc306779174be_8_1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hc7cc306779174be_8_2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hc7cc306779174be_8_2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Elaboración: arquitectura, seguridad, diseño de la sala técnica, validación, continuidad y experiencia de usuario. Cierra con el H2 en el mes 4 y, en la Etapa 2, con el H8 en el mes 14. (T-14 §7.2)</a:t>
            </a:r>
            <a:endParaRPr/>
          </a:p>
        </p:txBody>
      </p:sp>
      <p:sp>
        <p:nvSpPr>
          <p:cNvPr id="930" name="Google Shape;930;hc7cc306779174be_8_2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hc7cc306779174be_8_2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3" name="Google Shape;1003;hc7cc306779174be_8_2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Construcción: la fase más grande, 79 paquetes. Ambientes, nube, base compartida, módulos de cada etapa, integraciones, migración, pruebas, innovaciones y documentación. (T-14 §7.2)</a:t>
            </a:r>
            <a:endParaRPr/>
          </a:p>
        </p:txBody>
      </p:sp>
      <p:sp>
        <p:nvSpPr>
          <p:cNvPr id="1004" name="Google Shape;1004;hc7cc306779174be_8_2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hc7cc306779174be_8_3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2" name="Google Shape;1082;hc7cc306779174be_8_3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plan de implantación y las dos marchas blancas con su paso a producción (H7 mes 16 y H12 mes 21). (T-14 §7.2)</a:t>
            </a:r>
            <a:endParaRPr/>
          </a:p>
        </p:txBody>
      </p:sp>
      <p:sp>
        <p:nvSpPr>
          <p:cNvPr id="1083" name="Google Shape;1083;hc7cc306779174be_8_3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hc7cc306779174be_8_4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3" name="Google Shape;1153;hc7cc306779174be_8_4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Adquisiciones: hardware, nube y licencias, enlaces y acuerdos con terceros. El cliente compra el equipo de terreno; LafroX lo especifica. (T-14 §7.2)</a:t>
            </a:r>
            <a:endParaRPr/>
          </a:p>
        </p:txBody>
      </p:sp>
      <p:sp>
        <p:nvSpPr>
          <p:cNvPr id="1154" name="Google Shape;1154;hc7cc306779174be_8_4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hc7cc306779174be_8_5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5" name="Google Shape;1225;hc7cc306779174be_8_5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Infraestructura y sitios: sala técnica de Talca, cableado, racks, seguridad física, equipos de campo y configuración de los sitios, meses 3 a 12. (T-14 §7.2)</a:t>
            </a:r>
            <a:endParaRPr/>
          </a:p>
        </p:txBody>
      </p:sp>
      <p:sp>
        <p:nvSpPr>
          <p:cNvPr id="1226" name="Google Shape;1226;hc7cc306779174be_8_5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hc7cc306779174be_8_5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9" name="Google Shape;1299;hc7cc306779174be_8_5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Capacitación y gestión del cambio: capacitación por rol, gestión del cambio con las cadenas y los transportistas, y certificación de usuarios. (T-14 §7.2)</a:t>
            </a:r>
            <a:endParaRPr/>
          </a:p>
        </p:txBody>
      </p:sp>
      <p:sp>
        <p:nvSpPr>
          <p:cNvPr id="1300" name="Google Shape;1300;hc7cc306779174be_8_5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hc7cc306779174be_8_6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0" name="Google Shape;1370;hc7cc306779174be_8_6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Operación y soporte: 36 meses de servicio, 129.879 HH. Operación, mantenimiento fuera de congelamientos, innovaciones, informes y transferencia. (T-14 §7.2)</a:t>
            </a:r>
            <a:endParaRPr/>
          </a:p>
        </p:txBody>
      </p:sp>
      <p:sp>
        <p:nvSpPr>
          <p:cNvPr id="1371" name="Google Shape;1371;hc7cc306779174be_8_6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hc7cc306779174be_8_7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3" name="Google Shape;1443;hc7cc306779174be_8_7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Cierre: cierre de la implementación y salida ordenada al término del contrato, con el plan de reversibilidad (meses 54–56). (T-14 §7.2)</a:t>
            </a:r>
            <a:endParaRPr/>
          </a:p>
        </p:txBody>
      </p:sp>
      <p:sp>
        <p:nvSpPr>
          <p:cNvPr id="1444" name="Google Shape;1444;hc7cc306779174be_8_7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3" name="Google Shape;151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1" name="Google Shape;156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7" name="Google Shape;162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5" name="Google Shape;173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hc7cc306779174be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5" name="Google Shape;1755;hc7cc306779174be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56" name="Google Shape;1756;hc7cc306779174be_0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hc7cc306779174be_6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5" name="Google Shape;1765;hc7cc306779174be_6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8" name="Google Shape;181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Seis de los diez riesgos de mayor exposición, con el color de su rama. Todos con respuesta de mitigación, responsable y disparador. Ej.: el retiro sin trazabilidad (R-012) se ataca con un retiro simulado de punta a punta: probabilidad de 35 % a 10 % objetivo. Contingencia de 2.058 HH más 1.600 HH de reserva de gestión. (SD8 Tabla 8.4, T-16, Anexo 8.B)</a:t>
            </a:r>
            <a:endParaRPr/>
          </a:p>
        </p:txBody>
      </p:sp>
      <p:sp>
        <p:nvSpPr>
          <p:cNvPr id="1819" name="Google Shape;1819;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hc7cc306779174be_6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hc7cc306779174be_6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hc7cc306779174be_4_2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2" name="Google Shape;1832;hc7cc306779174be_4_2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hc7cc306779174be_4_4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8" name="Google Shape;191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hc7cc306779174be_4_9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hc7cc306779174be_4_10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9" name="Google Shape;20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2" name="Google Shape;209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0" name="Google Shape;214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6" name="Google Shape;215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1792288" y="612775"/>
            <a:ext cx="5486400" cy="4114800"/>
          </a:xfrm>
          <a:prstGeom prst="rect">
            <a:avLst/>
          </a:prstGeom>
          <a:noFill/>
          <a:ln>
            <a:noFill/>
          </a:ln>
        </p:spPr>
      </p:sp>
      <p:sp>
        <p:nvSpPr>
          <p:cNvPr id="64" name="Google Shape;6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c7cc306779174be_8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hc7cc306779174be_8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hc7cc306779174be_8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c7cc306779174be_8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hc7cc306779174be_8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hc7cc306779174be_8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hc7cc306779174be_8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hc7cc306779174be_8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c7cc306779174be_8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hc7cc306779174be_8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hc7cc306779174be_8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hc7cc306779174be_8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hc7cc306779174be_8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c7cc306779174be_8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hc7cc306779174be_8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hc7cc306779174be_8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hc7cc306779174be_8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hc7cc306779174be_8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c7cc306779174be_8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hc7cc306779174be_8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hc7cc306779174be_8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hc7cc306779174be_8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hc7cc306779174be_8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hc7cc306779174be_8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c7cc306779174be_8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hc7cc306779174be_8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hc7cc306779174be_8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hc7cc306779174be_8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hc7cc306779174be_8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hc7cc306779174be_8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hc7cc306779174be_8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c7cc306779174be_8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c7cc306779174be_8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hc7cc306779174be_8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c7cc306779174be_8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c7cc306779174be_8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c7cc306779174be_8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c7cc306779174be_8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hc7cc306779174be_8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hc7cc306779174be_8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c7cc306779174be_8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c7cc306779174be_8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c7cc306779174be_8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c7cc306779174be_8_56"/>
          <p:cNvSpPr/>
          <p:nvPr>
            <p:ph idx="2" type="pic"/>
          </p:nvPr>
        </p:nvSpPr>
        <p:spPr>
          <a:xfrm>
            <a:off x="1792288" y="612775"/>
            <a:ext cx="5486400" cy="4114800"/>
          </a:xfrm>
          <a:prstGeom prst="rect">
            <a:avLst/>
          </a:prstGeom>
          <a:noFill/>
          <a:ln>
            <a:noFill/>
          </a:ln>
        </p:spPr>
      </p:sp>
      <p:sp>
        <p:nvSpPr>
          <p:cNvPr id="139" name="Google Shape;139;hc7cc306779174be_8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hc7cc306779174be_8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c7cc306779174be_8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c7cc306779174be_8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c7cc306779174be_8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c7cc306779174be_8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hc7cc306779174be_8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c7cc306779174be_8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c7cc306779174be_8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c7cc306779174be_8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c7cc306779174be_8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hc7cc306779174be_8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c7cc306779174be_8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c7cc306779174be_8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c7cc306779174be_4_100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hc7cc306779174be_4_100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hc7cc306779174be_4_100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5" name="Shape 165"/>
        <p:cNvGrpSpPr/>
        <p:nvPr/>
      </p:nvGrpSpPr>
      <p:grpSpPr>
        <a:xfrm>
          <a:off x="0" y="0"/>
          <a:ext cx="0" cy="0"/>
          <a:chOff x="0" y="0"/>
          <a:chExt cx="0" cy="0"/>
        </a:xfrm>
      </p:grpSpPr>
      <p:sp>
        <p:nvSpPr>
          <p:cNvPr id="166" name="Google Shape;166;hc7cc306779174be_4_1007"/>
          <p:cNvSpPr txBox="1"/>
          <p:nvPr>
            <p:ph type="ctrTitle"/>
          </p:nvPr>
        </p:nvSpPr>
        <p:spPr>
          <a:xfrm>
            <a:off x="685800" y="2130425"/>
            <a:ext cx="7772400" cy="1470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hc7cc306779174be_4_1007"/>
          <p:cNvSpPr txBox="1"/>
          <p:nvPr>
            <p:ph idx="1" type="subTitle"/>
          </p:nvPr>
        </p:nvSpPr>
        <p:spPr>
          <a:xfrm>
            <a:off x="1371600" y="3886200"/>
            <a:ext cx="6400800" cy="1752600"/>
          </a:xfrm>
          <a:prstGeom prst="rect">
            <a:avLst/>
          </a:prstGeom>
          <a:noFill/>
          <a:ln>
            <a:noFill/>
          </a:ln>
        </p:spPr>
        <p:txBody>
          <a:bodyPr anchorCtr="0" anchor="t" bIns="45700" lIns="91450" spcFirstLastPara="1" rIns="91450" wrap="square" tIns="4570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68" name="Google Shape;168;hc7cc306779174be_4_100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hc7cc306779174be_4_100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hc7cc306779174be_4_100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hc7cc306779174be_4_1013"/>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hc7cc306779174be_4_1013"/>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174" name="Google Shape;174;hc7cc306779174be_4_101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hc7cc306779174be_4_101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hc7cc306779174be_4_101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hc7cc306779174be_4_1019"/>
          <p:cNvSpPr txBox="1"/>
          <p:nvPr>
            <p:ph type="title"/>
          </p:nvPr>
        </p:nvSpPr>
        <p:spPr>
          <a:xfrm>
            <a:off x="722313" y="4406900"/>
            <a:ext cx="7772400" cy="1362000"/>
          </a:xfrm>
          <a:prstGeom prst="rect">
            <a:avLst/>
          </a:prstGeom>
          <a:noFill/>
          <a:ln>
            <a:noFill/>
          </a:ln>
        </p:spPr>
        <p:txBody>
          <a:bodyPr anchorCtr="0" anchor="t" bIns="45700" lIns="91450" spcFirstLastPara="1" rIns="91450"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hc7cc306779174be_4_1019"/>
          <p:cNvSpPr txBox="1"/>
          <p:nvPr>
            <p:ph idx="1" type="body"/>
          </p:nvPr>
        </p:nvSpPr>
        <p:spPr>
          <a:xfrm>
            <a:off x="722313" y="2906713"/>
            <a:ext cx="7772400" cy="15000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400"/>
              </a:spcBef>
              <a:spcAft>
                <a:spcPts val="0"/>
              </a:spcAft>
              <a:buClr>
                <a:srgbClr val="888888"/>
              </a:buClr>
              <a:buSzPts val="1800"/>
              <a:buNone/>
              <a:defRPr sz="1800">
                <a:solidFill>
                  <a:srgbClr val="888888"/>
                </a:solidFill>
              </a:defRPr>
            </a:lvl2pPr>
            <a:lvl3pPr indent="-228600" lvl="2" marL="1371600" algn="l">
              <a:spcBef>
                <a:spcPts val="400"/>
              </a:spcBef>
              <a:spcAft>
                <a:spcPts val="0"/>
              </a:spcAft>
              <a:buClr>
                <a:srgbClr val="888888"/>
              </a:buClr>
              <a:buSzPts val="1600"/>
              <a:buNone/>
              <a:defRPr sz="1600">
                <a:solidFill>
                  <a:srgbClr val="888888"/>
                </a:solidFill>
              </a:defRPr>
            </a:lvl3pPr>
            <a:lvl4pPr indent="-228600" lvl="3" marL="1828800" algn="l">
              <a:spcBef>
                <a:spcPts val="200"/>
              </a:spcBef>
              <a:spcAft>
                <a:spcPts val="0"/>
              </a:spcAft>
              <a:buClr>
                <a:srgbClr val="888888"/>
              </a:buClr>
              <a:buSzPts val="1400"/>
              <a:buNone/>
              <a:defRPr sz="1400">
                <a:solidFill>
                  <a:srgbClr val="888888"/>
                </a:solidFill>
              </a:defRPr>
            </a:lvl4pPr>
            <a:lvl5pPr indent="-228600" lvl="4" marL="2286000" algn="l">
              <a:spcBef>
                <a:spcPts val="200"/>
              </a:spcBef>
              <a:spcAft>
                <a:spcPts val="0"/>
              </a:spcAft>
              <a:buClr>
                <a:srgbClr val="888888"/>
              </a:buClr>
              <a:buSzPts val="1400"/>
              <a:buNone/>
              <a:defRPr sz="1400">
                <a:solidFill>
                  <a:srgbClr val="888888"/>
                </a:solidFill>
              </a:defRPr>
            </a:lvl5pPr>
            <a:lvl6pPr indent="-228600" lvl="5" marL="2743200" algn="l">
              <a:spcBef>
                <a:spcPts val="200"/>
              </a:spcBef>
              <a:spcAft>
                <a:spcPts val="0"/>
              </a:spcAft>
              <a:buClr>
                <a:srgbClr val="888888"/>
              </a:buClr>
              <a:buSzPts val="1400"/>
              <a:buNone/>
              <a:defRPr sz="1400">
                <a:solidFill>
                  <a:srgbClr val="888888"/>
                </a:solidFill>
              </a:defRPr>
            </a:lvl6pPr>
            <a:lvl7pPr indent="-228600" lvl="6" marL="3200400" algn="l">
              <a:spcBef>
                <a:spcPts val="200"/>
              </a:spcBef>
              <a:spcAft>
                <a:spcPts val="0"/>
              </a:spcAft>
              <a:buClr>
                <a:srgbClr val="888888"/>
              </a:buClr>
              <a:buSzPts val="1400"/>
              <a:buNone/>
              <a:defRPr sz="1400">
                <a:solidFill>
                  <a:srgbClr val="888888"/>
                </a:solidFill>
              </a:defRPr>
            </a:lvl7pPr>
            <a:lvl8pPr indent="-228600" lvl="7" marL="3657600" algn="l">
              <a:spcBef>
                <a:spcPts val="200"/>
              </a:spcBef>
              <a:spcAft>
                <a:spcPts val="0"/>
              </a:spcAft>
              <a:buClr>
                <a:srgbClr val="888888"/>
              </a:buClr>
              <a:buSzPts val="1400"/>
              <a:buNone/>
              <a:defRPr sz="1400">
                <a:solidFill>
                  <a:srgbClr val="888888"/>
                </a:solidFill>
              </a:defRPr>
            </a:lvl8pPr>
            <a:lvl9pPr indent="-228600" lvl="8" marL="4114800" algn="l">
              <a:spcBef>
                <a:spcPts val="200"/>
              </a:spcBef>
              <a:spcAft>
                <a:spcPts val="0"/>
              </a:spcAft>
              <a:buClr>
                <a:srgbClr val="888888"/>
              </a:buClr>
              <a:buSzPts val="1400"/>
              <a:buNone/>
              <a:defRPr sz="1400">
                <a:solidFill>
                  <a:srgbClr val="888888"/>
                </a:solidFill>
              </a:defRPr>
            </a:lvl9pPr>
          </a:lstStyle>
          <a:p/>
        </p:txBody>
      </p:sp>
      <p:sp>
        <p:nvSpPr>
          <p:cNvPr id="180" name="Google Shape;180;hc7cc306779174be_4_1019"/>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hc7cc306779174be_4_1019"/>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hc7cc306779174be_4_1019"/>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hc7cc306779174be_4_1025"/>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hc7cc306779174be_4_1025"/>
          <p:cNvSpPr txBox="1"/>
          <p:nvPr>
            <p:ph idx="1" type="body"/>
          </p:nvPr>
        </p:nvSpPr>
        <p:spPr>
          <a:xfrm>
            <a:off x="457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6" name="Google Shape;186;hc7cc306779174be_4_1025"/>
          <p:cNvSpPr txBox="1"/>
          <p:nvPr>
            <p:ph idx="2" type="body"/>
          </p:nvPr>
        </p:nvSpPr>
        <p:spPr>
          <a:xfrm>
            <a:off x="4648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7" name="Google Shape;187;hc7cc306779174be_4_1025"/>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hc7cc306779174be_4_1025"/>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hc7cc306779174be_4_1025"/>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hc7cc306779174be_4_1032"/>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hc7cc306779174be_4_1032"/>
          <p:cNvSpPr txBox="1"/>
          <p:nvPr>
            <p:ph idx="1" type="body"/>
          </p:nvPr>
        </p:nvSpPr>
        <p:spPr>
          <a:xfrm>
            <a:off x="457200" y="1535113"/>
            <a:ext cx="40404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3" name="Google Shape;193;hc7cc306779174be_4_1032"/>
          <p:cNvSpPr txBox="1"/>
          <p:nvPr>
            <p:ph idx="2" type="body"/>
          </p:nvPr>
        </p:nvSpPr>
        <p:spPr>
          <a:xfrm>
            <a:off x="457200" y="2174875"/>
            <a:ext cx="40404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4" name="Google Shape;194;hc7cc306779174be_4_1032"/>
          <p:cNvSpPr txBox="1"/>
          <p:nvPr>
            <p:ph idx="3" type="body"/>
          </p:nvPr>
        </p:nvSpPr>
        <p:spPr>
          <a:xfrm>
            <a:off x="4645025" y="1535113"/>
            <a:ext cx="40416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5" name="Google Shape;195;hc7cc306779174be_4_1032"/>
          <p:cNvSpPr txBox="1"/>
          <p:nvPr>
            <p:ph idx="4" type="body"/>
          </p:nvPr>
        </p:nvSpPr>
        <p:spPr>
          <a:xfrm>
            <a:off x="4645025" y="2174875"/>
            <a:ext cx="40416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6" name="Google Shape;196;hc7cc306779174be_4_1032"/>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hc7cc306779174be_4_1032"/>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hc7cc306779174be_4_1032"/>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hc7cc306779174be_4_1041"/>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hc7cc306779174be_4_1041"/>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hc7cc306779174be_4_1041"/>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hc7cc306779174be_4_1041"/>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hc7cc306779174be_4_1046"/>
          <p:cNvSpPr txBox="1"/>
          <p:nvPr>
            <p:ph type="title"/>
          </p:nvPr>
        </p:nvSpPr>
        <p:spPr>
          <a:xfrm>
            <a:off x="457200" y="273050"/>
            <a:ext cx="3008400" cy="11622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hc7cc306779174be_4_1046"/>
          <p:cNvSpPr txBox="1"/>
          <p:nvPr>
            <p:ph idx="1" type="body"/>
          </p:nvPr>
        </p:nvSpPr>
        <p:spPr>
          <a:xfrm>
            <a:off x="3575050" y="273050"/>
            <a:ext cx="5112000" cy="5853000"/>
          </a:xfrm>
          <a:prstGeom prst="rect">
            <a:avLst/>
          </a:prstGeom>
          <a:noFill/>
          <a:ln>
            <a:noFill/>
          </a:ln>
        </p:spPr>
        <p:txBody>
          <a:bodyPr anchorCtr="0" anchor="t" bIns="45700" lIns="91450" spcFirstLastPara="1" rIns="91450" wrap="square" tIns="45700">
            <a:normAutofit/>
          </a:bodyPr>
          <a:lstStyle>
            <a:lvl1pPr indent="-431800" lvl="0" marL="457200" algn="l">
              <a:spcBef>
                <a:spcPts val="600"/>
              </a:spcBef>
              <a:spcAft>
                <a:spcPts val="0"/>
              </a:spcAft>
              <a:buClr>
                <a:schemeClr val="dk1"/>
              </a:buClr>
              <a:buSzPts val="3200"/>
              <a:buChar char="•"/>
              <a:defRPr sz="3200"/>
            </a:lvl1pPr>
            <a:lvl2pPr indent="-406400" lvl="1" marL="914400" algn="l">
              <a:spcBef>
                <a:spcPts val="600"/>
              </a:spcBef>
              <a:spcAft>
                <a:spcPts val="0"/>
              </a:spcAft>
              <a:buClr>
                <a:schemeClr val="dk1"/>
              </a:buClr>
              <a:buSzPts val="2800"/>
              <a:buChar char="–"/>
              <a:defRPr sz="2800"/>
            </a:lvl2pPr>
            <a:lvl3pPr indent="-381000" lvl="2" marL="1371600" algn="l">
              <a:spcBef>
                <a:spcPts val="40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07" name="Google Shape;207;hc7cc306779174be_4_1046"/>
          <p:cNvSpPr txBox="1"/>
          <p:nvPr>
            <p:ph idx="2" type="body"/>
          </p:nvPr>
        </p:nvSpPr>
        <p:spPr>
          <a:xfrm>
            <a:off x="457200" y="1435100"/>
            <a:ext cx="3008400" cy="46908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08" name="Google Shape;208;hc7cc306779174be_4_104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hc7cc306779174be_4_104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hc7cc306779174be_4_104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hc7cc306779174be_4_1053"/>
          <p:cNvSpPr txBox="1"/>
          <p:nvPr>
            <p:ph type="title"/>
          </p:nvPr>
        </p:nvSpPr>
        <p:spPr>
          <a:xfrm>
            <a:off x="1792288" y="4800600"/>
            <a:ext cx="5486400" cy="5670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hc7cc306779174be_4_1053"/>
          <p:cNvSpPr/>
          <p:nvPr>
            <p:ph idx="2" type="pic"/>
          </p:nvPr>
        </p:nvSpPr>
        <p:spPr>
          <a:xfrm>
            <a:off x="1792288" y="612775"/>
            <a:ext cx="5486400" cy="4114800"/>
          </a:xfrm>
          <a:prstGeom prst="rect">
            <a:avLst/>
          </a:prstGeom>
          <a:noFill/>
          <a:ln>
            <a:noFill/>
          </a:ln>
        </p:spPr>
      </p:sp>
      <p:sp>
        <p:nvSpPr>
          <p:cNvPr id="214" name="Google Shape;214;hc7cc306779174be_4_1053"/>
          <p:cNvSpPr txBox="1"/>
          <p:nvPr>
            <p:ph idx="1" type="body"/>
          </p:nvPr>
        </p:nvSpPr>
        <p:spPr>
          <a:xfrm>
            <a:off x="1792288" y="5367338"/>
            <a:ext cx="5486400" cy="8046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15" name="Google Shape;215;hc7cc306779174be_4_105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hc7cc306779174be_4_105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hc7cc306779174be_4_105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hc7cc306779174be_4_1060"/>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hc7cc306779174be_4_1060"/>
          <p:cNvSpPr txBox="1"/>
          <p:nvPr>
            <p:ph idx="1" type="body"/>
          </p:nvPr>
        </p:nvSpPr>
        <p:spPr>
          <a:xfrm rot="5400000">
            <a:off x="2309100" y="-251700"/>
            <a:ext cx="4525800" cy="82296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1" name="Google Shape;221;hc7cc306779174be_4_106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hc7cc306779174be_4_106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hc7cc306779174be_4_106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hc7cc306779174be_4_1066"/>
          <p:cNvSpPr txBox="1"/>
          <p:nvPr>
            <p:ph type="title"/>
          </p:nvPr>
        </p:nvSpPr>
        <p:spPr>
          <a:xfrm rot="5400000">
            <a:off x="4732200" y="2171838"/>
            <a:ext cx="5851800" cy="20574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hc7cc306779174be_4_1066"/>
          <p:cNvSpPr txBox="1"/>
          <p:nvPr>
            <p:ph idx="1" type="body"/>
          </p:nvPr>
        </p:nvSpPr>
        <p:spPr>
          <a:xfrm rot="5400000">
            <a:off x="541200" y="190638"/>
            <a:ext cx="5851800" cy="6019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7" name="Google Shape;227;hc7cc306779174be_4_106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hc7cc306779174be_4_106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hc7cc306779174be_4_106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 name="Google Shape;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9" name="Google Shape;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0" name="Google Shape;1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c7cc306779174be_8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c7cc306779174be_8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3" name="Google Shape;83;hc7cc306779174be_8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4" name="Google Shape;84;hc7cc306779174be_8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5" name="Google Shape;85;hc7cc306779174be_8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hc7cc306779174be_4_997"/>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marR="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hc7cc306779174be_4_997"/>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431800" lvl="0" marL="457200" marR="0" algn="l">
              <a:spcBef>
                <a:spcPts val="60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algn="l">
              <a:spcBef>
                <a:spcPts val="60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algn="l">
              <a:spcBef>
                <a:spcPts val="40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158" name="Google Shape;158;hc7cc306779174be_4_99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marR="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59" name="Google Shape;159;hc7cc306779174be_4_99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marR="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60" name="Google Shape;160;hc7cc306779174be_4_99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spcBef>
                <a:spcPts val="0"/>
              </a:spcBef>
              <a:buNone/>
              <a:defRPr b="0" i="0" sz="1200" u="none" cap="none" strike="noStrike">
                <a:solidFill>
                  <a:srgbClr val="888888"/>
                </a:solidFill>
                <a:latin typeface="Inter"/>
                <a:ea typeface="Inter"/>
                <a:cs typeface="Inter"/>
                <a:sym typeface="Inter"/>
              </a:defRPr>
            </a:lvl1pPr>
            <a:lvl2pPr indent="0" lvl="1" marL="0" marR="0" algn="r">
              <a:spcBef>
                <a:spcPts val="0"/>
              </a:spcBef>
              <a:buNone/>
              <a:defRPr b="0" i="0" sz="1200" u="none" cap="none" strike="noStrike">
                <a:solidFill>
                  <a:srgbClr val="888888"/>
                </a:solidFill>
                <a:latin typeface="Inter"/>
                <a:ea typeface="Inter"/>
                <a:cs typeface="Inter"/>
                <a:sym typeface="Inter"/>
              </a:defRPr>
            </a:lvl2pPr>
            <a:lvl3pPr indent="0" lvl="2" marL="0" marR="0" algn="r">
              <a:spcBef>
                <a:spcPts val="0"/>
              </a:spcBef>
              <a:buNone/>
              <a:defRPr b="0" i="0" sz="1200" u="none" cap="none" strike="noStrike">
                <a:solidFill>
                  <a:srgbClr val="888888"/>
                </a:solidFill>
                <a:latin typeface="Inter"/>
                <a:ea typeface="Inter"/>
                <a:cs typeface="Inter"/>
                <a:sym typeface="Inter"/>
              </a:defRPr>
            </a:lvl3pPr>
            <a:lvl4pPr indent="0" lvl="3" marL="0" marR="0" algn="r">
              <a:spcBef>
                <a:spcPts val="0"/>
              </a:spcBef>
              <a:buNone/>
              <a:defRPr b="0" i="0" sz="1200" u="none" cap="none" strike="noStrike">
                <a:solidFill>
                  <a:srgbClr val="888888"/>
                </a:solidFill>
                <a:latin typeface="Inter"/>
                <a:ea typeface="Inter"/>
                <a:cs typeface="Inter"/>
                <a:sym typeface="Inter"/>
              </a:defRPr>
            </a:lvl4pPr>
            <a:lvl5pPr indent="0" lvl="4" marL="0" marR="0" algn="r">
              <a:spcBef>
                <a:spcPts val="0"/>
              </a:spcBef>
              <a:buNone/>
              <a:defRPr b="0" i="0" sz="1200" u="none" cap="none" strike="noStrike">
                <a:solidFill>
                  <a:srgbClr val="888888"/>
                </a:solidFill>
                <a:latin typeface="Inter"/>
                <a:ea typeface="Inter"/>
                <a:cs typeface="Inter"/>
                <a:sym typeface="Inter"/>
              </a:defRPr>
            </a:lvl5pPr>
            <a:lvl6pPr indent="0" lvl="5" marL="0" marR="0" algn="r">
              <a:spcBef>
                <a:spcPts val="0"/>
              </a:spcBef>
              <a:buNone/>
              <a:defRPr b="0" i="0" sz="1200" u="none" cap="none" strike="noStrike">
                <a:solidFill>
                  <a:srgbClr val="888888"/>
                </a:solidFill>
                <a:latin typeface="Inter"/>
                <a:ea typeface="Inter"/>
                <a:cs typeface="Inter"/>
                <a:sym typeface="Inter"/>
              </a:defRPr>
            </a:lvl6pPr>
            <a:lvl7pPr indent="0" lvl="6" marL="0" marR="0" algn="r">
              <a:spcBef>
                <a:spcPts val="0"/>
              </a:spcBef>
              <a:buNone/>
              <a:defRPr b="0" i="0" sz="1200" u="none" cap="none" strike="noStrike">
                <a:solidFill>
                  <a:srgbClr val="888888"/>
                </a:solidFill>
                <a:latin typeface="Inter"/>
                <a:ea typeface="Inter"/>
                <a:cs typeface="Inter"/>
                <a:sym typeface="Inter"/>
              </a:defRPr>
            </a:lvl7pPr>
            <a:lvl8pPr indent="0" lvl="7" marL="0" marR="0" algn="r">
              <a:spcBef>
                <a:spcPts val="0"/>
              </a:spcBef>
              <a:buNone/>
              <a:defRPr b="0" i="0" sz="1200" u="none" cap="none" strike="noStrike">
                <a:solidFill>
                  <a:srgbClr val="888888"/>
                </a:solidFill>
                <a:latin typeface="Inter"/>
                <a:ea typeface="Inter"/>
                <a:cs typeface="Inter"/>
                <a:sym typeface="Inter"/>
              </a:defRPr>
            </a:lvl8pPr>
            <a:lvl9pPr indent="0" lvl="8" marL="0" marR="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1.svg"/><Relationship Id="rId6" Type="http://schemas.openxmlformats.org/officeDocument/2006/relationships/image" Target="../media/v7img2.svg"/><Relationship Id="rId7" Type="http://schemas.openxmlformats.org/officeDocument/2006/relationships/image" Target="../media/v7img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5.svg"/><Relationship Id="rId6" Type="http://schemas.openxmlformats.org/officeDocument/2006/relationships/image" Target="../media/v7img6.svg"/><Relationship Id="rId7" Type="http://schemas.openxmlformats.org/officeDocument/2006/relationships/image" Target="../media/v7img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v7img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v7img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v7img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2.png"/><Relationship Id="rId9" Type="http://schemas.openxmlformats.org/officeDocument/2006/relationships/image" Target="../media/image3.png"/><Relationship Id="rId10" Type="http://schemas.openxmlformats.org/officeDocument/2006/relationships/image" Target="../media/image7.png"/><Relationship Id="rId11" Type="http://schemas.openxmlformats.org/officeDocument/2006/relationships/image" Target="../media/image18.png"/><Relationship Id="rId12" Type="http://schemas.openxmlformats.org/officeDocument/2006/relationships/image" Target="../media/v7img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33.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51.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2.png"/><Relationship Id="rId4" Type="http://schemas.openxmlformats.org/officeDocument/2006/relationships/image" Target="../media/v7img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3.svg"/><Relationship Id="rId6" Type="http://schemas.openxmlformats.org/officeDocument/2006/relationships/image" Target="../media/v7img7.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3.svg"/><Relationship Id="rId6" Type="http://schemas.openxmlformats.org/officeDocument/2006/relationships/image" Target="../media/v7img7.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v7img8.svg"/><Relationship Id="rId4" Type="http://schemas.openxmlformats.org/officeDocument/2006/relationships/image" Target="../media/v7img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v7img8.svg"/><Relationship Id="rId4" Type="http://schemas.openxmlformats.org/officeDocument/2006/relationships/image" Target="../media/v7img5.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v7img8.svg"/><Relationship Id="rId4" Type="http://schemas.openxmlformats.org/officeDocument/2006/relationships/image" Target="../media/v7img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v7img8.svg"/><Relationship Id="rId4" Type="http://schemas.openxmlformats.org/officeDocument/2006/relationships/image" Target="../media/v7img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v7img8.svg"/><Relationship Id="rId4" Type="http://schemas.openxmlformats.org/officeDocument/2006/relationships/image" Target="../media/v7img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v7img8.svg"/><Relationship Id="rId4" Type="http://schemas.openxmlformats.org/officeDocument/2006/relationships/image" Target="../media/v7img5.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v7img8.svg"/><Relationship Id="rId4" Type="http://schemas.openxmlformats.org/officeDocument/2006/relationships/image" Target="../media/v7img5.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v7img8.svg"/><Relationship Id="rId4" Type="http://schemas.openxmlformats.org/officeDocument/2006/relationships/image" Target="../media/v7img5.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v7img8.svg"/><Relationship Id="rId4" Type="http://schemas.openxmlformats.org/officeDocument/2006/relationships/image" Target="../media/v7img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v7img8.svg"/><Relationship Id="rId4" Type="http://schemas.openxmlformats.org/officeDocument/2006/relationships/image" Target="../media/v7img5.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v7img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chart" Target="../charts/chart1.xml"/><Relationship Id="rId5" Type="http://schemas.openxmlformats.org/officeDocument/2006/relationships/image" Target="../media/v7img5.svg"/><Relationship Id="rId6" Type="http://schemas.openxmlformats.org/officeDocument/2006/relationships/image" Target="../media/v7img9.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1.png"/><Relationship Id="rId4" Type="http://schemas.openxmlformats.org/officeDocument/2006/relationships/image" Target="../media/v7img10.svg"/><Relationship Id="rId5" Type="http://schemas.openxmlformats.org/officeDocument/2006/relationships/image" Target="../media/v7img11.svg"/><Relationship Id="rId6" Type="http://schemas.openxmlformats.org/officeDocument/2006/relationships/image" Target="../media/v7img2.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v7img5.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v7img5.sv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9.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v7img12.svg"/><Relationship Id="rId4" Type="http://schemas.openxmlformats.org/officeDocument/2006/relationships/image" Target="../media/v7img5.svg"/><Relationship Id="rId5" Type="http://schemas.openxmlformats.org/officeDocument/2006/relationships/image" Target="../media/v7img6.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v7img5.svg"/><Relationship Id="rId4" Type="http://schemas.openxmlformats.org/officeDocument/2006/relationships/image" Target="../media/v7img13.svg"/><Relationship Id="rId5" Type="http://schemas.openxmlformats.org/officeDocument/2006/relationships/image" Target="../media/v7img14.svg"/><Relationship Id="rId6" Type="http://schemas.openxmlformats.org/officeDocument/2006/relationships/image" Target="../media/v7img15.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16.svg"/><Relationship Id="rId7" Type="http://schemas.openxmlformats.org/officeDocument/2006/relationships/image" Target="../media/v7img17.svg"/><Relationship Id="rId8" Type="http://schemas.openxmlformats.org/officeDocument/2006/relationships/image" Target="../media/v7img18.svg"/><Relationship Id="rId9" Type="http://schemas.openxmlformats.org/officeDocument/2006/relationships/image" Target="../media/v7img19.svg"/><Relationship Id="rId10" Type="http://schemas.openxmlformats.org/officeDocument/2006/relationships/image" Target="../media/v7img2.svg"/><Relationship Id="rId11" Type="http://schemas.openxmlformats.org/officeDocument/2006/relationships/image" Target="../media/v7img1.sv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deco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6" name="!!deco2"/>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7" name="!!deco3"/>
          <p:cNvSpPr/>
          <p:nvPr/>
        </p:nvSpPr>
        <p:spPr>
          <a:xfrm flipH="1" rot="10800000">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8"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9"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0" name="Google Shape;240;p1"/>
          <p:cNvSpPr txBox="1"/>
          <p:nvPr/>
        </p:nvSpPr>
        <p:spPr>
          <a:xfrm>
            <a:off x="1428123" y="2520990"/>
            <a:ext cx="12946574" cy="1939598"/>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lang="en-US" sz="10693">
                <a:solidFill>
                  <a:srgbClr val="FFFFFF"/>
                </a:solidFill>
                <a:latin typeface="Inter"/>
                <a:ea typeface="Inter"/>
                <a:cs typeface="Inter"/>
                <a:sym typeface="Inter"/>
              </a:rPr>
              <a:t>Propuesta</a:t>
            </a:r>
            <a:endParaRPr/>
          </a:p>
        </p:txBody>
      </p:sp>
      <p:sp>
        <p:nvSpPr>
          <p:cNvPr id="241" name="Google Shape;241;p1"/>
          <p:cNvSpPr txBox="1"/>
          <p:nvPr/>
        </p:nvSpPr>
        <p:spPr>
          <a:xfrm>
            <a:off x="1428123" y="3820932"/>
            <a:ext cx="12950077" cy="2374011"/>
          </a:xfrm>
          <a:prstGeom prst="rect">
            <a:avLst/>
          </a:prstGeom>
          <a:noFill/>
          <a:ln>
            <a:noFill/>
          </a:ln>
        </p:spPr>
        <p:txBody>
          <a:bodyPr anchorCtr="0" anchor="t" bIns="0" lIns="0" spcFirstLastPara="1" rIns="0" wrap="square" tIns="0">
            <a:spAutoFit/>
          </a:bodyPr>
          <a:lstStyle/>
          <a:p>
            <a:pPr indent="0" lvl="0" marL="0" marR="0" rtl="0" algn="l">
              <a:lnSpc>
                <a:spcPct val="175014"/>
              </a:lnSpc>
              <a:spcBef>
                <a:spcPts val="0"/>
              </a:spcBef>
              <a:spcAft>
                <a:spcPts val="0"/>
              </a:spcAft>
              <a:buNone/>
            </a:pPr>
            <a:r>
              <a:rPr b="1" lang="en-US" sz="10494">
                <a:solidFill>
                  <a:srgbClr val="FFFFFF"/>
                </a:solidFill>
                <a:latin typeface="Inter SemiBold"/>
                <a:ea typeface="Inter SemiBold"/>
                <a:cs typeface="Inter SemiBold"/>
                <a:sym typeface="Inter SemiBold"/>
              </a:rPr>
              <a:t>Técnica</a:t>
            </a:r>
            <a:endParaRPr/>
          </a:p>
        </p:txBody>
      </p:sp>
      <p:sp>
        <p:nvSpPr>
          <p:cNvPr id="242" name="Google Shape;242;p1"/>
          <p:cNvSpPr txBox="1"/>
          <p:nvPr/>
        </p:nvSpPr>
        <p:spPr>
          <a:xfrm>
            <a:off x="1428123" y="6162459"/>
            <a:ext cx="8734851" cy="1097280"/>
          </a:xfrm>
          <a:prstGeom prst="rect">
            <a:avLst/>
          </a:prstGeom>
          <a:noFill/>
          <a:ln>
            <a:noFill/>
          </a:ln>
        </p:spPr>
        <p:txBody>
          <a:bodyPr anchorCtr="0" anchor="t" bIns="0" lIns="0" spcFirstLastPara="1" rIns="0" wrap="square" tIns="0">
            <a:spAutoFit/>
          </a:bodyPr>
          <a:lstStyle/>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Sistema Integral de Gestión Logística Puelche</a:t>
            </a:r>
            <a:endParaRPr/>
          </a:p>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Licitación TFEP-01/2026 · Distribuidora Puelche S.A.</a:t>
            </a:r>
            <a:endParaRPr/>
          </a:p>
        </p:txBody>
      </p:sp>
      <p:sp>
        <p:nvSpPr>
          <p:cNvPr id="243" name="Google Shape;243;p1"/>
          <p:cNvSpPr txBox="1"/>
          <p:nvPr/>
        </p:nvSpPr>
        <p:spPr>
          <a:xfrm>
            <a:off x="1475324" y="8961120"/>
            <a:ext cx="4041891" cy="3013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800">
                <a:solidFill>
                  <a:srgbClr val="FFFFFF"/>
                </a:solidFill>
                <a:latin typeface="Inter"/>
                <a:ea typeface="Inter"/>
                <a:cs typeface="Inter"/>
                <a:sym typeface="Inter"/>
              </a:rPr>
              <a:t>lafrox.github.io</a:t>
            </a:r>
            <a:endParaRPr/>
          </a:p>
        </p:txBody>
      </p:sp>
      <p:sp>
        <p:nvSpPr>
          <p:cNvPr id="244"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FFFFFF"/>
                </a:solidFill>
                <a:latin typeface="Inter SemiBold"/>
                <a:ea typeface="Inter SemiBold"/>
                <a:cs typeface="Inter SemiBold"/>
                <a:sym typeface="Inter SemiBold"/>
              </a:rPr>
              <a:t>LafroX SpA</a:t>
            </a:r>
            <a:endParaRPr/>
          </a:p>
        </p:txBody>
      </p:sp>
      <p:sp>
        <p:nvSpPr>
          <p:cNvPr id="245" name="Google Shape;245;p1"/>
          <p:cNvSpPr txBox="1"/>
          <p:nvPr/>
        </p:nvSpPr>
        <p:spPr>
          <a:xfrm>
            <a:off x="12763761" y="8961120"/>
            <a:ext cx="4041891"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FFFFFF"/>
                </a:solidFill>
                <a:latin typeface="Inter"/>
                <a:ea typeface="Inter"/>
                <a:cs typeface="Inter"/>
                <a:sym typeface="Inter"/>
              </a:rPr>
              <a:t>Siguiente</a:t>
            </a:r>
            <a:endParaRPr/>
          </a:p>
        </p:txBody>
      </p:sp>
      <p:pic>
        <p:nvPicPr>
          <p:cNvPr descr="Isotipo LafroX" id="246" name="!!logo"/>
          <p:cNvPicPr preferRelativeResize="0"/>
          <p:nvPr/>
        </p:nvPicPr>
        <p:blipFill rotWithShape="1">
          <a:blip r:embed="rId4">
            <a:alphaModFix/>
          </a:blip>
          <a:srcRect b="0" l="0" r="0" t="0"/>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deco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3" name="!!deco2"/>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4" name="!!deco3"/>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5" name="!!deco4"/>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6" name="!!deco5"/>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7" name="!!deco6"/>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8" name="!!deco7"/>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60"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F29A5E"/>
                </a:solidFill>
                <a:latin typeface="Inter SemiBold"/>
                <a:ea typeface="Inter SemiBold"/>
                <a:cs typeface="Inter SemiBold"/>
                <a:sym typeface="Inter SemiBold"/>
              </a:rPr>
              <a:t>MARZO 2026 · RETIRO SANITARIO</a:t>
            </a:r>
            <a:endParaRPr/>
          </a:p>
        </p:txBody>
      </p:sp>
      <p:sp>
        <p:nvSpPr>
          <p:cNvPr id="262" name="!!reloj"/>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63" name="Google Shape;263;p2"/>
          <p:cNvSpPr txBox="1"/>
          <p:nvPr/>
        </p:nvSpPr>
        <p:spPr>
          <a:xfrm>
            <a:off x="1828800" y="5943600"/>
            <a:ext cx="1463040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3400">
                <a:solidFill>
                  <a:srgbClr val="FFFFFF"/>
                </a:solidFill>
                <a:latin typeface="Inter Light"/>
                <a:ea typeface="Inter Light"/>
                <a:cs typeface="Inter Light"/>
                <a:sym typeface="Inter Light"/>
              </a:rPr>
              <a:t>para identificar a los clientes afectados</a:t>
            </a:r>
            <a:endParaRPr/>
          </a:p>
        </p:txBody>
      </p:sp>
      <p:sp>
        <p:nvSpPr>
          <p:cNvPr id="264" name="Google Shape;264;p2"/>
          <p:cNvSpPr txBox="1"/>
          <p:nvPr/>
        </p:nvSpPr>
        <p:spPr>
          <a:xfrm>
            <a:off x="310896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4.800 kg</a:t>
            </a:r>
            <a:endParaRPr/>
          </a:p>
        </p:txBody>
      </p:sp>
      <p:sp>
        <p:nvSpPr>
          <p:cNvPr id="265" name="Google Shape;265;p2"/>
          <p:cNvSpPr txBox="1"/>
          <p:nvPr/>
        </p:nvSpPr>
        <p:spPr>
          <a:xfrm>
            <a:off x="310896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retirados</a:t>
            </a:r>
            <a:endParaRPr/>
          </a:p>
        </p:txBody>
      </p:sp>
      <p:sp>
        <p:nvSpPr>
          <p:cNvPr id="266" name="Google Shape;266;p2"/>
          <p:cNvSpPr txBox="1"/>
          <p:nvPr/>
        </p:nvSpPr>
        <p:spPr>
          <a:xfrm>
            <a:off x="731520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meses</a:t>
            </a:r>
            <a:endParaRPr/>
          </a:p>
        </p:txBody>
      </p:sp>
      <p:sp>
        <p:nvSpPr>
          <p:cNvPr id="267" name="Google Shape;267;p2"/>
          <p:cNvSpPr txBox="1"/>
          <p:nvPr/>
        </p:nvSpPr>
        <p:spPr>
          <a:xfrm>
            <a:off x="731520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suspensión del proveedor</a:t>
            </a:r>
            <a:endParaRPr/>
          </a:p>
        </p:txBody>
      </p:sp>
      <p:sp>
        <p:nvSpPr>
          <p:cNvPr id="268" name="Google Shape;268;p2"/>
          <p:cNvSpPr txBox="1"/>
          <p:nvPr/>
        </p:nvSpPr>
        <p:spPr>
          <a:xfrm>
            <a:off x="1152144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a:t>
            </a:r>
            <a:endParaRPr/>
          </a:p>
        </p:txBody>
      </p:sp>
      <p:sp>
        <p:nvSpPr>
          <p:cNvPr id="269" name="Google Shape;269;p2"/>
          <p:cNvSpPr txBox="1"/>
          <p:nvPr/>
        </p:nvSpPr>
        <p:spPr>
          <a:xfrm>
            <a:off x="1152144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las ventas en riesgo</a:t>
            </a:r>
            <a:endParaRPr/>
          </a:p>
        </p:txBody>
      </p:sp>
      <p:sp>
        <p:nvSpPr>
          <p:cNvPr id="2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01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deco1"/>
          <p:cNvSpPr/>
          <p:nvPr/>
        </p:nvSpPr>
        <p:spPr>
          <a:xfrm flipH="1" rot="10800000">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7" name="!!deco2"/>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8" name="!!deco3"/>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9" name="!!deco4"/>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0" name="!!deco5"/>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1" name="Google Shape;281;p3"/>
          <p:cNvSpPr txBox="1"/>
          <p:nvPr/>
        </p:nvSpPr>
        <p:spPr>
          <a:xfrm>
            <a:off x="1475324" y="1600200"/>
            <a:ext cx="7668676" cy="13716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Problemática</a:t>
            </a:r>
            <a:endParaRPr/>
          </a:p>
        </p:txBody>
      </p:sp>
      <p:sp>
        <p:nvSpPr>
          <p:cNvPr id="282"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283" name="!!logo"/>
          <p:cNvPicPr preferRelativeResize="0"/>
          <p:nvPr/>
        </p:nvPicPr>
        <p:blipFill rotWithShape="1">
          <a:blip r:embed="rId3">
            <a:alphaModFix/>
          </a:blip>
          <a:srcRect b="0" l="0" r="0" t="0"/>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000">
                <a:solidFill>
                  <a:srgbClr val="606060"/>
                </a:solidFill>
                <a:latin typeface="Inter"/>
                <a:ea typeface="Inter"/>
                <a:cs typeface="Inter"/>
                <a:sym typeface="Inter"/>
              </a:rPr>
              <a:t>Tres problemas, una sola causa</a:t>
            </a:r>
            <a:endParaRPr/>
          </a:p>
        </p:txBody>
      </p:sp>
      <p:sp>
        <p:nvSpPr>
          <p:cNvPr id="285" name="Google Shape;285;p3"/>
          <p:cNvSpPr/>
          <p:nvPr/>
        </p:nvSpPr>
        <p:spPr>
          <a:xfrm>
            <a:off x="1472184" y="4434840"/>
            <a:ext cx="7315200" cy="2103120"/>
          </a:xfrm>
          <a:prstGeom prst="roundRect">
            <a:avLst>
              <a:gd fmla="val 8000" name="adj"/>
            </a:avLst>
          </a:prstGeom>
          <a:solidFill>
            <a:srgbClr val="111111"/>
          </a:solidFill>
          <a:ln>
            <a:noFill/>
          </a:ln>
        </p:spPr>
        <p:txBody>
          <a:bodyPr anchorCtr="0" anchor="ctr" bIns="45700" lIns="365750" spcFirstLastPara="1" rIns="365750" wrap="square" tIns="45700">
            <a:noAutofit/>
          </a:bodyPr>
          <a:lstStyle/>
          <a:p>
            <a:pPr indent="0" lvl="0" marL="0" marR="0" rtl="0" algn="l">
              <a:spcBef>
                <a:spcPts val="0"/>
              </a:spcBef>
              <a:spcAft>
                <a:spcPts val="0"/>
              </a:spcAft>
              <a:buNone/>
            </a:pPr>
            <a:r>
              <a:rPr b="1" lang="en-US" sz="1800">
                <a:solidFill>
                  <a:srgbClr val="F29A5E"/>
                </a:solidFill>
                <a:latin typeface="Inter SemiBold"/>
                <a:ea typeface="Inter SemiBold"/>
                <a:cs typeface="Inter SemiBold"/>
                <a:sym typeface="Inter SemiBold"/>
              </a:rPr>
              <a:t>CAUSA RAÍZ</a:t>
            </a:r>
            <a:endParaRPr/>
          </a:p>
          <a:p>
            <a:pPr indent="0" lvl="0" marL="0" marR="0" rtl="0" algn="l">
              <a:spcBef>
                <a:spcPts val="0"/>
              </a:spcBef>
              <a:spcAft>
                <a:spcPts val="0"/>
              </a:spcAft>
              <a:buNone/>
            </a:pPr>
            <a:r>
              <a:rPr b="1" lang="en-US" sz="3000">
                <a:solidFill>
                  <a:srgbClr val="FFFFFF"/>
                </a:solidFill>
                <a:latin typeface="Inter SemiBold"/>
                <a:ea typeface="Inter SemiBold"/>
                <a:cs typeface="Inter SemiBold"/>
                <a:sym typeface="Inter SemiBold"/>
              </a:rPr>
              <a:t>El dato no se registra donde ocurre el hecho.</a:t>
            </a:r>
            <a:endParaRPr/>
          </a:p>
        </p:txBody>
      </p:sp>
      <p:sp>
        <p:nvSpPr>
          <p:cNvPr id="286" name="Google Shape;286;p3"/>
          <p:cNvSpPr/>
          <p:nvPr/>
        </p:nvSpPr>
        <p:spPr>
          <a:xfrm>
            <a:off x="9509760" y="141732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87" name="Google Shape;287;p3"/>
          <p:cNvSpPr txBox="1"/>
          <p:nvPr/>
        </p:nvSpPr>
        <p:spPr>
          <a:xfrm>
            <a:off x="9829800" y="169164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01</a:t>
            </a:r>
            <a:endParaRPr/>
          </a:p>
        </p:txBody>
      </p:sp>
      <p:sp>
        <p:nvSpPr>
          <p:cNvPr id="288" name="Google Shape;288;p3"/>
          <p:cNvSpPr txBox="1"/>
          <p:nvPr/>
        </p:nvSpPr>
        <p:spPr>
          <a:xfrm>
            <a:off x="9829800" y="210312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Habilitación sanitaria en riesgo</a:t>
            </a:r>
            <a:endParaRPr/>
          </a:p>
        </p:txBody>
      </p:sp>
      <p:sp>
        <p:nvSpPr>
          <p:cNvPr id="289" name="Google Shape;289;p3"/>
          <p:cNvSpPr txBox="1"/>
          <p:nvPr/>
        </p:nvSpPr>
        <p:spPr>
          <a:xfrm>
            <a:off x="13167360" y="173736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retiro</a:t>
            </a:r>
            <a:endParaRPr/>
          </a:p>
        </p:txBody>
      </p:sp>
      <p:sp>
        <p:nvSpPr>
          <p:cNvPr id="290" name="!!reloj"/>
          <p:cNvSpPr txBox="1"/>
          <p:nvPr/>
        </p:nvSpPr>
        <p:spPr>
          <a:xfrm>
            <a:off x="12801600" y="210312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9 días</a:t>
            </a:r>
            <a:endParaRPr/>
          </a:p>
        </p:txBody>
      </p:sp>
      <p:cxnSp>
        <p:nvCxnSpPr>
          <p:cNvPr id="291" name="Google Shape;291;p3"/>
          <p:cNvCxnSpPr/>
          <p:nvPr/>
        </p:nvCxnSpPr>
        <p:spPr>
          <a:xfrm flipH="1" rot="10800000">
            <a:off x="8787384" y="2331720"/>
            <a:ext cx="722376" cy="315468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2" name="Google Shape;292;p3"/>
          <p:cNvSpPr/>
          <p:nvPr/>
        </p:nvSpPr>
        <p:spPr>
          <a:xfrm>
            <a:off x="9509760" y="356616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3" name="Google Shape;293;p3"/>
          <p:cNvSpPr txBox="1"/>
          <p:nvPr/>
        </p:nvSpPr>
        <p:spPr>
          <a:xfrm>
            <a:off x="9829800" y="384048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02</a:t>
            </a:r>
            <a:endParaRPr/>
          </a:p>
        </p:txBody>
      </p:sp>
      <p:sp>
        <p:nvSpPr>
          <p:cNvPr id="294" name="Google Shape;294;p3"/>
          <p:cNvSpPr txBox="1"/>
          <p:nvPr/>
        </p:nvSpPr>
        <p:spPr>
          <a:xfrm>
            <a:off x="9829800" y="425196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Servicio que pierde competitividad</a:t>
            </a:r>
            <a:endParaRPr/>
          </a:p>
        </p:txBody>
      </p:sp>
      <p:sp>
        <p:nvSpPr>
          <p:cNvPr id="295" name="Google Shape;295;p3"/>
          <p:cNvSpPr txBox="1"/>
          <p:nvPr/>
        </p:nvSpPr>
        <p:spPr>
          <a:xfrm>
            <a:off x="13167360" y="388620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OTIF</a:t>
            </a:r>
            <a:endParaRPr/>
          </a:p>
        </p:txBody>
      </p:sp>
      <p:sp>
        <p:nvSpPr>
          <p:cNvPr id="296" name="!!otif"/>
          <p:cNvSpPr txBox="1"/>
          <p:nvPr/>
        </p:nvSpPr>
        <p:spPr>
          <a:xfrm>
            <a:off x="12801600" y="425196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82,4 %</a:t>
            </a:r>
            <a:endParaRPr/>
          </a:p>
        </p:txBody>
      </p:sp>
      <p:cxnSp>
        <p:nvCxnSpPr>
          <p:cNvPr id="297" name="Google Shape;297;p3"/>
          <p:cNvCxnSpPr/>
          <p:nvPr/>
        </p:nvCxnSpPr>
        <p:spPr>
          <a:xfrm flipH="1" rot="10800000">
            <a:off x="8787384" y="4480560"/>
            <a:ext cx="722376" cy="100584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8" name="Google Shape;298;p3"/>
          <p:cNvSpPr/>
          <p:nvPr/>
        </p:nvSpPr>
        <p:spPr>
          <a:xfrm>
            <a:off x="9509760" y="571500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9" name="Google Shape;299;p3"/>
          <p:cNvSpPr txBox="1"/>
          <p:nvPr/>
        </p:nvSpPr>
        <p:spPr>
          <a:xfrm>
            <a:off x="9829800" y="598932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03</a:t>
            </a:r>
            <a:endParaRPr/>
          </a:p>
        </p:txBody>
      </p:sp>
      <p:sp>
        <p:nvSpPr>
          <p:cNvPr id="300" name="Google Shape;300;p3"/>
          <p:cNvSpPr txBox="1"/>
          <p:nvPr/>
        </p:nvSpPr>
        <p:spPr>
          <a:xfrm>
            <a:off x="9829800" y="640080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Costo de servir desconocido</a:t>
            </a:r>
            <a:endParaRPr/>
          </a:p>
        </p:txBody>
      </p:sp>
      <p:sp>
        <p:nvSpPr>
          <p:cNvPr id="301" name="Google Shape;301;p3"/>
          <p:cNvSpPr txBox="1"/>
          <p:nvPr/>
        </p:nvSpPr>
        <p:spPr>
          <a:xfrm>
            <a:off x="13167360" y="603504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prorrateo de</a:t>
            </a:r>
            <a:endParaRPr/>
          </a:p>
        </p:txBody>
      </p:sp>
      <p:sp>
        <p:nvSpPr>
          <p:cNvPr id="302" name="!!costo"/>
          <p:cNvSpPr txBox="1"/>
          <p:nvPr/>
        </p:nvSpPr>
        <p:spPr>
          <a:xfrm>
            <a:off x="12801600" y="640080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2016</a:t>
            </a:r>
            <a:endParaRPr/>
          </a:p>
        </p:txBody>
      </p:sp>
      <p:cxnSp>
        <p:nvCxnSpPr>
          <p:cNvPr id="303" name="Google Shape;303;p3"/>
          <p:cNvCxnSpPr/>
          <p:nvPr/>
        </p:nvCxnSpPr>
        <p:spPr>
          <a:xfrm>
            <a:off x="8787384" y="5486400"/>
            <a:ext cx="722376" cy="114300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hc7cc306779174be_12_0"/>
          <p:cNvSpPr txBox="1"/>
          <p:nvPr/>
        </p:nvSpPr>
        <p:spPr>
          <a:xfrm>
            <a:off x="3429000" y="685800"/>
            <a:ext cx="11430000" cy="952500"/>
          </a:xfrm>
          <a:prstGeom prst="rect">
            <a:avLst/>
          </a:prstGeom>
          <a:noFill/>
          <a:ln>
            <a:noFill/>
          </a:ln>
        </p:spPr>
        <p:txBody>
          <a:bodyPr anchorCtr="0" anchor="t" bIns="0" lIns="0" spcFirstLastPara="1" rIns="0" wrap="square" tIns="0">
            <a:spAutoFit/>
          </a:bodyPr>
          <a:lstStyle/>
          <a:p>
            <a:pPr indent="0" lvl="0" marL="0" marR="0" rtl="0" algn="ctr">
              <a:lnSpc>
                <a:spcPct val="178240"/>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Datos Clave</a:t>
            </a:r>
            <a:endParaRPr/>
          </a:p>
        </p:txBody>
      </p:sp>
      <p:sp>
        <p:nvSpPr>
          <p:cNvPr id="311" name="!!deco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12" name="Google Shape;312;hc7cc306779174be_12_0"/>
          <p:cNvSpPr txBox="1"/>
          <p:nvPr/>
        </p:nvSpPr>
        <p:spPr>
          <a:xfrm>
            <a:off x="5334000" y="1771650"/>
            <a:ext cx="7620000" cy="6191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a:solidFill>
                  <a:srgbClr val="606060"/>
                </a:solidFill>
                <a:latin typeface="Inter SemiBold"/>
                <a:ea typeface="Inter SemiBold"/>
                <a:cs typeface="Inter SemiBold"/>
                <a:sym typeface="Inter SemiBold"/>
              </a:rPr>
              <a:t>Hoy → meta</a:t>
            </a:r>
            <a:endParaRPr/>
          </a:p>
        </p:txBody>
      </p:sp>
      <p:sp>
        <p:nvSpPr>
          <p:cNvPr id="313" name="Google Shape;313;hc7cc306779174be_12_0"/>
          <p:cNvSpPr/>
          <p:nvPr/>
        </p:nvSpPr>
        <p:spPr>
          <a:xfrm>
            <a:off x="1333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Retiro sanitario</a:t>
            </a:r>
            <a:endParaRPr/>
          </a:p>
        </p:txBody>
      </p:sp>
      <p:sp>
        <p:nvSpPr>
          <p:cNvPr id="315" name="Google Shape;315;hc7cc306779174be_12_0"/>
          <p:cNvSpPr txBox="1"/>
          <p:nvPr/>
        </p:nvSpPr>
        <p:spPr>
          <a:xfrm>
            <a:off x="1714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16" name="!!reloj"/>
          <p:cNvSpPr txBox="1"/>
          <p:nvPr/>
        </p:nvSpPr>
        <p:spPr>
          <a:xfrm>
            <a:off x="1714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9 días</a:t>
            </a:r>
            <a:endParaRPr/>
          </a:p>
        </p:txBody>
      </p:sp>
      <p:sp>
        <p:nvSpPr>
          <p:cNvPr id="317" name="Google Shape;317;hc7cc306779174be_12_0"/>
          <p:cNvSpPr txBox="1"/>
          <p:nvPr/>
        </p:nvSpPr>
        <p:spPr>
          <a:xfrm>
            <a:off x="3714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18" name="Google Shape;318;hc7cc306779174be_12_0"/>
          <p:cNvSpPr txBox="1"/>
          <p:nvPr/>
        </p:nvSpPr>
        <p:spPr>
          <a:xfrm>
            <a:off x="3714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2 h</a:t>
            </a:r>
            <a:endParaRPr/>
          </a:p>
        </p:txBody>
      </p:sp>
      <p:sp>
        <p:nvSpPr>
          <p:cNvPr id="319" name="Google Shape;319;hc7cc306779174be_12_0"/>
          <p:cNvSpPr/>
          <p:nvPr/>
        </p:nvSpPr>
        <p:spPr>
          <a:xfrm>
            <a:off x="68580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OTIF</a:t>
            </a:r>
            <a:endParaRPr/>
          </a:p>
        </p:txBody>
      </p:sp>
      <p:sp>
        <p:nvSpPr>
          <p:cNvPr id="321" name="Google Shape;321;hc7cc306779174be_12_0"/>
          <p:cNvSpPr txBox="1"/>
          <p:nvPr/>
        </p:nvSpPr>
        <p:spPr>
          <a:xfrm>
            <a:off x="72390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2" name="!!otif"/>
          <p:cNvSpPr txBox="1"/>
          <p:nvPr/>
        </p:nvSpPr>
        <p:spPr>
          <a:xfrm>
            <a:off x="72390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82,4 %</a:t>
            </a:r>
            <a:endParaRPr/>
          </a:p>
        </p:txBody>
      </p:sp>
      <p:sp>
        <p:nvSpPr>
          <p:cNvPr id="323" name="Google Shape;323;hc7cc306779174be_12_0"/>
          <p:cNvSpPr txBox="1"/>
          <p:nvPr/>
        </p:nvSpPr>
        <p:spPr>
          <a:xfrm>
            <a:off x="92392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24" name="Google Shape;324;hc7cc306779174be_12_0"/>
          <p:cNvSpPr txBox="1"/>
          <p:nvPr/>
        </p:nvSpPr>
        <p:spPr>
          <a:xfrm>
            <a:off x="92392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&gt; 95 %</a:t>
            </a:r>
            <a:endParaRPr/>
          </a:p>
        </p:txBody>
      </p:sp>
      <p:sp>
        <p:nvSpPr>
          <p:cNvPr id="325" name="Google Shape;325;hc7cc306779174be_12_0"/>
          <p:cNvSpPr/>
          <p:nvPr/>
        </p:nvSpPr>
        <p:spPr>
          <a:xfrm>
            <a:off x="12382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Sin lote (prod. retirado)</a:t>
            </a:r>
            <a:endParaRPr b="1" sz="240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8" name="Google Shape;328;hc7cc306779174be_12_0"/>
          <p:cNvSpPr txBox="1"/>
          <p:nvPr/>
        </p:nvSpPr>
        <p:spPr>
          <a:xfrm>
            <a:off x="12763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41 %</a:t>
            </a:r>
            <a:endParaRPr/>
          </a:p>
        </p:txBody>
      </p:sp>
      <p:sp>
        <p:nvSpPr>
          <p:cNvPr id="329" name="Google Shape;329;hc7cc306779174be_12_0"/>
          <p:cNvSpPr txBox="1"/>
          <p:nvPr/>
        </p:nvSpPr>
        <p:spPr>
          <a:xfrm>
            <a:off x="14763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0" name="Google Shape;330;hc7cc306779174be_12_0"/>
          <p:cNvSpPr txBox="1"/>
          <p:nvPr/>
        </p:nvSpPr>
        <p:spPr>
          <a:xfrm>
            <a:off x="14763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0 %</a:t>
            </a:r>
            <a:endParaRPr/>
          </a:p>
        </p:txBody>
      </p:sp>
      <p:sp>
        <p:nvSpPr>
          <p:cNvPr id="331" name="Google Shape;331;hc7cc306779174be_12_0"/>
          <p:cNvSpPr/>
          <p:nvPr/>
        </p:nvSpPr>
        <p:spPr>
          <a:xfrm>
            <a:off x="1333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Reentregas</a:t>
            </a:r>
            <a:endParaRPr/>
          </a:p>
        </p:txBody>
      </p:sp>
      <p:sp>
        <p:nvSpPr>
          <p:cNvPr id="333" name="Google Shape;333;hc7cc306779174be_12_0"/>
          <p:cNvSpPr txBox="1"/>
          <p:nvPr/>
        </p:nvSpPr>
        <p:spPr>
          <a:xfrm>
            <a:off x="1714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34" name="Google Shape;334;hc7cc306779174be_12_0"/>
          <p:cNvSpPr txBox="1"/>
          <p:nvPr/>
        </p:nvSpPr>
        <p:spPr>
          <a:xfrm>
            <a:off x="1714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4,2 %</a:t>
            </a:r>
            <a:endParaRPr/>
          </a:p>
        </p:txBody>
      </p:sp>
      <p:sp>
        <p:nvSpPr>
          <p:cNvPr id="335" name="Google Shape;335;hc7cc306779174be_12_0"/>
          <p:cNvSpPr txBox="1"/>
          <p:nvPr/>
        </p:nvSpPr>
        <p:spPr>
          <a:xfrm>
            <a:off x="3714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6" name="Google Shape;336;hc7cc306779174be_12_0"/>
          <p:cNvSpPr txBox="1"/>
          <p:nvPr/>
        </p:nvSpPr>
        <p:spPr>
          <a:xfrm>
            <a:off x="3714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1 %</a:t>
            </a:r>
            <a:endParaRPr/>
          </a:p>
        </p:txBody>
      </p:sp>
      <p:sp>
        <p:nvSpPr>
          <p:cNvPr id="337" name="Google Shape;337;hc7cc306779174be_12_0"/>
          <p:cNvSpPr/>
          <p:nvPr/>
        </p:nvSpPr>
        <p:spPr>
          <a:xfrm>
            <a:off x="68580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Merma por vencimiento</a:t>
            </a:r>
            <a:endParaRPr/>
          </a:p>
        </p:txBody>
      </p:sp>
      <p:sp>
        <p:nvSpPr>
          <p:cNvPr id="339" name="Google Shape;339;hc7cc306779174be_12_0"/>
          <p:cNvSpPr txBox="1"/>
          <p:nvPr/>
        </p:nvSpPr>
        <p:spPr>
          <a:xfrm>
            <a:off x="72390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0" name="Google Shape;340;hc7cc306779174be_12_0"/>
          <p:cNvSpPr txBox="1"/>
          <p:nvPr/>
        </p:nvSpPr>
        <p:spPr>
          <a:xfrm>
            <a:off x="72390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1,7 %</a:t>
            </a:r>
            <a:endParaRPr/>
          </a:p>
        </p:txBody>
      </p:sp>
      <p:sp>
        <p:nvSpPr>
          <p:cNvPr id="341" name="Google Shape;341;hc7cc306779174be_12_0"/>
          <p:cNvSpPr txBox="1"/>
          <p:nvPr/>
        </p:nvSpPr>
        <p:spPr>
          <a:xfrm>
            <a:off x="92392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2" name="Google Shape;342;hc7cc306779174be_12_0"/>
          <p:cNvSpPr txBox="1"/>
          <p:nvPr/>
        </p:nvSpPr>
        <p:spPr>
          <a:xfrm>
            <a:off x="92392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 1,0 %</a:t>
            </a:r>
            <a:endParaRPr/>
          </a:p>
        </p:txBody>
      </p:sp>
      <p:sp>
        <p:nvSpPr>
          <p:cNvPr id="343" name="Google Shape;343;hc7cc306779174be_12_0"/>
          <p:cNvSpPr/>
          <p:nvPr/>
        </p:nvSpPr>
        <p:spPr>
          <a:xfrm>
            <a:off x="12382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Diferencias de rendición</a:t>
            </a:r>
            <a:endParaRPr/>
          </a:p>
        </p:txBody>
      </p:sp>
      <p:sp>
        <p:nvSpPr>
          <p:cNvPr id="345" name="Google Shape;345;hc7cc306779174be_12_0"/>
          <p:cNvSpPr txBox="1"/>
          <p:nvPr/>
        </p:nvSpPr>
        <p:spPr>
          <a:xfrm>
            <a:off x="12763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6" name="Google Shape;346;hc7cc306779174be_12_0"/>
          <p:cNvSpPr txBox="1"/>
          <p:nvPr/>
        </p:nvSpPr>
        <p:spPr>
          <a:xfrm>
            <a:off x="12763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800">
                <a:solidFill>
                  <a:srgbClr val="3C3C3C"/>
                </a:solidFill>
                <a:latin typeface="Inter"/>
                <a:ea typeface="Inter"/>
                <a:cs typeface="Inter"/>
                <a:sym typeface="Inter"/>
              </a:rPr>
              <a:t>$4,2 M/mes</a:t>
            </a:r>
            <a:endParaRPr/>
          </a:p>
        </p:txBody>
      </p:sp>
      <p:sp>
        <p:nvSpPr>
          <p:cNvPr id="347" name="Google Shape;347;hc7cc306779174be_12_0"/>
          <p:cNvSpPr txBox="1"/>
          <p:nvPr/>
        </p:nvSpPr>
        <p:spPr>
          <a:xfrm>
            <a:off x="14763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8" name="Google Shape;348;hc7cc306779174be_12_0"/>
          <p:cNvSpPr txBox="1"/>
          <p:nvPr/>
        </p:nvSpPr>
        <p:spPr>
          <a:xfrm>
            <a:off x="14763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Mismo día</a:t>
            </a:r>
            <a:endParaRPr/>
          </a:p>
        </p:txBody>
      </p:sp>
      <p:sp>
        <p:nvSpPr>
          <p:cNvPr id="3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67"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66"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55" name="Google Shape;355;p7"/>
          <p:cNvSpPr txBox="1"/>
          <p:nvPr/>
        </p:nvSpPr>
        <p:spPr>
          <a:xfrm>
            <a:off x="822960" y="457200"/>
            <a:ext cx="109728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Esquema de solución</a:t>
            </a:r>
            <a:endParaRPr/>
          </a:p>
        </p:txBody>
      </p:sp>
      <p:sp>
        <p:nvSpPr>
          <p:cNvPr id="36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04</a:t>
            </a:r>
          </a:p>
        </p:txBody>
      </p:sp>
      <p:sp>
        <p:nvSpPr>
          <p:cNvPr id="369" name="TextBox 368"/>
          <p:cNvSpPr txBox="1"/>
          <p:nvPr/>
        </p:nvSpPr>
        <p:spPr>
          <a:xfrm>
            <a:off x="822960" y="1691640"/>
            <a:ext cx="8229600" cy="320040"/>
          </a:xfrm>
          <a:prstGeom prst="rect">
            <a:avLst/>
          </a:prstGeom>
          <a:noFill/>
        </p:spPr>
        <p:txBody>
          <a:bodyPr wrap="square" lIns="0" rIns="0" tIns="0" bIns="0" anchor="t">
            <a:spAutoFit/>
          </a:bodyPr>
          <a:lstStyle/>
          <a:p>
            <a:pPr algn="l"/>
            <a:r>
              <a:rPr sz="1400" b="1">
                <a:solidFill>
                  <a:srgbClr val="E8641B"/>
                </a:solidFill>
                <a:latin typeface="Inter SemiBold"/>
              </a:rPr>
              <a:t>CICLO LOGÍSTICO</a:t>
            </a:r>
          </a:p>
        </p:txBody>
      </p:sp>
      <p:sp>
        <p:nvSpPr>
          <p:cNvPr id="370" name="Rounded Rectangle 369"/>
          <p:cNvSpPr/>
          <p:nvPr/>
        </p:nvSpPr>
        <p:spPr>
          <a:xfrm>
            <a:off x="822960" y="219456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Preventa en terreno</a:t>
            </a:r>
          </a:p>
        </p:txBody>
      </p:sp>
      <p:sp>
        <p:nvSpPr>
          <p:cNvPr id="371" name="Rounded Rectangle 370"/>
          <p:cNvSpPr/>
          <p:nvPr/>
        </p:nvSpPr>
        <p:spPr>
          <a:xfrm>
            <a:off x="3749039" y="219456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Canal moderno y portal</a:t>
            </a:r>
          </a:p>
        </p:txBody>
      </p:sp>
      <p:sp>
        <p:nvSpPr>
          <p:cNvPr id="372" name="Rounded Rectangle 371"/>
          <p:cNvSpPr/>
          <p:nvPr/>
        </p:nvSpPr>
        <p:spPr>
          <a:xfrm>
            <a:off x="6675120" y="219456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Recepción e inventario</a:t>
            </a:r>
          </a:p>
        </p:txBody>
      </p:sp>
      <p:sp>
        <p:nvSpPr>
          <p:cNvPr id="373" name="Rounded Rectangle 372"/>
          <p:cNvSpPr/>
          <p:nvPr/>
        </p:nvSpPr>
        <p:spPr>
          <a:xfrm>
            <a:off x="822960" y="3611880"/>
            <a:ext cx="548640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Planificación de rutas</a:t>
            </a:r>
          </a:p>
        </p:txBody>
      </p:sp>
      <p:sp>
        <p:nvSpPr>
          <p:cNvPr id="374" name="Rounded Rectangle 373"/>
          <p:cNvSpPr/>
          <p:nvPr/>
        </p:nvSpPr>
        <p:spPr>
          <a:xfrm>
            <a:off x="6675120" y="361188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Preparación y carga</a:t>
            </a:r>
          </a:p>
        </p:txBody>
      </p:sp>
      <p:sp>
        <p:nvSpPr>
          <p:cNvPr id="375" name="Rounded Rectangle 374"/>
          <p:cNvSpPr/>
          <p:nvPr/>
        </p:nvSpPr>
        <p:spPr>
          <a:xfrm>
            <a:off x="3749039" y="502920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Entrega</a:t>
            </a:r>
          </a:p>
        </p:txBody>
      </p:sp>
      <p:sp>
        <p:nvSpPr>
          <p:cNvPr id="376" name="Rounded Rectangle 375"/>
          <p:cNvSpPr/>
          <p:nvPr/>
        </p:nvSpPr>
        <p:spPr>
          <a:xfrm>
            <a:off x="6675120" y="502920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Cross-docking</a:t>
            </a:r>
          </a:p>
        </p:txBody>
      </p:sp>
      <p:sp>
        <p:nvSpPr>
          <p:cNvPr id="377" name="Rounded Rectangle 376"/>
          <p:cNvSpPr/>
          <p:nvPr/>
        </p:nvSpPr>
        <p:spPr>
          <a:xfrm>
            <a:off x="822960"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Devoluciones y envases</a:t>
            </a:r>
          </a:p>
        </p:txBody>
      </p:sp>
      <p:sp>
        <p:nvSpPr>
          <p:cNvPr id="378" name="Rounded Rectangle 377"/>
          <p:cNvSpPr/>
          <p:nvPr/>
        </p:nvSpPr>
        <p:spPr>
          <a:xfrm>
            <a:off x="3749039"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Rendición y conciliación</a:t>
            </a:r>
          </a:p>
        </p:txBody>
      </p:sp>
      <p:sp>
        <p:nvSpPr>
          <p:cNvPr id="379" name="Rounded Rectangle 378"/>
          <p:cNvSpPr/>
          <p:nvPr/>
        </p:nvSpPr>
        <p:spPr>
          <a:xfrm>
            <a:off x="6675120"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ERP · registro contable</a:t>
            </a:r>
          </a:p>
        </p:txBody>
      </p:sp>
      <p:sp>
        <p:nvSpPr>
          <p:cNvPr id="380" name="Rounded Rectangle 379"/>
          <p:cNvSpPr/>
          <p:nvPr/>
        </p:nvSpPr>
        <p:spPr>
          <a:xfrm>
            <a:off x="3749039" y="786384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Análisis · costo de servir</a:t>
            </a:r>
          </a:p>
        </p:txBody>
      </p:sp>
      <p:cxnSp>
        <p:nvCxnSpPr>
          <p:cNvPr id="381" name="Connector 380"/>
          <p:cNvCxnSpPr/>
          <p:nvPr/>
        </p:nvCxnSpPr>
        <p:spPr>
          <a:xfrm>
            <a:off x="2103120"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9200"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3" name="TextBox 382"/>
          <p:cNvSpPr txBox="1"/>
          <p:nvPr/>
        </p:nvSpPr>
        <p:spPr>
          <a:xfrm>
            <a:off x="868680" y="3200400"/>
            <a:ext cx="1188720" cy="274320"/>
          </a:xfrm>
          <a:prstGeom prst="rect">
            <a:avLst/>
          </a:prstGeom>
          <a:noFill/>
        </p:spPr>
        <p:txBody>
          <a:bodyPr wrap="square" lIns="0" rIns="0" tIns="0" bIns="0" anchor="t">
            <a:spAutoFit/>
          </a:bodyPr>
          <a:lstStyle/>
          <a:p>
            <a:pPr algn="l"/>
            <a:r>
              <a:rPr sz="1300" b="0">
                <a:solidFill>
                  <a:srgbClr val="606060"/>
                </a:solidFill>
                <a:latin typeface="Inter"/>
              </a:rPr>
              <a:t>pedidos</a:t>
            </a:r>
          </a:p>
        </p:txBody>
      </p:sp>
      <p:cxnSp>
        <p:nvCxnSpPr>
          <p:cNvPr id="384" name="Connector 383"/>
          <p:cNvCxnSpPr/>
          <p:nvPr/>
        </p:nvCxnSpPr>
        <p:spPr>
          <a:xfrm>
            <a:off x="7955279"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6309360" y="4091940"/>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6" name="TextBox 385"/>
          <p:cNvSpPr txBox="1"/>
          <p:nvPr/>
        </p:nvSpPr>
        <p:spPr>
          <a:xfrm>
            <a:off x="5486400" y="3291840"/>
            <a:ext cx="2743200" cy="274320"/>
          </a:xfrm>
          <a:prstGeom prst="rect">
            <a:avLst/>
          </a:prstGeom>
          <a:noFill/>
        </p:spPr>
        <p:txBody>
          <a:bodyPr wrap="square" lIns="0" rIns="0" tIns="0" bIns="0" anchor="t">
            <a:spAutoFit/>
          </a:bodyPr>
          <a:lstStyle/>
          <a:p>
            <a:pPr algn="l"/>
            <a:r>
              <a:rPr sz="1300" b="0">
                <a:solidFill>
                  <a:srgbClr val="606060"/>
                </a:solidFill>
                <a:latin typeface="Inter"/>
              </a:rPr>
              <a:t>asignación y secuencia</a:t>
            </a:r>
          </a:p>
        </p:txBody>
      </p:sp>
      <p:cxnSp>
        <p:nvCxnSpPr>
          <p:cNvPr id="387" name="Connector 386"/>
          <p:cNvCxnSpPr/>
          <p:nvPr/>
        </p:nvCxnSpPr>
        <p:spPr>
          <a:xfrm flipH="1">
            <a:off x="6309359" y="4427982"/>
            <a:ext cx="365761" cy="784098"/>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8" name="TextBox 387"/>
          <p:cNvSpPr txBox="1"/>
          <p:nvPr/>
        </p:nvSpPr>
        <p:spPr>
          <a:xfrm>
            <a:off x="6766560" y="4663440"/>
            <a:ext cx="1097280" cy="274320"/>
          </a:xfrm>
          <a:prstGeom prst="rect">
            <a:avLst/>
          </a:prstGeom>
          <a:noFill/>
        </p:spPr>
        <p:txBody>
          <a:bodyPr wrap="square" lIns="0" rIns="0" tIns="0" bIns="0" anchor="t">
            <a:spAutoFit/>
          </a:bodyPr>
          <a:lstStyle/>
          <a:p>
            <a:pPr algn="l"/>
            <a:r>
              <a:rPr sz="1300" b="0">
                <a:solidFill>
                  <a:srgbClr val="606060"/>
                </a:solidFill>
                <a:latin typeface="Inter"/>
              </a:rPr>
              <a:t>directo</a:t>
            </a:r>
          </a:p>
        </p:txBody>
      </p:sp>
      <p:cxnSp>
        <p:nvCxnSpPr>
          <p:cNvPr id="389" name="Connector 388"/>
          <p:cNvCxnSpPr/>
          <p:nvPr/>
        </p:nvCxnSpPr>
        <p:spPr>
          <a:xfrm>
            <a:off x="7955279" y="457200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H="1">
            <a:off x="6309359" y="5509260"/>
            <a:ext cx="365761"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flipH="1">
            <a:off x="2359152" y="5797296"/>
            <a:ext cx="1389887" cy="649224"/>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5029200" y="598932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a:off x="6309359" y="5893308"/>
            <a:ext cx="731521" cy="553212"/>
          </a:xfrm>
          <a:prstGeom prst="line">
            <a:avLst/>
          </a:prstGeom>
          <a:ln w="1905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a:off x="5029200" y="740664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2103120" y="7406640"/>
            <a:ext cx="5120639" cy="0"/>
          </a:xfrm>
          <a:prstGeom prst="line">
            <a:avLst/>
          </a:prstGeom>
          <a:ln w="1905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6" name="TextBox 395"/>
          <p:cNvSpPr txBox="1"/>
          <p:nvPr/>
        </p:nvSpPr>
        <p:spPr>
          <a:xfrm>
            <a:off x="822960" y="9189720"/>
            <a:ext cx="8229600" cy="320040"/>
          </a:xfrm>
          <a:prstGeom prst="rect">
            <a:avLst/>
          </a:prstGeom>
          <a:noFill/>
        </p:spPr>
        <p:txBody>
          <a:bodyPr wrap="square" lIns="0" rIns="0" tIns="0" bIns="0" anchor="t">
            <a:spAutoFit/>
          </a:bodyPr>
          <a:lstStyle/>
          <a:p>
            <a:pPr algn="l"/>
            <a:r>
              <a:rPr sz="1300" b="0">
                <a:solidFill>
                  <a:srgbClr val="606060"/>
                </a:solidFill>
                <a:latin typeface="Inter"/>
              </a:rPr>
              <a:t>— flujo físico   ┄ registro contable</a:t>
            </a:r>
          </a:p>
        </p:txBody>
      </p:sp>
      <p:sp>
        <p:nvSpPr>
          <p:cNvPr id="397" name="TextBox 396"/>
          <p:cNvSpPr txBox="1"/>
          <p:nvPr/>
        </p:nvSpPr>
        <p:spPr>
          <a:xfrm>
            <a:off x="9875520" y="169164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TRAZABILIDAD Y CADENA DE FRÍO</a:t>
            </a:r>
          </a:p>
        </p:txBody>
      </p:sp>
      <p:sp>
        <p:nvSpPr>
          <p:cNvPr id="398" name="Rounded Rectangle 397"/>
          <p:cNvSpPr/>
          <p:nvPr/>
        </p:nvSpPr>
        <p:spPr>
          <a:xfrm>
            <a:off x="9875520" y="2194560"/>
            <a:ext cx="228600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Recepción: lote y vencimiento</a:t>
            </a:r>
          </a:p>
        </p:txBody>
      </p:sp>
      <p:cxnSp>
        <p:nvCxnSpPr>
          <p:cNvPr id="399" name="Connector 398"/>
          <p:cNvCxnSpPr/>
          <p:nvPr/>
        </p:nvCxnSpPr>
        <p:spPr>
          <a:xfrm>
            <a:off x="12161520" y="2670048"/>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1101852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1" name="Rounded Rectangle 400"/>
          <p:cNvSpPr/>
          <p:nvPr/>
        </p:nvSpPr>
        <p:spPr>
          <a:xfrm>
            <a:off x="12527280" y="2194560"/>
            <a:ext cx="228600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Bodega y preparación</a:t>
            </a:r>
          </a:p>
        </p:txBody>
      </p:sp>
      <p:cxnSp>
        <p:nvCxnSpPr>
          <p:cNvPr id="402" name="Connector 401"/>
          <p:cNvCxnSpPr/>
          <p:nvPr/>
        </p:nvCxnSpPr>
        <p:spPr>
          <a:xfrm>
            <a:off x="14813280" y="2670048"/>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1367028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4" name="Rounded Rectangle 403"/>
          <p:cNvSpPr/>
          <p:nvPr/>
        </p:nvSpPr>
        <p:spPr>
          <a:xfrm>
            <a:off x="15179040" y="2194560"/>
            <a:ext cx="228600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Transporte y entrega</a:t>
            </a:r>
          </a:p>
        </p:txBody>
      </p:sp>
      <p:cxnSp>
        <p:nvCxnSpPr>
          <p:cNvPr id="405" name="Connector 404"/>
          <p:cNvCxnSpPr/>
          <p:nvPr/>
        </p:nvCxnSpPr>
        <p:spPr>
          <a:xfrm>
            <a:off x="1632204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6" name="Rounded Rectangle 405"/>
          <p:cNvSpPr/>
          <p:nvPr/>
        </p:nvSpPr>
        <p:spPr>
          <a:xfrm>
            <a:off x="9875520" y="3749039"/>
            <a:ext cx="7589520" cy="82296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Información y consulta de trazabilidad</a:t>
            </a:r>
          </a:p>
        </p:txBody>
      </p:sp>
      <p:sp>
        <p:nvSpPr>
          <p:cNvPr id="407" name="TextBox 406"/>
          <p:cNvSpPr txBox="1"/>
          <p:nvPr/>
        </p:nvSpPr>
        <p:spPr>
          <a:xfrm>
            <a:off x="9875520" y="516636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CONTINUIDAD DURANTE CORTES</a:t>
            </a:r>
          </a:p>
        </p:txBody>
      </p:sp>
      <p:sp>
        <p:nvSpPr>
          <p:cNvPr id="408" name="Rounded Rectangle 407"/>
          <p:cNvSpPr/>
          <p:nvPr/>
        </p:nvSpPr>
        <p:spPr>
          <a:xfrm>
            <a:off x="9875520" y="5669280"/>
            <a:ext cx="2651760" cy="109728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Preventa y reparto</a:t>
            </a:r>
          </a:p>
          <a:p>
            <a:pPr algn="ctr"/>
            <a:r>
              <a:rPr sz="1400" b="0">
                <a:solidFill>
                  <a:srgbClr val="111111"/>
                </a:solidFill>
                <a:latin typeface="Inter"/>
              </a:rPr>
              <a:t>14 h sin señal</a:t>
            </a:r>
          </a:p>
        </p:txBody>
      </p:sp>
      <p:cxnSp>
        <p:nvCxnSpPr>
          <p:cNvPr id="409" name="Connector 408"/>
          <p:cNvCxnSpPr/>
          <p:nvPr/>
        </p:nvCxnSpPr>
        <p:spPr>
          <a:xfrm>
            <a:off x="12527280" y="621792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0" name="Rounded Rectangle 409"/>
          <p:cNvSpPr/>
          <p:nvPr/>
        </p:nvSpPr>
        <p:spPr>
          <a:xfrm>
            <a:off x="12801600" y="5669280"/>
            <a:ext cx="23774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Sincronización</a:t>
            </a:r>
          </a:p>
          <a:p>
            <a:pPr algn="ctr"/>
            <a:r>
              <a:rPr sz="1300" b="0">
                <a:solidFill>
                  <a:srgbClr val="606060"/>
                </a:solidFill>
                <a:latin typeface="Inter"/>
              </a:rPr>
              <a:t>Sincroniza en ≤ 10 min</a:t>
            </a:r>
          </a:p>
        </p:txBody>
      </p:sp>
      <p:cxnSp>
        <p:nvCxnSpPr>
          <p:cNvPr id="411" name="Connector 410"/>
          <p:cNvCxnSpPr/>
          <p:nvPr/>
        </p:nvCxnSpPr>
        <p:spPr>
          <a:xfrm>
            <a:off x="15179040" y="6217920"/>
            <a:ext cx="274319"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2" name="Rounded Rectangle 411"/>
          <p:cNvSpPr/>
          <p:nvPr/>
        </p:nvSpPr>
        <p:spPr>
          <a:xfrm>
            <a:off x="9875520" y="7086600"/>
            <a:ext cx="2651760" cy="109728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Centro de distribución</a:t>
            </a:r>
          </a:p>
          <a:p>
            <a:pPr algn="ctr"/>
            <a:r>
              <a:rPr sz="1400" b="0">
                <a:solidFill>
                  <a:srgbClr val="111111"/>
                </a:solidFill>
                <a:latin typeface="Inter"/>
              </a:rPr>
              <a:t>≥ 24 h sin enlace</a:t>
            </a:r>
          </a:p>
        </p:txBody>
      </p:sp>
      <p:cxnSp>
        <p:nvCxnSpPr>
          <p:cNvPr id="413" name="Connector 412"/>
          <p:cNvCxnSpPr/>
          <p:nvPr/>
        </p:nvCxnSpPr>
        <p:spPr>
          <a:xfrm>
            <a:off x="12527280" y="763524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4" name="Rounded Rectangle 413"/>
          <p:cNvSpPr/>
          <p:nvPr/>
        </p:nvSpPr>
        <p:spPr>
          <a:xfrm>
            <a:off x="12801600" y="7086600"/>
            <a:ext cx="23774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Sincronización</a:t>
            </a:r>
          </a:p>
          <a:p>
            <a:pPr algn="ctr"/>
            <a:r>
              <a:rPr sz="1300" b="0">
                <a:solidFill>
                  <a:srgbClr val="606060"/>
                </a:solidFill>
                <a:latin typeface="Inter"/>
              </a:rPr>
              <a:t>≤ 2 h tras un corte de 24 h</a:t>
            </a:r>
          </a:p>
        </p:txBody>
      </p:sp>
      <p:cxnSp>
        <p:nvCxnSpPr>
          <p:cNvPr id="415" name="Connector 414"/>
          <p:cNvCxnSpPr/>
          <p:nvPr/>
        </p:nvCxnSpPr>
        <p:spPr>
          <a:xfrm>
            <a:off x="15179040" y="7635240"/>
            <a:ext cx="274319"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6" name="Rounded Rectangle 415"/>
          <p:cNvSpPr/>
          <p:nvPr/>
        </p:nvSpPr>
        <p:spPr>
          <a:xfrm>
            <a:off x="15453359" y="5669280"/>
            <a:ext cx="2011680" cy="25146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Información conciliada</a:t>
            </a:r>
          </a:p>
          <a:p>
            <a:pPr algn="ctr"/>
            <a:r>
              <a:rPr sz="1300" b="0">
                <a:solidFill>
                  <a:srgbClr val="C7C7C7"/>
                </a:solidFill>
                <a:latin typeface="Inter"/>
              </a:rPr>
              <a:t>en la plataforma central</a:t>
            </a:r>
          </a:p>
        </p:txBody>
      </p:sp>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2" name="Google Shape;372;p8"/>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Mapa de módulos</a:t>
            </a:r>
            <a:endParaRPr/>
          </a:p>
        </p:txBody>
      </p:sp>
      <p:sp>
        <p:nvSpPr>
          <p:cNvPr id="373" name="!!deco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4" name="!!deco3"/>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375"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6"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7" name="Google Shape;377;p8"/>
          <p:cNvSpPr txBox="1"/>
          <p:nvPr/>
        </p:nvSpPr>
        <p:spPr>
          <a:xfrm>
            <a:off x="1828800" y="2579477"/>
            <a:ext cx="14630400" cy="6114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Interfaces → módulos → sistemas externos · la etiqueta indica la etapa de producción</a:t>
            </a:r>
            <a:endParaRPr/>
          </a:p>
        </p:txBody>
      </p:sp>
      <p:sp>
        <p:nvSpPr>
          <p:cNvPr id="378" name="Google Shape;378;p8"/>
          <p:cNvSpPr txBox="1"/>
          <p:nvPr/>
        </p:nvSpPr>
        <p:spPr>
          <a:xfrm>
            <a:off x="548640" y="3246120"/>
            <a:ext cx="24688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INTERFACES</a:t>
            </a:r>
            <a:endParaRPr/>
          </a:p>
        </p:txBody>
      </p:sp>
      <p:sp>
        <p:nvSpPr>
          <p:cNvPr id="379" name="Google Shape;379;p8"/>
          <p:cNvSpPr/>
          <p:nvPr/>
        </p:nvSpPr>
        <p:spPr>
          <a:xfrm>
            <a:off x="548640" y="361188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Preventa</a:t>
            </a:r>
            <a:endParaRPr/>
          </a:p>
        </p:txBody>
      </p:sp>
      <p:sp>
        <p:nvSpPr>
          <p:cNvPr id="380" name="Google Shape;380;p8"/>
          <p:cNvSpPr/>
          <p:nvPr/>
        </p:nvSpPr>
        <p:spPr>
          <a:xfrm>
            <a:off x="548640" y="423367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Reparto</a:t>
            </a:r>
            <a:endParaRPr/>
          </a:p>
        </p:txBody>
      </p:sp>
      <p:sp>
        <p:nvSpPr>
          <p:cNvPr id="381" name="Google Shape;381;p8"/>
          <p:cNvSpPr/>
          <p:nvPr/>
        </p:nvSpPr>
        <p:spPr>
          <a:xfrm>
            <a:off x="548640" y="4855464"/>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Bodega</a:t>
            </a:r>
            <a:endParaRPr/>
          </a:p>
        </p:txBody>
      </p:sp>
      <p:sp>
        <p:nvSpPr>
          <p:cNvPr id="382" name="Google Shape;382;p8"/>
          <p:cNvSpPr/>
          <p:nvPr/>
        </p:nvSpPr>
        <p:spPr>
          <a:xfrm>
            <a:off x="548640" y="5477256"/>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Clientes</a:t>
            </a:r>
            <a:endParaRPr/>
          </a:p>
        </p:txBody>
      </p:sp>
      <p:sp>
        <p:nvSpPr>
          <p:cNvPr id="383" name="Google Shape;383;p8"/>
          <p:cNvSpPr/>
          <p:nvPr/>
        </p:nvSpPr>
        <p:spPr>
          <a:xfrm>
            <a:off x="548640" y="6099048"/>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Transportistas</a:t>
            </a:r>
            <a:endParaRPr/>
          </a:p>
        </p:txBody>
      </p:sp>
      <p:sp>
        <p:nvSpPr>
          <p:cNvPr id="384" name="Google Shape;384;p8"/>
          <p:cNvSpPr/>
          <p:nvPr/>
        </p:nvSpPr>
        <p:spPr>
          <a:xfrm>
            <a:off x="548640" y="672084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Proveedores</a:t>
            </a:r>
            <a:endParaRPr/>
          </a:p>
        </p:txBody>
      </p:sp>
      <p:sp>
        <p:nvSpPr>
          <p:cNvPr id="385" name="Google Shape;385;p8"/>
          <p:cNvSpPr/>
          <p:nvPr/>
        </p:nvSpPr>
        <p:spPr>
          <a:xfrm>
            <a:off x="548640" y="734263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Consolas</a:t>
            </a:r>
            <a:endParaRPr/>
          </a:p>
        </p:txBody>
      </p:sp>
      <p:cxnSp>
        <p:nvCxnSpPr>
          <p:cNvPr id="386" name="Google Shape;386;p8"/>
          <p:cNvCxnSpPr/>
          <p:nvPr/>
        </p:nvCxnSpPr>
        <p:spPr>
          <a:xfrm>
            <a:off x="3017520" y="5760720"/>
            <a:ext cx="228600"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87" name="Google Shape;387;p8"/>
          <p:cNvSpPr/>
          <p:nvPr/>
        </p:nvSpPr>
        <p:spPr>
          <a:xfrm>
            <a:off x="3291840" y="3246120"/>
            <a:ext cx="758952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Bodega y calidad</a:t>
            </a:r>
            <a:endParaRPr/>
          </a:p>
        </p:txBody>
      </p:sp>
      <p:sp>
        <p:nvSpPr>
          <p:cNvPr id="389" name="Google Shape;389;p8"/>
          <p:cNvSpPr/>
          <p:nvPr/>
        </p:nvSpPr>
        <p:spPr>
          <a:xfrm>
            <a:off x="34290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a:t>
            </a:r>
            <a:endParaRPr/>
          </a:p>
        </p:txBody>
      </p:sp>
      <p:sp>
        <p:nvSpPr>
          <p:cNvPr id="391" name="Google Shape;391;p8"/>
          <p:cNvSpPr txBox="1"/>
          <p:nvPr/>
        </p:nvSpPr>
        <p:spPr>
          <a:xfrm>
            <a:off x="35204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Recepción</a:t>
            </a:r>
            <a:endParaRPr/>
          </a:p>
        </p:txBody>
      </p:sp>
      <p:sp>
        <p:nvSpPr>
          <p:cNvPr id="392" name="Google Shape;392;p8"/>
          <p:cNvSpPr/>
          <p:nvPr/>
        </p:nvSpPr>
        <p:spPr>
          <a:xfrm>
            <a:off x="3520440"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3" name="Google Shape;393;p8"/>
          <p:cNvSpPr/>
          <p:nvPr/>
        </p:nvSpPr>
        <p:spPr>
          <a:xfrm>
            <a:off x="4910328"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M2</a:t>
            </a:r>
            <a:endParaRPr/>
          </a:p>
        </p:txBody>
      </p:sp>
      <p:sp>
        <p:nvSpPr>
          <p:cNvPr id="395" name="Google Shape;395;p8"/>
          <p:cNvSpPr txBox="1"/>
          <p:nvPr/>
        </p:nvSpPr>
        <p:spPr>
          <a:xfrm>
            <a:off x="5001768"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Inventario</a:t>
            </a:r>
            <a:endParaRPr/>
          </a:p>
        </p:txBody>
      </p:sp>
      <p:sp>
        <p:nvSpPr>
          <p:cNvPr id="396" name="Google Shape;396;p8"/>
          <p:cNvSpPr/>
          <p:nvPr/>
        </p:nvSpPr>
        <p:spPr>
          <a:xfrm>
            <a:off x="5001768"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7" name="Google Shape;397;p8"/>
          <p:cNvSpPr/>
          <p:nvPr/>
        </p:nvSpPr>
        <p:spPr>
          <a:xfrm>
            <a:off x="6391656"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M5</a:t>
            </a:r>
            <a:endParaRPr/>
          </a:p>
        </p:txBody>
      </p:sp>
      <p:sp>
        <p:nvSpPr>
          <p:cNvPr id="399" name="Google Shape;399;p8"/>
          <p:cNvSpPr txBox="1"/>
          <p:nvPr/>
        </p:nvSpPr>
        <p:spPr>
          <a:xfrm>
            <a:off x="6483096"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Preparación</a:t>
            </a:r>
            <a:endParaRPr/>
          </a:p>
        </p:txBody>
      </p:sp>
      <p:sp>
        <p:nvSpPr>
          <p:cNvPr id="400" name="Google Shape;400;p8"/>
          <p:cNvSpPr/>
          <p:nvPr/>
        </p:nvSpPr>
        <p:spPr>
          <a:xfrm>
            <a:off x="6483096"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1" name="Google Shape;401;p8"/>
          <p:cNvSpPr/>
          <p:nvPr/>
        </p:nvSpPr>
        <p:spPr>
          <a:xfrm>
            <a:off x="7872983" y="3685031"/>
            <a:ext cx="1371600" cy="1627632"/>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Inter SemiBold"/>
                <a:ea typeface="Inter SemiBold"/>
                <a:cs typeface="Inter SemiBold"/>
                <a:sym typeface="Inter SemiBold"/>
              </a:rPr>
              <a:t>M9</a:t>
            </a:r>
            <a:endParaRPr/>
          </a:p>
        </p:txBody>
      </p:sp>
      <p:sp>
        <p:nvSpPr>
          <p:cNvPr id="403" name="Google Shape;403;p8"/>
          <p:cNvSpPr txBox="1"/>
          <p:nvPr/>
        </p:nvSpPr>
        <p:spPr>
          <a:xfrm>
            <a:off x="7964423"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FFFFFF"/>
                </a:solidFill>
                <a:latin typeface="Inter SemiBold"/>
                <a:ea typeface="Inter SemiBold"/>
                <a:cs typeface="Inter SemiBold"/>
                <a:sym typeface="Inter SemiBold"/>
              </a:rPr>
              <a:t>Calidad y trazabilidad</a:t>
            </a:r>
            <a:endParaRPr/>
          </a:p>
        </p:txBody>
      </p:sp>
      <p:sp>
        <p:nvSpPr>
          <p:cNvPr id="404" name="Google Shape;404;p8"/>
          <p:cNvSpPr/>
          <p:nvPr/>
        </p:nvSpPr>
        <p:spPr>
          <a:xfrm>
            <a:off x="7964423"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5" name="Google Shape;405;p8"/>
          <p:cNvSpPr/>
          <p:nvPr/>
        </p:nvSpPr>
        <p:spPr>
          <a:xfrm>
            <a:off x="9354312"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M12</a:t>
            </a:r>
            <a:endParaRPr/>
          </a:p>
        </p:txBody>
      </p:sp>
      <p:sp>
        <p:nvSpPr>
          <p:cNvPr id="407" name="Google Shape;407;p8"/>
          <p:cNvSpPr txBox="1"/>
          <p:nvPr/>
        </p:nvSpPr>
        <p:spPr>
          <a:xfrm>
            <a:off x="9445752"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Telemetría</a:t>
            </a:r>
            <a:endParaRPr/>
          </a:p>
        </p:txBody>
      </p:sp>
      <p:sp>
        <p:nvSpPr>
          <p:cNvPr id="408" name="Google Shape;408;p8"/>
          <p:cNvSpPr/>
          <p:nvPr/>
        </p:nvSpPr>
        <p:spPr>
          <a:xfrm>
            <a:off x="9445752"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9" name="Google Shape;409;p8"/>
          <p:cNvSpPr/>
          <p:nvPr/>
        </p:nvSpPr>
        <p:spPr>
          <a:xfrm>
            <a:off x="11064240" y="3246120"/>
            <a:ext cx="320040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Canal moderno</a:t>
            </a:r>
            <a:endParaRPr/>
          </a:p>
        </p:txBody>
      </p:sp>
      <p:sp>
        <p:nvSpPr>
          <p:cNvPr id="411" name="Google Shape;411;p8"/>
          <p:cNvSpPr/>
          <p:nvPr/>
        </p:nvSpPr>
        <p:spPr>
          <a:xfrm>
            <a:off x="112014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M11</a:t>
            </a:r>
            <a:endParaRPr/>
          </a:p>
        </p:txBody>
      </p:sp>
      <p:sp>
        <p:nvSpPr>
          <p:cNvPr id="413" name="Google Shape;413;p8"/>
          <p:cNvSpPr txBox="1"/>
          <p:nvPr/>
        </p:nvSpPr>
        <p:spPr>
          <a:xfrm>
            <a:off x="112928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EDI</a:t>
            </a:r>
            <a:endParaRPr/>
          </a:p>
        </p:txBody>
      </p:sp>
      <p:sp>
        <p:nvSpPr>
          <p:cNvPr id="414" name="Google Shape;414;p8"/>
          <p:cNvSpPr/>
          <p:nvPr/>
        </p:nvSpPr>
        <p:spPr>
          <a:xfrm>
            <a:off x="11292840" y="4928616"/>
            <a:ext cx="1188720" cy="292608"/>
          </a:xfrm>
          <a:prstGeom prst="roundRect">
            <a:avLst>
              <a:gd fmla="val 5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2</a:t>
            </a:r>
            <a:endParaRPr/>
          </a:p>
        </p:txBody>
      </p:sp>
      <p:sp>
        <p:nvSpPr>
          <p:cNvPr id="415" name="Google Shape;415;p8"/>
          <p:cNvSpPr txBox="1"/>
          <p:nvPr/>
        </p:nvSpPr>
        <p:spPr>
          <a:xfrm>
            <a:off x="12682728" y="3749039"/>
            <a:ext cx="1444751"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Pedido electrónico → M3</a:t>
            </a:r>
            <a:endParaRPr/>
          </a:p>
        </p:txBody>
      </p:sp>
      <p:sp>
        <p:nvSpPr>
          <p:cNvPr id="416" name="Google Shape;416;p8"/>
          <p:cNvSpPr/>
          <p:nvPr/>
        </p:nvSpPr>
        <p:spPr>
          <a:xfrm>
            <a:off x="3291840" y="5596128"/>
            <a:ext cx="612648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Preventa, rutas y reparto</a:t>
            </a:r>
            <a:endParaRPr/>
          </a:p>
        </p:txBody>
      </p:sp>
      <p:sp>
        <p:nvSpPr>
          <p:cNvPr id="418" name="Google Shape;418;p8"/>
          <p:cNvSpPr/>
          <p:nvPr/>
        </p:nvSpPr>
        <p:spPr>
          <a:xfrm>
            <a:off x="342900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M3</a:t>
            </a:r>
            <a:endParaRPr/>
          </a:p>
        </p:txBody>
      </p:sp>
      <p:sp>
        <p:nvSpPr>
          <p:cNvPr id="420" name="Google Shape;420;p8"/>
          <p:cNvSpPr txBox="1"/>
          <p:nvPr/>
        </p:nvSpPr>
        <p:spPr>
          <a:xfrm>
            <a:off x="352044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Preventa</a:t>
            </a:r>
            <a:endParaRPr/>
          </a:p>
        </p:txBody>
      </p:sp>
      <p:sp>
        <p:nvSpPr>
          <p:cNvPr id="421" name="Google Shape;421;p8"/>
          <p:cNvSpPr/>
          <p:nvPr/>
        </p:nvSpPr>
        <p:spPr>
          <a:xfrm>
            <a:off x="352044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2" name="Google Shape;422;p8"/>
          <p:cNvSpPr/>
          <p:nvPr/>
        </p:nvSpPr>
        <p:spPr>
          <a:xfrm>
            <a:off x="491032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M4</a:t>
            </a:r>
            <a:endParaRPr/>
          </a:p>
        </p:txBody>
      </p:sp>
      <p:sp>
        <p:nvSpPr>
          <p:cNvPr id="424" name="Google Shape;424;p8"/>
          <p:cNvSpPr txBox="1"/>
          <p:nvPr/>
        </p:nvSpPr>
        <p:spPr>
          <a:xfrm>
            <a:off x="500176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Rutas + GIS</a:t>
            </a:r>
            <a:endParaRPr/>
          </a:p>
        </p:txBody>
      </p:sp>
      <p:sp>
        <p:nvSpPr>
          <p:cNvPr id="425" name="Google Shape;425;p8"/>
          <p:cNvSpPr/>
          <p:nvPr/>
        </p:nvSpPr>
        <p:spPr>
          <a:xfrm>
            <a:off x="5001768"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6" name="Google Shape;426;p8"/>
          <p:cNvSpPr/>
          <p:nvPr/>
        </p:nvSpPr>
        <p:spPr>
          <a:xfrm>
            <a:off x="6391656"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M6</a:t>
            </a:r>
            <a:endParaRPr/>
          </a:p>
        </p:txBody>
      </p:sp>
      <p:sp>
        <p:nvSpPr>
          <p:cNvPr id="428" name="Google Shape;428;p8"/>
          <p:cNvSpPr txBox="1"/>
          <p:nvPr/>
        </p:nvSpPr>
        <p:spPr>
          <a:xfrm>
            <a:off x="6483096"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Reparto</a:t>
            </a:r>
            <a:endParaRPr/>
          </a:p>
        </p:txBody>
      </p:sp>
      <p:sp>
        <p:nvSpPr>
          <p:cNvPr id="429" name="Google Shape;429;p8"/>
          <p:cNvSpPr/>
          <p:nvPr/>
        </p:nvSpPr>
        <p:spPr>
          <a:xfrm>
            <a:off x="6483096"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0" name="Google Shape;430;p8"/>
          <p:cNvSpPr/>
          <p:nvPr/>
        </p:nvSpPr>
        <p:spPr>
          <a:xfrm>
            <a:off x="7872983"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M8</a:t>
            </a:r>
            <a:endParaRPr/>
          </a:p>
        </p:txBody>
      </p:sp>
      <p:sp>
        <p:nvSpPr>
          <p:cNvPr id="432" name="Google Shape;432;p8"/>
          <p:cNvSpPr txBox="1"/>
          <p:nvPr/>
        </p:nvSpPr>
        <p:spPr>
          <a:xfrm>
            <a:off x="7964423"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Devoluciones y envases</a:t>
            </a:r>
            <a:endParaRPr/>
          </a:p>
        </p:txBody>
      </p:sp>
      <p:sp>
        <p:nvSpPr>
          <p:cNvPr id="433" name="Google Shape;433;p8"/>
          <p:cNvSpPr/>
          <p:nvPr/>
        </p:nvSpPr>
        <p:spPr>
          <a:xfrm>
            <a:off x="7964423"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4" name="Google Shape;434;p8"/>
          <p:cNvSpPr/>
          <p:nvPr/>
        </p:nvSpPr>
        <p:spPr>
          <a:xfrm>
            <a:off x="9601200" y="5596128"/>
            <a:ext cx="466344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Datos y rendición</a:t>
            </a:r>
            <a:endParaRPr/>
          </a:p>
        </p:txBody>
      </p:sp>
      <p:sp>
        <p:nvSpPr>
          <p:cNvPr id="436" name="Google Shape;436;p8"/>
          <p:cNvSpPr/>
          <p:nvPr/>
        </p:nvSpPr>
        <p:spPr>
          <a:xfrm>
            <a:off x="973836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M7</a:t>
            </a:r>
            <a:endParaRPr/>
          </a:p>
        </p:txBody>
      </p:sp>
      <p:sp>
        <p:nvSpPr>
          <p:cNvPr id="438" name="Google Shape;438;p8"/>
          <p:cNvSpPr txBox="1"/>
          <p:nvPr/>
        </p:nvSpPr>
        <p:spPr>
          <a:xfrm>
            <a:off x="982980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Cobranza y rendición</a:t>
            </a:r>
            <a:endParaRPr/>
          </a:p>
        </p:txBody>
      </p:sp>
      <p:sp>
        <p:nvSpPr>
          <p:cNvPr id="439" name="Google Shape;439;p8"/>
          <p:cNvSpPr/>
          <p:nvPr/>
        </p:nvSpPr>
        <p:spPr>
          <a:xfrm>
            <a:off x="982980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40" name="Google Shape;440;p8"/>
          <p:cNvSpPr/>
          <p:nvPr/>
        </p:nvSpPr>
        <p:spPr>
          <a:xfrm>
            <a:off x="1121968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M10</a:t>
            </a:r>
            <a:endParaRPr/>
          </a:p>
        </p:txBody>
      </p:sp>
      <p:sp>
        <p:nvSpPr>
          <p:cNvPr id="442" name="Google Shape;442;p8"/>
          <p:cNvSpPr txBox="1"/>
          <p:nvPr/>
        </p:nvSpPr>
        <p:spPr>
          <a:xfrm>
            <a:off x="1131112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Analítica BI</a:t>
            </a:r>
            <a:endParaRPr/>
          </a:p>
        </p:txBody>
      </p:sp>
      <p:sp>
        <p:nvSpPr>
          <p:cNvPr id="443" name="Google Shape;443;p8"/>
          <p:cNvSpPr/>
          <p:nvPr/>
        </p:nvSpPr>
        <p:spPr>
          <a:xfrm>
            <a:off x="11311128" y="7278624"/>
            <a:ext cx="1188720" cy="292608"/>
          </a:xfrm>
          <a:prstGeom prst="roundRect">
            <a:avLst>
              <a:gd fmla="val 5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 y 2</a:t>
            </a:r>
            <a:endParaRPr/>
          </a:p>
        </p:txBody>
      </p:sp>
      <p:sp>
        <p:nvSpPr>
          <p:cNvPr id="444" name="Google Shape;444;p8"/>
          <p:cNvSpPr txBox="1"/>
          <p:nvPr/>
        </p:nvSpPr>
        <p:spPr>
          <a:xfrm>
            <a:off x="12701016" y="6099048"/>
            <a:ext cx="1426463"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OTIF y costo de servir</a:t>
            </a:r>
            <a:endParaRPr/>
          </a:p>
        </p:txBody>
      </p:sp>
      <p:cxnSp>
        <p:nvCxnSpPr>
          <p:cNvPr id="445" name="Google Shape;445;p8"/>
          <p:cNvCxnSpPr/>
          <p:nvPr/>
        </p:nvCxnSpPr>
        <p:spPr>
          <a:xfrm>
            <a:off x="4800600"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451" name="Google Shape;451;p8"/>
          <p:cNvSpPr/>
          <p:nvPr/>
        </p:nvSpPr>
        <p:spPr>
          <a:xfrm>
            <a:off x="3291840" y="7973568"/>
            <a:ext cx="10972800" cy="621792"/>
          </a:xfrm>
          <a:prstGeom prst="roundRect">
            <a:avLst>
              <a:gd fmla="val 15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500">
                <a:solidFill>
                  <a:srgbClr val="F29A5E"/>
                </a:solidFill>
                <a:latin typeface="Inter SemiBold"/>
                <a:ea typeface="Inter SemiBold"/>
                <a:cs typeface="Inter SemiBold"/>
                <a:sym typeface="Inter SemiBold"/>
              </a:rPr>
              <a:t>BASE COMÚN  </a:t>
            </a:r>
            <a:r>
              <a:rPr b="0" lang="en-US" sz="1500">
                <a:solidFill>
                  <a:srgbClr val="FFFFFF"/>
                </a:solidFill>
                <a:latin typeface="Inter"/>
                <a:ea typeface="Inter"/>
                <a:cs typeface="Inter"/>
                <a:sym typeface="Inter"/>
              </a:rPr>
              <a:t>identidad · integración · auditoría · sin conexión · observabilidad</a:t>
            </a:r>
            <a:endParaRPr/>
          </a:p>
        </p:txBody>
      </p:sp>
      <p:sp>
        <p:nvSpPr>
          <p:cNvPr id="452" name="Google Shape;452;p8"/>
          <p:cNvSpPr txBox="1"/>
          <p:nvPr/>
        </p:nvSpPr>
        <p:spPr>
          <a:xfrm>
            <a:off x="14584680" y="3246120"/>
            <a:ext cx="3200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SISTEMAS EXTERNOS</a:t>
            </a:r>
            <a:endParaRPr/>
          </a:p>
        </p:txBody>
      </p:sp>
      <p:sp>
        <p:nvSpPr>
          <p:cNvPr id="453" name="Google Shape;453;p8"/>
          <p:cNvSpPr/>
          <p:nvPr/>
        </p:nvSpPr>
        <p:spPr>
          <a:xfrm>
            <a:off x="14584680" y="3611880"/>
            <a:ext cx="3200400" cy="1097280"/>
          </a:xfrm>
          <a:prstGeom prst="roundRect">
            <a:avLst>
              <a:gd fmla="val 8000" name="adj"/>
            </a:avLst>
          </a:prstGeom>
          <a:solidFill>
            <a:srgbClr val="111111"/>
          </a:solidFill>
          <a:ln>
            <a:noFill/>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FFFFFF"/>
                </a:solidFill>
                <a:latin typeface="Inter SemiBold"/>
                <a:ea typeface="Inter SemiBold"/>
                <a:cs typeface="Inter SemiBold"/>
                <a:sym typeface="Inter SemiBold"/>
              </a:rPr>
              <a:t>ERP 2017</a:t>
            </a:r>
            <a:endParaRPr/>
          </a:p>
          <a:p>
            <a:pPr indent="0" lvl="0" marL="0" marR="0" rtl="0" algn="l">
              <a:spcBef>
                <a:spcPts val="0"/>
              </a:spcBef>
              <a:spcAft>
                <a:spcPts val="0"/>
              </a:spcAft>
              <a:buNone/>
            </a:pPr>
            <a:r>
              <a:rPr b="0" lang="en-US" sz="1400">
                <a:solidFill>
                  <a:srgbClr val="C7C7C7"/>
                </a:solidFill>
                <a:latin typeface="Inter"/>
                <a:ea typeface="Inter"/>
                <a:cs typeface="Inter"/>
                <a:sym typeface="Inter"/>
              </a:rPr>
              <a:t>Único emisor tributario · vía ACL</a:t>
            </a:r>
            <a:endParaRPr/>
          </a:p>
        </p:txBody>
      </p:sp>
      <p:cxnSp>
        <p:nvCxnSpPr>
          <p:cNvPr id="454" name="Google Shape;454;p8"/>
          <p:cNvCxnSpPr/>
          <p:nvPr/>
        </p:nvCxnSpPr>
        <p:spPr>
          <a:xfrm>
            <a:off x="14282928" y="416052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5" name="Google Shape;455;p8"/>
          <p:cNvSpPr/>
          <p:nvPr/>
        </p:nvSpPr>
        <p:spPr>
          <a:xfrm>
            <a:off x="14584680" y="594360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Geolocalización</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Mapas y posición para rutas</a:t>
            </a:r>
            <a:endParaRPr b="0" sz="1400">
              <a:solidFill>
                <a:srgbClr val="606060"/>
              </a:solidFill>
              <a:latin typeface="Inter"/>
              <a:ea typeface="Inter"/>
              <a:cs typeface="Inter"/>
              <a:sym typeface="Inter"/>
            </a:endParaRPr>
          </a:p>
        </p:txBody>
      </p:sp>
      <p:cxnSp>
        <p:nvCxnSpPr>
          <p:cNvPr id="456" name="Google Shape;456;p8"/>
          <p:cNvCxnSpPr/>
          <p:nvPr/>
        </p:nvCxnSpPr>
        <p:spPr>
          <a:xfrm>
            <a:off x="14282928" y="532638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7" name="Google Shape;457;p8"/>
          <p:cNvSpPr/>
          <p:nvPr/>
        </p:nvSpPr>
        <p:spPr>
          <a:xfrm>
            <a:off x="14584680" y="763524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Cadenas</a:t>
            </a:r>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EDI con el canal moderno</a:t>
            </a:r>
            <a:endParaRPr/>
          </a:p>
        </p:txBody>
      </p:sp>
      <p:cxnSp>
        <p:nvCxnSpPr>
          <p:cNvPr id="458" name="Google Shape;458;p8"/>
          <p:cNvCxnSpPr/>
          <p:nvPr/>
        </p:nvCxnSpPr>
        <p:spPr>
          <a:xfrm>
            <a:off x="14282928" y="642366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60" name="Google Shape;460;p8"/>
          <p:cNvSpPr/>
          <p:nvPr/>
        </p:nvSpPr>
        <p:spPr>
          <a:xfrm>
            <a:off x="14584680" y="484632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Transbank</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Pagos</a:t>
            </a:r>
            <a:endParaRPr b="0" sz="1400">
              <a:solidFill>
                <a:srgbClr val="606060"/>
              </a:solidFill>
              <a:latin typeface="Inter"/>
              <a:ea typeface="Inter"/>
              <a:cs typeface="Inter"/>
              <a:sym typeface="Inter"/>
            </a:endParaRPr>
          </a:p>
        </p:txBody>
      </p:sp>
      <p:sp>
        <p:nvSpPr>
          <p:cNvPr id="461" name="Google Shape;461;p8"/>
          <p:cNvSpPr txBox="1"/>
          <p:nvPr/>
        </p:nvSpPr>
        <p:spPr>
          <a:xfrm>
            <a:off x="14584680" y="7315200"/>
            <a:ext cx="320040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INTEGRACIÓN · ETAPA 2</a:t>
            </a:r>
            <a:endParaRPr b="1" sz="1400">
              <a:solidFill>
                <a:srgbClr val="E8641B"/>
              </a:solidFill>
              <a:latin typeface="Inter SemiBold"/>
              <a:ea typeface="Inter SemiBold"/>
              <a:cs typeface="Inter SemiBold"/>
              <a:sym typeface="Inter SemiBold"/>
            </a:endParaRPr>
          </a:p>
        </p:txBody>
      </p:sp>
      <p:sp>
        <p:nvSpPr>
          <p:cNvPr id="46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05</a:t>
            </a:r>
          </a:p>
        </p:txBody>
      </p:sp>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9" name="Google Shape;469;p9"/>
          <p:cNvSpPr txBox="1"/>
          <p:nvPr/>
        </p:nvSpPr>
        <p:spPr>
          <a:xfrm>
            <a:off x="822960" y="365760"/>
            <a:ext cx="109728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lógica</a:t>
            </a:r>
            <a:endParaRPr/>
          </a:p>
        </p:txBody>
      </p:sp>
      <p:sp>
        <p:nvSpPr>
          <p:cNvPr id="4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a:t>
            </a:r>
          </a:p>
        </p:txBody>
      </p:sp>
      <p:sp>
        <p:nvSpPr>
          <p:cNvPr id="481" name="!!band1"/>
          <p:cNvSpPr/>
          <p:nvPr/>
        </p:nvSpPr>
        <p:spPr>
          <a:xfrm>
            <a:off x="822960" y="146304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82" name="Oval 481"/>
          <p:cNvSpPr/>
          <p:nvPr/>
        </p:nvSpPr>
        <p:spPr>
          <a:xfrm>
            <a:off x="1005840" y="175564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1</a:t>
            </a:r>
          </a:p>
        </p:txBody>
      </p:sp>
      <p:sp>
        <p:nvSpPr>
          <p:cNvPr id="483" name="TextBox 482"/>
          <p:cNvSpPr txBox="1"/>
          <p:nvPr/>
        </p:nvSpPr>
        <p:spPr>
          <a:xfrm>
            <a:off x="1737360" y="166420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Presentación</a:t>
            </a:r>
          </a:p>
        </p:txBody>
      </p:sp>
      <p:sp>
        <p:nvSpPr>
          <p:cNvPr id="484" name="TextBox 483"/>
          <p:cNvSpPr txBox="1"/>
          <p:nvPr/>
        </p:nvSpPr>
        <p:spPr>
          <a:xfrm>
            <a:off x="1737360" y="2084832"/>
            <a:ext cx="3108960" cy="365760"/>
          </a:xfrm>
          <a:prstGeom prst="rect">
            <a:avLst/>
          </a:prstGeom>
          <a:noFill/>
        </p:spPr>
        <p:txBody>
          <a:bodyPr wrap="square" lIns="0" rIns="0" tIns="0" bIns="0" anchor="t">
            <a:spAutoFit/>
          </a:bodyPr>
          <a:lstStyle/>
          <a:p>
            <a:pPr algn="l"/>
            <a:r>
              <a:rPr sz="1300" b="0">
                <a:solidFill>
                  <a:srgbClr val="606060"/>
                </a:solidFill>
                <a:latin typeface="Inter"/>
              </a:rPr>
              <a:t>captura y muestra la información</a:t>
            </a:r>
          </a:p>
        </p:txBody>
      </p:sp>
      <p:sp>
        <p:nvSpPr>
          <p:cNvPr id="485" name="Rounded Rectangle 484"/>
          <p:cNvSpPr/>
          <p:nvPr/>
        </p:nvSpPr>
        <p:spPr>
          <a:xfrm>
            <a:off x="493776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Perfiles Kotlin · Android</a:t>
            </a:r>
          </a:p>
        </p:txBody>
      </p:sp>
      <p:sp>
        <p:nvSpPr>
          <p:cNvPr id="486" name="Rounded Rectangle 485"/>
          <p:cNvSpPr/>
          <p:nvPr/>
        </p:nvSpPr>
        <p:spPr>
          <a:xfrm>
            <a:off x="723519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Portales Angular</a:t>
            </a:r>
          </a:p>
        </p:txBody>
      </p:sp>
      <p:sp>
        <p:nvSpPr>
          <p:cNvPr id="487" name="Rounded Rectangle 486"/>
          <p:cNvSpPr/>
          <p:nvPr/>
        </p:nvSpPr>
        <p:spPr>
          <a:xfrm>
            <a:off x="953262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Consolas back-office</a:t>
            </a:r>
          </a:p>
        </p:txBody>
      </p:sp>
      <p:sp>
        <p:nvSpPr>
          <p:cNvPr id="488" name="Rounded Rectangle 487"/>
          <p:cNvSpPr/>
          <p:nvPr/>
        </p:nvSpPr>
        <p:spPr>
          <a:xfrm>
            <a:off x="11830050" y="170992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15 actores</a:t>
            </a:r>
          </a:p>
        </p:txBody>
      </p:sp>
      <p:sp>
        <p:nvSpPr>
          <p:cNvPr id="489" name="!!band2"/>
          <p:cNvSpPr/>
          <p:nvPr/>
        </p:nvSpPr>
        <p:spPr>
          <a:xfrm>
            <a:off x="822960" y="278892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90" name="Oval 489"/>
          <p:cNvSpPr/>
          <p:nvPr/>
        </p:nvSpPr>
        <p:spPr>
          <a:xfrm>
            <a:off x="1005840" y="3081527"/>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2</a:t>
            </a:r>
          </a:p>
        </p:txBody>
      </p:sp>
      <p:sp>
        <p:nvSpPr>
          <p:cNvPr id="491" name="TextBox 490"/>
          <p:cNvSpPr txBox="1"/>
          <p:nvPr/>
        </p:nvSpPr>
        <p:spPr>
          <a:xfrm>
            <a:off x="1737360" y="299008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Borde y exposición</a:t>
            </a:r>
          </a:p>
        </p:txBody>
      </p:sp>
      <p:sp>
        <p:nvSpPr>
          <p:cNvPr id="492" name="TextBox 491"/>
          <p:cNvSpPr txBox="1"/>
          <p:nvPr/>
        </p:nvSpPr>
        <p:spPr>
          <a:xfrm>
            <a:off x="1737360" y="3410712"/>
            <a:ext cx="3108960" cy="365760"/>
          </a:xfrm>
          <a:prstGeom prst="rect">
            <a:avLst/>
          </a:prstGeom>
          <a:noFill/>
        </p:spPr>
        <p:txBody>
          <a:bodyPr wrap="square" lIns="0" rIns="0" tIns="0" bIns="0" anchor="t">
            <a:spAutoFit/>
          </a:bodyPr>
          <a:lstStyle/>
          <a:p>
            <a:pPr algn="l"/>
            <a:r>
              <a:rPr sz="1300" b="0">
                <a:solidFill>
                  <a:srgbClr val="606060"/>
                </a:solidFill>
                <a:latin typeface="Inter"/>
              </a:rPr>
              <a:t>protege la entrada</a:t>
            </a:r>
          </a:p>
        </p:txBody>
      </p:sp>
      <p:sp>
        <p:nvSpPr>
          <p:cNvPr id="493" name="Rounded Rectangle 492"/>
          <p:cNvSpPr/>
          <p:nvPr/>
        </p:nvSpPr>
        <p:spPr>
          <a:xfrm>
            <a:off x="493776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Route 53</a:t>
            </a:r>
          </a:p>
        </p:txBody>
      </p:sp>
      <p:sp>
        <p:nvSpPr>
          <p:cNvPr id="494" name="Rounded Rectangle 493"/>
          <p:cNvSpPr/>
          <p:nvPr/>
        </p:nvSpPr>
        <p:spPr>
          <a:xfrm>
            <a:off x="723519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CloudFront + WAF + Shield</a:t>
            </a:r>
          </a:p>
        </p:txBody>
      </p:sp>
      <p:sp>
        <p:nvSpPr>
          <p:cNvPr id="495" name="Rounded Rectangle 494"/>
          <p:cNvSpPr/>
          <p:nvPr/>
        </p:nvSpPr>
        <p:spPr>
          <a:xfrm>
            <a:off x="953262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TLS 1.3 · HSTS</a:t>
            </a:r>
          </a:p>
        </p:txBody>
      </p:sp>
      <p:sp>
        <p:nvSpPr>
          <p:cNvPr id="496" name="Rounded Rectangle 495"/>
          <p:cNvSpPr/>
          <p:nvPr/>
        </p:nvSpPr>
        <p:spPr>
          <a:xfrm>
            <a:off x="11830050" y="3035808"/>
            <a:ext cx="2160270"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Firewall/UTM por sitio</a:t>
            </a:r>
          </a:p>
        </p:txBody>
      </p:sp>
      <p:sp>
        <p:nvSpPr>
          <p:cNvPr id="497" name="!!band3"/>
          <p:cNvSpPr/>
          <p:nvPr/>
        </p:nvSpPr>
        <p:spPr>
          <a:xfrm>
            <a:off x="822960" y="411480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498" name="Oval 497"/>
          <p:cNvSpPr/>
          <p:nvPr/>
        </p:nvSpPr>
        <p:spPr>
          <a:xfrm>
            <a:off x="1005840" y="440740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3</a:t>
            </a:r>
          </a:p>
        </p:txBody>
      </p:sp>
      <p:sp>
        <p:nvSpPr>
          <p:cNvPr id="499" name="TextBox 498"/>
          <p:cNvSpPr txBox="1"/>
          <p:nvPr/>
        </p:nvSpPr>
        <p:spPr>
          <a:xfrm>
            <a:off x="1737360" y="431596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Enlace de servicios</a:t>
            </a:r>
          </a:p>
        </p:txBody>
      </p:sp>
      <p:sp>
        <p:nvSpPr>
          <p:cNvPr id="500" name="TextBox 499"/>
          <p:cNvSpPr txBox="1"/>
          <p:nvPr/>
        </p:nvSpPr>
        <p:spPr>
          <a:xfrm>
            <a:off x="1737360" y="4736592"/>
            <a:ext cx="3108960" cy="365760"/>
          </a:xfrm>
          <a:prstGeom prst="rect">
            <a:avLst/>
          </a:prstGeom>
          <a:noFill/>
        </p:spPr>
        <p:txBody>
          <a:bodyPr wrap="square" lIns="0" rIns="0" tIns="0" bIns="0" anchor="t">
            <a:spAutoFit/>
          </a:bodyPr>
          <a:lstStyle/>
          <a:p>
            <a:pPr algn="l"/>
            <a:r>
              <a:rPr sz="1300" b="0">
                <a:solidFill>
                  <a:srgbClr val="606060"/>
                </a:solidFill>
                <a:latin typeface="Inter"/>
              </a:rPr>
              <a:t>valida las solicitudes</a:t>
            </a:r>
          </a:p>
        </p:txBody>
      </p:sp>
      <p:sp>
        <p:nvSpPr>
          <p:cNvPr id="501" name="Rounded Rectangle 500"/>
          <p:cNvSpPr/>
          <p:nvPr/>
        </p:nvSpPr>
        <p:spPr>
          <a:xfrm>
            <a:off x="4937760" y="4361688"/>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API Gateway → ALB privado</a:t>
            </a:r>
          </a:p>
        </p:txBody>
      </p:sp>
      <p:sp>
        <p:nvSpPr>
          <p:cNvPr id="502" name="Rounded Rectangle 501"/>
          <p:cNvSpPr/>
          <p:nvPr/>
        </p:nvSpPr>
        <p:spPr>
          <a:xfrm>
            <a:off x="8001000" y="4361688"/>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API local WMS</a:t>
            </a:r>
          </a:p>
        </p:txBody>
      </p:sp>
      <p:sp>
        <p:nvSpPr>
          <p:cNvPr id="503" name="Rounded Rectangle 502"/>
          <p:cNvSpPr/>
          <p:nvPr/>
        </p:nvSpPr>
        <p:spPr>
          <a:xfrm>
            <a:off x="11064240" y="4361688"/>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Administración TI</a:t>
            </a:r>
          </a:p>
        </p:txBody>
      </p:sp>
      <p:sp>
        <p:nvSpPr>
          <p:cNvPr id="504" name="!!band4"/>
          <p:cNvSpPr/>
          <p:nvPr/>
        </p:nvSpPr>
        <p:spPr>
          <a:xfrm>
            <a:off x="822960" y="5440679"/>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05" name="Oval 504"/>
          <p:cNvSpPr/>
          <p:nvPr/>
        </p:nvSpPr>
        <p:spPr>
          <a:xfrm>
            <a:off x="1005840" y="573328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4</a:t>
            </a:r>
          </a:p>
        </p:txBody>
      </p:sp>
      <p:sp>
        <p:nvSpPr>
          <p:cNvPr id="506" name="TextBox 505"/>
          <p:cNvSpPr txBox="1"/>
          <p:nvPr/>
        </p:nvSpPr>
        <p:spPr>
          <a:xfrm>
            <a:off x="1737360" y="5641847"/>
            <a:ext cx="3108960" cy="411480"/>
          </a:xfrm>
          <a:prstGeom prst="rect">
            <a:avLst/>
          </a:prstGeom>
          <a:noFill/>
        </p:spPr>
        <p:txBody>
          <a:bodyPr wrap="square" lIns="0" rIns="0" tIns="0" bIns="0" anchor="t">
            <a:spAutoFit/>
          </a:bodyPr>
          <a:lstStyle/>
          <a:p>
            <a:pPr algn="l"/>
            <a:r>
              <a:rPr sz="1700" b="1">
                <a:solidFill>
                  <a:srgbClr val="111111"/>
                </a:solidFill>
                <a:latin typeface="Inter SemiBold"/>
              </a:rPr>
              <a:t>Lógica de negocio</a:t>
            </a:r>
          </a:p>
        </p:txBody>
      </p:sp>
      <p:sp>
        <p:nvSpPr>
          <p:cNvPr id="507" name="TextBox 506"/>
          <p:cNvSpPr txBox="1"/>
          <p:nvPr/>
        </p:nvSpPr>
        <p:spPr>
          <a:xfrm>
            <a:off x="1737360" y="6062471"/>
            <a:ext cx="3108960" cy="365760"/>
          </a:xfrm>
          <a:prstGeom prst="rect">
            <a:avLst/>
          </a:prstGeom>
          <a:noFill/>
        </p:spPr>
        <p:txBody>
          <a:bodyPr wrap="square" lIns="0" rIns="0" tIns="0" bIns="0" anchor="t">
            <a:spAutoFit/>
          </a:bodyPr>
          <a:lstStyle/>
          <a:p>
            <a:pPr algn="l"/>
            <a:r>
              <a:rPr sz="1300" b="0">
                <a:solidFill>
                  <a:srgbClr val="606060"/>
                </a:solidFill>
                <a:latin typeface="Inter"/>
              </a:rPr>
              <a:t>reglas de M1–M12</a:t>
            </a:r>
          </a:p>
        </p:txBody>
      </p:sp>
      <p:sp>
        <p:nvSpPr>
          <p:cNvPr id="508" name="Rounded Rectangle 507"/>
          <p:cNvSpPr/>
          <p:nvPr/>
        </p:nvSpPr>
        <p:spPr>
          <a:xfrm>
            <a:off x="4937760" y="5687567"/>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Monolito Laravel 13 · PHP 8.5</a:t>
            </a:r>
          </a:p>
        </p:txBody>
      </p:sp>
      <p:sp>
        <p:nvSpPr>
          <p:cNvPr id="509" name="Rounded Rectangle 508"/>
          <p:cNvSpPr/>
          <p:nvPr/>
        </p:nvSpPr>
        <p:spPr>
          <a:xfrm>
            <a:off x="8001000" y="5687567"/>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ECS Fargate</a:t>
            </a:r>
          </a:p>
        </p:txBody>
      </p:sp>
      <p:sp>
        <p:nvSpPr>
          <p:cNvPr id="510" name="Rounded Rectangle 509"/>
          <p:cNvSpPr/>
          <p:nvPr/>
        </p:nvSpPr>
        <p:spPr>
          <a:xfrm>
            <a:off x="11064240" y="5687567"/>
            <a:ext cx="2926079"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Perfil local WMS</a:t>
            </a:r>
          </a:p>
        </p:txBody>
      </p:sp>
      <p:sp>
        <p:nvSpPr>
          <p:cNvPr id="511" name="!!band5"/>
          <p:cNvSpPr/>
          <p:nvPr/>
        </p:nvSpPr>
        <p:spPr>
          <a:xfrm>
            <a:off x="822960" y="676656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12" name="Oval 511"/>
          <p:cNvSpPr/>
          <p:nvPr/>
        </p:nvSpPr>
        <p:spPr>
          <a:xfrm>
            <a:off x="1005840" y="705916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5</a:t>
            </a:r>
          </a:p>
        </p:txBody>
      </p:sp>
      <p:sp>
        <p:nvSpPr>
          <p:cNvPr id="513" name="TextBox 512"/>
          <p:cNvSpPr txBox="1"/>
          <p:nvPr/>
        </p:nvSpPr>
        <p:spPr>
          <a:xfrm>
            <a:off x="1737360" y="696772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Integración y eventos</a:t>
            </a:r>
          </a:p>
        </p:txBody>
      </p:sp>
      <p:sp>
        <p:nvSpPr>
          <p:cNvPr id="514" name="TextBox 513"/>
          <p:cNvSpPr txBox="1"/>
          <p:nvPr/>
        </p:nvSpPr>
        <p:spPr>
          <a:xfrm>
            <a:off x="1737360" y="7388352"/>
            <a:ext cx="3108960" cy="365760"/>
          </a:xfrm>
          <a:prstGeom prst="rect">
            <a:avLst/>
          </a:prstGeom>
          <a:noFill/>
        </p:spPr>
        <p:txBody>
          <a:bodyPr wrap="square" lIns="0" rIns="0" tIns="0" bIns="0" anchor="t">
            <a:spAutoFit/>
          </a:bodyPr>
          <a:lstStyle/>
          <a:p>
            <a:pPr algn="l"/>
            <a:r>
              <a:rPr sz="1300" b="0">
                <a:solidFill>
                  <a:srgbClr val="606060"/>
                </a:solidFill>
                <a:latin typeface="Inter"/>
              </a:rPr>
              <a:t>conserva y distribuye eventos</a:t>
            </a:r>
          </a:p>
        </p:txBody>
      </p:sp>
      <p:sp>
        <p:nvSpPr>
          <p:cNvPr id="515" name="Rounded Rectangle 514"/>
          <p:cNvSpPr/>
          <p:nvPr/>
        </p:nvSpPr>
        <p:spPr>
          <a:xfrm>
            <a:off x="4937760"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RabbitMQ por sitio</a:t>
            </a:r>
          </a:p>
        </p:txBody>
      </p:sp>
      <p:sp>
        <p:nvSpPr>
          <p:cNvPr id="516" name="Rounded Rectangle 515"/>
          <p:cNvSpPr/>
          <p:nvPr/>
        </p:nvSpPr>
        <p:spPr>
          <a:xfrm>
            <a:off x="6775704"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SQS FIFO + DLQ</a:t>
            </a:r>
          </a:p>
        </p:txBody>
      </p:sp>
      <p:sp>
        <p:nvSpPr>
          <p:cNvPr id="517" name="Rounded Rectangle 516"/>
          <p:cNvSpPr/>
          <p:nvPr/>
        </p:nvSpPr>
        <p:spPr>
          <a:xfrm>
            <a:off x="8613648"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SNS</a:t>
            </a:r>
          </a:p>
        </p:txBody>
      </p:sp>
      <p:sp>
        <p:nvSpPr>
          <p:cNvPr id="518" name="Rounded Rectangle 517"/>
          <p:cNvSpPr/>
          <p:nvPr/>
        </p:nvSpPr>
        <p:spPr>
          <a:xfrm>
            <a:off x="10451592"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ACL del ERP</a:t>
            </a:r>
          </a:p>
        </p:txBody>
      </p:sp>
      <p:sp>
        <p:nvSpPr>
          <p:cNvPr id="519" name="Rounded Rectangle 518"/>
          <p:cNvSpPr/>
          <p:nvPr/>
        </p:nvSpPr>
        <p:spPr>
          <a:xfrm>
            <a:off x="12289536" y="7013448"/>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Hub EDI GS1</a:t>
            </a:r>
          </a:p>
        </p:txBody>
      </p:sp>
      <p:sp>
        <p:nvSpPr>
          <p:cNvPr id="520" name="!!band6"/>
          <p:cNvSpPr/>
          <p:nvPr/>
        </p:nvSpPr>
        <p:spPr>
          <a:xfrm>
            <a:off x="822960" y="8092440"/>
            <a:ext cx="13350240" cy="1143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1" name="Oval 520"/>
          <p:cNvSpPr/>
          <p:nvPr/>
        </p:nvSpPr>
        <p:spPr>
          <a:xfrm>
            <a:off x="1005840" y="8385048"/>
            <a:ext cx="548640" cy="54864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600" b="1">
                <a:solidFill>
                  <a:srgbClr val="FFFFFF"/>
                </a:solidFill>
                <a:latin typeface="Inter SemiBold"/>
              </a:rPr>
              <a:t>6</a:t>
            </a:r>
          </a:p>
        </p:txBody>
      </p:sp>
      <p:sp>
        <p:nvSpPr>
          <p:cNvPr id="522" name="TextBox 521"/>
          <p:cNvSpPr txBox="1"/>
          <p:nvPr/>
        </p:nvSpPr>
        <p:spPr>
          <a:xfrm>
            <a:off x="1737360" y="8293608"/>
            <a:ext cx="3108960" cy="411480"/>
          </a:xfrm>
          <a:prstGeom prst="rect">
            <a:avLst/>
          </a:prstGeom>
          <a:noFill/>
        </p:spPr>
        <p:txBody>
          <a:bodyPr wrap="square" lIns="0" rIns="0" tIns="0" bIns="0" anchor="t">
            <a:spAutoFit/>
          </a:bodyPr>
          <a:lstStyle/>
          <a:p>
            <a:pPr algn="l"/>
            <a:r>
              <a:rPr sz="1700" b="1">
                <a:solidFill>
                  <a:srgbClr val="111111"/>
                </a:solidFill>
                <a:latin typeface="Inter SemiBold"/>
              </a:rPr>
              <a:t>Acceso a datos</a:t>
            </a:r>
          </a:p>
        </p:txBody>
      </p:sp>
      <p:sp>
        <p:nvSpPr>
          <p:cNvPr id="523" name="TextBox 522"/>
          <p:cNvSpPr txBox="1"/>
          <p:nvPr/>
        </p:nvSpPr>
        <p:spPr>
          <a:xfrm>
            <a:off x="1737360" y="8714232"/>
            <a:ext cx="3108960" cy="365760"/>
          </a:xfrm>
          <a:prstGeom prst="rect">
            <a:avLst/>
          </a:prstGeom>
          <a:noFill/>
        </p:spPr>
        <p:txBody>
          <a:bodyPr wrap="square" lIns="0" rIns="0" tIns="0" bIns="0" anchor="t">
            <a:spAutoFit/>
          </a:bodyPr>
          <a:lstStyle/>
          <a:p>
            <a:pPr algn="l"/>
            <a:r>
              <a:rPr sz="1300" b="0">
                <a:solidFill>
                  <a:srgbClr val="606060"/>
                </a:solidFill>
                <a:latin typeface="Inter"/>
              </a:rPr>
              <a:t>administra la persistencia</a:t>
            </a:r>
          </a:p>
        </p:txBody>
      </p:sp>
      <p:sp>
        <p:nvSpPr>
          <p:cNvPr id="524" name="Rounded Rectangle 523"/>
          <p:cNvSpPr/>
          <p:nvPr/>
        </p:nvSpPr>
        <p:spPr>
          <a:xfrm>
            <a:off x="4937760"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PostgreSQL en 5 sitios</a:t>
            </a:r>
          </a:p>
        </p:txBody>
      </p:sp>
      <p:sp>
        <p:nvSpPr>
          <p:cNvPr id="525" name="Rounded Rectangle 524"/>
          <p:cNvSpPr/>
          <p:nvPr/>
        </p:nvSpPr>
        <p:spPr>
          <a:xfrm>
            <a:off x="6775704"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Aurora central</a:t>
            </a:r>
          </a:p>
        </p:txBody>
      </p:sp>
      <p:sp>
        <p:nvSpPr>
          <p:cNvPr id="526" name="Rounded Rectangle 525"/>
          <p:cNvSpPr/>
          <p:nvPr/>
        </p:nvSpPr>
        <p:spPr>
          <a:xfrm>
            <a:off x="8613648"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DynamoDB</a:t>
            </a:r>
          </a:p>
        </p:txBody>
      </p:sp>
      <p:sp>
        <p:nvSpPr>
          <p:cNvPr id="527" name="Rounded Rectangle 526"/>
          <p:cNvSpPr/>
          <p:nvPr/>
        </p:nvSpPr>
        <p:spPr>
          <a:xfrm>
            <a:off x="10451592"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Redis · S3</a:t>
            </a:r>
          </a:p>
        </p:txBody>
      </p:sp>
      <p:sp>
        <p:nvSpPr>
          <p:cNvPr id="528" name="Rounded Rectangle 527"/>
          <p:cNvSpPr/>
          <p:nvPr/>
        </p:nvSpPr>
        <p:spPr>
          <a:xfrm>
            <a:off x="12289536" y="8339327"/>
            <a:ext cx="1700784" cy="640080"/>
          </a:xfrm>
          <a:prstGeom prst="roundRect">
            <a:avLst>
              <a:gd name="adj" fmla="val 15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0">
                <a:solidFill>
                  <a:srgbClr val="111111"/>
                </a:solidFill>
                <a:latin typeface="Inter"/>
              </a:rPr>
              <a:t>Redshift</a:t>
            </a:r>
          </a:p>
        </p:txBody>
      </p:sp>
      <p:sp>
        <p:nvSpPr>
          <p:cNvPr id="529" name="!!band7"/>
          <p:cNvSpPr/>
          <p:nvPr/>
        </p:nvSpPr>
        <p:spPr>
          <a:xfrm>
            <a:off x="14447520" y="1463040"/>
            <a:ext cx="1371600" cy="777240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vert="vert270"/>
          <a:lstStyle/>
          <a:p>
            <a:pPr algn="ctr"/>
            <a:r>
              <a:rPr sz="1700" b="1">
                <a:solidFill>
                  <a:srgbClr val="FFFFFF"/>
                </a:solidFill>
                <a:latin typeface="Inter SemiBold"/>
              </a:rPr>
              <a:t>7 · Seguridad</a:t>
            </a:r>
          </a:p>
          <a:p>
            <a:pPr algn="ctr"/>
            <a:r>
              <a:rPr sz="1300" b="0">
                <a:solidFill>
                  <a:srgbClr val="C7C7C7"/>
                </a:solidFill>
                <a:latin typeface="Inter"/>
              </a:rPr>
              <a:t>Keycloak · KMS · mTLS · SIEM</a:t>
            </a:r>
          </a:p>
        </p:txBody>
      </p:sp>
      <p:sp>
        <p:nvSpPr>
          <p:cNvPr id="530" name="!!band8"/>
          <p:cNvSpPr/>
          <p:nvPr/>
        </p:nvSpPr>
        <p:spPr>
          <a:xfrm>
            <a:off x="16002000" y="1463040"/>
            <a:ext cx="1371600" cy="7772400"/>
          </a:xfrm>
          <a:prstGeom prst="roundRect">
            <a:avLst>
              <a:gd name="adj" fmla="val 8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vert="vert270"/>
          <a:lstStyle/>
          <a:p>
            <a:pPr algn="ctr"/>
            <a:r>
              <a:rPr sz="1700" b="1">
                <a:solidFill>
                  <a:srgbClr val="FFFFFF"/>
                </a:solidFill>
                <a:latin typeface="Inter SemiBold"/>
              </a:rPr>
              <a:t>8 · Observabilidad</a:t>
            </a:r>
          </a:p>
          <a:p>
            <a:pPr algn="ctr"/>
            <a:r>
              <a:rPr sz="1300" b="0">
                <a:solidFill>
                  <a:srgbClr val="C7C7C7"/>
                </a:solidFill>
                <a:latin typeface="Inter"/>
              </a:rPr>
              <a:t>OpenTelemetry · CloudWatch</a:t>
            </a:r>
          </a:p>
        </p:txBody>
      </p:sp>
      <p:sp>
        <p:nvSpPr>
          <p:cNvPr id="531" name="TextBox 530"/>
          <p:cNvSpPr txBox="1"/>
          <p:nvPr/>
        </p:nvSpPr>
        <p:spPr>
          <a:xfrm>
            <a:off x="822960" y="9418320"/>
            <a:ext cx="13716000" cy="320040"/>
          </a:xfrm>
          <a:prstGeom prst="rect">
            <a:avLst/>
          </a:prstGeom>
          <a:noFill/>
        </p:spPr>
        <p:txBody>
          <a:bodyPr wrap="square" lIns="0" rIns="0" tIns="0" bIns="0" anchor="t">
            <a:spAutoFit/>
          </a:bodyPr>
          <a:lstStyle/>
          <a:p>
            <a:pPr algn="l"/>
            <a:r>
              <a:rPr sz="1300" b="0">
                <a:solidFill>
                  <a:srgbClr val="606060"/>
                </a:solidFill>
                <a:latin typeface="Inter"/>
              </a:rPr>
              <a:t>Las capas 7 y 8 atraviesan a todas las demás</a:t>
            </a:r>
          </a:p>
        </p:txBody>
      </p:sp>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502"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1"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485"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1. Presentación</a:t>
            </a:r>
            <a:endParaRPr/>
          </a:p>
        </p:txBody>
      </p:sp>
      <p:sp>
        <p:nvSpPr>
          <p:cNvPr id="48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1 de 8</a:t>
            </a:r>
            <a:endParaRPr/>
          </a:p>
        </p:txBody>
      </p:sp>
      <p:sp>
        <p:nvSpPr>
          <p:cNvPr id="48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Aplicaciones, portales y dispositivos de cada actor</a:t>
            </a:r>
            <a:endParaRPr/>
          </a:p>
        </p:txBody>
      </p:sp>
      <p:sp>
        <p:nvSpPr>
          <p:cNvPr id="50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06.1</a:t>
            </a:r>
          </a:p>
        </p:txBody>
      </p:sp>
      <p:sp>
        <p:nvSpPr>
          <p:cNvPr id="504" name="!!mini1"/>
          <p:cNvSpPr/>
          <p:nvPr/>
        </p:nvSpPr>
        <p:spPr>
          <a:xfrm>
            <a:off x="859536" y="2423160"/>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1  Presentación</a:t>
            </a:r>
          </a:p>
        </p:txBody>
      </p:sp>
      <p:sp>
        <p:nvSpPr>
          <p:cNvPr id="505"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06"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07"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08"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09"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10"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11"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12" name="Rounded Rectangle 511"/>
          <p:cNvSpPr/>
          <p:nvPr/>
        </p:nvSpPr>
        <p:spPr>
          <a:xfrm>
            <a:off x="4937760" y="1828800"/>
            <a:ext cx="1685108" cy="329184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13" name="TextBox 512"/>
          <p:cNvSpPr txBox="1"/>
          <p:nvPr/>
        </p:nvSpPr>
        <p:spPr>
          <a:xfrm>
            <a:off x="5029200"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Perfil Preventa</a:t>
            </a:r>
          </a:p>
        </p:txBody>
      </p:sp>
      <p:sp>
        <p:nvSpPr>
          <p:cNvPr id="514" name="TextBox 513"/>
          <p:cNvSpPr txBox="1"/>
          <p:nvPr/>
        </p:nvSpPr>
        <p:spPr>
          <a:xfrm>
            <a:off x="5029200"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Preventista</a:t>
            </a:r>
          </a:p>
        </p:txBody>
      </p:sp>
      <p:sp>
        <p:nvSpPr>
          <p:cNvPr id="515" name="Rounded Rectangle 514"/>
          <p:cNvSpPr/>
          <p:nvPr/>
        </p:nvSpPr>
        <p:spPr>
          <a:xfrm>
            <a:off x="5047488" y="4526280"/>
            <a:ext cx="1465652" cy="411480"/>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Kotlin · Android</a:t>
            </a:r>
          </a:p>
        </p:txBody>
      </p:sp>
      <p:sp>
        <p:nvSpPr>
          <p:cNvPr id="516" name="Rounded Rectangle 515"/>
          <p:cNvSpPr/>
          <p:nvPr/>
        </p:nvSpPr>
        <p:spPr>
          <a:xfrm>
            <a:off x="6760028" y="1828800"/>
            <a:ext cx="1685108" cy="329184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17" name="TextBox 516"/>
          <p:cNvSpPr txBox="1"/>
          <p:nvPr/>
        </p:nvSpPr>
        <p:spPr>
          <a:xfrm>
            <a:off x="6851468"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Perfil Reparto</a:t>
            </a:r>
          </a:p>
        </p:txBody>
      </p:sp>
      <p:sp>
        <p:nvSpPr>
          <p:cNvPr id="518" name="TextBox 517"/>
          <p:cNvSpPr txBox="1"/>
          <p:nvPr/>
        </p:nvSpPr>
        <p:spPr>
          <a:xfrm>
            <a:off x="6851468"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Conductor propio</a:t>
            </a:r>
          </a:p>
          <a:p>
            <a:pPr algn="ctr"/>
            <a:r>
              <a:rPr sz="1300" b="0">
                <a:solidFill>
                  <a:srgbClr val="3C3C3C"/>
                </a:solidFill>
                <a:latin typeface="Inter"/>
              </a:rPr>
              <a:t>Conductor externo</a:t>
            </a:r>
          </a:p>
        </p:txBody>
      </p:sp>
      <p:sp>
        <p:nvSpPr>
          <p:cNvPr id="519" name="Rounded Rectangle 518"/>
          <p:cNvSpPr/>
          <p:nvPr/>
        </p:nvSpPr>
        <p:spPr>
          <a:xfrm>
            <a:off x="6869756" y="4526280"/>
            <a:ext cx="1465652" cy="411480"/>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Kotlin · Android</a:t>
            </a:r>
          </a:p>
        </p:txBody>
      </p:sp>
      <p:sp>
        <p:nvSpPr>
          <p:cNvPr id="520" name="Rounded Rectangle 519"/>
          <p:cNvSpPr/>
          <p:nvPr/>
        </p:nvSpPr>
        <p:spPr>
          <a:xfrm>
            <a:off x="8582297" y="1828800"/>
            <a:ext cx="1685108" cy="329184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1" name="TextBox 520"/>
          <p:cNvSpPr txBox="1"/>
          <p:nvPr/>
        </p:nvSpPr>
        <p:spPr>
          <a:xfrm>
            <a:off x="8673737"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Perfil Bodega</a:t>
            </a:r>
          </a:p>
        </p:txBody>
      </p:sp>
      <p:sp>
        <p:nvSpPr>
          <p:cNvPr id="522" name="TextBox 521"/>
          <p:cNvSpPr txBox="1"/>
          <p:nvPr/>
        </p:nvSpPr>
        <p:spPr>
          <a:xfrm>
            <a:off x="8673737"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Preparador</a:t>
            </a:r>
          </a:p>
          <a:p>
            <a:pPr algn="ctr"/>
            <a:r>
              <a:rPr sz="1300" b="0">
                <a:solidFill>
                  <a:srgbClr val="3C3C3C"/>
                </a:solidFill>
                <a:latin typeface="Inter"/>
              </a:rPr>
              <a:t>HHT + escáner GS1</a:t>
            </a:r>
          </a:p>
          <a:p>
            <a:pPr algn="ctr"/>
            <a:r>
              <a:rPr sz="1300" b="0">
                <a:solidFill>
                  <a:srgbClr val="3C3C3C"/>
                </a:solidFill>
                <a:latin typeface="Inter"/>
              </a:rPr>
              <a:t>sin WAN</a:t>
            </a:r>
          </a:p>
        </p:txBody>
      </p:sp>
      <p:sp>
        <p:nvSpPr>
          <p:cNvPr id="523" name="Rounded Rectangle 522"/>
          <p:cNvSpPr/>
          <p:nvPr/>
        </p:nvSpPr>
        <p:spPr>
          <a:xfrm>
            <a:off x="8692025" y="4526280"/>
            <a:ext cx="1465652" cy="411480"/>
          </a:xfrm>
          <a:prstGeom prst="roundRect">
            <a:avLst>
              <a:gd name="adj" fmla="val 3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Kotlin · HHT</a:t>
            </a:r>
          </a:p>
        </p:txBody>
      </p:sp>
      <p:sp>
        <p:nvSpPr>
          <p:cNvPr id="524" name="Rounded Rectangle 523"/>
          <p:cNvSpPr/>
          <p:nvPr/>
        </p:nvSpPr>
        <p:spPr>
          <a:xfrm>
            <a:off x="10404565"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5" name="TextBox 524"/>
          <p:cNvSpPr txBox="1"/>
          <p:nvPr/>
        </p:nvSpPr>
        <p:spPr>
          <a:xfrm>
            <a:off x="10496005"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Portal Clientes</a:t>
            </a:r>
          </a:p>
        </p:txBody>
      </p:sp>
      <p:sp>
        <p:nvSpPr>
          <p:cNvPr id="526" name="TextBox 525"/>
          <p:cNvSpPr txBox="1"/>
          <p:nvPr/>
        </p:nvSpPr>
        <p:spPr>
          <a:xfrm>
            <a:off x="10496005"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Canal tradicional</a:t>
            </a:r>
          </a:p>
          <a:p>
            <a:pPr algn="ctr"/>
            <a:r>
              <a:rPr sz="1300" b="0">
                <a:solidFill>
                  <a:srgbClr val="3C3C3C"/>
                </a:solidFill>
                <a:latin typeface="Inter"/>
              </a:rPr>
              <a:t>Canal moderno</a:t>
            </a:r>
          </a:p>
        </p:txBody>
      </p:sp>
      <p:sp>
        <p:nvSpPr>
          <p:cNvPr id="527" name="Rounded Rectangle 526"/>
          <p:cNvSpPr/>
          <p:nvPr/>
        </p:nvSpPr>
        <p:spPr>
          <a:xfrm>
            <a:off x="10514293"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 · PWA</a:t>
            </a:r>
          </a:p>
        </p:txBody>
      </p:sp>
      <p:sp>
        <p:nvSpPr>
          <p:cNvPr id="528" name="Rounded Rectangle 527"/>
          <p:cNvSpPr/>
          <p:nvPr/>
        </p:nvSpPr>
        <p:spPr>
          <a:xfrm>
            <a:off x="12226834"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29" name="TextBox 528"/>
          <p:cNvSpPr txBox="1"/>
          <p:nvPr/>
        </p:nvSpPr>
        <p:spPr>
          <a:xfrm>
            <a:off x="12318274"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Portal Transportistas</a:t>
            </a:r>
          </a:p>
        </p:txBody>
      </p:sp>
      <p:sp>
        <p:nvSpPr>
          <p:cNvPr id="530" name="TextBox 529"/>
          <p:cNvSpPr txBox="1"/>
          <p:nvPr/>
        </p:nvSpPr>
        <p:spPr>
          <a:xfrm>
            <a:off x="12318274"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Empresa</a:t>
            </a:r>
          </a:p>
          <a:p>
            <a:pPr algn="ctr"/>
            <a:r>
              <a:rPr sz="1300" b="0">
                <a:solidFill>
                  <a:srgbClr val="3C3C3C"/>
                </a:solidFill>
                <a:latin typeface="Inter"/>
              </a:rPr>
              <a:t>transportista</a:t>
            </a:r>
          </a:p>
        </p:txBody>
      </p:sp>
      <p:sp>
        <p:nvSpPr>
          <p:cNvPr id="531" name="Rounded Rectangle 530"/>
          <p:cNvSpPr/>
          <p:nvPr/>
        </p:nvSpPr>
        <p:spPr>
          <a:xfrm>
            <a:off x="12336562"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a:t>
            </a:r>
          </a:p>
        </p:txBody>
      </p:sp>
      <p:sp>
        <p:nvSpPr>
          <p:cNvPr id="532" name="Rounded Rectangle 531"/>
          <p:cNvSpPr/>
          <p:nvPr/>
        </p:nvSpPr>
        <p:spPr>
          <a:xfrm>
            <a:off x="14049102"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33" name="TextBox 532"/>
          <p:cNvSpPr txBox="1"/>
          <p:nvPr/>
        </p:nvSpPr>
        <p:spPr>
          <a:xfrm>
            <a:off x="14140542"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Portal Proveedores</a:t>
            </a:r>
          </a:p>
        </p:txBody>
      </p:sp>
      <p:sp>
        <p:nvSpPr>
          <p:cNvPr id="534" name="TextBox 533"/>
          <p:cNvSpPr txBox="1"/>
          <p:nvPr/>
        </p:nvSpPr>
        <p:spPr>
          <a:xfrm>
            <a:off x="14140542"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Proveedor</a:t>
            </a:r>
          </a:p>
        </p:txBody>
      </p:sp>
      <p:sp>
        <p:nvSpPr>
          <p:cNvPr id="535" name="Rounded Rectangle 534"/>
          <p:cNvSpPr/>
          <p:nvPr/>
        </p:nvSpPr>
        <p:spPr>
          <a:xfrm>
            <a:off x="14158830"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a:t>
            </a:r>
          </a:p>
        </p:txBody>
      </p:sp>
      <p:sp>
        <p:nvSpPr>
          <p:cNvPr id="536" name="Rounded Rectangle 535"/>
          <p:cNvSpPr/>
          <p:nvPr/>
        </p:nvSpPr>
        <p:spPr>
          <a:xfrm>
            <a:off x="15871371" y="1828800"/>
            <a:ext cx="1685108" cy="329184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37" name="TextBox 536"/>
          <p:cNvSpPr txBox="1"/>
          <p:nvPr/>
        </p:nvSpPr>
        <p:spPr>
          <a:xfrm>
            <a:off x="15962811" y="1965960"/>
            <a:ext cx="1502228" cy="822960"/>
          </a:xfrm>
          <a:prstGeom prst="rect">
            <a:avLst/>
          </a:prstGeom>
          <a:noFill/>
        </p:spPr>
        <p:txBody>
          <a:bodyPr wrap="square" lIns="0" rIns="0" tIns="0" bIns="0" anchor="t">
            <a:spAutoFit/>
          </a:bodyPr>
          <a:lstStyle/>
          <a:p>
            <a:pPr algn="ctr"/>
            <a:r>
              <a:rPr sz="1500" b="1">
                <a:solidFill>
                  <a:srgbClr val="111111"/>
                </a:solidFill>
                <a:latin typeface="Inter SemiBold"/>
              </a:rPr>
              <a:t>Consolas back-office</a:t>
            </a:r>
          </a:p>
        </p:txBody>
      </p:sp>
      <p:sp>
        <p:nvSpPr>
          <p:cNvPr id="538" name="TextBox 537"/>
          <p:cNvSpPr txBox="1"/>
          <p:nvPr/>
        </p:nvSpPr>
        <p:spPr>
          <a:xfrm>
            <a:off x="15962811" y="2880360"/>
            <a:ext cx="1502228" cy="1280160"/>
          </a:xfrm>
          <a:prstGeom prst="rect">
            <a:avLst/>
          </a:prstGeom>
          <a:noFill/>
        </p:spPr>
        <p:txBody>
          <a:bodyPr wrap="square" lIns="0" rIns="0" tIns="0" bIns="0" anchor="t">
            <a:spAutoFit/>
          </a:bodyPr>
          <a:lstStyle/>
          <a:p>
            <a:pPr algn="ctr"/>
            <a:r>
              <a:rPr sz="1300" b="0">
                <a:solidFill>
                  <a:srgbClr val="3C3C3C"/>
                </a:solidFill>
                <a:latin typeface="Inter"/>
              </a:rPr>
              <a:t>Calidad · Gerencias</a:t>
            </a:r>
          </a:p>
          <a:p>
            <a:pPr algn="ctr"/>
            <a:r>
              <a:rPr sz="1300" b="0">
                <a:solidFill>
                  <a:srgbClr val="3C3C3C"/>
                </a:solidFill>
                <a:latin typeface="Inter"/>
              </a:rPr>
              <a:t>Planificador · TI</a:t>
            </a:r>
          </a:p>
          <a:p>
            <a:pPr algn="ctr"/>
            <a:r>
              <a:rPr sz="1300" b="0">
                <a:solidFill>
                  <a:srgbClr val="3C3C3C"/>
                </a:solidFill>
                <a:latin typeface="Inter"/>
              </a:rPr>
              <a:t>Bodega</a:t>
            </a:r>
          </a:p>
        </p:txBody>
      </p:sp>
      <p:sp>
        <p:nvSpPr>
          <p:cNvPr id="539" name="Rounded Rectangle 538"/>
          <p:cNvSpPr/>
          <p:nvPr/>
        </p:nvSpPr>
        <p:spPr>
          <a:xfrm>
            <a:off x="15981099" y="4526280"/>
            <a:ext cx="1465652" cy="411480"/>
          </a:xfrm>
          <a:prstGeom prst="roundRect">
            <a:avLst>
              <a:gd name="adj" fmla="val 30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1">
                <a:solidFill>
                  <a:srgbClr val="FFFFFF"/>
                </a:solidFill>
                <a:latin typeface="Inter SemiBold"/>
              </a:rPr>
              <a:t>Angular</a:t>
            </a:r>
          </a:p>
        </p:txBody>
      </p:sp>
      <p:cxnSp>
        <p:nvCxnSpPr>
          <p:cNvPr id="540" name="Connector 539"/>
          <p:cNvCxnSpPr/>
          <p:nvPr/>
        </p:nvCxnSpPr>
        <p:spPr>
          <a:xfrm flipH="1">
            <a:off x="6400800" y="5120640"/>
            <a:ext cx="3024051" cy="155448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5780314"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7602582"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9424851"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a:off x="11247119"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13069388"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a:off x="14891657"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a:off x="16713925" y="5120640"/>
            <a:ext cx="0" cy="86868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5780314" y="5989320"/>
            <a:ext cx="9111343" cy="0"/>
          </a:xfrm>
          <a:prstGeom prst="line">
            <a:avLst/>
          </a:prstGeom>
          <a:ln w="1905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a:off x="10789920" y="5989320"/>
            <a:ext cx="0" cy="685800"/>
          </a:xfrm>
          <a:prstGeom prst="line">
            <a:avLst/>
          </a:prstGeom>
          <a:ln w="2540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flipH="1">
            <a:off x="15544800" y="5989320"/>
            <a:ext cx="1169125" cy="68580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51" name="Rounded Rectangle 550"/>
          <p:cNvSpPr/>
          <p:nvPr/>
        </p:nvSpPr>
        <p:spPr>
          <a:xfrm>
            <a:off x="4937760" y="6675120"/>
            <a:ext cx="3291840" cy="105156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API local WMS</a:t>
            </a:r>
          </a:p>
          <a:p>
            <a:pPr algn="ctr"/>
            <a:r>
              <a:rPr sz="1300" b="0">
                <a:solidFill>
                  <a:srgbClr val="606060"/>
                </a:solidFill>
                <a:latin typeface="Inter"/>
              </a:rPr>
              <a:t>verificador local</a:t>
            </a:r>
          </a:p>
        </p:txBody>
      </p:sp>
      <p:sp>
        <p:nvSpPr>
          <p:cNvPr id="552" name="Rounded Rectangle 551"/>
          <p:cNvSpPr/>
          <p:nvPr/>
        </p:nvSpPr>
        <p:spPr>
          <a:xfrm>
            <a:off x="8503920" y="6675120"/>
            <a:ext cx="4572000" cy="105156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API Gateway</a:t>
            </a:r>
          </a:p>
          <a:p>
            <a:pPr algn="ctr"/>
            <a:r>
              <a:rPr sz="1300" b="0">
                <a:solidFill>
                  <a:srgbClr val="C7C7C7"/>
                </a:solidFill>
                <a:latin typeface="Inter"/>
              </a:rPr>
              <a:t>VPC Link → ALB privado</a:t>
            </a:r>
          </a:p>
        </p:txBody>
      </p:sp>
      <p:sp>
        <p:nvSpPr>
          <p:cNvPr id="553" name="Rounded Rectangle 552"/>
          <p:cNvSpPr/>
          <p:nvPr/>
        </p:nvSpPr>
        <p:spPr>
          <a:xfrm>
            <a:off x="13441680" y="6675120"/>
            <a:ext cx="4114800" cy="105156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Administración / monitoreo</a:t>
            </a:r>
          </a:p>
          <a:p>
            <a:pPr algn="ctr"/>
            <a:r>
              <a:rPr sz="1300" b="0">
                <a:solidFill>
                  <a:srgbClr val="606060"/>
                </a:solidFill>
                <a:latin typeface="Inter"/>
              </a:rPr>
              <a:t>TI · sin permisos de negocio</a:t>
            </a:r>
          </a:p>
        </p:txBody>
      </p:sp>
      <p:sp>
        <p:nvSpPr>
          <p:cNvPr id="554" name="TextBox 553"/>
          <p:cNvSpPr txBox="1"/>
          <p:nvPr/>
        </p:nvSpPr>
        <p:spPr>
          <a:xfrm>
            <a:off x="4937760" y="8092440"/>
            <a:ext cx="12618720" cy="365760"/>
          </a:xfrm>
          <a:prstGeom prst="rect">
            <a:avLst/>
          </a:prstGeom>
          <a:noFill/>
        </p:spPr>
        <p:txBody>
          <a:bodyPr wrap="square" lIns="0" rIns="0" tIns="0" bIns="0" anchor="t">
            <a:spAutoFit/>
          </a:bodyPr>
          <a:lstStyle/>
          <a:p>
            <a:pPr algn="l"/>
            <a:r>
              <a:rPr sz="1400" b="1">
                <a:solidFill>
                  <a:srgbClr val="E8641B"/>
                </a:solidFill>
                <a:latin typeface="Inter SemiBold"/>
              </a:rPr>
              <a:t>Acceso local</a:t>
            </a:r>
            <a:r>
              <a:rPr sz="1400" b="0">
                <a:solidFill>
                  <a:srgbClr val="606060"/>
                </a:solidFill>
                <a:latin typeface="Inter"/>
              </a:rPr>
              <a:t>  ·  </a:t>
            </a:r>
            <a:r>
              <a:rPr sz="1400" b="1">
                <a:solidFill>
                  <a:srgbClr val="606060"/>
                </a:solidFill>
                <a:latin typeface="Inter SemiBold"/>
              </a:rPr>
              <a:t>Acceso central</a:t>
            </a:r>
            <a:r>
              <a:rPr sz="1400" b="0">
                <a:solidFill>
                  <a:srgbClr val="606060"/>
                </a:solidFill>
                <a:latin typeface="Inter"/>
              </a:rPr>
              <a:t>  ·  </a:t>
            </a:r>
            <a:r>
              <a:rPr sz="1400" b="0">
                <a:solidFill>
                  <a:srgbClr val="606060"/>
                </a:solidFill>
                <a:latin typeface="Inter"/>
              </a:rPr>
              <a:t>Administración sin permisos de negocio</a:t>
            </a:r>
          </a:p>
        </p:txBody>
      </p:sp>
      <p:sp>
        <p:nvSpPr>
          <p:cNvPr id="555" name="TextBox 554"/>
          <p:cNvSpPr txBox="1"/>
          <p:nvPr/>
        </p:nvSpPr>
        <p:spPr>
          <a:xfrm>
            <a:off x="4937760" y="8549640"/>
            <a:ext cx="12618720" cy="365760"/>
          </a:xfrm>
          <a:prstGeom prst="rect">
            <a:avLst/>
          </a:prstGeom>
          <a:noFill/>
        </p:spPr>
        <p:txBody>
          <a:bodyPr wrap="square" lIns="0" rIns="0" tIns="0" bIns="0" anchor="t">
            <a:spAutoFit/>
          </a:bodyPr>
          <a:lstStyle/>
          <a:p>
            <a:pPr algn="l"/>
            <a:r>
              <a:rPr sz="1400" b="0">
                <a:solidFill>
                  <a:srgbClr val="606060"/>
                </a:solidFill>
                <a:latin typeface="Inter"/>
              </a:rPr>
              <a:t>Kotlin en los perfiles móviles · Angular + TypeScript + Tailwind en portales y consolas</a:t>
            </a:r>
          </a:p>
        </p:txBody>
      </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21"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0"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5"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2. Borde y exposición</a:t>
            </a:r>
            <a:endParaRPr/>
          </a:p>
        </p:txBody>
      </p:sp>
      <p:sp>
        <p:nvSpPr>
          <p:cNvPr id="509"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2 de 8</a:t>
            </a:r>
            <a:endParaRPr/>
          </a:p>
        </p:txBody>
      </p:sp>
      <p:sp>
        <p:nvSpPr>
          <p:cNvPr id="510"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Protección de las entradas públicas, privadas y locales</a:t>
            </a:r>
            <a:endParaRPr/>
          </a:p>
        </p:txBody>
      </p:sp>
      <p:sp>
        <p:nvSpPr>
          <p:cNvPr id="52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06.2</a:t>
            </a:r>
          </a:p>
        </p:txBody>
      </p:sp>
      <p:sp>
        <p:nvSpPr>
          <p:cNvPr id="523"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24" name="!!mini2"/>
          <p:cNvSpPr/>
          <p:nvPr/>
        </p:nvSpPr>
        <p:spPr>
          <a:xfrm>
            <a:off x="859536" y="2843784"/>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2  Borde</a:t>
            </a:r>
          </a:p>
        </p:txBody>
      </p:sp>
      <p:sp>
        <p:nvSpPr>
          <p:cNvPr id="525"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26"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27"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28"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29"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30"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31" name="TextBox 530"/>
          <p:cNvSpPr txBox="1"/>
          <p:nvPr/>
        </p:nvSpPr>
        <p:spPr>
          <a:xfrm>
            <a:off x="4937760" y="1783080"/>
            <a:ext cx="7863840" cy="320040"/>
          </a:xfrm>
          <a:prstGeom prst="rect">
            <a:avLst/>
          </a:prstGeom>
          <a:noFill/>
        </p:spPr>
        <p:txBody>
          <a:bodyPr wrap="square" lIns="0" rIns="0" tIns="0" bIns="0" anchor="t">
            <a:spAutoFit/>
          </a:bodyPr>
          <a:lstStyle/>
          <a:p>
            <a:pPr algn="l"/>
            <a:r>
              <a:rPr sz="1400" b="1">
                <a:solidFill>
                  <a:srgbClr val="E8641B"/>
                </a:solidFill>
                <a:latin typeface="Inter SemiBold"/>
              </a:rPr>
              <a:t>NUBE · RECORRIDO DE ACCESO</a:t>
            </a:r>
          </a:p>
        </p:txBody>
      </p:sp>
      <p:sp>
        <p:nvSpPr>
          <p:cNvPr id="532" name="TextBox 531"/>
          <p:cNvSpPr txBox="1"/>
          <p:nvPr/>
        </p:nvSpPr>
        <p:spPr>
          <a:xfrm>
            <a:off x="13350240" y="1783080"/>
            <a:ext cx="4206240" cy="320040"/>
          </a:xfrm>
          <a:prstGeom prst="rect">
            <a:avLst/>
          </a:prstGeom>
          <a:noFill/>
        </p:spPr>
        <p:txBody>
          <a:bodyPr wrap="square" lIns="0" rIns="0" tIns="0" bIns="0" anchor="t">
            <a:spAutoFit/>
          </a:bodyPr>
          <a:lstStyle/>
          <a:p>
            <a:pPr algn="l"/>
            <a:r>
              <a:rPr sz="1400" b="1">
                <a:solidFill>
                  <a:srgbClr val="E8641B"/>
                </a:solidFill>
                <a:latin typeface="Inter SemiBold"/>
              </a:rPr>
              <a:t>SITIOS ON-PREMISE</a:t>
            </a:r>
          </a:p>
        </p:txBody>
      </p:sp>
      <p:sp>
        <p:nvSpPr>
          <p:cNvPr id="533" name="Rounded Rectangle 532"/>
          <p:cNvSpPr/>
          <p:nvPr/>
        </p:nvSpPr>
        <p:spPr>
          <a:xfrm>
            <a:off x="4937760" y="2286000"/>
            <a:ext cx="2560320" cy="100584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Canales públicos</a:t>
            </a:r>
          </a:p>
          <a:p>
            <a:pPr algn="ctr"/>
            <a:r>
              <a:rPr sz="1300" b="0">
                <a:solidFill>
                  <a:srgbClr val="606060"/>
                </a:solidFill>
                <a:latin typeface="Inter"/>
              </a:rPr>
              <a:t>web y aplicaciones</a:t>
            </a:r>
          </a:p>
        </p:txBody>
      </p:sp>
      <p:sp>
        <p:nvSpPr>
          <p:cNvPr id="534" name="Rounded Rectangle 533"/>
          <p:cNvSpPr/>
          <p:nvPr/>
        </p:nvSpPr>
        <p:spPr>
          <a:xfrm>
            <a:off x="7863840" y="2286000"/>
            <a:ext cx="237744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Route 53</a:t>
            </a:r>
          </a:p>
          <a:p>
            <a:pPr algn="ctr"/>
            <a:r>
              <a:rPr sz="1300" b="0">
                <a:solidFill>
                  <a:srgbClr val="606060"/>
                </a:solidFill>
                <a:latin typeface="Inter"/>
              </a:rPr>
              <a:t>DNS de acceso</a:t>
            </a:r>
          </a:p>
        </p:txBody>
      </p:sp>
      <p:sp>
        <p:nvSpPr>
          <p:cNvPr id="535" name="Rounded Rectangle 534"/>
          <p:cNvSpPr/>
          <p:nvPr/>
        </p:nvSpPr>
        <p:spPr>
          <a:xfrm>
            <a:off x="10515600" y="2286000"/>
            <a:ext cx="228600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TLS 1.3 · HSTS</a:t>
            </a:r>
          </a:p>
          <a:p>
            <a:pPr algn="ctr"/>
            <a:r>
              <a:rPr sz="1300" b="0">
                <a:solidFill>
                  <a:srgbClr val="606060"/>
                </a:solidFill>
                <a:latin typeface="Inter"/>
              </a:rPr>
              <a:t>condición de acceso</a:t>
            </a:r>
          </a:p>
        </p:txBody>
      </p:sp>
      <p:sp>
        <p:nvSpPr>
          <p:cNvPr id="536" name="Rounded Rectangle 535"/>
          <p:cNvSpPr/>
          <p:nvPr/>
        </p:nvSpPr>
        <p:spPr>
          <a:xfrm>
            <a:off x="4937760" y="4206240"/>
            <a:ext cx="256032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CloudFront</a:t>
            </a:r>
          </a:p>
          <a:p>
            <a:pPr algn="ctr"/>
            <a:r>
              <a:rPr sz="1300" b="0">
                <a:solidFill>
                  <a:srgbClr val="606060"/>
                </a:solidFill>
                <a:latin typeface="Inter"/>
              </a:rPr>
              <a:t>CDN</a:t>
            </a:r>
          </a:p>
        </p:txBody>
      </p:sp>
      <p:sp>
        <p:nvSpPr>
          <p:cNvPr id="537" name="Rounded Rectangle 536"/>
          <p:cNvSpPr/>
          <p:nvPr/>
        </p:nvSpPr>
        <p:spPr>
          <a:xfrm>
            <a:off x="7863840" y="4206240"/>
            <a:ext cx="493776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WAF + Shield</a:t>
            </a:r>
          </a:p>
          <a:p>
            <a:pPr algn="ctr"/>
            <a:r>
              <a:rPr sz="1300" b="0">
                <a:solidFill>
                  <a:srgbClr val="606060"/>
                </a:solidFill>
                <a:latin typeface="Inter"/>
              </a:rPr>
              <a:t>OWASP + DDoS</a:t>
            </a:r>
          </a:p>
        </p:txBody>
      </p:sp>
      <p:sp>
        <p:nvSpPr>
          <p:cNvPr id="538" name="Rounded Rectangle 537"/>
          <p:cNvSpPr/>
          <p:nvPr/>
        </p:nvSpPr>
        <p:spPr>
          <a:xfrm>
            <a:off x="7863840" y="6400800"/>
            <a:ext cx="4937760" cy="109728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API Gateway</a:t>
            </a:r>
          </a:p>
          <a:p>
            <a:pPr algn="ctr"/>
            <a:r>
              <a:rPr sz="1300" b="0">
                <a:solidFill>
                  <a:srgbClr val="C7C7C7"/>
                </a:solidFill>
                <a:latin typeface="Inter"/>
              </a:rPr>
              <a:t>VPC Link → ALB privado</a:t>
            </a:r>
          </a:p>
        </p:txBody>
      </p:sp>
      <p:cxnSp>
        <p:nvCxnSpPr>
          <p:cNvPr id="539" name="Connector 538"/>
          <p:cNvCxnSpPr/>
          <p:nvPr/>
        </p:nvCxnSpPr>
        <p:spPr>
          <a:xfrm>
            <a:off x="6217920" y="3291840"/>
            <a:ext cx="0" cy="9144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7498079" y="4709160"/>
            <a:ext cx="365761"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10332720" y="5212080"/>
            <a:ext cx="0" cy="11887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11658600" y="3291840"/>
            <a:ext cx="777240" cy="310896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3" name="Rounded Rectangle 542"/>
          <p:cNvSpPr/>
          <p:nvPr/>
        </p:nvSpPr>
        <p:spPr>
          <a:xfrm>
            <a:off x="13350240" y="2286000"/>
            <a:ext cx="4206240" cy="100584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API local WMS</a:t>
            </a:r>
          </a:p>
          <a:p>
            <a:pPr algn="ctr"/>
            <a:r>
              <a:rPr sz="1300" b="0">
                <a:solidFill>
                  <a:srgbClr val="606060"/>
                </a:solidFill>
                <a:latin typeface="Inter"/>
              </a:rPr>
              <a:t>verificador local</a:t>
            </a:r>
          </a:p>
        </p:txBody>
      </p:sp>
      <p:sp>
        <p:nvSpPr>
          <p:cNvPr id="544" name="Rounded Rectangle 543"/>
          <p:cNvSpPr/>
          <p:nvPr/>
        </p:nvSpPr>
        <p:spPr>
          <a:xfrm>
            <a:off x="13350240" y="4206240"/>
            <a:ext cx="420624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Firewall / UTM con IPS</a:t>
            </a:r>
          </a:p>
          <a:p>
            <a:pPr algn="ctr"/>
            <a:r>
              <a:rPr sz="1300" b="0">
                <a:solidFill>
                  <a:srgbClr val="606060"/>
                </a:solidFill>
                <a:latin typeface="Inter"/>
              </a:rPr>
              <a:t>uno por sitio</a:t>
            </a:r>
          </a:p>
        </p:txBody>
      </p:sp>
      <p:sp>
        <p:nvSpPr>
          <p:cNvPr id="545" name="Rounded Rectangle 544"/>
          <p:cNvSpPr/>
          <p:nvPr/>
        </p:nvSpPr>
        <p:spPr>
          <a:xfrm>
            <a:off x="13350240" y="6400800"/>
            <a:ext cx="42062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AWS IoT Greengrass</a:t>
            </a:r>
          </a:p>
          <a:p>
            <a:pPr algn="ctr"/>
            <a:r>
              <a:rPr sz="1300" b="0">
                <a:solidFill>
                  <a:srgbClr val="606060"/>
                </a:solidFill>
                <a:latin typeface="Inter"/>
              </a:rPr>
              <a:t>borde de frío</a:t>
            </a:r>
          </a:p>
        </p:txBody>
      </p:sp>
      <p:cxnSp>
        <p:nvCxnSpPr>
          <p:cNvPr id="546" name="Connector 545"/>
          <p:cNvCxnSpPr/>
          <p:nvPr/>
        </p:nvCxnSpPr>
        <p:spPr>
          <a:xfrm flipV="1">
            <a:off x="15453359" y="3291840"/>
            <a:ext cx="0" cy="9144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7" name="TextBox 546"/>
          <p:cNvSpPr txBox="1"/>
          <p:nvPr/>
        </p:nvSpPr>
        <p:spPr>
          <a:xfrm>
            <a:off x="13350240" y="7680960"/>
            <a:ext cx="4206240" cy="731520"/>
          </a:xfrm>
          <a:prstGeom prst="rect">
            <a:avLst/>
          </a:prstGeom>
          <a:noFill/>
        </p:spPr>
        <p:txBody>
          <a:bodyPr wrap="square" lIns="0" rIns="0" tIns="0" bIns="0" anchor="t">
            <a:spAutoFit/>
          </a:bodyPr>
          <a:lstStyle/>
          <a:p>
            <a:pPr algn="l"/>
            <a:r>
              <a:rPr sz="1300" b="0">
                <a:solidFill>
                  <a:srgbClr val="606060"/>
                </a:solidFill>
                <a:latin typeface="Inter"/>
              </a:rPr>
              <a:t>Greengrass procesa eventos de frío; no es una etapa de autenticación</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40"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39"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4"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3. Enlace de servicios</a:t>
            </a:r>
            <a:endParaRPr/>
          </a:p>
        </p:txBody>
      </p:sp>
      <p:sp>
        <p:nvSpPr>
          <p:cNvPr id="528"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3 de 8</a:t>
            </a:r>
            <a:endParaRPr/>
          </a:p>
        </p:txBody>
      </p:sp>
      <p:sp>
        <p:nvSpPr>
          <p:cNvPr id="529"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Validación de solicitudes y acceso local del WMS</a:t>
            </a:r>
            <a:endParaRPr/>
          </a:p>
        </p:txBody>
      </p:sp>
      <p:sp>
        <p:nvSpPr>
          <p:cNvPr id="541"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06.3</a:t>
            </a:r>
          </a:p>
        </p:txBody>
      </p:sp>
      <p:sp>
        <p:nvSpPr>
          <p:cNvPr id="542"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43"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44" name="!!mini3"/>
          <p:cNvSpPr/>
          <p:nvPr/>
        </p:nvSpPr>
        <p:spPr>
          <a:xfrm>
            <a:off x="859536" y="3264408"/>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3  Servicios</a:t>
            </a:r>
          </a:p>
        </p:txBody>
      </p:sp>
      <p:sp>
        <p:nvSpPr>
          <p:cNvPr id="545"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46"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47"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48"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49"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50" name="Rounded Rectangle 549"/>
          <p:cNvSpPr/>
          <p:nvPr/>
        </p:nvSpPr>
        <p:spPr>
          <a:xfrm>
            <a:off x="4937760" y="1828800"/>
            <a:ext cx="3931920" cy="11430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API Gateway</a:t>
            </a:r>
          </a:p>
          <a:p>
            <a:pPr algn="ctr"/>
            <a:r>
              <a:rPr sz="1300" b="0">
                <a:solidFill>
                  <a:srgbClr val="C7C7C7"/>
                </a:solidFill>
                <a:latin typeface="Inter"/>
              </a:rPr>
              <a:t>VPC Link → ALB privado</a:t>
            </a:r>
          </a:p>
        </p:txBody>
      </p:sp>
      <p:sp>
        <p:nvSpPr>
          <p:cNvPr id="551" name="Rounded Rectangle 550"/>
          <p:cNvSpPr/>
          <p:nvPr/>
        </p:nvSpPr>
        <p:spPr>
          <a:xfrm>
            <a:off x="9098280" y="1828800"/>
            <a:ext cx="3931920" cy="114300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API local WMS</a:t>
            </a:r>
          </a:p>
          <a:p>
            <a:pPr algn="ctr"/>
            <a:r>
              <a:rPr sz="1300" b="0">
                <a:solidFill>
                  <a:srgbClr val="606060"/>
                </a:solidFill>
                <a:latin typeface="Inter"/>
              </a:rPr>
              <a:t>verificador local</a:t>
            </a:r>
          </a:p>
        </p:txBody>
      </p:sp>
      <p:sp>
        <p:nvSpPr>
          <p:cNvPr id="552" name="Rounded Rectangle 551"/>
          <p:cNvSpPr/>
          <p:nvPr/>
        </p:nvSpPr>
        <p:spPr>
          <a:xfrm>
            <a:off x="13258800" y="1828800"/>
            <a:ext cx="4297680" cy="114300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Administración / monitoreo</a:t>
            </a:r>
          </a:p>
          <a:p>
            <a:pPr algn="ctr"/>
            <a:r>
              <a:rPr sz="1300" b="0">
                <a:solidFill>
                  <a:srgbClr val="606060"/>
                </a:solidFill>
                <a:latin typeface="Inter"/>
              </a:rPr>
              <a:t>TI · sin permisos de negocio</a:t>
            </a:r>
          </a:p>
        </p:txBody>
      </p:sp>
      <p:cxnSp>
        <p:nvCxnSpPr>
          <p:cNvPr id="553" name="Connector 552"/>
          <p:cNvCxnSpPr/>
          <p:nvPr/>
        </p:nvCxnSpPr>
        <p:spPr>
          <a:xfrm>
            <a:off x="6903720" y="2971800"/>
            <a:ext cx="0" cy="960120"/>
          </a:xfrm>
          <a:prstGeom prst="line">
            <a:avLst/>
          </a:prstGeom>
          <a:ln w="254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a:off x="5029200" y="3931920"/>
            <a:ext cx="12435839" cy="0"/>
          </a:xfrm>
          <a:prstGeom prst="line">
            <a:avLst/>
          </a:prstGeom>
          <a:ln w="25400">
            <a:solidFill>
              <a:srgbClr val="111111"/>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4937760" y="3520440"/>
            <a:ext cx="2011680" cy="320040"/>
          </a:xfrm>
          <a:prstGeom prst="rect">
            <a:avLst/>
          </a:prstGeom>
          <a:noFill/>
        </p:spPr>
        <p:txBody>
          <a:bodyPr wrap="square" lIns="0" rIns="0" tIns="0" bIns="0" anchor="t">
            <a:spAutoFit/>
          </a:bodyPr>
          <a:lstStyle/>
          <a:p>
            <a:pPr algn="l"/>
            <a:r>
              <a:rPr sz="1400" b="1">
                <a:solidFill>
                  <a:srgbClr val="111111"/>
                </a:solidFill>
                <a:latin typeface="Inter SemiBold"/>
              </a:rPr>
              <a:t>Acceso central</a:t>
            </a:r>
          </a:p>
        </p:txBody>
      </p:sp>
      <p:cxnSp>
        <p:nvCxnSpPr>
          <p:cNvPr id="556" name="Connector 555"/>
          <p:cNvCxnSpPr/>
          <p:nvPr/>
        </p:nvCxnSpPr>
        <p:spPr>
          <a:xfrm>
            <a:off x="11064240" y="2971800"/>
            <a:ext cx="0" cy="1371600"/>
          </a:xfrm>
          <a:prstGeom prst="line">
            <a:avLst/>
          </a:prstGeom>
          <a:ln w="25400">
            <a:solidFill>
              <a:srgbClr val="E8641B"/>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a:off x="5212080" y="4343400"/>
            <a:ext cx="8503920" cy="0"/>
          </a:xfrm>
          <a:prstGeom prst="line">
            <a:avLst/>
          </a:prstGeom>
          <a:ln w="25400">
            <a:solidFill>
              <a:srgbClr val="E8641B"/>
            </a:solidFill>
          </a:ln>
        </p:spPr>
        <p:style>
          <a:lnRef idx="2">
            <a:schemeClr val="accent1"/>
          </a:lnRef>
          <a:fillRef idx="0">
            <a:schemeClr val="accent1"/>
          </a:fillRef>
          <a:effectRef idx="1">
            <a:schemeClr val="accent1"/>
          </a:effectRef>
          <a:fontRef idx="minor">
            <a:schemeClr val="tx1"/>
          </a:fontRef>
        </p:style>
      </p:cxnSp>
      <p:sp>
        <p:nvSpPr>
          <p:cNvPr id="558" name="TextBox 557"/>
          <p:cNvSpPr txBox="1"/>
          <p:nvPr/>
        </p:nvSpPr>
        <p:spPr>
          <a:xfrm>
            <a:off x="11201400" y="4434840"/>
            <a:ext cx="3200400" cy="320040"/>
          </a:xfrm>
          <a:prstGeom prst="rect">
            <a:avLst/>
          </a:prstGeom>
          <a:noFill/>
        </p:spPr>
        <p:txBody>
          <a:bodyPr wrap="square" lIns="0" rIns="0" tIns="0" bIns="0" anchor="t">
            <a:spAutoFit/>
          </a:bodyPr>
          <a:lstStyle/>
          <a:p>
            <a:pPr algn="l"/>
            <a:r>
              <a:rPr sz="1400" b="1">
                <a:solidFill>
                  <a:srgbClr val="E8641B"/>
                </a:solidFill>
                <a:latin typeface="Inter SemiBold"/>
              </a:rPr>
              <a:t>Operación local autorizada</a:t>
            </a:r>
          </a:p>
        </p:txBody>
      </p:sp>
      <p:sp>
        <p:nvSpPr>
          <p:cNvPr id="559" name="Rounded Rectangle 558"/>
          <p:cNvSpPr/>
          <p:nvPr/>
        </p:nvSpPr>
        <p:spPr>
          <a:xfrm>
            <a:off x="15407640" y="2971800"/>
            <a:ext cx="9144" cy="1828800"/>
          </a:xfrm>
          <a:prstGeom prst="roundRect">
            <a:avLst>
              <a:gd name="adj" fmla="val 12000"/>
            </a:avLst>
          </a:prstGeom>
          <a:noFill/>
          <a:ln w="15875">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60" name="TextBox 559"/>
          <p:cNvSpPr txBox="1"/>
          <p:nvPr/>
        </p:nvSpPr>
        <p:spPr>
          <a:xfrm>
            <a:off x="14081760" y="4846320"/>
            <a:ext cx="3474720" cy="320040"/>
          </a:xfrm>
          <a:prstGeom prst="rect">
            <a:avLst/>
          </a:prstGeom>
          <a:noFill/>
        </p:spPr>
        <p:txBody>
          <a:bodyPr wrap="square" lIns="0" rIns="0" tIns="0" bIns="0" anchor="t">
            <a:spAutoFit/>
          </a:bodyPr>
          <a:lstStyle/>
          <a:p>
            <a:pPr algn="r"/>
            <a:r>
              <a:rPr sz="1400" b="1">
                <a:solidFill>
                  <a:srgbClr val="606060"/>
                </a:solidFill>
                <a:latin typeface="Inter SemiBold"/>
              </a:rPr>
              <a:t>Administración y monitoreo</a:t>
            </a:r>
          </a:p>
        </p:txBody>
      </p:sp>
      <p:sp>
        <p:nvSpPr>
          <p:cNvPr id="561" name="Rounded Rectangle 560"/>
          <p:cNvSpPr/>
          <p:nvPr/>
        </p:nvSpPr>
        <p:spPr>
          <a:xfrm>
            <a:off x="4937760" y="53949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 · Recepción</a:t>
            </a:r>
          </a:p>
        </p:txBody>
      </p:sp>
      <p:sp>
        <p:nvSpPr>
          <p:cNvPr id="562" name="Rounded Rectangle 561"/>
          <p:cNvSpPr/>
          <p:nvPr/>
        </p:nvSpPr>
        <p:spPr>
          <a:xfrm>
            <a:off x="7063740" y="53949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M2 · Inventario</a:t>
            </a:r>
          </a:p>
        </p:txBody>
      </p:sp>
      <p:sp>
        <p:nvSpPr>
          <p:cNvPr id="563" name="Rounded Rectangle 562"/>
          <p:cNvSpPr/>
          <p:nvPr/>
        </p:nvSpPr>
        <p:spPr>
          <a:xfrm>
            <a:off x="9189720" y="53949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M3 · Preventa</a:t>
            </a:r>
          </a:p>
        </p:txBody>
      </p:sp>
      <p:sp>
        <p:nvSpPr>
          <p:cNvPr id="564" name="Rounded Rectangle 563"/>
          <p:cNvSpPr/>
          <p:nvPr/>
        </p:nvSpPr>
        <p:spPr>
          <a:xfrm>
            <a:off x="11315700" y="53949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M4 · Rutas + GIS</a:t>
            </a:r>
          </a:p>
        </p:txBody>
      </p:sp>
      <p:sp>
        <p:nvSpPr>
          <p:cNvPr id="565" name="Rounded Rectangle 564"/>
          <p:cNvSpPr/>
          <p:nvPr/>
        </p:nvSpPr>
        <p:spPr>
          <a:xfrm>
            <a:off x="13441680" y="53949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M5 · Preparación</a:t>
            </a:r>
          </a:p>
        </p:txBody>
      </p:sp>
      <p:sp>
        <p:nvSpPr>
          <p:cNvPr id="566" name="Rounded Rectangle 565"/>
          <p:cNvSpPr/>
          <p:nvPr/>
        </p:nvSpPr>
        <p:spPr>
          <a:xfrm>
            <a:off x="15567659" y="53949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M6 · Reparto (POD)</a:t>
            </a:r>
          </a:p>
        </p:txBody>
      </p:sp>
      <p:sp>
        <p:nvSpPr>
          <p:cNvPr id="567" name="Rounded Rectangle 566"/>
          <p:cNvSpPr/>
          <p:nvPr/>
        </p:nvSpPr>
        <p:spPr>
          <a:xfrm>
            <a:off x="4937760"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M7 · Cobranza</a:t>
            </a:r>
          </a:p>
        </p:txBody>
      </p:sp>
      <p:sp>
        <p:nvSpPr>
          <p:cNvPr id="568" name="Rounded Rectangle 567"/>
          <p:cNvSpPr/>
          <p:nvPr/>
        </p:nvSpPr>
        <p:spPr>
          <a:xfrm>
            <a:off x="7063740" y="62179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M8 · Devoluciones</a:t>
            </a:r>
          </a:p>
        </p:txBody>
      </p:sp>
      <p:sp>
        <p:nvSpPr>
          <p:cNvPr id="569" name="Rounded Rectangle 568"/>
          <p:cNvSpPr/>
          <p:nvPr/>
        </p:nvSpPr>
        <p:spPr>
          <a:xfrm>
            <a:off x="9189720" y="62179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M9 · Calidad</a:t>
            </a:r>
          </a:p>
        </p:txBody>
      </p:sp>
      <p:sp>
        <p:nvSpPr>
          <p:cNvPr id="570" name="Rounded Rectangle 569"/>
          <p:cNvSpPr/>
          <p:nvPr/>
        </p:nvSpPr>
        <p:spPr>
          <a:xfrm>
            <a:off x="11315700"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M10 · BI Gerencia</a:t>
            </a:r>
          </a:p>
        </p:txBody>
      </p:sp>
      <p:sp>
        <p:nvSpPr>
          <p:cNvPr id="571" name="Rounded Rectangle 570"/>
          <p:cNvSpPr/>
          <p:nvPr/>
        </p:nvSpPr>
        <p:spPr>
          <a:xfrm>
            <a:off x="13441680"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M11 · EDI</a:t>
            </a:r>
          </a:p>
        </p:txBody>
      </p:sp>
      <p:sp>
        <p:nvSpPr>
          <p:cNvPr id="572" name="Rounded Rectangle 571"/>
          <p:cNvSpPr/>
          <p:nvPr/>
        </p:nvSpPr>
        <p:spPr>
          <a:xfrm>
            <a:off x="15567659" y="62179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M12 · Telemetría</a:t>
            </a:r>
          </a:p>
        </p:txBody>
      </p:sp>
      <p:sp>
        <p:nvSpPr>
          <p:cNvPr id="573" name="TextBox 572"/>
          <p:cNvSpPr txBox="1"/>
          <p:nvPr/>
        </p:nvSpPr>
        <p:spPr>
          <a:xfrm>
            <a:off x="4937760" y="7315200"/>
            <a:ext cx="12618720" cy="73152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606060"/>
                </a:solidFill>
                <a:latin typeface="Inter"/>
              </a:rPr>
              <a:t>Locales sin WAN: M1 · M2 · M5 · M8 · M9</a:t>
            </a:r>
          </a:p>
          <a:p>
            <a:pPr algn="l"/>
            <a:r>
              <a:rPr sz="1400" b="0">
                <a:solidFill>
                  <a:srgbClr val="606060"/>
                </a:solidFill>
                <a:latin typeface="Inter"/>
              </a:rPr>
              <a:t>TI administra y monitorea; no opera procesos de negocio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59"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58"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43"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4. Lógica de negocio</a:t>
            </a:r>
            <a:endParaRPr/>
          </a:p>
        </p:txBody>
      </p:sp>
      <p:sp>
        <p:nvSpPr>
          <p:cNvPr id="54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4 de 8</a:t>
            </a:r>
            <a:endParaRPr/>
          </a:p>
        </p:txBody>
      </p:sp>
      <p:sp>
        <p:nvSpPr>
          <p:cNvPr id="54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Reglas de negocio de los doce módulos Laravel</a:t>
            </a:r>
            <a:endParaRPr/>
          </a:p>
        </p:txBody>
      </p:sp>
      <p:sp>
        <p:nvSpPr>
          <p:cNvPr id="56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06.4</a:t>
            </a:r>
          </a:p>
        </p:txBody>
      </p:sp>
      <p:sp>
        <p:nvSpPr>
          <p:cNvPr id="561"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62"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63"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64" name="!!mini4"/>
          <p:cNvSpPr/>
          <p:nvPr/>
        </p:nvSpPr>
        <p:spPr>
          <a:xfrm>
            <a:off x="859536" y="3685032"/>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4  Negocio</a:t>
            </a:r>
          </a:p>
        </p:txBody>
      </p:sp>
      <p:sp>
        <p:nvSpPr>
          <p:cNvPr id="565"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566"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67"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68"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69" name="Rounded Rectangle 568"/>
          <p:cNvSpPr/>
          <p:nvPr/>
        </p:nvSpPr>
        <p:spPr>
          <a:xfrm>
            <a:off x="4937760" y="1828800"/>
            <a:ext cx="12618719" cy="1188720"/>
          </a:xfrm>
          <a:prstGeom prst="roundRect">
            <a:avLst>
              <a:gd name="adj" fmla="val 8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Monolito modular · Laravel 13 / PHP 8.5 · ECS Fargate</a:t>
            </a:r>
          </a:p>
          <a:p>
            <a:pPr algn="ctr"/>
            <a:r>
              <a:rPr sz="1400" b="0">
                <a:solidFill>
                  <a:srgbClr val="C7C7C7"/>
                </a:solidFill>
                <a:latin typeface="Inter"/>
              </a:rPr>
              <a:t>M1–M12 en la nube · perfil local WMS: M1 · M2 · M5 · M8 recepción · M9 bloqueo</a:t>
            </a:r>
          </a:p>
        </p:txBody>
      </p:sp>
      <p:sp>
        <p:nvSpPr>
          <p:cNvPr id="570" name="Rounded Rectangle 569"/>
          <p:cNvSpPr/>
          <p:nvPr/>
        </p:nvSpPr>
        <p:spPr>
          <a:xfrm>
            <a:off x="4937760" y="33375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 · Recepción</a:t>
            </a:r>
          </a:p>
        </p:txBody>
      </p:sp>
      <p:sp>
        <p:nvSpPr>
          <p:cNvPr id="571" name="Rounded Rectangle 570"/>
          <p:cNvSpPr/>
          <p:nvPr/>
        </p:nvSpPr>
        <p:spPr>
          <a:xfrm>
            <a:off x="7063740" y="33375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M2 · Inventario</a:t>
            </a:r>
          </a:p>
        </p:txBody>
      </p:sp>
      <p:sp>
        <p:nvSpPr>
          <p:cNvPr id="572" name="Rounded Rectangle 571"/>
          <p:cNvSpPr/>
          <p:nvPr/>
        </p:nvSpPr>
        <p:spPr>
          <a:xfrm>
            <a:off x="9189720" y="33375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M3 · Preventa</a:t>
            </a:r>
          </a:p>
        </p:txBody>
      </p:sp>
      <p:sp>
        <p:nvSpPr>
          <p:cNvPr id="573" name="Rounded Rectangle 572"/>
          <p:cNvSpPr/>
          <p:nvPr/>
        </p:nvSpPr>
        <p:spPr>
          <a:xfrm>
            <a:off x="11315700" y="33375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M4 · Rutas + GIS</a:t>
            </a:r>
          </a:p>
        </p:txBody>
      </p:sp>
      <p:sp>
        <p:nvSpPr>
          <p:cNvPr id="574" name="Rounded Rectangle 573"/>
          <p:cNvSpPr/>
          <p:nvPr/>
        </p:nvSpPr>
        <p:spPr>
          <a:xfrm>
            <a:off x="13441680" y="333756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M5 · Preparación</a:t>
            </a:r>
          </a:p>
        </p:txBody>
      </p:sp>
      <p:sp>
        <p:nvSpPr>
          <p:cNvPr id="575" name="Rounded Rectangle 574"/>
          <p:cNvSpPr/>
          <p:nvPr/>
        </p:nvSpPr>
        <p:spPr>
          <a:xfrm>
            <a:off x="15567659" y="333756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M6 · Reparto (POD)</a:t>
            </a:r>
          </a:p>
        </p:txBody>
      </p:sp>
      <p:sp>
        <p:nvSpPr>
          <p:cNvPr id="576" name="Rounded Rectangle 575"/>
          <p:cNvSpPr/>
          <p:nvPr/>
        </p:nvSpPr>
        <p:spPr>
          <a:xfrm>
            <a:off x="4937760"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M7 · Cobranza</a:t>
            </a:r>
          </a:p>
        </p:txBody>
      </p:sp>
      <p:sp>
        <p:nvSpPr>
          <p:cNvPr id="577" name="Rounded Rectangle 576"/>
          <p:cNvSpPr/>
          <p:nvPr/>
        </p:nvSpPr>
        <p:spPr>
          <a:xfrm>
            <a:off x="7063740" y="41605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M8 · Devoluciones</a:t>
            </a:r>
          </a:p>
        </p:txBody>
      </p:sp>
      <p:sp>
        <p:nvSpPr>
          <p:cNvPr id="578" name="Rounded Rectangle 577"/>
          <p:cNvSpPr/>
          <p:nvPr/>
        </p:nvSpPr>
        <p:spPr>
          <a:xfrm>
            <a:off x="9189720" y="4160520"/>
            <a:ext cx="1988819" cy="658368"/>
          </a:xfrm>
          <a:prstGeom prst="roundRect">
            <a:avLst>
              <a:gd name="adj" fmla="val 12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M9 · Calidad</a:t>
            </a:r>
          </a:p>
        </p:txBody>
      </p:sp>
      <p:sp>
        <p:nvSpPr>
          <p:cNvPr id="579" name="Rounded Rectangle 578"/>
          <p:cNvSpPr/>
          <p:nvPr/>
        </p:nvSpPr>
        <p:spPr>
          <a:xfrm>
            <a:off x="11315700"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M10 · BI Gerencia</a:t>
            </a:r>
          </a:p>
        </p:txBody>
      </p:sp>
      <p:sp>
        <p:nvSpPr>
          <p:cNvPr id="580" name="Rounded Rectangle 579"/>
          <p:cNvSpPr/>
          <p:nvPr/>
        </p:nvSpPr>
        <p:spPr>
          <a:xfrm>
            <a:off x="13441680"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M11 · EDI</a:t>
            </a:r>
          </a:p>
        </p:txBody>
      </p:sp>
      <p:sp>
        <p:nvSpPr>
          <p:cNvPr id="581" name="Rounded Rectangle 580"/>
          <p:cNvSpPr/>
          <p:nvPr/>
        </p:nvSpPr>
        <p:spPr>
          <a:xfrm>
            <a:off x="15567659" y="4160520"/>
            <a:ext cx="1988819" cy="658368"/>
          </a:xfrm>
          <a:prstGeom prst="roundRect">
            <a:avLst>
              <a:gd name="adj" fmla="val 12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111111"/>
                </a:solidFill>
                <a:latin typeface="Inter SemiBold"/>
              </a:rPr>
              <a:t>M12 · Telemetría</a:t>
            </a:r>
          </a:p>
        </p:txBody>
      </p:sp>
      <p:sp>
        <p:nvSpPr>
          <p:cNvPr id="582" name="TextBox 581"/>
          <p:cNvSpPr txBox="1"/>
          <p:nvPr/>
        </p:nvSpPr>
        <p:spPr>
          <a:xfrm>
            <a:off x="4937760" y="5257800"/>
            <a:ext cx="12618720" cy="320040"/>
          </a:xfrm>
          <a:prstGeom prst="rect">
            <a:avLst/>
          </a:prstGeom>
          <a:noFill/>
        </p:spPr>
        <p:txBody>
          <a:bodyPr wrap="square" lIns="0" rIns="0" tIns="0" bIns="0" anchor="t">
            <a:spAutoFit/>
          </a:bodyPr>
          <a:lstStyle/>
          <a:p>
            <a:pPr algn="l"/>
            <a:r>
              <a:rPr sz="1400" b="1">
                <a:solidFill>
                  <a:srgbClr val="E8641B"/>
                </a:solidFill>
                <a:latin typeface="Inter SemiBold"/>
              </a:rPr>
              <a:t>SISTEMAS EXTERNOS · CADA UNO ENTRA POR UN SOLO MÓDULO</a:t>
            </a:r>
          </a:p>
        </p:txBody>
      </p:sp>
      <p:sp>
        <p:nvSpPr>
          <p:cNvPr id="583" name="Rounded Rectangle 582"/>
          <p:cNvSpPr/>
          <p:nvPr/>
        </p:nvSpPr>
        <p:spPr>
          <a:xfrm>
            <a:off x="4937760"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ERP 2017</a:t>
            </a:r>
          </a:p>
          <a:p>
            <a:pPr algn="ctr"/>
            <a:r>
              <a:rPr sz="1300" b="0">
                <a:solidFill>
                  <a:srgbClr val="606060"/>
                </a:solidFill>
                <a:latin typeface="Inter"/>
              </a:rPr>
              <a:t>DTE · acceso exclusivo por ACL</a:t>
            </a:r>
          </a:p>
          <a:p>
            <a:pPr algn="ctr"/>
            <a:r>
              <a:rPr sz="1500" b="1">
                <a:solidFill>
                  <a:srgbClr val="E8641B"/>
                </a:solidFill>
                <a:latin typeface="Inter SemiBold"/>
              </a:rPr>
              <a:t>→ M1 · M5 · M7</a:t>
            </a:r>
          </a:p>
        </p:txBody>
      </p:sp>
      <p:sp>
        <p:nvSpPr>
          <p:cNvPr id="584" name="Rounded Rectangle 583"/>
          <p:cNvSpPr/>
          <p:nvPr/>
        </p:nvSpPr>
        <p:spPr>
          <a:xfrm>
            <a:off x="7488936"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Mapas</a:t>
            </a:r>
          </a:p>
          <a:p>
            <a:pPr algn="ctr"/>
            <a:r>
              <a:rPr sz="1300" b="0">
                <a:solidFill>
                  <a:srgbClr val="606060"/>
                </a:solidFill>
                <a:latin typeface="Inter"/>
              </a:rPr>
              <a:t>geocodificación</a:t>
            </a:r>
          </a:p>
          <a:p>
            <a:pPr algn="ctr"/>
            <a:r>
              <a:rPr sz="1500" b="1">
                <a:solidFill>
                  <a:srgbClr val="E8641B"/>
                </a:solidFill>
                <a:latin typeface="Inter SemiBold"/>
              </a:rPr>
              <a:t>→ M4</a:t>
            </a:r>
          </a:p>
        </p:txBody>
      </p:sp>
      <p:sp>
        <p:nvSpPr>
          <p:cNvPr id="585" name="Rounded Rectangle 584"/>
          <p:cNvSpPr/>
          <p:nvPr/>
        </p:nvSpPr>
        <p:spPr>
          <a:xfrm>
            <a:off x="10040112"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Transbank</a:t>
            </a:r>
          </a:p>
          <a:p>
            <a:pPr algn="ctr"/>
            <a:r>
              <a:rPr sz="1300" b="0">
                <a:solidFill>
                  <a:srgbClr val="606060"/>
                </a:solidFill>
                <a:latin typeface="Inter"/>
              </a:rPr>
              <a:t>pagos</a:t>
            </a:r>
          </a:p>
          <a:p>
            <a:pPr algn="ctr"/>
            <a:r>
              <a:rPr sz="1500" b="1">
                <a:solidFill>
                  <a:srgbClr val="E8641B"/>
                </a:solidFill>
                <a:latin typeface="Inter SemiBold"/>
              </a:rPr>
              <a:t>→ M7</a:t>
            </a:r>
          </a:p>
        </p:txBody>
      </p:sp>
      <p:sp>
        <p:nvSpPr>
          <p:cNvPr id="586" name="Rounded Rectangle 585"/>
          <p:cNvSpPr/>
          <p:nvPr/>
        </p:nvSpPr>
        <p:spPr>
          <a:xfrm>
            <a:off x="12591288"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Posicionamiento de flota</a:t>
            </a:r>
          </a:p>
          <a:p>
            <a:pPr algn="ctr"/>
            <a:r>
              <a:rPr sz="1300" b="0">
                <a:solidFill>
                  <a:srgbClr val="606060"/>
                </a:solidFill>
                <a:latin typeface="Inter"/>
              </a:rPr>
              <a:t>solo lectura</a:t>
            </a:r>
          </a:p>
          <a:p>
            <a:pPr algn="ctr"/>
            <a:r>
              <a:rPr sz="1500" b="1">
                <a:solidFill>
                  <a:srgbClr val="E8641B"/>
                </a:solidFill>
                <a:latin typeface="Inter SemiBold"/>
              </a:rPr>
              <a:t>→ M12</a:t>
            </a:r>
          </a:p>
        </p:txBody>
      </p:sp>
      <p:sp>
        <p:nvSpPr>
          <p:cNvPr id="587" name="Rounded Rectangle 586"/>
          <p:cNvSpPr/>
          <p:nvPr/>
        </p:nvSpPr>
        <p:spPr>
          <a:xfrm>
            <a:off x="15142463" y="5715000"/>
            <a:ext cx="2414015" cy="160020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Cadenas canal moderno</a:t>
            </a:r>
          </a:p>
          <a:p>
            <a:pPr algn="ctr"/>
            <a:r>
              <a:rPr sz="1300" b="0">
                <a:solidFill>
                  <a:srgbClr val="606060"/>
                </a:solidFill>
                <a:latin typeface="Inter"/>
              </a:rPr>
              <a:t>EDI</a:t>
            </a:r>
          </a:p>
          <a:p>
            <a:pPr algn="ctr"/>
            <a:r>
              <a:rPr sz="1500" b="1">
                <a:solidFill>
                  <a:srgbClr val="E8641B"/>
                </a:solidFill>
                <a:latin typeface="Inter SemiBold"/>
              </a:rPr>
              <a:t>→ M11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78"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77"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62"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5. Integración y eventos</a:t>
            </a:r>
            <a:endParaRPr/>
          </a:p>
        </p:txBody>
      </p:sp>
      <p:sp>
        <p:nvSpPr>
          <p:cNvPr id="566"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5 de 8</a:t>
            </a:r>
            <a:endParaRPr/>
          </a:p>
        </p:txBody>
      </p:sp>
      <p:sp>
        <p:nvSpPr>
          <p:cNvPr id="567"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Intercambio de eventos y continuidad de los sitios</a:t>
            </a:r>
            <a:endParaRPr/>
          </a:p>
        </p:txBody>
      </p:sp>
      <p:sp>
        <p:nvSpPr>
          <p:cNvPr id="57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06.5</a:t>
            </a:r>
          </a:p>
        </p:txBody>
      </p:sp>
      <p:sp>
        <p:nvSpPr>
          <p:cNvPr id="580"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581"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582"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583"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584" name="!!mini5"/>
          <p:cNvSpPr/>
          <p:nvPr/>
        </p:nvSpPr>
        <p:spPr>
          <a:xfrm>
            <a:off x="859536" y="4105656"/>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5  Integración</a:t>
            </a:r>
          </a:p>
        </p:txBody>
      </p:sp>
      <p:sp>
        <p:nvSpPr>
          <p:cNvPr id="585"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586"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587"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588" name="Rounded Rectangle 587"/>
          <p:cNvSpPr/>
          <p:nvPr/>
        </p:nvSpPr>
        <p:spPr>
          <a:xfrm>
            <a:off x="4937760" y="1828800"/>
            <a:ext cx="4053839" cy="2514600"/>
          </a:xfrm>
          <a:prstGeom prst="roundRect">
            <a:avLst>
              <a:gd name="adj" fmla="val 8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89" name="TextBox 588"/>
          <p:cNvSpPr txBox="1"/>
          <p:nvPr/>
        </p:nvSpPr>
        <p:spPr>
          <a:xfrm>
            <a:off x="5166360" y="205740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RabbitMQ por sitio</a:t>
            </a:r>
          </a:p>
        </p:txBody>
      </p:sp>
      <p:sp>
        <p:nvSpPr>
          <p:cNvPr id="590" name="TextBox 589"/>
          <p:cNvSpPr txBox="1"/>
          <p:nvPr/>
        </p:nvSpPr>
        <p:spPr>
          <a:xfrm>
            <a:off x="5166360" y="2606040"/>
            <a:ext cx="3596639" cy="731520"/>
          </a:xfrm>
          <a:prstGeom prst="rect">
            <a:avLst/>
          </a:prstGeom>
          <a:noFill/>
        </p:spPr>
        <p:txBody>
          <a:bodyPr wrap="square" lIns="0" rIns="0" tIns="0" bIns="0" anchor="t">
            <a:spAutoFit/>
          </a:bodyPr>
          <a:lstStyle/>
          <a:p>
            <a:pPr algn="l"/>
            <a:r>
              <a:rPr sz="1400" b="0">
                <a:solidFill>
                  <a:srgbClr val="606060"/>
                </a:solidFill>
                <a:latin typeface="Inter"/>
              </a:rPr>
              <a:t>buffer 24 h · integraciones locales</a:t>
            </a:r>
          </a:p>
        </p:txBody>
      </p:sp>
      <p:sp>
        <p:nvSpPr>
          <p:cNvPr id="591" name="TextBox 590"/>
          <p:cNvSpPr txBox="1"/>
          <p:nvPr/>
        </p:nvSpPr>
        <p:spPr>
          <a:xfrm>
            <a:off x="5166360" y="342900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592" name="TextBox 591"/>
          <p:cNvSpPr txBox="1"/>
          <p:nvPr/>
        </p:nvSpPr>
        <p:spPr>
          <a:xfrm>
            <a:off x="5166360" y="3703320"/>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M1 · M2 · M5 · M9</a:t>
            </a:r>
          </a:p>
        </p:txBody>
      </p:sp>
      <p:sp>
        <p:nvSpPr>
          <p:cNvPr id="593" name="Rounded Rectangle 592"/>
          <p:cNvSpPr/>
          <p:nvPr/>
        </p:nvSpPr>
        <p:spPr>
          <a:xfrm>
            <a:off x="9220199" y="182880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94" name="TextBox 593"/>
          <p:cNvSpPr txBox="1"/>
          <p:nvPr/>
        </p:nvSpPr>
        <p:spPr>
          <a:xfrm>
            <a:off x="9448799" y="205740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SQS FIFO</a:t>
            </a:r>
          </a:p>
        </p:txBody>
      </p:sp>
      <p:sp>
        <p:nvSpPr>
          <p:cNvPr id="595" name="TextBox 594"/>
          <p:cNvSpPr txBox="1"/>
          <p:nvPr/>
        </p:nvSpPr>
        <p:spPr>
          <a:xfrm>
            <a:off x="9448799" y="2606040"/>
            <a:ext cx="3596639" cy="731520"/>
          </a:xfrm>
          <a:prstGeom prst="rect">
            <a:avLst/>
          </a:prstGeom>
          <a:noFill/>
        </p:spPr>
        <p:txBody>
          <a:bodyPr wrap="square" lIns="0" rIns="0" tIns="0" bIns="0" anchor="t">
            <a:spAutoFit/>
          </a:bodyPr>
          <a:lstStyle/>
          <a:p>
            <a:pPr algn="l"/>
            <a:r>
              <a:rPr sz="1400" b="0">
                <a:solidFill>
                  <a:srgbClr val="606060"/>
                </a:solidFill>
                <a:latin typeface="Inter"/>
              </a:rPr>
              <a:t>colas ordenadas, reintentos a DLQ</a:t>
            </a:r>
          </a:p>
        </p:txBody>
      </p:sp>
      <p:sp>
        <p:nvSpPr>
          <p:cNvPr id="596" name="TextBox 595"/>
          <p:cNvSpPr txBox="1"/>
          <p:nvPr/>
        </p:nvSpPr>
        <p:spPr>
          <a:xfrm>
            <a:off x="9448799" y="342900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597" name="TextBox 596"/>
          <p:cNvSpPr txBox="1"/>
          <p:nvPr/>
        </p:nvSpPr>
        <p:spPr>
          <a:xfrm>
            <a:off x="9448799" y="3703320"/>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M3 · M6 · M8 · M12</a:t>
            </a:r>
          </a:p>
        </p:txBody>
      </p:sp>
      <p:sp>
        <p:nvSpPr>
          <p:cNvPr id="598" name="Rounded Rectangle 597"/>
          <p:cNvSpPr/>
          <p:nvPr/>
        </p:nvSpPr>
        <p:spPr>
          <a:xfrm>
            <a:off x="13502640" y="182880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599" name="TextBox 598"/>
          <p:cNvSpPr txBox="1"/>
          <p:nvPr/>
        </p:nvSpPr>
        <p:spPr>
          <a:xfrm>
            <a:off x="13731240" y="205740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SNS</a:t>
            </a:r>
          </a:p>
        </p:txBody>
      </p:sp>
      <p:sp>
        <p:nvSpPr>
          <p:cNvPr id="600" name="TextBox 599"/>
          <p:cNvSpPr txBox="1"/>
          <p:nvPr/>
        </p:nvSpPr>
        <p:spPr>
          <a:xfrm>
            <a:off x="13731240" y="2606040"/>
            <a:ext cx="3596639" cy="731520"/>
          </a:xfrm>
          <a:prstGeom prst="rect">
            <a:avLst/>
          </a:prstGeom>
          <a:noFill/>
        </p:spPr>
        <p:txBody>
          <a:bodyPr wrap="square" lIns="0" rIns="0" tIns="0" bIns="0" anchor="t">
            <a:spAutoFit/>
          </a:bodyPr>
          <a:lstStyle/>
          <a:p>
            <a:pPr algn="l"/>
            <a:r>
              <a:rPr sz="1400" b="0">
                <a:solidFill>
                  <a:srgbClr val="606060"/>
                </a:solidFill>
                <a:latin typeface="Inter"/>
              </a:rPr>
              <a:t>notificaciones · fan-out</a:t>
            </a:r>
          </a:p>
        </p:txBody>
      </p:sp>
      <p:sp>
        <p:nvSpPr>
          <p:cNvPr id="601" name="TextBox 600"/>
          <p:cNvSpPr txBox="1"/>
          <p:nvPr/>
        </p:nvSpPr>
        <p:spPr>
          <a:xfrm>
            <a:off x="13731240" y="342900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02" name="TextBox 601"/>
          <p:cNvSpPr txBox="1"/>
          <p:nvPr/>
        </p:nvSpPr>
        <p:spPr>
          <a:xfrm>
            <a:off x="13731240" y="3703320"/>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M10</a:t>
            </a:r>
          </a:p>
        </p:txBody>
      </p:sp>
      <p:sp>
        <p:nvSpPr>
          <p:cNvPr id="603" name="Rounded Rectangle 602"/>
          <p:cNvSpPr/>
          <p:nvPr/>
        </p:nvSpPr>
        <p:spPr>
          <a:xfrm>
            <a:off x="4937760" y="466344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04" name="TextBox 603"/>
          <p:cNvSpPr txBox="1"/>
          <p:nvPr/>
        </p:nvSpPr>
        <p:spPr>
          <a:xfrm>
            <a:off x="5166360" y="489204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ACL del ERP</a:t>
            </a:r>
          </a:p>
        </p:txBody>
      </p:sp>
      <p:sp>
        <p:nvSpPr>
          <p:cNvPr id="605" name="TextBox 604"/>
          <p:cNvSpPr txBox="1"/>
          <p:nvPr/>
        </p:nvSpPr>
        <p:spPr>
          <a:xfrm>
            <a:off x="5166360" y="5440679"/>
            <a:ext cx="3596639" cy="731520"/>
          </a:xfrm>
          <a:prstGeom prst="rect">
            <a:avLst/>
          </a:prstGeom>
          <a:noFill/>
        </p:spPr>
        <p:txBody>
          <a:bodyPr wrap="square" lIns="0" rIns="0" tIns="0" bIns="0" anchor="t">
            <a:spAutoFit/>
          </a:bodyPr>
          <a:lstStyle/>
          <a:p>
            <a:pPr algn="l"/>
            <a:r>
              <a:rPr sz="1400" b="0">
                <a:solidFill>
                  <a:srgbClr val="606060"/>
                </a:solidFill>
                <a:latin typeface="Inter"/>
              </a:rPr>
              <a:t>frontera única con el ERP 2017</a:t>
            </a:r>
          </a:p>
        </p:txBody>
      </p:sp>
      <p:sp>
        <p:nvSpPr>
          <p:cNvPr id="606" name="TextBox 605"/>
          <p:cNvSpPr txBox="1"/>
          <p:nvPr/>
        </p:nvSpPr>
        <p:spPr>
          <a:xfrm>
            <a:off x="5166360" y="626364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07" name="TextBox 606"/>
          <p:cNvSpPr txBox="1"/>
          <p:nvPr/>
        </p:nvSpPr>
        <p:spPr>
          <a:xfrm>
            <a:off x="5166360" y="6537959"/>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M5 · M7</a:t>
            </a:r>
          </a:p>
        </p:txBody>
      </p:sp>
      <p:sp>
        <p:nvSpPr>
          <p:cNvPr id="608" name="Rounded Rectangle 607"/>
          <p:cNvSpPr/>
          <p:nvPr/>
        </p:nvSpPr>
        <p:spPr>
          <a:xfrm>
            <a:off x="9220199" y="466344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09" name="TextBox 608"/>
          <p:cNvSpPr txBox="1"/>
          <p:nvPr/>
        </p:nvSpPr>
        <p:spPr>
          <a:xfrm>
            <a:off x="9448799" y="489204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Hub EDI GS1</a:t>
            </a:r>
          </a:p>
        </p:txBody>
      </p:sp>
      <p:sp>
        <p:nvSpPr>
          <p:cNvPr id="610" name="TextBox 609"/>
          <p:cNvSpPr txBox="1"/>
          <p:nvPr/>
        </p:nvSpPr>
        <p:spPr>
          <a:xfrm>
            <a:off x="9448799" y="5440679"/>
            <a:ext cx="3596639" cy="731520"/>
          </a:xfrm>
          <a:prstGeom prst="rect">
            <a:avLst/>
          </a:prstGeom>
          <a:noFill/>
        </p:spPr>
        <p:txBody>
          <a:bodyPr wrap="square" lIns="0" rIns="0" tIns="0" bIns="0" anchor="t">
            <a:spAutoFit/>
          </a:bodyPr>
          <a:lstStyle/>
          <a:p>
            <a:pPr algn="l"/>
            <a:r>
              <a:rPr sz="1400" b="0">
                <a:solidFill>
                  <a:srgbClr val="606060"/>
                </a:solidFill>
                <a:latin typeface="Inter"/>
              </a:rPr>
              <a:t>EANCOM · EPCIS</a:t>
            </a:r>
          </a:p>
        </p:txBody>
      </p:sp>
      <p:sp>
        <p:nvSpPr>
          <p:cNvPr id="611" name="TextBox 610"/>
          <p:cNvSpPr txBox="1"/>
          <p:nvPr/>
        </p:nvSpPr>
        <p:spPr>
          <a:xfrm>
            <a:off x="9448799" y="626364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12" name="TextBox 611"/>
          <p:cNvSpPr txBox="1"/>
          <p:nvPr/>
        </p:nvSpPr>
        <p:spPr>
          <a:xfrm>
            <a:off x="9448799" y="6537959"/>
            <a:ext cx="3596639" cy="411480"/>
          </a:xfrm>
          <a:prstGeom prst="rect">
            <a:avLst/>
          </a:prstGeom>
          <a:noFill/>
        </p:spPr>
        <p:txBody>
          <a:bodyPr wrap="square" lIns="0" rIns="0" tIns="0" bIns="0" anchor="t">
            <a:spAutoFit/>
          </a:bodyPr>
          <a:lstStyle/>
          <a:p>
            <a:pPr algn="l"/>
            <a:r>
              <a:rPr sz="1700" b="1">
                <a:solidFill>
                  <a:srgbClr val="E8641B"/>
                </a:solidFill>
                <a:latin typeface="Inter SemiBold"/>
              </a:rPr>
              <a:t>M11</a:t>
            </a:r>
          </a:p>
        </p:txBody>
      </p:sp>
      <p:sp>
        <p:nvSpPr>
          <p:cNvPr id="613" name="Rounded Rectangle 612"/>
          <p:cNvSpPr/>
          <p:nvPr/>
        </p:nvSpPr>
        <p:spPr>
          <a:xfrm>
            <a:off x="13502640" y="4663440"/>
            <a:ext cx="4053839" cy="25146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14" name="TextBox 613"/>
          <p:cNvSpPr txBox="1"/>
          <p:nvPr/>
        </p:nvSpPr>
        <p:spPr>
          <a:xfrm>
            <a:off x="13731240" y="4892040"/>
            <a:ext cx="3596639" cy="457200"/>
          </a:xfrm>
          <a:prstGeom prst="rect">
            <a:avLst/>
          </a:prstGeom>
          <a:noFill/>
        </p:spPr>
        <p:txBody>
          <a:bodyPr wrap="square" lIns="0" rIns="0" tIns="0" bIns="0" anchor="t">
            <a:spAutoFit/>
          </a:bodyPr>
          <a:lstStyle/>
          <a:p>
            <a:pPr algn="l"/>
            <a:r>
              <a:rPr sz="1800" b="1">
                <a:solidFill>
                  <a:srgbClr val="111111"/>
                </a:solidFill>
                <a:latin typeface="Inter SemiBold"/>
              </a:rPr>
              <a:t>DLQ + bandeja de excepciones</a:t>
            </a:r>
          </a:p>
        </p:txBody>
      </p:sp>
      <p:sp>
        <p:nvSpPr>
          <p:cNvPr id="615" name="TextBox 614"/>
          <p:cNvSpPr txBox="1"/>
          <p:nvPr/>
        </p:nvSpPr>
        <p:spPr>
          <a:xfrm>
            <a:off x="13731240" y="5440679"/>
            <a:ext cx="3596639" cy="731520"/>
          </a:xfrm>
          <a:prstGeom prst="rect">
            <a:avLst/>
          </a:prstGeom>
          <a:noFill/>
        </p:spPr>
        <p:txBody>
          <a:bodyPr wrap="square" lIns="0" rIns="0" tIns="0" bIns="0" anchor="t">
            <a:spAutoFit/>
          </a:bodyPr>
          <a:lstStyle/>
          <a:p>
            <a:pPr algn="l"/>
            <a:r>
              <a:rPr sz="1400" b="0">
                <a:solidFill>
                  <a:srgbClr val="606060"/>
                </a:solidFill>
                <a:latin typeface="Inter"/>
              </a:rPr>
              <a:t>recibe lo que falla en SQS</a:t>
            </a:r>
          </a:p>
        </p:txBody>
      </p:sp>
      <p:sp>
        <p:nvSpPr>
          <p:cNvPr id="616" name="TextBox 615"/>
          <p:cNvSpPr txBox="1"/>
          <p:nvPr/>
        </p:nvSpPr>
        <p:spPr>
          <a:xfrm>
            <a:off x="13731240" y="6263640"/>
            <a:ext cx="3596639" cy="274320"/>
          </a:xfrm>
          <a:prstGeom prst="rect">
            <a:avLst/>
          </a:prstGeom>
          <a:noFill/>
        </p:spPr>
        <p:txBody>
          <a:bodyPr wrap="square" lIns="0" rIns="0" tIns="0" bIns="0" anchor="t">
            <a:spAutoFit/>
          </a:bodyPr>
          <a:lstStyle/>
          <a:p>
            <a:pPr algn="l"/>
            <a:r>
              <a:rPr sz="1300" b="1">
                <a:solidFill>
                  <a:srgbClr val="9A9A9A"/>
                </a:solidFill>
                <a:latin typeface="Inter SemiBold"/>
              </a:rPr>
              <a:t>ORIGEN</a:t>
            </a:r>
          </a:p>
        </p:txBody>
      </p:sp>
      <p:sp>
        <p:nvSpPr>
          <p:cNvPr id="617" name="TextBox 616"/>
          <p:cNvSpPr txBox="1"/>
          <p:nvPr/>
        </p:nvSpPr>
        <p:spPr>
          <a:xfrm>
            <a:off x="13731240" y="6537959"/>
            <a:ext cx="3596639" cy="411480"/>
          </a:xfrm>
          <a:prstGeom prst="rect">
            <a:avLst/>
          </a:prstGeom>
          <a:noFill/>
        </p:spPr>
        <p:txBody>
          <a:bodyPr wrap="square" lIns="0" rIns="0" tIns="0" bIns="0" anchor="t">
            <a:spAutoFit/>
          </a:bodyPr>
          <a:lstStyle/>
          <a:p>
            <a:pPr algn="l"/>
            <a:r>
              <a:rPr sz="1700" b="1">
                <a:solidFill>
                  <a:srgbClr val="E8641B"/>
                </a:solidFill>
                <a:latin typeface="Inter SemiBold"/>
              </a:rPr>
              <a:t>desde SQS FIFO</a:t>
            </a:r>
          </a:p>
        </p:txBody>
      </p:sp>
      <p:cxnSp>
        <p:nvCxnSpPr>
          <p:cNvPr id="618" name="Connector 617"/>
          <p:cNvCxnSpPr/>
          <p:nvPr/>
        </p:nvCxnSpPr>
        <p:spPr>
          <a:xfrm>
            <a:off x="11247119" y="4343400"/>
            <a:ext cx="2987041" cy="32004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19" name="TextBox 618"/>
          <p:cNvSpPr txBox="1"/>
          <p:nvPr/>
        </p:nvSpPr>
        <p:spPr>
          <a:xfrm>
            <a:off x="4937760" y="7680960"/>
            <a:ext cx="12618720" cy="731520"/>
          </a:xfrm>
          <a:prstGeom prst="rect">
            <a:avLst/>
          </a:prstGeom>
          <a:noFill/>
        </p:spPr>
        <p:txBody>
          <a:bodyPr wrap="square" lIns="0" rIns="0" tIns="0" bIns="0" anchor="t">
            <a:spAutoFit/>
          </a:bodyPr>
          <a:lstStyle/>
          <a:p>
            <a:pPr algn="l"/>
            <a:r>
              <a:rPr sz="1400" b="0">
                <a:solidFill>
                  <a:srgbClr val="606060"/>
                </a:solidFill>
                <a:latin typeface="Inter"/>
              </a:rPr>
              <a:t>Las conexiones son integración, no acceso directo a tablas</a:t>
            </a:r>
          </a:p>
          <a:p>
            <a:pPr algn="l"/>
            <a:r>
              <a:rPr sz="1400" b="0">
                <a:solidFill>
                  <a:srgbClr val="606060"/>
                </a:solidFill>
                <a:latin typeface="Inter"/>
              </a:rPr>
              <a:t>Persistencia local y central en la capa 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97"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96"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81"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6. Acceso a datos</a:t>
            </a:r>
            <a:endParaRPr/>
          </a:p>
        </p:txBody>
      </p:sp>
      <p:sp>
        <p:nvSpPr>
          <p:cNvPr id="585"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6 de 8</a:t>
            </a:r>
            <a:endParaRPr/>
          </a:p>
        </p:txBody>
      </p:sp>
      <p:sp>
        <p:nvSpPr>
          <p:cNvPr id="586"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Propiedad de los datos y persistencia híbrida</a:t>
            </a:r>
            <a:endParaRPr/>
          </a:p>
        </p:txBody>
      </p:sp>
      <p:sp>
        <p:nvSpPr>
          <p:cNvPr id="59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06.6</a:t>
            </a:r>
          </a:p>
        </p:txBody>
      </p:sp>
      <p:sp>
        <p:nvSpPr>
          <p:cNvPr id="599"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600"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601"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602"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603"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604" name="!!mini6"/>
          <p:cNvSpPr/>
          <p:nvPr/>
        </p:nvSpPr>
        <p:spPr>
          <a:xfrm>
            <a:off x="859536" y="4526280"/>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6  Datos</a:t>
            </a:r>
          </a:p>
        </p:txBody>
      </p:sp>
      <p:sp>
        <p:nvSpPr>
          <p:cNvPr id="605"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606"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607" name="TextBox 606"/>
          <p:cNvSpPr txBox="1"/>
          <p:nvPr/>
        </p:nvSpPr>
        <p:spPr>
          <a:xfrm>
            <a:off x="4937760" y="1783080"/>
            <a:ext cx="3931920" cy="320040"/>
          </a:xfrm>
          <a:prstGeom prst="rect">
            <a:avLst/>
          </a:prstGeom>
          <a:noFill/>
        </p:spPr>
        <p:txBody>
          <a:bodyPr wrap="square" lIns="0" rIns="0" tIns="0" bIns="0" anchor="t">
            <a:spAutoFit/>
          </a:bodyPr>
          <a:lstStyle/>
          <a:p>
            <a:pPr algn="l"/>
            <a:r>
              <a:rPr sz="1400" b="1">
                <a:solidFill>
                  <a:srgbClr val="E8641B"/>
                </a:solidFill>
                <a:latin typeface="Inter SemiBold"/>
              </a:rPr>
              <a:t>ON-PREMISE · 5 SITIOS</a:t>
            </a:r>
          </a:p>
        </p:txBody>
      </p:sp>
      <p:sp>
        <p:nvSpPr>
          <p:cNvPr id="608" name="TextBox 607"/>
          <p:cNvSpPr txBox="1"/>
          <p:nvPr/>
        </p:nvSpPr>
        <p:spPr>
          <a:xfrm>
            <a:off x="9144000" y="1783080"/>
            <a:ext cx="8412480" cy="320040"/>
          </a:xfrm>
          <a:prstGeom prst="rect">
            <a:avLst/>
          </a:prstGeom>
          <a:noFill/>
        </p:spPr>
        <p:txBody>
          <a:bodyPr wrap="square" lIns="0" rIns="0" tIns="0" bIns="0" anchor="t">
            <a:spAutoFit/>
          </a:bodyPr>
          <a:lstStyle/>
          <a:p>
            <a:pPr algn="l"/>
            <a:r>
              <a:rPr sz="1400" b="1">
                <a:solidFill>
                  <a:srgbClr val="E8641B"/>
                </a:solidFill>
                <a:latin typeface="Inter SemiBold"/>
              </a:rPr>
              <a:t>AWS · OLTP CENTRAL + ANALÍTICA + DR</a:t>
            </a:r>
          </a:p>
        </p:txBody>
      </p:sp>
      <p:sp>
        <p:nvSpPr>
          <p:cNvPr id="609" name="Rounded Rectangle 608"/>
          <p:cNvSpPr/>
          <p:nvPr/>
        </p:nvSpPr>
        <p:spPr>
          <a:xfrm>
            <a:off x="4937760" y="2240280"/>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BD_INVENTARIO</a:t>
            </a:r>
          </a:p>
        </p:txBody>
      </p:sp>
      <p:sp>
        <p:nvSpPr>
          <p:cNvPr id="610" name="Rounded Rectangle 609"/>
          <p:cNvSpPr/>
          <p:nvPr/>
        </p:nvSpPr>
        <p:spPr>
          <a:xfrm>
            <a:off x="4937760" y="2953512"/>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Proyecciones locales</a:t>
            </a:r>
          </a:p>
        </p:txBody>
      </p:sp>
      <p:sp>
        <p:nvSpPr>
          <p:cNvPr id="611" name="Rounded Rectangle 610"/>
          <p:cNvSpPr/>
          <p:nvPr/>
        </p:nvSpPr>
        <p:spPr>
          <a:xfrm>
            <a:off x="4937760" y="3666744"/>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BD_PREPARACION</a:t>
            </a:r>
          </a:p>
        </p:txBody>
      </p:sp>
      <p:sp>
        <p:nvSpPr>
          <p:cNvPr id="612" name="Rounded Rectangle 611"/>
          <p:cNvSpPr/>
          <p:nvPr/>
        </p:nvSpPr>
        <p:spPr>
          <a:xfrm>
            <a:off x="4937760" y="4379976"/>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BD_CALIDAD_TRAZABILIDAD</a:t>
            </a:r>
          </a:p>
        </p:txBody>
      </p:sp>
      <p:sp>
        <p:nvSpPr>
          <p:cNvPr id="613" name="Rounded Rectangle 612"/>
          <p:cNvSpPr/>
          <p:nvPr/>
        </p:nvSpPr>
        <p:spPr>
          <a:xfrm>
            <a:off x="4937760" y="5093208"/>
            <a:ext cx="3931920" cy="585216"/>
          </a:xfrm>
          <a:prstGeom prst="roundRect">
            <a:avLst>
              <a:gd name="adj" fmla="val 15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BD_MAESTROS_CONF</a:t>
            </a:r>
          </a:p>
        </p:txBody>
      </p:sp>
      <p:sp>
        <p:nvSpPr>
          <p:cNvPr id="614" name="TextBox 613"/>
          <p:cNvSpPr txBox="1"/>
          <p:nvPr/>
        </p:nvSpPr>
        <p:spPr>
          <a:xfrm>
            <a:off x="4937760" y="5852160"/>
            <a:ext cx="3931920" cy="320040"/>
          </a:xfrm>
          <a:prstGeom prst="rect">
            <a:avLst/>
          </a:prstGeom>
          <a:noFill/>
        </p:spPr>
        <p:txBody>
          <a:bodyPr wrap="square" lIns="0" rIns="0" tIns="0" bIns="0" anchor="t">
            <a:spAutoFit/>
          </a:bodyPr>
          <a:lstStyle/>
          <a:p>
            <a:pPr algn="l"/>
            <a:r>
              <a:rPr sz="1300" b="0">
                <a:solidFill>
                  <a:srgbClr val="606060"/>
                </a:solidFill>
                <a:latin typeface="Inter"/>
              </a:rPr>
              <a:t>PostgreSQL · 2 CD + 3 cross-docking</a:t>
            </a:r>
          </a:p>
        </p:txBody>
      </p:sp>
      <p:sp>
        <p:nvSpPr>
          <p:cNvPr id="615" name="Rounded Rectangle 614"/>
          <p:cNvSpPr/>
          <p:nvPr/>
        </p:nvSpPr>
        <p:spPr>
          <a:xfrm>
            <a:off x="9144000" y="2240280"/>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BD_PREVENTA</a:t>
            </a:r>
          </a:p>
        </p:txBody>
      </p:sp>
      <p:sp>
        <p:nvSpPr>
          <p:cNvPr id="616" name="Rounded Rectangle 615"/>
          <p:cNvSpPr/>
          <p:nvPr/>
        </p:nvSpPr>
        <p:spPr>
          <a:xfrm>
            <a:off x="11984735" y="2240280"/>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BD_REPARTO</a:t>
            </a:r>
          </a:p>
        </p:txBody>
      </p:sp>
      <p:sp>
        <p:nvSpPr>
          <p:cNvPr id="617" name="Rounded Rectangle 616"/>
          <p:cNvSpPr/>
          <p:nvPr/>
        </p:nvSpPr>
        <p:spPr>
          <a:xfrm>
            <a:off x="14825471" y="2240280"/>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BD_MAESTROS_CONF</a:t>
            </a:r>
          </a:p>
        </p:txBody>
      </p:sp>
      <p:sp>
        <p:nvSpPr>
          <p:cNvPr id="618" name="Rounded Rectangle 617"/>
          <p:cNvSpPr/>
          <p:nvPr/>
        </p:nvSpPr>
        <p:spPr>
          <a:xfrm>
            <a:off x="9144000" y="2953512"/>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BD_COBRANZA_FINANZAS</a:t>
            </a:r>
          </a:p>
        </p:txBody>
      </p:sp>
      <p:sp>
        <p:nvSpPr>
          <p:cNvPr id="619" name="Rounded Rectangle 618"/>
          <p:cNvSpPr/>
          <p:nvPr/>
        </p:nvSpPr>
        <p:spPr>
          <a:xfrm>
            <a:off x="11984735" y="2953512"/>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BD_GOBIERNO_ACCESO</a:t>
            </a:r>
          </a:p>
        </p:txBody>
      </p:sp>
      <p:sp>
        <p:nvSpPr>
          <p:cNvPr id="620" name="Rounded Rectangle 619"/>
          <p:cNvSpPr/>
          <p:nvPr/>
        </p:nvSpPr>
        <p:spPr>
          <a:xfrm>
            <a:off x="14825471" y="2953512"/>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BD_MAILS_NOTIF</a:t>
            </a:r>
          </a:p>
        </p:txBody>
      </p:sp>
      <p:sp>
        <p:nvSpPr>
          <p:cNvPr id="621" name="Rounded Rectangle 620"/>
          <p:cNvSpPr/>
          <p:nvPr/>
        </p:nvSpPr>
        <p:spPr>
          <a:xfrm>
            <a:off x="9144000" y="3666744"/>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BD_CALIDAD_TRAZABILIDAD</a:t>
            </a:r>
          </a:p>
        </p:txBody>
      </p:sp>
      <p:sp>
        <p:nvSpPr>
          <p:cNvPr id="622" name="Rounded Rectangle 621"/>
          <p:cNvSpPr/>
          <p:nvPr/>
        </p:nvSpPr>
        <p:spPr>
          <a:xfrm>
            <a:off x="11984735" y="3666744"/>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BD_EDI_CANALMODERNO</a:t>
            </a:r>
          </a:p>
        </p:txBody>
      </p:sp>
      <p:sp>
        <p:nvSpPr>
          <p:cNvPr id="623" name="Rounded Rectangle 622"/>
          <p:cNvSpPr/>
          <p:nvPr/>
        </p:nvSpPr>
        <p:spPr>
          <a:xfrm>
            <a:off x="14825471" y="3666744"/>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BD_TELEMETRIA · DynamoDB</a:t>
            </a:r>
          </a:p>
        </p:txBody>
      </p:sp>
      <p:sp>
        <p:nvSpPr>
          <p:cNvPr id="624" name="Rounded Rectangle 623"/>
          <p:cNvSpPr/>
          <p:nvPr/>
        </p:nvSpPr>
        <p:spPr>
          <a:xfrm>
            <a:off x="9144000" y="4379976"/>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BD_BI_GERENCIA · Redshift</a:t>
            </a:r>
          </a:p>
        </p:txBody>
      </p:sp>
      <p:sp>
        <p:nvSpPr>
          <p:cNvPr id="625" name="Rounded Rectangle 624"/>
          <p:cNvSpPr/>
          <p:nvPr/>
        </p:nvSpPr>
        <p:spPr>
          <a:xfrm>
            <a:off x="11984735" y="4379976"/>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REDIS_SESIONES_CACHE</a:t>
            </a:r>
          </a:p>
        </p:txBody>
      </p:sp>
      <p:sp>
        <p:nvSpPr>
          <p:cNvPr id="626" name="Rounded Rectangle 625"/>
          <p:cNvSpPr/>
          <p:nvPr/>
        </p:nvSpPr>
        <p:spPr>
          <a:xfrm>
            <a:off x="14825471" y="4379976"/>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S3_DOCS · S3</a:t>
            </a:r>
          </a:p>
        </p:txBody>
      </p:sp>
      <p:sp>
        <p:nvSpPr>
          <p:cNvPr id="627" name="Rounded Rectangle 626"/>
          <p:cNvSpPr/>
          <p:nvPr/>
        </p:nvSpPr>
        <p:spPr>
          <a:xfrm>
            <a:off x="9144000" y="5093208"/>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BD_INVENTARIO</a:t>
            </a:r>
          </a:p>
        </p:txBody>
      </p:sp>
      <p:sp>
        <p:nvSpPr>
          <p:cNvPr id="628" name="Rounded Rectangle 627"/>
          <p:cNvSpPr/>
          <p:nvPr/>
        </p:nvSpPr>
        <p:spPr>
          <a:xfrm>
            <a:off x="11984735" y="5093208"/>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BD_RUTAS · PostGIS</a:t>
            </a:r>
          </a:p>
        </p:txBody>
      </p:sp>
      <p:sp>
        <p:nvSpPr>
          <p:cNvPr id="629" name="Rounded Rectangle 628"/>
          <p:cNvSpPr/>
          <p:nvPr/>
        </p:nvSpPr>
        <p:spPr>
          <a:xfrm>
            <a:off x="14825471" y="5093208"/>
            <a:ext cx="2731007" cy="585216"/>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111111"/>
                </a:solidFill>
                <a:latin typeface="Inter SemiBold"/>
              </a:rPr>
              <a:t>BD_PREPARACION</a:t>
            </a:r>
          </a:p>
        </p:txBody>
      </p:sp>
      <p:sp>
        <p:nvSpPr>
          <p:cNvPr id="630" name="TextBox 629"/>
          <p:cNvSpPr txBox="1"/>
          <p:nvPr/>
        </p:nvSpPr>
        <p:spPr>
          <a:xfrm>
            <a:off x="9144000" y="5852160"/>
            <a:ext cx="8412480" cy="320040"/>
          </a:xfrm>
          <a:prstGeom prst="rect">
            <a:avLst/>
          </a:prstGeom>
          <a:noFill/>
        </p:spPr>
        <p:txBody>
          <a:bodyPr wrap="square" lIns="0" rIns="0" tIns="0" bIns="0" anchor="t">
            <a:spAutoFit/>
          </a:bodyPr>
          <a:lstStyle/>
          <a:p>
            <a:pPr algn="l"/>
            <a:r>
              <a:rPr sz="1300" b="0">
                <a:solidFill>
                  <a:srgbClr val="606060"/>
                </a:solidFill>
                <a:latin typeface="Inter"/>
              </a:rPr>
              <a:t>Aurora salvo donde se indica</a:t>
            </a:r>
          </a:p>
        </p:txBody>
      </p:sp>
      <p:sp>
        <p:nvSpPr>
          <p:cNvPr id="631" name="TextBox 630"/>
          <p:cNvSpPr txBox="1"/>
          <p:nvPr/>
        </p:nvSpPr>
        <p:spPr>
          <a:xfrm>
            <a:off x="4937760" y="6446520"/>
            <a:ext cx="12618720" cy="320040"/>
          </a:xfrm>
          <a:prstGeom prst="rect">
            <a:avLst/>
          </a:prstGeom>
          <a:noFill/>
        </p:spPr>
        <p:txBody>
          <a:bodyPr wrap="square" lIns="0" rIns="0" tIns="0" bIns="0" anchor="t">
            <a:spAutoFit/>
          </a:bodyPr>
          <a:lstStyle/>
          <a:p>
            <a:pPr algn="l"/>
            <a:r>
              <a:rPr sz="1400" b="1">
                <a:solidFill>
                  <a:srgbClr val="E8641B"/>
                </a:solidFill>
                <a:latin typeface="Inter SemiBold"/>
              </a:rPr>
              <a:t>CONSOLIDACIÓN ANALÍTICA</a:t>
            </a:r>
          </a:p>
        </p:txBody>
      </p:sp>
      <p:sp>
        <p:nvSpPr>
          <p:cNvPr id="632" name="Rounded Rectangle 631"/>
          <p:cNvSpPr/>
          <p:nvPr/>
        </p:nvSpPr>
        <p:spPr>
          <a:xfrm>
            <a:off x="4937760" y="6903720"/>
            <a:ext cx="284607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DynamoDB</a:t>
            </a:r>
          </a:p>
          <a:p>
            <a:pPr algn="ctr"/>
            <a:r>
              <a:rPr sz="1300" b="0">
                <a:solidFill>
                  <a:srgbClr val="606060"/>
                </a:solidFill>
                <a:latin typeface="Inter"/>
              </a:rPr>
              <a:t>lecturas raw</a:t>
            </a:r>
          </a:p>
        </p:txBody>
      </p:sp>
      <p:cxnSp>
        <p:nvCxnSpPr>
          <p:cNvPr id="633" name="Connector 632"/>
          <p:cNvCxnSpPr/>
          <p:nvPr/>
        </p:nvCxnSpPr>
        <p:spPr>
          <a:xfrm>
            <a:off x="7829550" y="7406640"/>
            <a:ext cx="32004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4" name="Rounded Rectangle 633"/>
          <p:cNvSpPr/>
          <p:nvPr/>
        </p:nvSpPr>
        <p:spPr>
          <a:xfrm>
            <a:off x="8195310" y="6903720"/>
            <a:ext cx="284607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AWS Glue</a:t>
            </a:r>
          </a:p>
          <a:p>
            <a:pPr algn="ctr"/>
            <a:r>
              <a:rPr sz="1300" b="0">
                <a:solidFill>
                  <a:srgbClr val="606060"/>
                </a:solidFill>
                <a:latin typeface="Inter"/>
              </a:rPr>
              <a:t>transformación</a:t>
            </a:r>
          </a:p>
        </p:txBody>
      </p:sp>
      <p:cxnSp>
        <p:nvCxnSpPr>
          <p:cNvPr id="635" name="Connector 634"/>
          <p:cNvCxnSpPr/>
          <p:nvPr/>
        </p:nvCxnSpPr>
        <p:spPr>
          <a:xfrm>
            <a:off x="11087100" y="7406640"/>
            <a:ext cx="32004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6" name="Rounded Rectangle 635"/>
          <p:cNvSpPr/>
          <p:nvPr/>
        </p:nvSpPr>
        <p:spPr>
          <a:xfrm>
            <a:off x="11452860" y="6903720"/>
            <a:ext cx="284607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S3 Parquet</a:t>
            </a:r>
          </a:p>
          <a:p>
            <a:pPr algn="ctr"/>
            <a:r>
              <a:rPr sz="1300" b="0">
                <a:solidFill>
                  <a:srgbClr val="606060"/>
                </a:solidFill>
                <a:latin typeface="Inter"/>
              </a:rPr>
              <a:t>consolidación</a:t>
            </a:r>
          </a:p>
        </p:txBody>
      </p:sp>
      <p:cxnSp>
        <p:nvCxnSpPr>
          <p:cNvPr id="637" name="Connector 636"/>
          <p:cNvCxnSpPr/>
          <p:nvPr/>
        </p:nvCxnSpPr>
        <p:spPr>
          <a:xfrm>
            <a:off x="14344650" y="7406640"/>
            <a:ext cx="320039"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8" name="Rounded Rectangle 637"/>
          <p:cNvSpPr/>
          <p:nvPr/>
        </p:nvSpPr>
        <p:spPr>
          <a:xfrm>
            <a:off x="14710409" y="6903720"/>
            <a:ext cx="2846070" cy="10058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Redshift</a:t>
            </a:r>
          </a:p>
          <a:p>
            <a:pPr algn="ctr"/>
            <a:r>
              <a:rPr sz="1300" b="0">
                <a:solidFill>
                  <a:srgbClr val="C7C7C7"/>
                </a:solidFill>
                <a:latin typeface="Inter"/>
              </a:rPr>
              <a:t>analítica / BI</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16"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5"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00"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7. Seguridad transversal</a:t>
            </a:r>
            <a:endParaRPr/>
          </a:p>
        </p:txBody>
      </p:sp>
      <p:sp>
        <p:nvSpPr>
          <p:cNvPr id="604"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7 de 8</a:t>
            </a:r>
            <a:endParaRPr/>
          </a:p>
        </p:txBody>
      </p:sp>
      <p:sp>
        <p:nvSpPr>
          <p:cNvPr id="605"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Identidad y autorización en todas las capas</a:t>
            </a:r>
            <a:endParaRPr/>
          </a:p>
        </p:txBody>
      </p:sp>
      <p:sp>
        <p:nvSpPr>
          <p:cNvPr id="61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06.7</a:t>
            </a:r>
          </a:p>
        </p:txBody>
      </p:sp>
      <p:sp>
        <p:nvSpPr>
          <p:cNvPr id="618"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619"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620"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621"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622"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623"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624" name="!!mini7"/>
          <p:cNvSpPr/>
          <p:nvPr/>
        </p:nvSpPr>
        <p:spPr>
          <a:xfrm>
            <a:off x="859536" y="4946904"/>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7  Seguridad</a:t>
            </a:r>
          </a:p>
        </p:txBody>
      </p:sp>
      <p:sp>
        <p:nvSpPr>
          <p:cNvPr id="625" name="!!mini8"/>
          <p:cNvSpPr/>
          <p:nvPr/>
        </p:nvSpPr>
        <p:spPr>
          <a:xfrm>
            <a:off x="859536" y="536752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8  Observabilidad</a:t>
            </a:r>
          </a:p>
        </p:txBody>
      </p:sp>
      <p:sp>
        <p:nvSpPr>
          <p:cNvPr id="626" name="Rounded Rectangle 625"/>
          <p:cNvSpPr/>
          <p:nvPr/>
        </p:nvSpPr>
        <p:spPr>
          <a:xfrm>
            <a:off x="4937760" y="1828800"/>
            <a:ext cx="3031235" cy="137160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Keycloak</a:t>
            </a:r>
          </a:p>
          <a:p>
            <a:pPr algn="ctr"/>
            <a:r>
              <a:rPr sz="1300" b="0">
                <a:solidFill>
                  <a:srgbClr val="606060"/>
                </a:solidFill>
                <a:latin typeface="Inter"/>
              </a:rPr>
              <a:t>caché local 24 h</a:t>
            </a:r>
          </a:p>
          <a:p>
            <a:pPr algn="ctr"/>
            <a:r>
              <a:rPr sz="1300" b="0">
                <a:solidFill>
                  <a:srgbClr val="606060"/>
                </a:solidFill>
                <a:latin typeface="Inter"/>
              </a:rPr>
              <a:t>credencial bodega 8 h</a:t>
            </a:r>
          </a:p>
        </p:txBody>
      </p:sp>
      <p:sp>
        <p:nvSpPr>
          <p:cNvPr id="627" name="Rounded Rectangle 626"/>
          <p:cNvSpPr/>
          <p:nvPr/>
        </p:nvSpPr>
        <p:spPr>
          <a:xfrm>
            <a:off x="8133588" y="18288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Secrets Manager</a:t>
            </a:r>
          </a:p>
          <a:p>
            <a:pPr algn="ctr"/>
            <a:r>
              <a:rPr sz="1300" b="0">
                <a:solidFill>
                  <a:srgbClr val="606060"/>
                </a:solidFill>
                <a:latin typeface="Inter"/>
              </a:rPr>
              <a:t>+ SSM</a:t>
            </a:r>
          </a:p>
        </p:txBody>
      </p:sp>
      <p:sp>
        <p:nvSpPr>
          <p:cNvPr id="628" name="Rounded Rectangle 627"/>
          <p:cNvSpPr/>
          <p:nvPr/>
        </p:nvSpPr>
        <p:spPr>
          <a:xfrm>
            <a:off x="11329416" y="18288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KMS</a:t>
            </a:r>
          </a:p>
          <a:p>
            <a:pPr algn="ctr"/>
            <a:r>
              <a:rPr sz="1300" b="0">
                <a:solidFill>
                  <a:srgbClr val="606060"/>
                </a:solidFill>
                <a:latin typeface="Inter"/>
              </a:rPr>
              <a:t>cifrado en reposo</a:t>
            </a:r>
          </a:p>
          <a:p>
            <a:pPr algn="ctr"/>
            <a:r>
              <a:rPr sz="1300" b="0">
                <a:solidFill>
                  <a:srgbClr val="606060"/>
                </a:solidFill>
                <a:latin typeface="Inter"/>
              </a:rPr>
              <a:t>y en campo</a:t>
            </a:r>
          </a:p>
        </p:txBody>
      </p:sp>
      <p:sp>
        <p:nvSpPr>
          <p:cNvPr id="629" name="Rounded Rectangle 628"/>
          <p:cNvSpPr/>
          <p:nvPr/>
        </p:nvSpPr>
        <p:spPr>
          <a:xfrm>
            <a:off x="14525244" y="18288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mTLS</a:t>
            </a:r>
          </a:p>
          <a:p>
            <a:pPr algn="ctr"/>
            <a:r>
              <a:rPr sz="1300" b="0">
                <a:solidFill>
                  <a:srgbClr val="606060"/>
                </a:solidFill>
                <a:latin typeface="Inter"/>
              </a:rPr>
              <a:t>microsegmentación</a:t>
            </a:r>
          </a:p>
        </p:txBody>
      </p:sp>
      <p:sp>
        <p:nvSpPr>
          <p:cNvPr id="630" name="Rounded Rectangle 629"/>
          <p:cNvSpPr/>
          <p:nvPr/>
        </p:nvSpPr>
        <p:spPr>
          <a:xfrm>
            <a:off x="4937760"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GuardDuty + Security Hub</a:t>
            </a:r>
          </a:p>
          <a:p>
            <a:pPr algn="ctr"/>
            <a:r>
              <a:rPr sz="1300" b="0">
                <a:solidFill>
                  <a:srgbClr val="606060"/>
                </a:solidFill>
                <a:latin typeface="Inter"/>
              </a:rPr>
              <a:t>Security Lake (SIEM)</a:t>
            </a:r>
          </a:p>
        </p:txBody>
      </p:sp>
      <p:sp>
        <p:nvSpPr>
          <p:cNvPr id="631" name="Rounded Rectangle 630"/>
          <p:cNvSpPr/>
          <p:nvPr/>
        </p:nvSpPr>
        <p:spPr>
          <a:xfrm>
            <a:off x="8133588"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EDR</a:t>
            </a:r>
          </a:p>
          <a:p>
            <a:pPr algn="ctr"/>
            <a:r>
              <a:rPr sz="1300" b="0">
                <a:solidFill>
                  <a:srgbClr val="606060"/>
                </a:solidFill>
                <a:latin typeface="Inter"/>
              </a:rPr>
              <a:t>en todos los nodos</a:t>
            </a:r>
          </a:p>
        </p:txBody>
      </p:sp>
      <p:sp>
        <p:nvSpPr>
          <p:cNvPr id="632" name="Rounded Rectangle 631"/>
          <p:cNvSpPr/>
          <p:nvPr/>
        </p:nvSpPr>
        <p:spPr>
          <a:xfrm>
            <a:off x="11329416"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MDM gestionado</a:t>
            </a:r>
          </a:p>
          <a:p>
            <a:pPr algn="ctr"/>
            <a:r>
              <a:rPr sz="1300" b="0">
                <a:solidFill>
                  <a:srgbClr val="606060"/>
                </a:solidFill>
                <a:latin typeface="Inter"/>
              </a:rPr>
              <a:t>dispositivos de campo</a:t>
            </a:r>
          </a:p>
        </p:txBody>
      </p:sp>
      <p:sp>
        <p:nvSpPr>
          <p:cNvPr id="633" name="Rounded Rectangle 632"/>
          <p:cNvSpPr/>
          <p:nvPr/>
        </p:nvSpPr>
        <p:spPr>
          <a:xfrm>
            <a:off x="14525244" y="3429000"/>
            <a:ext cx="3031235" cy="137160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11111"/>
                </a:solidFill>
                <a:latin typeface="Inter SemiBold"/>
              </a:rPr>
              <a:t>Auditoría inmutable</a:t>
            </a:r>
          </a:p>
          <a:p>
            <a:pPr algn="ctr"/>
            <a:r>
              <a:rPr sz="1300" b="0">
                <a:solidFill>
                  <a:srgbClr val="606060"/>
                </a:solidFill>
                <a:latin typeface="Inter"/>
              </a:rPr>
              <a:t>7 años</a:t>
            </a:r>
          </a:p>
        </p:txBody>
      </p:sp>
      <p:sp>
        <p:nvSpPr>
          <p:cNvPr id="634" name="Rounded Rectangle 633"/>
          <p:cNvSpPr/>
          <p:nvPr/>
        </p:nvSpPr>
        <p:spPr>
          <a:xfrm>
            <a:off x="4937760" y="5257800"/>
            <a:ext cx="12618719" cy="86868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FFFFFF"/>
                </a:solidFill>
                <a:latin typeface="Inter SemiBold"/>
              </a:rPr>
              <a:t>Ámbito transversal: identidad · autorización · dispositivos · comunicaciones · secretos · auditoría</a:t>
            </a:r>
          </a:p>
        </p:txBody>
      </p:sp>
      <p:cxnSp>
        <p:nvCxnSpPr>
          <p:cNvPr id="635" name="Connector 634"/>
          <p:cNvCxnSpPr/>
          <p:nvPr/>
        </p:nvCxnSpPr>
        <p:spPr>
          <a:xfrm>
            <a:off x="5920740"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6" name="Rounded Rectangle 635"/>
          <p:cNvSpPr/>
          <p:nvPr/>
        </p:nvSpPr>
        <p:spPr>
          <a:xfrm>
            <a:off x="4937760"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1. Presentación</a:t>
            </a:r>
          </a:p>
        </p:txBody>
      </p:sp>
      <p:cxnSp>
        <p:nvCxnSpPr>
          <p:cNvPr id="637" name="Connector 636"/>
          <p:cNvCxnSpPr/>
          <p:nvPr/>
        </p:nvCxnSpPr>
        <p:spPr>
          <a:xfrm>
            <a:off x="8051292"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8" name="Rounded Rectangle 637"/>
          <p:cNvSpPr/>
          <p:nvPr/>
        </p:nvSpPr>
        <p:spPr>
          <a:xfrm>
            <a:off x="7068312"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2. Borde</a:t>
            </a:r>
          </a:p>
        </p:txBody>
      </p:sp>
      <p:cxnSp>
        <p:nvCxnSpPr>
          <p:cNvPr id="639" name="Connector 638"/>
          <p:cNvCxnSpPr/>
          <p:nvPr/>
        </p:nvCxnSpPr>
        <p:spPr>
          <a:xfrm>
            <a:off x="10181844"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0" name="Rounded Rectangle 639"/>
          <p:cNvSpPr/>
          <p:nvPr/>
        </p:nvSpPr>
        <p:spPr>
          <a:xfrm>
            <a:off x="9198864"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3. Servicios</a:t>
            </a:r>
          </a:p>
        </p:txBody>
      </p:sp>
      <p:cxnSp>
        <p:nvCxnSpPr>
          <p:cNvPr id="641" name="Connector 640"/>
          <p:cNvCxnSpPr/>
          <p:nvPr/>
        </p:nvCxnSpPr>
        <p:spPr>
          <a:xfrm>
            <a:off x="12312396"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2" name="Rounded Rectangle 641"/>
          <p:cNvSpPr/>
          <p:nvPr/>
        </p:nvSpPr>
        <p:spPr>
          <a:xfrm>
            <a:off x="11329416"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4. Negocio</a:t>
            </a:r>
          </a:p>
        </p:txBody>
      </p:sp>
      <p:cxnSp>
        <p:nvCxnSpPr>
          <p:cNvPr id="643" name="Connector 642"/>
          <p:cNvCxnSpPr/>
          <p:nvPr/>
        </p:nvCxnSpPr>
        <p:spPr>
          <a:xfrm>
            <a:off x="14442948"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4" name="Rounded Rectangle 643"/>
          <p:cNvSpPr/>
          <p:nvPr/>
        </p:nvSpPr>
        <p:spPr>
          <a:xfrm>
            <a:off x="13459968"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5. Integración</a:t>
            </a:r>
          </a:p>
        </p:txBody>
      </p:sp>
      <p:cxnSp>
        <p:nvCxnSpPr>
          <p:cNvPr id="645" name="Connector 644"/>
          <p:cNvCxnSpPr/>
          <p:nvPr/>
        </p:nvCxnSpPr>
        <p:spPr>
          <a:xfrm>
            <a:off x="16573500" y="6126480"/>
            <a:ext cx="0" cy="68580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46" name="Rounded Rectangle 645"/>
          <p:cNvSpPr/>
          <p:nvPr/>
        </p:nvSpPr>
        <p:spPr>
          <a:xfrm>
            <a:off x="15590520" y="6812280"/>
            <a:ext cx="1965960" cy="685800"/>
          </a:xfrm>
          <a:prstGeom prst="roundRect">
            <a:avLst>
              <a:gd name="adj" fmla="val 15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a:solidFill>
                  <a:srgbClr val="111111"/>
                </a:solidFill>
                <a:latin typeface="Inter SemiBold"/>
              </a:rPr>
              <a:t>6. Datos</a:t>
            </a:r>
          </a:p>
        </p:txBody>
      </p:sp>
      <p:sp>
        <p:nvSpPr>
          <p:cNvPr id="647" name="TextBox 646"/>
          <p:cNvSpPr txBox="1"/>
          <p:nvPr/>
        </p:nvSpPr>
        <p:spPr>
          <a:xfrm>
            <a:off x="4937760" y="7863840"/>
            <a:ext cx="12618720" cy="365760"/>
          </a:xfrm>
          <a:prstGeom prst="rect">
            <a:avLst/>
          </a:prstGeom>
          <a:noFill/>
        </p:spPr>
        <p:txBody>
          <a:bodyPr wrap="square" lIns="0" rIns="0" tIns="0" bIns="0" anchor="t">
            <a:spAutoFit/>
          </a:bodyPr>
          <a:lstStyle/>
          <a:p>
            <a:pPr algn="l"/>
            <a:r>
              <a:rPr sz="1400" b="0">
                <a:solidFill>
                  <a:srgbClr val="606060"/>
                </a:solidFill>
                <a:latin typeface="Inter"/>
              </a:rPr>
              <a:t>Los controles cubren las seis capas operativas; no son pasos de un recorrido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35" name="!!deco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34"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9" name="!!capa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8. Observabilidad transversal</a:t>
            </a:r>
            <a:endParaRPr/>
          </a:p>
        </p:txBody>
      </p:sp>
      <p:sp>
        <p:nvSpPr>
          <p:cNvPr id="623"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8 de 8</a:t>
            </a:r>
            <a:endParaRPr/>
          </a:p>
        </p:txBody>
      </p:sp>
      <p:sp>
        <p:nvSpPr>
          <p:cNvPr id="624"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Correlación y seguimiento de la operación</a:t>
            </a:r>
            <a:endParaRPr/>
          </a:p>
        </p:txBody>
      </p:sp>
      <p:sp>
        <p:nvSpPr>
          <p:cNvPr id="63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06.8</a:t>
            </a:r>
          </a:p>
        </p:txBody>
      </p:sp>
      <p:sp>
        <p:nvSpPr>
          <p:cNvPr id="637" name="!!mini1"/>
          <p:cNvSpPr/>
          <p:nvPr/>
        </p:nvSpPr>
        <p:spPr>
          <a:xfrm>
            <a:off x="859536" y="242316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1  Presentación</a:t>
            </a:r>
          </a:p>
        </p:txBody>
      </p:sp>
      <p:sp>
        <p:nvSpPr>
          <p:cNvPr id="638" name="!!mini2"/>
          <p:cNvSpPr/>
          <p:nvPr/>
        </p:nvSpPr>
        <p:spPr>
          <a:xfrm>
            <a:off x="859536" y="284378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2  Borde</a:t>
            </a:r>
          </a:p>
        </p:txBody>
      </p:sp>
      <p:sp>
        <p:nvSpPr>
          <p:cNvPr id="639" name="!!mini3"/>
          <p:cNvSpPr/>
          <p:nvPr/>
        </p:nvSpPr>
        <p:spPr>
          <a:xfrm>
            <a:off x="859536" y="3264408"/>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3  Servicios</a:t>
            </a:r>
          </a:p>
        </p:txBody>
      </p:sp>
      <p:sp>
        <p:nvSpPr>
          <p:cNvPr id="640" name="!!mini4"/>
          <p:cNvSpPr/>
          <p:nvPr/>
        </p:nvSpPr>
        <p:spPr>
          <a:xfrm>
            <a:off x="859536" y="3685032"/>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4  Negocio</a:t>
            </a:r>
          </a:p>
        </p:txBody>
      </p:sp>
      <p:sp>
        <p:nvSpPr>
          <p:cNvPr id="641" name="!!mini5"/>
          <p:cNvSpPr/>
          <p:nvPr/>
        </p:nvSpPr>
        <p:spPr>
          <a:xfrm>
            <a:off x="859536" y="4105656"/>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5  Integración</a:t>
            </a:r>
          </a:p>
        </p:txBody>
      </p:sp>
      <p:sp>
        <p:nvSpPr>
          <p:cNvPr id="642" name="!!mini6"/>
          <p:cNvSpPr/>
          <p:nvPr/>
        </p:nvSpPr>
        <p:spPr>
          <a:xfrm>
            <a:off x="859536" y="4526280"/>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6  Datos</a:t>
            </a:r>
          </a:p>
        </p:txBody>
      </p:sp>
      <p:sp>
        <p:nvSpPr>
          <p:cNvPr id="643" name="!!mini7"/>
          <p:cNvSpPr/>
          <p:nvPr/>
        </p:nvSpPr>
        <p:spPr>
          <a:xfrm>
            <a:off x="859536" y="4946904"/>
            <a:ext cx="3236976" cy="365760"/>
          </a:xfrm>
          <a:prstGeom prst="roundRect">
            <a:avLst>
              <a:gd name="adj" fmla="val 15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606060"/>
                </a:solidFill>
                <a:latin typeface="Inter SemiBold"/>
              </a:rPr>
              <a:t>7  Seguridad</a:t>
            </a:r>
          </a:p>
        </p:txBody>
      </p:sp>
      <p:sp>
        <p:nvSpPr>
          <p:cNvPr id="644" name="!!mini8"/>
          <p:cNvSpPr/>
          <p:nvPr/>
        </p:nvSpPr>
        <p:spPr>
          <a:xfrm>
            <a:off x="859536" y="5367528"/>
            <a:ext cx="3236976" cy="365760"/>
          </a:xfrm>
          <a:prstGeom prst="roundRect">
            <a:avLst>
              <a:gd name="adj" fmla="val 15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FFFFFF"/>
                </a:solidFill>
                <a:latin typeface="Inter SemiBold"/>
              </a:rPr>
              <a:t>8  Observabilidad</a:t>
            </a:r>
          </a:p>
        </p:txBody>
      </p:sp>
      <p:sp>
        <p:nvSpPr>
          <p:cNvPr id="645" name="Rounded Rectangle 644"/>
          <p:cNvSpPr/>
          <p:nvPr/>
        </p:nvSpPr>
        <p:spPr>
          <a:xfrm>
            <a:off x="4937760" y="1828800"/>
            <a:ext cx="12618719" cy="777240"/>
          </a:xfrm>
          <a:prstGeom prst="roundRect">
            <a:avLst>
              <a:gd name="adj" fmla="val 10000"/>
            </a:avLst>
          </a:prstGeom>
          <a:solidFill>
            <a:srgbClr val="F4F4F4"/>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1">
                <a:solidFill>
                  <a:srgbClr val="111111"/>
                </a:solidFill>
                <a:latin typeface="Inter SemiBold"/>
              </a:rPr>
              <a:t>Aplicaciones, accesos, módulos, integración y datos · capas 1–6</a:t>
            </a:r>
          </a:p>
        </p:txBody>
      </p:sp>
      <p:sp>
        <p:nvSpPr>
          <p:cNvPr id="646" name="Rounded Rectangle 645"/>
          <p:cNvSpPr/>
          <p:nvPr/>
        </p:nvSpPr>
        <p:spPr>
          <a:xfrm>
            <a:off x="4937760" y="3200400"/>
            <a:ext cx="402336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OpenTelemetry</a:t>
            </a:r>
          </a:p>
          <a:p>
            <a:pPr algn="ctr"/>
            <a:r>
              <a:rPr sz="1300" b="0">
                <a:solidFill>
                  <a:srgbClr val="606060"/>
                </a:solidFill>
                <a:latin typeface="Inter"/>
              </a:rPr>
              <a:t>instrumentación</a:t>
            </a:r>
          </a:p>
        </p:txBody>
      </p:sp>
      <p:sp>
        <p:nvSpPr>
          <p:cNvPr id="647" name="Rounded Rectangle 646"/>
          <p:cNvSpPr/>
          <p:nvPr/>
        </p:nvSpPr>
        <p:spPr>
          <a:xfrm>
            <a:off x="9601200" y="3200400"/>
            <a:ext cx="4206240" cy="100584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Colector ADOT</a:t>
            </a:r>
          </a:p>
          <a:p>
            <a:pPr algn="ctr"/>
            <a:r>
              <a:rPr sz="1300" b="0">
                <a:solidFill>
                  <a:srgbClr val="606060"/>
                </a:solidFill>
                <a:latin typeface="Inter"/>
              </a:rPr>
              <a:t>buffer 24 h</a:t>
            </a:r>
          </a:p>
        </p:txBody>
      </p:sp>
      <p:cxnSp>
        <p:nvCxnSpPr>
          <p:cNvPr id="648" name="Connector 647"/>
          <p:cNvCxnSpPr/>
          <p:nvPr/>
        </p:nvCxnSpPr>
        <p:spPr>
          <a:xfrm>
            <a:off x="6949440" y="2606040"/>
            <a:ext cx="0" cy="594360"/>
          </a:xfrm>
          <a:prstGeom prst="line">
            <a:avLst/>
          </a:prstGeom>
          <a:ln w="19050">
            <a:solidFill>
              <a:srgbClr val="9A9A9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a:off x="8961120" y="3703320"/>
            <a:ext cx="640080" cy="0"/>
          </a:xfrm>
          <a:prstGeom prst="line">
            <a:avLst/>
          </a:prstGeom>
          <a:ln w="25400">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0" name="Rounded Rectangle 649"/>
          <p:cNvSpPr/>
          <p:nvPr/>
        </p:nvSpPr>
        <p:spPr>
          <a:xfrm>
            <a:off x="4937760" y="4846320"/>
            <a:ext cx="4023359"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CloudWatch métricas</a:t>
            </a:r>
          </a:p>
          <a:p>
            <a:pPr algn="ctr"/>
            <a:r>
              <a:rPr sz="1300" b="0">
                <a:solidFill>
                  <a:srgbClr val="606060"/>
                </a:solidFill>
                <a:latin typeface="Inter"/>
              </a:rPr>
              <a:t>13 meses</a:t>
            </a:r>
          </a:p>
        </p:txBody>
      </p:sp>
      <p:cxnSp>
        <p:nvCxnSpPr>
          <p:cNvPr id="651" name="Connector 650"/>
          <p:cNvCxnSpPr/>
          <p:nvPr/>
        </p:nvCxnSpPr>
        <p:spPr>
          <a:xfrm flipH="1">
            <a:off x="6949440" y="4206240"/>
            <a:ext cx="4754880" cy="64008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a:off x="6949440" y="5852160"/>
            <a:ext cx="4297680" cy="7315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3" name="Rounded Rectangle 652"/>
          <p:cNvSpPr/>
          <p:nvPr/>
        </p:nvSpPr>
        <p:spPr>
          <a:xfrm>
            <a:off x="9235440" y="4846320"/>
            <a:ext cx="4023359"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CloudWatch Logs</a:t>
            </a:r>
          </a:p>
          <a:p>
            <a:pPr algn="ctr"/>
            <a:r>
              <a:rPr sz="1300" b="0">
                <a:solidFill>
                  <a:srgbClr val="606060"/>
                </a:solidFill>
                <a:latin typeface="Inter"/>
              </a:rPr>
              <a:t>12 + 24 meses</a:t>
            </a:r>
          </a:p>
        </p:txBody>
      </p:sp>
      <p:cxnSp>
        <p:nvCxnSpPr>
          <p:cNvPr id="654" name="Connector 653"/>
          <p:cNvCxnSpPr/>
          <p:nvPr/>
        </p:nvCxnSpPr>
        <p:spPr>
          <a:xfrm flipH="1">
            <a:off x="11247119" y="4206240"/>
            <a:ext cx="457201" cy="64008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a:off x="11247119" y="5852160"/>
            <a:ext cx="1" cy="7315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6" name="Rounded Rectangle 655"/>
          <p:cNvSpPr/>
          <p:nvPr/>
        </p:nvSpPr>
        <p:spPr>
          <a:xfrm>
            <a:off x="13533119" y="4846320"/>
            <a:ext cx="4023359"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CloudWatch trazas</a:t>
            </a:r>
          </a:p>
        </p:txBody>
      </p:sp>
      <p:cxnSp>
        <p:nvCxnSpPr>
          <p:cNvPr id="657" name="Connector 656"/>
          <p:cNvCxnSpPr/>
          <p:nvPr/>
        </p:nvCxnSpPr>
        <p:spPr>
          <a:xfrm>
            <a:off x="11704320" y="4206240"/>
            <a:ext cx="3840480" cy="64008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flipH="1">
            <a:off x="11247120" y="5852160"/>
            <a:ext cx="4297680" cy="73152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9" name="Rounded Rectangle 658"/>
          <p:cNvSpPr/>
          <p:nvPr/>
        </p:nvSpPr>
        <p:spPr>
          <a:xfrm>
            <a:off x="4937760" y="6583680"/>
            <a:ext cx="402336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SNS</a:t>
            </a:r>
          </a:p>
          <a:p>
            <a:pPr algn="ctr"/>
            <a:r>
              <a:rPr sz="1300" b="0">
                <a:solidFill>
                  <a:srgbClr val="606060"/>
                </a:solidFill>
                <a:latin typeface="Inter"/>
              </a:rPr>
              <a:t>avisos operativos</a:t>
            </a:r>
          </a:p>
        </p:txBody>
      </p:sp>
      <p:sp>
        <p:nvSpPr>
          <p:cNvPr id="660" name="Rounded Rectangle 659"/>
          <p:cNvSpPr/>
          <p:nvPr/>
        </p:nvSpPr>
        <p:spPr>
          <a:xfrm>
            <a:off x="9052560" y="6583680"/>
            <a:ext cx="4389120" cy="10058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CloudWatch tableros</a:t>
            </a:r>
          </a:p>
        </p:txBody>
      </p:sp>
      <p:sp>
        <p:nvSpPr>
          <p:cNvPr id="661" name="Rounded Rectangle 660"/>
          <p:cNvSpPr/>
          <p:nvPr/>
        </p:nvSpPr>
        <p:spPr>
          <a:xfrm>
            <a:off x="13716000" y="6583680"/>
            <a:ext cx="3840480" cy="10058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11111"/>
                </a:solidFill>
                <a:latin typeface="Inter SemiBold"/>
              </a:rPr>
              <a:t>AWS Backup</a:t>
            </a:r>
          </a:p>
          <a:p>
            <a:pPr algn="ctr"/>
            <a:r>
              <a:rPr sz="1300" b="0">
                <a:solidFill>
                  <a:srgbClr val="606060"/>
                </a:solidFill>
                <a:latin typeface="Inter"/>
              </a:rPr>
              <a:t>respaldo y restauración</a:t>
            </a:r>
          </a:p>
        </p:txBody>
      </p:sp>
      <p:sp>
        <p:nvSpPr>
          <p:cNvPr id="662" name="TextBox 661"/>
          <p:cNvSpPr txBox="1"/>
          <p:nvPr/>
        </p:nvSpPr>
        <p:spPr>
          <a:xfrm>
            <a:off x="4937760" y="8001000"/>
            <a:ext cx="12618720" cy="365760"/>
          </a:xfrm>
          <a:prstGeom prst="rect">
            <a:avLst/>
          </a:prstGeom>
          <a:noFill/>
        </p:spPr>
        <p:txBody>
          <a:bodyPr wrap="square" lIns="0" rIns="0" tIns="0" bIns="0" anchor="t">
            <a:spAutoFit/>
          </a:bodyPr>
          <a:lstStyle/>
          <a:p>
            <a:pPr algn="l"/>
            <a:r>
              <a:rPr sz="1400" b="0">
                <a:solidFill>
                  <a:srgbClr val="606060"/>
                </a:solidFill>
                <a:latin typeface="Inter"/>
              </a:rPr>
              <a:t>Se mantienen los tiempos de retención y el buffer del diseño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
          <p:cNvSpPr txBox="1"/>
          <p:nvPr/>
        </p:nvSpPr>
        <p:spPr>
          <a:xfrm>
            <a:off x="2286000" y="274320"/>
            <a:ext cx="13716000" cy="77724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física</a:t>
            </a:r>
            <a:endParaRPr/>
          </a:p>
        </p:txBody>
      </p:sp>
      <p:sp>
        <p:nvSpPr>
          <p:cNvPr id="640" name="!!deco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641" name="!!deco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64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07</a:t>
            </a:r>
          </a:p>
        </p:txBody>
      </p:sp>
      <p:sp>
        <p:nvSpPr>
          <p:cNvPr id="645" name="Rounded Rectangle 644"/>
          <p:cNvSpPr/>
          <p:nvPr/>
        </p:nvSpPr>
        <p:spPr>
          <a:xfrm>
            <a:off x="82296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Clientes, proveedores</a:t>
            </a:r>
          </a:p>
          <a:p>
            <a:pPr algn="ctr"/>
            <a:r>
              <a:rPr sz="1300" b="0">
                <a:solidFill>
                  <a:srgbClr val="606060"/>
                </a:solidFill>
                <a:latin typeface="Inter"/>
              </a:rPr>
              <a:t>y transportistas</a:t>
            </a:r>
          </a:p>
        </p:txBody>
      </p:sp>
      <p:sp>
        <p:nvSpPr>
          <p:cNvPr id="646" name="Rounded Rectangle 645"/>
          <p:cNvSpPr/>
          <p:nvPr/>
        </p:nvSpPr>
        <p:spPr>
          <a:xfrm>
            <a:off x="504063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EC55 / TC58e</a:t>
            </a:r>
          </a:p>
          <a:p>
            <a:pPr algn="ctr"/>
            <a:r>
              <a:rPr sz="1300" b="0">
                <a:solidFill>
                  <a:srgbClr val="606060"/>
                </a:solidFill>
                <a:latin typeface="Inter"/>
              </a:rPr>
              <a:t>termógrafo BLE</a:t>
            </a:r>
          </a:p>
        </p:txBody>
      </p:sp>
      <p:sp>
        <p:nvSpPr>
          <p:cNvPr id="647" name="Rounded Rectangle 646"/>
          <p:cNvSpPr/>
          <p:nvPr/>
        </p:nvSpPr>
        <p:spPr>
          <a:xfrm>
            <a:off x="925830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Casa matriz</a:t>
            </a:r>
          </a:p>
          <a:p>
            <a:pPr algn="ctr"/>
            <a:r>
              <a:rPr sz="1300" b="0">
                <a:solidFill>
                  <a:srgbClr val="606060"/>
                </a:solidFill>
                <a:latin typeface="Inter"/>
              </a:rPr>
              <a:t>y teletrabajo</a:t>
            </a:r>
          </a:p>
        </p:txBody>
      </p:sp>
      <p:sp>
        <p:nvSpPr>
          <p:cNvPr id="648" name="Rounded Rectangle 647"/>
          <p:cNvSpPr/>
          <p:nvPr/>
        </p:nvSpPr>
        <p:spPr>
          <a:xfrm>
            <a:off x="13475970" y="1417320"/>
            <a:ext cx="3989070" cy="731520"/>
          </a:xfrm>
          <a:prstGeom prst="roundRect">
            <a:avLst>
              <a:gd name="adj" fmla="val 10000"/>
            </a:avLst>
          </a:prstGeom>
          <a:solidFill>
            <a:srgbClr val="FFFFFF"/>
          </a:solidFill>
          <a:ln>
            <a:solidFill>
              <a:srgbClr val="9A9A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Cadenas de</a:t>
            </a:r>
          </a:p>
          <a:p>
            <a:pPr algn="ctr"/>
            <a:r>
              <a:rPr sz="1300" b="0">
                <a:solidFill>
                  <a:srgbClr val="606060"/>
                </a:solidFill>
                <a:latin typeface="Inter"/>
              </a:rPr>
              <a:t>supermercados</a:t>
            </a:r>
          </a:p>
        </p:txBody>
      </p:sp>
      <p:sp>
        <p:nvSpPr>
          <p:cNvPr id="649" name="Rounded Rectangle 648"/>
          <p:cNvSpPr/>
          <p:nvPr/>
        </p:nvSpPr>
        <p:spPr>
          <a:xfrm>
            <a:off x="822960" y="2377440"/>
            <a:ext cx="16642080" cy="3794760"/>
          </a:xfrm>
          <a:prstGeom prst="roundRect">
            <a:avLst>
              <a:gd name="adj" fmla="val 4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0" name="TextBox 649"/>
          <p:cNvSpPr txBox="1"/>
          <p:nvPr/>
        </p:nvSpPr>
        <p:spPr>
          <a:xfrm>
            <a:off x="1005840" y="2468880"/>
            <a:ext cx="3657600" cy="320040"/>
          </a:xfrm>
          <a:prstGeom prst="rect">
            <a:avLst/>
          </a:prstGeom>
          <a:noFill/>
        </p:spPr>
        <p:txBody>
          <a:bodyPr wrap="square" lIns="0" rIns="0" tIns="0" bIns="0" anchor="t">
            <a:spAutoFit/>
          </a:bodyPr>
          <a:lstStyle/>
          <a:p>
            <a:pPr algn="l"/>
            <a:r>
              <a:rPr sz="1400" b="1">
                <a:solidFill>
                  <a:srgbClr val="E8641B"/>
                </a:solidFill>
                <a:latin typeface="Inter SemiBold"/>
              </a:rPr>
              <a:t>AWS CLOUD</a:t>
            </a:r>
          </a:p>
        </p:txBody>
      </p:sp>
      <p:sp>
        <p:nvSpPr>
          <p:cNvPr id="651" name="Rounded Rectangle 650"/>
          <p:cNvSpPr/>
          <p:nvPr/>
        </p:nvSpPr>
        <p:spPr>
          <a:xfrm>
            <a:off x="1005840" y="2880360"/>
            <a:ext cx="2651760" cy="3063240"/>
          </a:xfrm>
          <a:prstGeom prst="roundRect">
            <a:avLst>
              <a:gd name="adj" fmla="val 6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2" name="TextBox 651"/>
          <p:cNvSpPr txBox="1"/>
          <p:nvPr/>
        </p:nvSpPr>
        <p:spPr>
          <a:xfrm>
            <a:off x="1143000" y="2971800"/>
            <a:ext cx="2377440" cy="320040"/>
          </a:xfrm>
          <a:prstGeom prst="rect">
            <a:avLst/>
          </a:prstGeom>
          <a:noFill/>
        </p:spPr>
        <p:txBody>
          <a:bodyPr wrap="square" lIns="0" rIns="0" tIns="0" bIns="0" anchor="t">
            <a:spAutoFit/>
          </a:bodyPr>
          <a:lstStyle/>
          <a:p>
            <a:pPr algn="l"/>
            <a:r>
              <a:rPr sz="1400" b="1">
                <a:solidFill>
                  <a:srgbClr val="111111"/>
                </a:solidFill>
                <a:latin typeface="Inter SemiBold"/>
              </a:rPr>
              <a:t>Borde global</a:t>
            </a:r>
          </a:p>
        </p:txBody>
      </p:sp>
      <p:sp>
        <p:nvSpPr>
          <p:cNvPr id="653" name="Rounded Rectangle 652"/>
          <p:cNvSpPr/>
          <p:nvPr/>
        </p:nvSpPr>
        <p:spPr>
          <a:xfrm>
            <a:off x="1143000" y="3383280"/>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Route 53</a:t>
            </a:r>
          </a:p>
        </p:txBody>
      </p:sp>
      <p:sp>
        <p:nvSpPr>
          <p:cNvPr id="654" name="Rounded Rectangle 653"/>
          <p:cNvSpPr/>
          <p:nvPr/>
        </p:nvSpPr>
        <p:spPr>
          <a:xfrm>
            <a:off x="1143000" y="3950208"/>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Shield Advanced</a:t>
            </a:r>
          </a:p>
        </p:txBody>
      </p:sp>
      <p:sp>
        <p:nvSpPr>
          <p:cNvPr id="655" name="Rounded Rectangle 654"/>
          <p:cNvSpPr/>
          <p:nvPr/>
        </p:nvSpPr>
        <p:spPr>
          <a:xfrm>
            <a:off x="1143000" y="4517136"/>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WAF</a:t>
            </a:r>
          </a:p>
        </p:txBody>
      </p:sp>
      <p:sp>
        <p:nvSpPr>
          <p:cNvPr id="656" name="Rounded Rectangle 655"/>
          <p:cNvSpPr/>
          <p:nvPr/>
        </p:nvSpPr>
        <p:spPr>
          <a:xfrm>
            <a:off x="1143000" y="5084064"/>
            <a:ext cx="237744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CloudFront</a:t>
            </a:r>
          </a:p>
        </p:txBody>
      </p:sp>
      <p:sp>
        <p:nvSpPr>
          <p:cNvPr id="657" name="Rounded Rectangle 656"/>
          <p:cNvSpPr/>
          <p:nvPr/>
        </p:nvSpPr>
        <p:spPr>
          <a:xfrm>
            <a:off x="3840480" y="2880360"/>
            <a:ext cx="5852160" cy="3063240"/>
          </a:xfrm>
          <a:prstGeom prst="roundRect">
            <a:avLst>
              <a:gd name="adj" fmla="val 6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58" name="TextBox 657"/>
          <p:cNvSpPr txBox="1"/>
          <p:nvPr/>
        </p:nvSpPr>
        <p:spPr>
          <a:xfrm>
            <a:off x="3977640" y="2971800"/>
            <a:ext cx="5577840" cy="320040"/>
          </a:xfrm>
          <a:prstGeom prst="rect">
            <a:avLst/>
          </a:prstGeom>
          <a:noFill/>
        </p:spPr>
        <p:txBody>
          <a:bodyPr wrap="square" lIns="0" rIns="0" tIns="0" bIns="0" anchor="t">
            <a:spAutoFit/>
          </a:bodyPr>
          <a:lstStyle/>
          <a:p>
            <a:pPr algn="l"/>
            <a:r>
              <a:rPr sz="1400" b="1">
                <a:solidFill>
                  <a:srgbClr val="111111"/>
                </a:solidFill>
                <a:latin typeface="Inter SemiBold"/>
              </a:rPr>
              <a:t>sa-east-1 · VPC Prod (Multi-AZ)</a:t>
            </a:r>
          </a:p>
        </p:txBody>
      </p:sp>
      <p:sp>
        <p:nvSpPr>
          <p:cNvPr id="659" name="Rounded Rectangle 658"/>
          <p:cNvSpPr/>
          <p:nvPr/>
        </p:nvSpPr>
        <p:spPr>
          <a:xfrm>
            <a:off x="3977640" y="3383280"/>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API Gateway</a:t>
            </a:r>
          </a:p>
        </p:txBody>
      </p:sp>
      <p:sp>
        <p:nvSpPr>
          <p:cNvPr id="660" name="Rounded Rectangle 659"/>
          <p:cNvSpPr/>
          <p:nvPr/>
        </p:nvSpPr>
        <p:spPr>
          <a:xfrm>
            <a:off x="5867400" y="3383280"/>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Verified Access</a:t>
            </a:r>
          </a:p>
        </p:txBody>
      </p:sp>
      <p:sp>
        <p:nvSpPr>
          <p:cNvPr id="661" name="Rounded Rectangle 660"/>
          <p:cNvSpPr/>
          <p:nvPr/>
        </p:nvSpPr>
        <p:spPr>
          <a:xfrm>
            <a:off x="7757160" y="3383280"/>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ALB privado</a:t>
            </a:r>
          </a:p>
        </p:txBody>
      </p:sp>
      <p:sp>
        <p:nvSpPr>
          <p:cNvPr id="662" name="Rounded Rectangle 661"/>
          <p:cNvSpPr/>
          <p:nvPr/>
        </p:nvSpPr>
        <p:spPr>
          <a:xfrm>
            <a:off x="3977640" y="3950208"/>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ECS Fargate</a:t>
            </a:r>
          </a:p>
        </p:txBody>
      </p:sp>
      <p:sp>
        <p:nvSpPr>
          <p:cNvPr id="663" name="Rounded Rectangle 662"/>
          <p:cNvSpPr/>
          <p:nvPr/>
        </p:nvSpPr>
        <p:spPr>
          <a:xfrm>
            <a:off x="5867400" y="3950208"/>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NLB · AS2</a:t>
            </a:r>
          </a:p>
        </p:txBody>
      </p:sp>
      <p:sp>
        <p:nvSpPr>
          <p:cNvPr id="664" name="Rounded Rectangle 663"/>
          <p:cNvSpPr/>
          <p:nvPr/>
        </p:nvSpPr>
        <p:spPr>
          <a:xfrm>
            <a:off x="7757160" y="3950208"/>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Keycloak</a:t>
            </a:r>
          </a:p>
        </p:txBody>
      </p:sp>
      <p:sp>
        <p:nvSpPr>
          <p:cNvPr id="665" name="Rounded Rectangle 664"/>
          <p:cNvSpPr/>
          <p:nvPr/>
        </p:nvSpPr>
        <p:spPr>
          <a:xfrm>
            <a:off x="3977640" y="4517136"/>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ElastiCache</a:t>
            </a:r>
          </a:p>
        </p:txBody>
      </p:sp>
      <p:sp>
        <p:nvSpPr>
          <p:cNvPr id="666" name="Rounded Rectangle 665"/>
          <p:cNvSpPr/>
          <p:nvPr/>
        </p:nvSpPr>
        <p:spPr>
          <a:xfrm>
            <a:off x="5867400" y="4517136"/>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Aurora</a:t>
            </a:r>
          </a:p>
        </p:txBody>
      </p:sp>
      <p:sp>
        <p:nvSpPr>
          <p:cNvPr id="667" name="Rounded Rectangle 666"/>
          <p:cNvSpPr/>
          <p:nvPr/>
        </p:nvSpPr>
        <p:spPr>
          <a:xfrm>
            <a:off x="7757160" y="4517136"/>
            <a:ext cx="17983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DMS</a:t>
            </a:r>
          </a:p>
        </p:txBody>
      </p:sp>
      <p:sp>
        <p:nvSpPr>
          <p:cNvPr id="668" name="Rounded Rectangle 667"/>
          <p:cNvSpPr/>
          <p:nvPr/>
        </p:nvSpPr>
        <p:spPr>
          <a:xfrm>
            <a:off x="9875520" y="2880360"/>
            <a:ext cx="2377440" cy="3063240"/>
          </a:xfrm>
          <a:prstGeom prst="roundRect">
            <a:avLst>
              <a:gd name="adj" fmla="val 6000"/>
            </a:avLst>
          </a:prstGeom>
          <a:solidFill>
            <a:srgbClr val="FFFFFF"/>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69" name="TextBox 668"/>
          <p:cNvSpPr txBox="1"/>
          <p:nvPr/>
        </p:nvSpPr>
        <p:spPr>
          <a:xfrm>
            <a:off x="10012680" y="2971800"/>
            <a:ext cx="2103120" cy="320040"/>
          </a:xfrm>
          <a:prstGeom prst="rect">
            <a:avLst/>
          </a:prstGeom>
          <a:noFill/>
        </p:spPr>
        <p:txBody>
          <a:bodyPr wrap="square" lIns="0" rIns="0" tIns="0" bIns="0" anchor="t">
            <a:spAutoFit/>
          </a:bodyPr>
          <a:lstStyle/>
          <a:p>
            <a:pPr algn="l"/>
            <a:r>
              <a:rPr sz="1400" b="1">
                <a:solidFill>
                  <a:srgbClr val="111111"/>
                </a:solidFill>
                <a:latin typeface="Inter SemiBold"/>
              </a:rPr>
              <a:t>Regionales</a:t>
            </a:r>
          </a:p>
        </p:txBody>
      </p:sp>
      <p:sp>
        <p:nvSpPr>
          <p:cNvPr id="670" name="Rounded Rectangle 669"/>
          <p:cNvSpPr/>
          <p:nvPr/>
        </p:nvSpPr>
        <p:spPr>
          <a:xfrm>
            <a:off x="10012680" y="3383280"/>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DynamoDB</a:t>
            </a:r>
          </a:p>
        </p:txBody>
      </p:sp>
      <p:sp>
        <p:nvSpPr>
          <p:cNvPr id="671" name="Rounded Rectangle 670"/>
          <p:cNvSpPr/>
          <p:nvPr/>
        </p:nvSpPr>
        <p:spPr>
          <a:xfrm>
            <a:off x="10012680" y="3950208"/>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S3</a:t>
            </a:r>
          </a:p>
        </p:txBody>
      </p:sp>
      <p:sp>
        <p:nvSpPr>
          <p:cNvPr id="672" name="Rounded Rectangle 671"/>
          <p:cNvSpPr/>
          <p:nvPr/>
        </p:nvSpPr>
        <p:spPr>
          <a:xfrm>
            <a:off x="10012680" y="4517136"/>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SQS FIFO</a:t>
            </a:r>
          </a:p>
        </p:txBody>
      </p:sp>
      <p:sp>
        <p:nvSpPr>
          <p:cNvPr id="673" name="Rounded Rectangle 672"/>
          <p:cNvSpPr/>
          <p:nvPr/>
        </p:nvSpPr>
        <p:spPr>
          <a:xfrm>
            <a:off x="10012680" y="5084064"/>
            <a:ext cx="210312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IoT Core MQTTS</a:t>
            </a:r>
          </a:p>
        </p:txBody>
      </p:sp>
      <p:sp>
        <p:nvSpPr>
          <p:cNvPr id="674" name="Rounded Rectangle 673"/>
          <p:cNvSpPr/>
          <p:nvPr/>
        </p:nvSpPr>
        <p:spPr>
          <a:xfrm>
            <a:off x="12435840" y="2880360"/>
            <a:ext cx="2194560" cy="3063240"/>
          </a:xfrm>
          <a:prstGeom prst="roundRect">
            <a:avLst>
              <a:gd name="adj" fmla="val 6000"/>
            </a:avLst>
          </a:prstGeom>
          <a:solidFill>
            <a:srgbClr val="FDEBDD"/>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75" name="TextBox 674"/>
          <p:cNvSpPr txBox="1"/>
          <p:nvPr/>
        </p:nvSpPr>
        <p:spPr>
          <a:xfrm>
            <a:off x="12573000" y="2971800"/>
            <a:ext cx="1920240" cy="320040"/>
          </a:xfrm>
          <a:prstGeom prst="rect">
            <a:avLst/>
          </a:prstGeom>
          <a:noFill/>
        </p:spPr>
        <p:txBody>
          <a:bodyPr wrap="square" lIns="0" rIns="0" tIns="0" bIns="0" anchor="t">
            <a:spAutoFit/>
          </a:bodyPr>
          <a:lstStyle/>
          <a:p>
            <a:pPr algn="l"/>
            <a:r>
              <a:rPr sz="1400" b="1">
                <a:solidFill>
                  <a:srgbClr val="111111"/>
                </a:solidFill>
                <a:latin typeface="Inter SemiBold"/>
              </a:rPr>
              <a:t>VPC Hub</a:t>
            </a:r>
          </a:p>
        </p:txBody>
      </p:sp>
      <p:sp>
        <p:nvSpPr>
          <p:cNvPr id="676" name="Rounded Rectangle 675"/>
          <p:cNvSpPr/>
          <p:nvPr/>
        </p:nvSpPr>
        <p:spPr>
          <a:xfrm>
            <a:off x="12573000" y="3383280"/>
            <a:ext cx="192024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Transit Gateway</a:t>
            </a:r>
          </a:p>
        </p:txBody>
      </p:sp>
      <p:sp>
        <p:nvSpPr>
          <p:cNvPr id="677" name="Rounded Rectangle 676"/>
          <p:cNvSpPr/>
          <p:nvPr/>
        </p:nvSpPr>
        <p:spPr>
          <a:xfrm>
            <a:off x="12573000" y="3950208"/>
            <a:ext cx="192024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VPN sitio a sitio</a:t>
            </a:r>
          </a:p>
        </p:txBody>
      </p:sp>
      <p:sp>
        <p:nvSpPr>
          <p:cNvPr id="678" name="Rounded Rectangle 677"/>
          <p:cNvSpPr/>
          <p:nvPr/>
        </p:nvSpPr>
        <p:spPr>
          <a:xfrm>
            <a:off x="14996159" y="2880360"/>
            <a:ext cx="2286000" cy="3063240"/>
          </a:xfrm>
          <a:prstGeom prst="roundRect">
            <a:avLst>
              <a:gd name="adj" fmla="val 6000"/>
            </a:avLst>
          </a:prstGeom>
          <a:solidFill>
            <a:srgbClr val="111111"/>
          </a:solidFill>
          <a:ln w="12700">
            <a:solidFill>
              <a:srgbClr val="E4E4E4"/>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79" name="TextBox 678"/>
          <p:cNvSpPr txBox="1"/>
          <p:nvPr/>
        </p:nvSpPr>
        <p:spPr>
          <a:xfrm>
            <a:off x="15133319" y="2971800"/>
            <a:ext cx="2011680" cy="320040"/>
          </a:xfrm>
          <a:prstGeom prst="rect">
            <a:avLst/>
          </a:prstGeom>
          <a:noFill/>
        </p:spPr>
        <p:txBody>
          <a:bodyPr wrap="square" lIns="0" rIns="0" tIns="0" bIns="0" anchor="t">
            <a:spAutoFit/>
          </a:bodyPr>
          <a:lstStyle/>
          <a:p>
            <a:pPr algn="l"/>
            <a:r>
              <a:rPr sz="1400" b="1">
                <a:solidFill>
                  <a:srgbClr val="FFFFFF"/>
                </a:solidFill>
                <a:latin typeface="Inter SemiBold"/>
              </a:rPr>
              <a:t>us-east-1 · DR</a:t>
            </a:r>
          </a:p>
        </p:txBody>
      </p:sp>
      <p:sp>
        <p:nvSpPr>
          <p:cNvPr id="680" name="Rounded Rectangle 679"/>
          <p:cNvSpPr/>
          <p:nvPr/>
        </p:nvSpPr>
        <p:spPr>
          <a:xfrm>
            <a:off x="15133319" y="3383280"/>
            <a:ext cx="201168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Aurora</a:t>
            </a:r>
          </a:p>
        </p:txBody>
      </p:sp>
      <p:sp>
        <p:nvSpPr>
          <p:cNvPr id="681" name="Rounded Rectangle 680"/>
          <p:cNvSpPr/>
          <p:nvPr/>
        </p:nvSpPr>
        <p:spPr>
          <a:xfrm>
            <a:off x="15133319" y="3950208"/>
            <a:ext cx="201168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DynamoDB</a:t>
            </a:r>
          </a:p>
        </p:txBody>
      </p:sp>
      <p:sp>
        <p:nvSpPr>
          <p:cNvPr id="682" name="Rounded Rectangle 681"/>
          <p:cNvSpPr/>
          <p:nvPr/>
        </p:nvSpPr>
        <p:spPr>
          <a:xfrm>
            <a:off x="15133319" y="4517136"/>
            <a:ext cx="2011680" cy="457200"/>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S3</a:t>
            </a:r>
          </a:p>
        </p:txBody>
      </p:sp>
      <p:cxnSp>
        <p:nvCxnSpPr>
          <p:cNvPr id="683" name="Connector 682"/>
          <p:cNvCxnSpPr/>
          <p:nvPr/>
        </p:nvCxnSpPr>
        <p:spPr>
          <a:xfrm>
            <a:off x="12252960" y="2697480"/>
            <a:ext cx="2743199" cy="0"/>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84" name="TextBox 683"/>
          <p:cNvSpPr txBox="1"/>
          <p:nvPr/>
        </p:nvSpPr>
        <p:spPr>
          <a:xfrm>
            <a:off x="12710160" y="2395728"/>
            <a:ext cx="2286000" cy="274320"/>
          </a:xfrm>
          <a:prstGeom prst="rect">
            <a:avLst/>
          </a:prstGeom>
          <a:noFill/>
        </p:spPr>
        <p:txBody>
          <a:bodyPr wrap="square" lIns="0" rIns="0" tIns="0" bIns="0" anchor="t">
            <a:spAutoFit/>
          </a:bodyPr>
          <a:lstStyle/>
          <a:p>
            <a:pPr algn="ctr"/>
            <a:r>
              <a:rPr sz="1300" b="1">
                <a:solidFill>
                  <a:srgbClr val="E8641B"/>
                </a:solidFill>
                <a:latin typeface="Inter SemiBold"/>
              </a:rPr>
              <a:t>réplicas de datos</a:t>
            </a:r>
          </a:p>
        </p:txBody>
      </p:sp>
      <p:sp>
        <p:nvSpPr>
          <p:cNvPr id="685" name="Rounded Rectangle 684"/>
          <p:cNvSpPr/>
          <p:nvPr/>
        </p:nvSpPr>
        <p:spPr>
          <a:xfrm>
            <a:off x="822960" y="6720840"/>
            <a:ext cx="5394960" cy="2743200"/>
          </a:xfrm>
          <a:prstGeom prst="roundRect">
            <a:avLst>
              <a:gd name="adj" fmla="val 5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86" name="TextBox 685"/>
          <p:cNvSpPr txBox="1"/>
          <p:nvPr/>
        </p:nvSpPr>
        <p:spPr>
          <a:xfrm>
            <a:off x="960120" y="6812280"/>
            <a:ext cx="5120640" cy="320040"/>
          </a:xfrm>
          <a:prstGeom prst="rect">
            <a:avLst/>
          </a:prstGeom>
          <a:noFill/>
        </p:spPr>
        <p:txBody>
          <a:bodyPr wrap="square" lIns="0" rIns="0" tIns="0" bIns="0" anchor="t">
            <a:spAutoFit/>
          </a:bodyPr>
          <a:lstStyle/>
          <a:p>
            <a:pPr algn="l"/>
            <a:r>
              <a:rPr sz="1500" b="1">
                <a:solidFill>
                  <a:srgbClr val="111111"/>
                </a:solidFill>
                <a:latin typeface="Inter SemiBold"/>
              </a:rPr>
              <a:t>CD Talca</a:t>
            </a:r>
          </a:p>
        </p:txBody>
      </p:sp>
      <p:sp>
        <p:nvSpPr>
          <p:cNvPr id="687" name="Rounded Rectangle 686"/>
          <p:cNvSpPr/>
          <p:nvPr/>
        </p:nvSpPr>
        <p:spPr>
          <a:xfrm>
            <a:off x="96012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Firewall HA</a:t>
            </a:r>
          </a:p>
        </p:txBody>
      </p:sp>
      <p:sp>
        <p:nvSpPr>
          <p:cNvPr id="688" name="Rounded Rectangle 687"/>
          <p:cNvSpPr/>
          <p:nvPr/>
        </p:nvSpPr>
        <p:spPr>
          <a:xfrm>
            <a:off x="356616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Switching</a:t>
            </a:r>
          </a:p>
        </p:txBody>
      </p:sp>
      <p:sp>
        <p:nvSpPr>
          <p:cNvPr id="689" name="Rounded Rectangle 688"/>
          <p:cNvSpPr/>
          <p:nvPr/>
        </p:nvSpPr>
        <p:spPr>
          <a:xfrm>
            <a:off x="96012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Proxmox-Ceph · 3 nodos · 6 VM</a:t>
            </a:r>
          </a:p>
        </p:txBody>
      </p:sp>
      <p:sp>
        <p:nvSpPr>
          <p:cNvPr id="690" name="Rounded Rectangle 689"/>
          <p:cNvSpPr/>
          <p:nvPr/>
        </p:nvSpPr>
        <p:spPr>
          <a:xfrm>
            <a:off x="356616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ERP 2017</a:t>
            </a:r>
          </a:p>
        </p:txBody>
      </p:sp>
      <p:sp>
        <p:nvSpPr>
          <p:cNvPr id="691" name="Rounded Rectangle 690"/>
          <p:cNvSpPr/>
          <p:nvPr/>
        </p:nvSpPr>
        <p:spPr>
          <a:xfrm>
            <a:off x="96012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NAS WORM</a:t>
            </a:r>
          </a:p>
        </p:txBody>
      </p:sp>
      <p:sp>
        <p:nvSpPr>
          <p:cNvPr id="692" name="Rounded Rectangle 691"/>
          <p:cNvSpPr/>
          <p:nvPr/>
        </p:nvSpPr>
        <p:spPr>
          <a:xfrm>
            <a:off x="356616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MC9400 · Wi-Fi 6E</a:t>
            </a:r>
          </a:p>
        </p:txBody>
      </p:sp>
      <p:sp>
        <p:nvSpPr>
          <p:cNvPr id="693" name="Rounded Rectangle 692"/>
          <p:cNvSpPr/>
          <p:nvPr/>
        </p:nvSpPr>
        <p:spPr>
          <a:xfrm>
            <a:off x="960120" y="886968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Gateways IoT (2) y sensores</a:t>
            </a:r>
          </a:p>
        </p:txBody>
      </p:sp>
      <p:cxnSp>
        <p:nvCxnSpPr>
          <p:cNvPr id="694" name="Connector 693"/>
          <p:cNvCxnSpPr/>
          <p:nvPr/>
        </p:nvCxnSpPr>
        <p:spPr>
          <a:xfrm flipV="1">
            <a:off x="3520440" y="5943600"/>
            <a:ext cx="10012680" cy="777240"/>
          </a:xfrm>
          <a:prstGeom prst="line">
            <a:avLst/>
          </a:prstGeom>
          <a:ln w="22225">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5" name="Rounded Rectangle 694"/>
          <p:cNvSpPr/>
          <p:nvPr/>
        </p:nvSpPr>
        <p:spPr>
          <a:xfrm>
            <a:off x="6446520" y="6720840"/>
            <a:ext cx="5394960" cy="2743200"/>
          </a:xfrm>
          <a:prstGeom prst="roundRect">
            <a:avLst>
              <a:gd name="adj" fmla="val 5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696" name="TextBox 695"/>
          <p:cNvSpPr txBox="1"/>
          <p:nvPr/>
        </p:nvSpPr>
        <p:spPr>
          <a:xfrm>
            <a:off x="6583680" y="6812280"/>
            <a:ext cx="5120640" cy="320040"/>
          </a:xfrm>
          <a:prstGeom prst="rect">
            <a:avLst/>
          </a:prstGeom>
          <a:noFill/>
        </p:spPr>
        <p:txBody>
          <a:bodyPr wrap="square" lIns="0" rIns="0" tIns="0" bIns="0" anchor="t">
            <a:spAutoFit/>
          </a:bodyPr>
          <a:lstStyle/>
          <a:p>
            <a:pPr algn="l"/>
            <a:r>
              <a:rPr sz="1500" b="1">
                <a:solidFill>
                  <a:srgbClr val="111111"/>
                </a:solidFill>
                <a:latin typeface="Inter SemiBold"/>
              </a:rPr>
              <a:t>CD Concepción</a:t>
            </a:r>
          </a:p>
        </p:txBody>
      </p:sp>
      <p:sp>
        <p:nvSpPr>
          <p:cNvPr id="697" name="Rounded Rectangle 696"/>
          <p:cNvSpPr/>
          <p:nvPr/>
        </p:nvSpPr>
        <p:spPr>
          <a:xfrm>
            <a:off x="658368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Firewall HA</a:t>
            </a:r>
          </a:p>
        </p:txBody>
      </p:sp>
      <p:sp>
        <p:nvSpPr>
          <p:cNvPr id="698" name="Rounded Rectangle 697"/>
          <p:cNvSpPr/>
          <p:nvPr/>
        </p:nvSpPr>
        <p:spPr>
          <a:xfrm>
            <a:off x="918972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Switching</a:t>
            </a:r>
          </a:p>
        </p:txBody>
      </p:sp>
      <p:sp>
        <p:nvSpPr>
          <p:cNvPr id="699" name="Rounded Rectangle 698"/>
          <p:cNvSpPr/>
          <p:nvPr/>
        </p:nvSpPr>
        <p:spPr>
          <a:xfrm>
            <a:off x="658368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Proxmox activo · 4 VM</a:t>
            </a:r>
          </a:p>
        </p:txBody>
      </p:sp>
      <p:sp>
        <p:nvSpPr>
          <p:cNvPr id="700" name="Rounded Rectangle 699"/>
          <p:cNvSpPr/>
          <p:nvPr/>
        </p:nvSpPr>
        <p:spPr>
          <a:xfrm>
            <a:off x="918972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En espera · 4 VM (réplica sincrónica)</a:t>
            </a:r>
          </a:p>
        </p:txBody>
      </p:sp>
      <p:sp>
        <p:nvSpPr>
          <p:cNvPr id="701" name="Rounded Rectangle 700"/>
          <p:cNvSpPr/>
          <p:nvPr/>
        </p:nvSpPr>
        <p:spPr>
          <a:xfrm>
            <a:off x="658368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MC9400 · Wi-Fi 6E</a:t>
            </a:r>
          </a:p>
        </p:txBody>
      </p:sp>
      <p:sp>
        <p:nvSpPr>
          <p:cNvPr id="702" name="Rounded Rectangle 701"/>
          <p:cNvSpPr/>
          <p:nvPr/>
        </p:nvSpPr>
        <p:spPr>
          <a:xfrm>
            <a:off x="918972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Gateway IoT y sensores</a:t>
            </a:r>
          </a:p>
        </p:txBody>
      </p:sp>
      <p:cxnSp>
        <p:nvCxnSpPr>
          <p:cNvPr id="703" name="Connector 702"/>
          <p:cNvCxnSpPr/>
          <p:nvPr/>
        </p:nvCxnSpPr>
        <p:spPr>
          <a:xfrm flipV="1">
            <a:off x="9144000" y="5943600"/>
            <a:ext cx="4389120" cy="777240"/>
          </a:xfrm>
          <a:prstGeom prst="line">
            <a:avLst/>
          </a:prstGeom>
          <a:ln w="22225">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4" name="Rounded Rectangle 703"/>
          <p:cNvSpPr/>
          <p:nvPr/>
        </p:nvSpPr>
        <p:spPr>
          <a:xfrm>
            <a:off x="12070080" y="6720840"/>
            <a:ext cx="5394960" cy="2743200"/>
          </a:xfrm>
          <a:prstGeom prst="roundRect">
            <a:avLst>
              <a:gd name="adj" fmla="val 5000"/>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05" name="TextBox 704"/>
          <p:cNvSpPr txBox="1"/>
          <p:nvPr/>
        </p:nvSpPr>
        <p:spPr>
          <a:xfrm>
            <a:off x="12207240" y="6812280"/>
            <a:ext cx="5120640" cy="320040"/>
          </a:xfrm>
          <a:prstGeom prst="rect">
            <a:avLst/>
          </a:prstGeom>
          <a:noFill/>
        </p:spPr>
        <p:txBody>
          <a:bodyPr wrap="square" lIns="0" rIns="0" tIns="0" bIns="0" anchor="t">
            <a:spAutoFit/>
          </a:bodyPr>
          <a:lstStyle/>
          <a:p>
            <a:pPr algn="l"/>
            <a:r>
              <a:rPr sz="1500" b="1">
                <a:solidFill>
                  <a:srgbClr val="111111"/>
                </a:solidFill>
                <a:latin typeface="Inter SemiBold"/>
              </a:rPr>
              <a:t>Cross-docking × 3</a:t>
            </a:r>
          </a:p>
        </p:txBody>
      </p:sp>
      <p:sp>
        <p:nvSpPr>
          <p:cNvPr id="706" name="Rounded Rectangle 705"/>
          <p:cNvSpPr/>
          <p:nvPr/>
        </p:nvSpPr>
        <p:spPr>
          <a:xfrm>
            <a:off x="1220724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Firewall HA</a:t>
            </a:r>
          </a:p>
        </p:txBody>
      </p:sp>
      <p:sp>
        <p:nvSpPr>
          <p:cNvPr id="707" name="Rounded Rectangle 706"/>
          <p:cNvSpPr/>
          <p:nvPr/>
        </p:nvSpPr>
        <p:spPr>
          <a:xfrm>
            <a:off x="14813280" y="722376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Switching</a:t>
            </a:r>
          </a:p>
        </p:txBody>
      </p:sp>
      <p:sp>
        <p:nvSpPr>
          <p:cNvPr id="708" name="Rounded Rectangle 707"/>
          <p:cNvSpPr/>
          <p:nvPr/>
        </p:nvSpPr>
        <p:spPr>
          <a:xfrm>
            <a:off x="1220724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Mini-PC activo · Docker</a:t>
            </a:r>
          </a:p>
        </p:txBody>
      </p:sp>
      <p:sp>
        <p:nvSpPr>
          <p:cNvPr id="709" name="Rounded Rectangle 708"/>
          <p:cNvSpPr/>
          <p:nvPr/>
        </p:nvSpPr>
        <p:spPr>
          <a:xfrm>
            <a:off x="14813280" y="777240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En espera · Docker (réplica)</a:t>
            </a:r>
          </a:p>
        </p:txBody>
      </p:sp>
      <p:sp>
        <p:nvSpPr>
          <p:cNvPr id="710" name="Rounded Rectangle 709"/>
          <p:cNvSpPr/>
          <p:nvPr/>
        </p:nvSpPr>
        <p:spPr>
          <a:xfrm>
            <a:off x="12207240" y="8321040"/>
            <a:ext cx="2514600" cy="457200"/>
          </a:xfrm>
          <a:prstGeom prst="roundRect">
            <a:avLst>
              <a:gd name="adj" fmla="val 2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r>
              <a:rPr sz="1300" b="0">
                <a:solidFill>
                  <a:srgbClr val="111111"/>
                </a:solidFill>
                <a:latin typeface="Inter"/>
              </a:rPr>
              <a:t>Escáneres GS1</a:t>
            </a:r>
          </a:p>
        </p:txBody>
      </p:sp>
      <p:cxnSp>
        <p:nvCxnSpPr>
          <p:cNvPr id="711" name="Connector 710"/>
          <p:cNvCxnSpPr/>
          <p:nvPr/>
        </p:nvCxnSpPr>
        <p:spPr>
          <a:xfrm flipH="1" flipV="1">
            <a:off x="13533120" y="5943600"/>
            <a:ext cx="1234440" cy="777240"/>
          </a:xfrm>
          <a:prstGeom prst="line">
            <a:avLst/>
          </a:prstGeom>
          <a:ln w="22225">
            <a:solidFill>
              <a:srgbClr val="E86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2" name="TextBox 711"/>
          <p:cNvSpPr txBox="1"/>
          <p:nvPr/>
        </p:nvSpPr>
        <p:spPr>
          <a:xfrm>
            <a:off x="822960" y="6263640"/>
            <a:ext cx="8229600" cy="320040"/>
          </a:xfrm>
          <a:prstGeom prst="rect">
            <a:avLst/>
          </a:prstGeom>
          <a:noFill/>
        </p:spPr>
        <p:txBody>
          <a:bodyPr wrap="square" lIns="0" rIns="0" tIns="0" bIns="0" anchor="t">
            <a:spAutoFit/>
          </a:bodyPr>
          <a:lstStyle/>
          <a:p>
            <a:pPr algn="l"/>
            <a:r>
              <a:rPr sz="1300" b="1">
                <a:solidFill>
                  <a:srgbClr val="E8641B"/>
                </a:solidFill>
                <a:latin typeface="Inter SemiBold"/>
              </a:rPr>
              <a:t>VPN sitio a sitio hacia el VPC Hub · fibra, LTE y Starlink</a:t>
            </a:r>
          </a:p>
        </p:txBody>
      </p:sp>
    </p:spTree>
  </p:cSld>
  <p:clrMapOvr>
    <a:masterClrMapping/>
  </p:clrMapOvr>
  <p:transition spd="med">
    <p:zoom/>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cxnSp>
        <p:nvCxnSpPr>
          <p:cNvPr id="649" name="Google Shape;649;p12"/>
          <p:cNvCxnSpPr/>
          <p:nvPr/>
        </p:nvCxnSpPr>
        <p:spPr>
          <a:xfrm>
            <a:off x="-1021131" y="5377797"/>
            <a:ext cx="19756744" cy="0"/>
          </a:xfrm>
          <a:prstGeom prst="straightConnector1">
            <a:avLst/>
          </a:prstGeom>
          <a:noFill/>
          <a:ln cap="flat" cmpd="sng" w="76200">
            <a:solidFill>
              <a:srgbClr val="000000"/>
            </a:solidFill>
            <a:prstDash val="solid"/>
            <a:round/>
            <a:headEnd len="sm" w="sm" type="none"/>
            <a:tailEnd len="sm" w="sm" type="none"/>
          </a:ln>
        </p:spPr>
      </p:cxnSp>
      <p:grpSp>
        <p:nvGrpSpPr>
          <p:cNvPr id="650" name="Google Shape;650;p12"/>
          <p:cNvGrpSpPr/>
          <p:nvPr/>
        </p:nvGrpSpPr>
        <p:grpSpPr>
          <a:xfrm>
            <a:off x="9046339" y="5230464"/>
            <a:ext cx="294667" cy="294667"/>
            <a:chOff x="0" y="0"/>
            <a:chExt cx="812800" cy="812800"/>
          </a:xfrm>
        </p:grpSpPr>
        <p:sp>
          <p:nvSpPr>
            <p:cNvPr id="651" name="Google Shape;65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3" name="Google Shape;653;p12"/>
          <p:cNvGrpSpPr/>
          <p:nvPr/>
        </p:nvGrpSpPr>
        <p:grpSpPr>
          <a:xfrm>
            <a:off x="5724391" y="5211414"/>
            <a:ext cx="294667" cy="294667"/>
            <a:chOff x="0" y="0"/>
            <a:chExt cx="812800" cy="812800"/>
          </a:xfrm>
        </p:grpSpPr>
        <p:sp>
          <p:nvSpPr>
            <p:cNvPr id="654" name="Google Shape;65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6" name="Google Shape;656;p12"/>
          <p:cNvGrpSpPr/>
          <p:nvPr/>
        </p:nvGrpSpPr>
        <p:grpSpPr>
          <a:xfrm>
            <a:off x="2402443" y="5192364"/>
            <a:ext cx="294667" cy="294667"/>
            <a:chOff x="0" y="0"/>
            <a:chExt cx="812800" cy="812800"/>
          </a:xfrm>
        </p:grpSpPr>
        <p:sp>
          <p:nvSpPr>
            <p:cNvPr id="657" name="Google Shape;65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9" name="Google Shape;659;p12"/>
          <p:cNvGrpSpPr/>
          <p:nvPr/>
        </p:nvGrpSpPr>
        <p:grpSpPr>
          <a:xfrm>
            <a:off x="12368287" y="5230464"/>
            <a:ext cx="294667" cy="294667"/>
            <a:chOff x="0" y="0"/>
            <a:chExt cx="812800" cy="812800"/>
          </a:xfrm>
        </p:grpSpPr>
        <p:sp>
          <p:nvSpPr>
            <p:cNvPr id="660" name="Google Shape;66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2" name="Google Shape;662;p12"/>
          <p:cNvGrpSpPr/>
          <p:nvPr/>
        </p:nvGrpSpPr>
        <p:grpSpPr>
          <a:xfrm>
            <a:off x="15690235" y="5230464"/>
            <a:ext cx="294667" cy="294667"/>
            <a:chOff x="0" y="0"/>
            <a:chExt cx="812800" cy="812800"/>
          </a:xfrm>
        </p:grpSpPr>
        <p:sp>
          <p:nvSpPr>
            <p:cNvPr id="663" name="Google Shape;66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5" name="Google Shape;665;p12"/>
          <p:cNvGrpSpPr/>
          <p:nvPr/>
        </p:nvGrpSpPr>
        <p:grpSpPr>
          <a:xfrm>
            <a:off x="1189989" y="5649105"/>
            <a:ext cx="2719575" cy="2528591"/>
            <a:chOff x="0" y="-47625"/>
            <a:chExt cx="716267" cy="665966"/>
          </a:xfrm>
        </p:grpSpPr>
        <p:sp>
          <p:nvSpPr>
            <p:cNvPr id="666" name="Google Shape;66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68" name="Google Shape;668;p12"/>
          <p:cNvSpPr txBox="1"/>
          <p:nvPr/>
        </p:nvSpPr>
        <p:spPr>
          <a:xfrm>
            <a:off x="1328825" y="6148634"/>
            <a:ext cx="2421900" cy="12402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Lote y vencimiento al ingresar</a:t>
            </a:r>
            <a:endParaRPr sz="2400"/>
          </a:p>
        </p:txBody>
      </p:sp>
      <p:sp>
        <p:nvSpPr>
          <p:cNvPr id="669" name="Google Shape;669;p12"/>
          <p:cNvSpPr txBox="1"/>
          <p:nvPr/>
        </p:nvSpPr>
        <p:spPr>
          <a:xfrm>
            <a:off x="4655754" y="6148634"/>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Historia térmica; decide Calidad</a:t>
            </a:r>
            <a:endParaRPr sz="2400"/>
          </a:p>
        </p:txBody>
      </p:sp>
      <p:sp>
        <p:nvSpPr>
          <p:cNvPr id="670" name="Google Shape;670;p12"/>
          <p:cNvSpPr txBox="1"/>
          <p:nvPr/>
        </p:nvSpPr>
        <p:spPr>
          <a:xfrm>
            <a:off x="11304632" y="6166883"/>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Paradas y temperatura</a:t>
            </a:r>
            <a:endParaRPr sz="2400"/>
          </a:p>
        </p:txBody>
      </p:sp>
      <p:sp>
        <p:nvSpPr>
          <p:cNvPr id="671" name="Google Shape;671;p12"/>
          <p:cNvSpPr txBox="1"/>
          <p:nvPr/>
        </p:nvSpPr>
        <p:spPr>
          <a:xfrm>
            <a:off x="14631484" y="6166883"/>
            <a:ext cx="2421900" cy="3693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Firma, foto o QR</a:t>
            </a:r>
            <a:endParaRPr sz="2400"/>
          </a:p>
        </p:txBody>
      </p:sp>
      <p:grpSp>
        <p:nvGrpSpPr>
          <p:cNvPr id="672" name="Google Shape;672;p12"/>
          <p:cNvGrpSpPr/>
          <p:nvPr/>
        </p:nvGrpSpPr>
        <p:grpSpPr>
          <a:xfrm>
            <a:off x="7833748" y="5725151"/>
            <a:ext cx="2720102" cy="2528611"/>
            <a:chOff x="0" y="-47626"/>
            <a:chExt cx="716401" cy="665967"/>
          </a:xfrm>
        </p:grpSpPr>
        <p:sp>
          <p:nvSpPr>
            <p:cNvPr id="673" name="Google Shape;673;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2"/>
            <p:cNvSpPr txBox="1"/>
            <p:nvPr/>
          </p:nvSpPr>
          <p:spPr>
            <a:xfrm>
              <a:off x="1" y="-47626"/>
              <a:ext cx="716400" cy="542100"/>
            </a:xfrm>
            <a:prstGeom prst="rect">
              <a:avLst/>
            </a:prstGeom>
            <a:noFill/>
            <a:ln>
              <a:noFill/>
            </a:ln>
          </p:spPr>
          <p:txBody>
            <a:bodyPr anchorCtr="0" anchor="ctr" bIns="50800" lIns="50800" spcFirstLastPara="1" rIns="50800" wrap="square" tIns="50800">
              <a:noAutofit/>
            </a:bodyPr>
            <a:lstStyle/>
            <a:p>
              <a:pPr indent="0" lvl="0" marL="0" rtl="0" algn="ctr">
                <a:lnSpc>
                  <a:spcPct val="117842"/>
                </a:lnSpc>
                <a:spcBef>
                  <a:spcPts val="0"/>
                </a:spcBef>
                <a:spcAft>
                  <a:spcPts val="0"/>
                </a:spcAft>
                <a:buNone/>
              </a:pPr>
              <a:r>
                <a:rPr lang="en-US" sz="2400">
                  <a:latin typeface="Inter"/>
                  <a:ea typeface="Inter"/>
                  <a:cs typeface="Inter"/>
                  <a:sym typeface="Inter"/>
                </a:rPr>
                <a:t>Pallet o canastillo con su lote</a:t>
              </a:r>
              <a:endParaRPr sz="2400"/>
            </a:p>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5" name="Google Shape;675;p12"/>
          <p:cNvGrpSpPr/>
          <p:nvPr/>
        </p:nvGrpSpPr>
        <p:grpSpPr>
          <a:xfrm>
            <a:off x="11156008" y="5725219"/>
            <a:ext cx="2719594" cy="2528606"/>
            <a:chOff x="0" y="-47625"/>
            <a:chExt cx="716267" cy="665966"/>
          </a:xfrm>
        </p:grpSpPr>
        <p:sp>
          <p:nvSpPr>
            <p:cNvPr id="676" name="Google Shape;67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8" name="Google Shape;678;p12"/>
          <p:cNvGrpSpPr/>
          <p:nvPr/>
        </p:nvGrpSpPr>
        <p:grpSpPr>
          <a:xfrm>
            <a:off x="4511687" y="5725155"/>
            <a:ext cx="2720099" cy="2528735"/>
            <a:chOff x="0" y="-47625"/>
            <a:chExt cx="716400" cy="666000"/>
          </a:xfrm>
        </p:grpSpPr>
        <p:sp>
          <p:nvSpPr>
            <p:cNvPr id="679" name="Google Shape;679;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2"/>
            <p:cNvSpPr txBox="1"/>
            <p:nvPr/>
          </p:nvSpPr>
          <p:spPr>
            <a:xfrm>
              <a:off x="0" y="-47625"/>
              <a:ext cx="716400" cy="666000"/>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2400">
                <a:solidFill>
                  <a:schemeClr val="dk1"/>
                </a:solidFill>
                <a:latin typeface="Inter"/>
                <a:ea typeface="Inter"/>
                <a:cs typeface="Inter"/>
                <a:sym typeface="Inter"/>
              </a:endParaRPr>
            </a:p>
          </p:txBody>
        </p:sp>
      </p:grpSp>
      <p:grpSp>
        <p:nvGrpSpPr>
          <p:cNvPr id="681" name="Google Shape;681;p12"/>
          <p:cNvGrpSpPr/>
          <p:nvPr/>
        </p:nvGrpSpPr>
        <p:grpSpPr>
          <a:xfrm>
            <a:off x="14482619" y="5725221"/>
            <a:ext cx="2719594" cy="2528606"/>
            <a:chOff x="0" y="-47625"/>
            <a:chExt cx="716267" cy="665966"/>
          </a:xfrm>
        </p:grpSpPr>
        <p:sp>
          <p:nvSpPr>
            <p:cNvPr id="682" name="Google Shape;682;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84"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85" name="Google Shape;685;p12"/>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75366"/>
              </a:lnSpc>
              <a:spcBef>
                <a:spcPts val="0"/>
              </a:spcBef>
              <a:spcAft>
                <a:spcPts val="0"/>
              </a:spcAft>
              <a:buNone/>
            </a:pPr>
            <a:r>
              <a:rPr b="1" lang="en-US" sz="6000">
                <a:solidFill>
                  <a:srgbClr val="111111"/>
                </a:solidFill>
                <a:latin typeface="Inter SemiBold"/>
                <a:ea typeface="Inter SemiBold"/>
                <a:cs typeface="Inter SemiBold"/>
                <a:sym typeface="Inter SemiBold"/>
              </a:rPr>
              <a:t>Datos con una sola verdad</a:t>
            </a:r>
            <a:endParaRPr/>
          </a:p>
        </p:txBody>
      </p:sp>
      <p:sp>
        <p:nvSpPr>
          <p:cNvPr id="686" name="Google Shape;686;p12"/>
          <p:cNvSpPr txBox="1"/>
          <p:nvPr/>
        </p:nvSpPr>
        <p:spPr>
          <a:xfrm>
            <a:off x="1338788"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Recepción</a:t>
            </a:r>
            <a:endParaRPr/>
          </a:p>
        </p:txBody>
      </p:sp>
      <p:sp>
        <p:nvSpPr>
          <p:cNvPr id="687" name="Google Shape;687;p12"/>
          <p:cNvSpPr txBox="1"/>
          <p:nvPr/>
        </p:nvSpPr>
        <p:spPr>
          <a:xfrm>
            <a:off x="4660736"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Lote</a:t>
            </a:r>
            <a:endParaRPr/>
          </a:p>
        </p:txBody>
      </p:sp>
      <p:sp>
        <p:nvSpPr>
          <p:cNvPr id="688" name="Google Shape;688;p12"/>
          <p:cNvSpPr txBox="1"/>
          <p:nvPr/>
        </p:nvSpPr>
        <p:spPr>
          <a:xfrm>
            <a:off x="7982684"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Unidad</a:t>
            </a:r>
            <a:endParaRPr/>
          </a:p>
        </p:txBody>
      </p:sp>
      <p:sp>
        <p:nvSpPr>
          <p:cNvPr id="689" name="Google Shape;689;p12"/>
          <p:cNvSpPr txBox="1"/>
          <p:nvPr/>
        </p:nvSpPr>
        <p:spPr>
          <a:xfrm>
            <a:off x="11304632"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Ruta</a:t>
            </a:r>
            <a:endParaRPr/>
          </a:p>
        </p:txBody>
      </p:sp>
      <p:sp>
        <p:nvSpPr>
          <p:cNvPr id="690" name="Google Shape;690;p12"/>
          <p:cNvSpPr txBox="1"/>
          <p:nvPr/>
        </p:nvSpPr>
        <p:spPr>
          <a:xfrm>
            <a:off x="14626580"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Entrega</a:t>
            </a:r>
            <a:endParaRPr/>
          </a:p>
        </p:txBody>
      </p:sp>
      <p:sp>
        <p:nvSpPr>
          <p:cNvPr id="691"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92" name="!!deco3"/>
          <p:cNvSpPr/>
          <p:nvPr/>
        </p:nvSpPr>
        <p:spPr>
          <a:xfrm>
            <a:off x="-2254297" y="87721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693"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4"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5" name="Google Shape;695;p12"/>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14545"/>
              </a:lnSpc>
              <a:spcBef>
                <a:spcPts val="0"/>
              </a:spcBef>
              <a:spcAft>
                <a:spcPts val="0"/>
              </a:spcAft>
              <a:buNone/>
            </a:pPr>
            <a:r>
              <a:rPr lang="en-US" sz="2200">
                <a:solidFill>
                  <a:srgbClr val="000000"/>
                </a:solidFill>
                <a:latin typeface="Inter"/>
                <a:ea typeface="Inter"/>
                <a:cs typeface="Inter"/>
                <a:sym typeface="Inter"/>
              </a:rPr>
              <a:t>15 dominios · una sola fuente por dato · custodia EPCIS 2.0</a:t>
            </a:r>
            <a:endParaRPr/>
          </a:p>
        </p:txBody>
      </p:sp>
      <p:sp>
        <p:nvSpPr>
          <p:cNvPr id="696" name="Google Shape;696;p12"/>
          <p:cNvSpPr txBox="1"/>
          <p:nvPr/>
        </p:nvSpPr>
        <p:spPr>
          <a:xfrm>
            <a:off x="2743200" y="8537615"/>
            <a:ext cx="12801600" cy="30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000">
                <a:solidFill>
                  <a:srgbClr val="3C3C3C"/>
                </a:solidFill>
                <a:latin typeface="Inter SemiBold"/>
                <a:ea typeface="Inter SemiBold"/>
                <a:cs typeface="Inter SemiBold"/>
                <a:sym typeface="Inter SemiBold"/>
              </a:rPr>
              <a:t>Migración: 16 GB de origen · 0 diferencias sin explicar</a:t>
            </a:r>
            <a:endParaRPr/>
          </a:p>
        </p:txBody>
      </p:sp>
      <p:sp>
        <p:nvSpPr>
          <p:cNvPr id="69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08</a:t>
            </a:r>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4" name="!!deco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5" name="!!deco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6" name="!!deco3"/>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7" name="!!m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38"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39"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41" name="Google Shape;741;hc7cc306779174be_0_81"/>
          <p:cNvSpPr txBox="1"/>
          <p:nvPr/>
        </p:nvSpPr>
        <p:spPr>
          <a:xfrm>
            <a:off x="8664322" y="3429001"/>
            <a:ext cx="8012100" cy="4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754">
                <a:solidFill>
                  <a:srgbClr val="111111"/>
                </a:solidFill>
                <a:latin typeface="Inter SemiBold"/>
                <a:ea typeface="Inter SemiBold"/>
                <a:cs typeface="Inter SemiBold"/>
                <a:sym typeface="Inter SemiBold"/>
              </a:rPr>
              <a:t>Ritmo de gobierno</a:t>
            </a:r>
            <a:endParaRPr sz="1752"/>
          </a:p>
        </p:txBody>
      </p:sp>
      <p:sp>
        <p:nvSpPr>
          <p:cNvPr id="742" name="Google Shape;742;hc7cc306779174be_0_81"/>
          <p:cNvSpPr/>
          <p:nvPr/>
        </p:nvSpPr>
        <p:spPr>
          <a:xfrm>
            <a:off x="8664322" y="4230198"/>
            <a:ext cx="2746800" cy="1029900"/>
          </a:xfrm>
          <a:prstGeom prst="roundRect">
            <a:avLst>
              <a:gd fmla="val 50000" name="adj"/>
            </a:avLst>
          </a:prstGeom>
          <a:solidFill>
            <a:srgbClr val="E8641B"/>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Semanal</a:t>
            </a:r>
            <a:endParaRPr sz="1752"/>
          </a:p>
        </p:txBody>
      </p:sp>
      <p:sp>
        <p:nvSpPr>
          <p:cNvPr id="743" name="Google Shape;743;hc7cc306779174be_0_81"/>
          <p:cNvSpPr txBox="1"/>
          <p:nvPr/>
        </p:nvSpPr>
        <p:spPr>
          <a:xfrm>
            <a:off x="11697430" y="4230198"/>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Seguimiento</a:t>
            </a:r>
            <a:endParaRPr sz="1752"/>
          </a:p>
        </p:txBody>
      </p:sp>
      <p:sp>
        <p:nvSpPr>
          <p:cNvPr id="744" name="Google Shape;744;hc7cc306779174be_0_81"/>
          <p:cNvSpPr/>
          <p:nvPr/>
        </p:nvSpPr>
        <p:spPr>
          <a:xfrm>
            <a:off x="8664322" y="5603679"/>
            <a:ext cx="2746800" cy="1029900"/>
          </a:xfrm>
          <a:prstGeom prst="roundRect">
            <a:avLst>
              <a:gd fmla="val 50000" name="adj"/>
            </a:avLst>
          </a:prstGeom>
          <a:solidFill>
            <a:srgbClr val="E8641B"/>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Quincenal</a:t>
            </a:r>
            <a:endParaRPr sz="1752"/>
          </a:p>
        </p:txBody>
      </p:sp>
      <p:sp>
        <p:nvSpPr>
          <p:cNvPr id="745" name="Google Shape;745;hc7cc306779174be_0_81"/>
          <p:cNvSpPr txBox="1"/>
          <p:nvPr/>
        </p:nvSpPr>
        <p:spPr>
          <a:xfrm>
            <a:off x="11697430" y="5603679"/>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Comité de Proyecto</a:t>
            </a:r>
            <a:endParaRPr sz="1752"/>
          </a:p>
        </p:txBody>
      </p:sp>
      <p:sp>
        <p:nvSpPr>
          <p:cNvPr id="746" name="Google Shape;746;hc7cc306779174be_0_81"/>
          <p:cNvSpPr/>
          <p:nvPr/>
        </p:nvSpPr>
        <p:spPr>
          <a:xfrm>
            <a:off x="8664322" y="6977160"/>
            <a:ext cx="2746800" cy="1029900"/>
          </a:xfrm>
          <a:prstGeom prst="roundRect">
            <a:avLst>
              <a:gd fmla="val 50000" name="adj"/>
            </a:avLst>
          </a:prstGeom>
          <a:solidFill>
            <a:srgbClr val="E8641B"/>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Mensual</a:t>
            </a:r>
            <a:endParaRPr sz="1752"/>
          </a:p>
        </p:txBody>
      </p:sp>
      <p:sp>
        <p:nvSpPr>
          <p:cNvPr id="747" name="Google Shape;747;hc7cc306779174be_0_81"/>
          <p:cNvSpPr txBox="1"/>
          <p:nvPr/>
        </p:nvSpPr>
        <p:spPr>
          <a:xfrm>
            <a:off x="11697430" y="6977160"/>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Ejecutivo y Arquitectura</a:t>
            </a:r>
            <a:endParaRPr sz="1752"/>
          </a:p>
        </p:txBody>
      </p:sp>
      <p:sp>
        <p:nvSpPr>
          <p:cNvPr id="748" name="Google Shape;748;hc7cc306779174be_0_81"/>
          <p:cNvSpPr/>
          <p:nvPr/>
        </p:nvSpPr>
        <p:spPr>
          <a:xfrm>
            <a:off x="8664322" y="8350641"/>
            <a:ext cx="2746800" cy="1029900"/>
          </a:xfrm>
          <a:prstGeom prst="roundRect">
            <a:avLst>
              <a:gd fmla="val 50000" name="adj"/>
            </a:avLst>
          </a:prstGeom>
          <a:solidFill>
            <a:srgbClr val="111111"/>
          </a:solidFill>
          <a:ln>
            <a:noFill/>
          </a:ln>
        </p:spPr>
        <p:txBody>
          <a:bodyPr anchorCtr="0" anchor="ctr" bIns="57200" lIns="171675" spcFirstLastPara="1" rIns="171675" wrap="square" tIns="57200">
            <a:noAutofit/>
          </a:bodyPr>
          <a:lstStyle/>
          <a:p>
            <a:pPr indent="0" lvl="0" marL="0" marR="0" rtl="0" algn="ctr">
              <a:spcBef>
                <a:spcPts val="0"/>
              </a:spcBef>
              <a:spcAft>
                <a:spcPts val="0"/>
              </a:spcAft>
              <a:buNone/>
            </a:pPr>
            <a:r>
              <a:rPr b="1" lang="en-US" sz="2128">
                <a:solidFill>
                  <a:srgbClr val="FFFFFF"/>
                </a:solidFill>
                <a:latin typeface="Inter SemiBold"/>
                <a:ea typeface="Inter SemiBold"/>
                <a:cs typeface="Inter SemiBold"/>
                <a:sym typeface="Inter SemiBold"/>
              </a:rPr>
              <a:t>Mes 13–56</a:t>
            </a:r>
            <a:endParaRPr sz="1752"/>
          </a:p>
        </p:txBody>
      </p:sp>
      <p:sp>
        <p:nvSpPr>
          <p:cNvPr id="749" name="Google Shape;749;hc7cc306779174be_0_81"/>
          <p:cNvSpPr txBox="1"/>
          <p:nvPr/>
        </p:nvSpPr>
        <p:spPr>
          <a:xfrm>
            <a:off x="11697430" y="8350641"/>
            <a:ext cx="5036100" cy="366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2378">
                <a:solidFill>
                  <a:srgbClr val="111111"/>
                </a:solidFill>
                <a:latin typeface="Inter"/>
                <a:ea typeface="Inter"/>
                <a:cs typeface="Inter"/>
                <a:sym typeface="Inter"/>
              </a:rPr>
              <a:t>Comité de Operación</a:t>
            </a:r>
            <a:endParaRPr sz="1752"/>
          </a:p>
        </p:txBody>
      </p:sp>
      <p:sp>
        <p:nvSpPr>
          <p:cNvPr id="751" name="Google Shape;751;hc7cc306779174be_0_81"/>
          <p:cNvSpPr/>
          <p:nvPr/>
        </p:nvSpPr>
        <p:spPr>
          <a:xfrm>
            <a:off x="1701067" y="5219575"/>
            <a:ext cx="4023300" cy="132030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Entregas incrementales</a:t>
            </a:r>
            <a:endParaRPr/>
          </a:p>
        </p:txBody>
      </p:sp>
      <p:sp>
        <p:nvSpPr>
          <p:cNvPr id="752" name="Google Shape;752;hc7cc306779174be_0_81"/>
          <p:cNvSpPr/>
          <p:nvPr/>
        </p:nvSpPr>
        <p:spPr>
          <a:xfrm>
            <a:off x="1627725" y="6709025"/>
            <a:ext cx="4170000" cy="132030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Iteraciones de 2 semanas</a:t>
            </a:r>
            <a:endParaRPr/>
          </a:p>
        </p:txBody>
      </p:sp>
      <p:sp>
        <p:nvSpPr>
          <p:cNvPr id="753" name="Google Shape;753;hc7cc306779174be_0_81"/>
          <p:cNvSpPr/>
          <p:nvPr/>
        </p:nvSpPr>
        <p:spPr>
          <a:xfrm>
            <a:off x="1701067" y="8143750"/>
            <a:ext cx="4023300" cy="132030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Control de tareas Kanban</a:t>
            </a:r>
            <a:endParaRPr/>
          </a:p>
        </p:txBody>
      </p:sp>
      <p:sp>
        <p:nvSpPr>
          <p:cNvPr id="754" name="Google Shape;754;hc7cc306779174be_0_81"/>
          <p:cNvSpPr/>
          <p:nvPr/>
        </p:nvSpPr>
        <p:spPr>
          <a:xfrm>
            <a:off x="1627725" y="3774650"/>
            <a:ext cx="4170000" cy="132030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Adaptado a 56 meses</a:t>
            </a:r>
            <a:endParaRPr/>
          </a:p>
        </p:txBody>
      </p:sp>
      <p:sp>
        <p:nvSpPr>
          <p:cNvPr id="75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09</a:t>
            </a:r>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deco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1" name="!!deco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2" name="!!deco3"/>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3" name="!!deco4"/>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4" name="!!m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65"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66"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68" name="Google Shape;768;hc7cc306779174be_0_0"/>
          <p:cNvSpPr txBox="1"/>
          <p:nvPr/>
        </p:nvSpPr>
        <p:spPr>
          <a:xfrm>
            <a:off x="3212385" y="7178380"/>
            <a:ext cx="7772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606060"/>
                </a:solidFill>
                <a:latin typeface="Inter SemiBold"/>
                <a:ea typeface="Inter SemiBold"/>
                <a:cs typeface="Inter SemiBold"/>
                <a:sym typeface="Inter SemiBold"/>
              </a:rPr>
              <a:t>Fases RUP</a:t>
            </a:r>
            <a:endParaRPr/>
          </a:p>
        </p:txBody>
      </p:sp>
      <p:sp>
        <p:nvSpPr>
          <p:cNvPr id="769" name="Google Shape;769;hc7cc306779174be_0_0"/>
          <p:cNvSpPr/>
          <p:nvPr/>
        </p:nvSpPr>
        <p:spPr>
          <a:xfrm>
            <a:off x="3212385" y="7635580"/>
            <a:ext cx="2194500" cy="868800"/>
          </a:xfrm>
          <a:prstGeom prst="chevron">
            <a:avLst>
              <a:gd fmla="val 5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Inicio</a:t>
            </a:r>
            <a:endParaRPr/>
          </a:p>
        </p:txBody>
      </p:sp>
      <p:sp>
        <p:nvSpPr>
          <p:cNvPr id="770" name="Google Shape;770;hc7cc306779174be_0_0"/>
          <p:cNvSpPr/>
          <p:nvPr/>
        </p:nvSpPr>
        <p:spPr>
          <a:xfrm>
            <a:off x="5178345" y="7635580"/>
            <a:ext cx="2194500" cy="868800"/>
          </a:xfrm>
          <a:prstGeom prst="chevron">
            <a:avLst>
              <a:gd fmla="val 50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Elaboración</a:t>
            </a:r>
            <a:endParaRPr/>
          </a:p>
        </p:txBody>
      </p:sp>
      <p:sp>
        <p:nvSpPr>
          <p:cNvPr id="771" name="Google Shape;771;hc7cc306779174be_0_0"/>
          <p:cNvSpPr/>
          <p:nvPr/>
        </p:nvSpPr>
        <p:spPr>
          <a:xfrm>
            <a:off x="7144305" y="7635580"/>
            <a:ext cx="2194500" cy="868800"/>
          </a:xfrm>
          <a:prstGeom prst="chevron">
            <a:avLst>
              <a:gd fmla="val 5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Construcción</a:t>
            </a:r>
            <a:endParaRPr/>
          </a:p>
        </p:txBody>
      </p:sp>
      <p:sp>
        <p:nvSpPr>
          <p:cNvPr id="772" name="Google Shape;772;hc7cc306779174be_0_0"/>
          <p:cNvSpPr/>
          <p:nvPr/>
        </p:nvSpPr>
        <p:spPr>
          <a:xfrm>
            <a:off x="9110265" y="7635580"/>
            <a:ext cx="2194500" cy="868800"/>
          </a:xfrm>
          <a:prstGeom prst="chevron">
            <a:avLst>
              <a:gd fmla="val 50000" name="adj"/>
            </a:avLst>
          </a:prstGeom>
          <a:solidFill>
            <a:srgbClr val="F29A5E"/>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FFFFFF"/>
                </a:solidFill>
                <a:latin typeface="Inter SemiBold"/>
                <a:ea typeface="Inter SemiBold"/>
                <a:cs typeface="Inter SemiBold"/>
                <a:sym typeface="Inter SemiBold"/>
              </a:rPr>
              <a:t>Transición</a:t>
            </a:r>
            <a:endParaRPr/>
          </a:p>
        </p:txBody>
      </p:sp>
      <p:sp>
        <p:nvSpPr>
          <p:cNvPr id="774" name="!!deco5"/>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75" name="Google Shape;775;hc7cc306779174be_0_0"/>
          <p:cNvSpPr txBox="1"/>
          <p:nvPr/>
        </p:nvSpPr>
        <p:spPr>
          <a:xfrm>
            <a:off x="4151835" y="4345505"/>
            <a:ext cx="7772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606060"/>
                </a:solidFill>
                <a:latin typeface="Inter SemiBold"/>
                <a:ea typeface="Inter SemiBold"/>
                <a:cs typeface="Inter SemiBold"/>
                <a:sym typeface="Inter SemiBold"/>
              </a:rPr>
              <a:t>Proceso DevSecOps</a:t>
            </a:r>
            <a:endParaRPr/>
          </a:p>
        </p:txBody>
      </p:sp>
      <p:sp>
        <p:nvSpPr>
          <p:cNvPr id="776" name="Google Shape;776;hc7cc306779174be_0_0"/>
          <p:cNvSpPr/>
          <p:nvPr/>
        </p:nvSpPr>
        <p:spPr>
          <a:xfrm>
            <a:off x="4151835" y="4802705"/>
            <a:ext cx="2194500" cy="868800"/>
          </a:xfrm>
          <a:prstGeom prst="chevron">
            <a:avLst>
              <a:gd fmla="val 5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a:solidFill>
                  <a:srgbClr val="FFFFFF"/>
                </a:solidFill>
                <a:latin typeface="Inter SemiBold"/>
                <a:ea typeface="Inter SemiBold"/>
                <a:cs typeface="Inter SemiBold"/>
                <a:sym typeface="Inter SemiBold"/>
              </a:rPr>
              <a:t>Auditorías</a:t>
            </a:r>
            <a:endParaRPr/>
          </a:p>
        </p:txBody>
      </p:sp>
      <p:sp>
        <p:nvSpPr>
          <p:cNvPr id="777" name="Google Shape;777;hc7cc306779174be_0_0"/>
          <p:cNvSpPr/>
          <p:nvPr/>
        </p:nvSpPr>
        <p:spPr>
          <a:xfrm>
            <a:off x="6117795" y="4802705"/>
            <a:ext cx="2194500" cy="868800"/>
          </a:xfrm>
          <a:prstGeom prst="chevron">
            <a:avLst>
              <a:gd fmla="val 50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a:solidFill>
                  <a:srgbClr val="FFFFFF"/>
                </a:solidFill>
                <a:latin typeface="Inter SemiBold"/>
                <a:ea typeface="Inter SemiBold"/>
                <a:cs typeface="Inter SemiBold"/>
                <a:sym typeface="Inter SemiBold"/>
              </a:rPr>
              <a:t>Análisis Estático</a:t>
            </a:r>
            <a:endParaRPr/>
          </a:p>
        </p:txBody>
      </p:sp>
      <p:sp>
        <p:nvSpPr>
          <p:cNvPr id="778" name="Google Shape;778;hc7cc306779174be_0_0"/>
          <p:cNvSpPr/>
          <p:nvPr/>
        </p:nvSpPr>
        <p:spPr>
          <a:xfrm>
            <a:off x="8083755" y="4802705"/>
            <a:ext cx="2194500" cy="868800"/>
          </a:xfrm>
          <a:prstGeom prst="chevron">
            <a:avLst>
              <a:gd fmla="val 50000" name="adj"/>
            </a:avLst>
          </a:prstGeom>
          <a:solidFill>
            <a:srgbClr val="E8641B"/>
          </a:solidFill>
          <a:ln>
            <a:noFill/>
          </a:ln>
        </p:spPr>
        <p:txBody>
          <a:bodyPr anchorCtr="0" anchor="ctr" bIns="45700" lIns="45700" spcFirstLastPara="1" rIns="45700" wrap="square" tIns="45700">
            <a:noAutofit/>
          </a:bodyPr>
          <a:lstStyle/>
          <a:p>
            <a:pPr indent="0" lvl="0" marL="0" marR="0" rtl="0" algn="l">
              <a:spcBef>
                <a:spcPts val="0"/>
              </a:spcBef>
              <a:spcAft>
                <a:spcPts val="0"/>
              </a:spcAft>
              <a:buNone/>
            </a:pPr>
            <a:r>
              <a:rPr b="1" lang="en-US">
                <a:solidFill>
                  <a:srgbClr val="FFFFFF"/>
                </a:solidFill>
                <a:latin typeface="Inter SemiBold"/>
                <a:ea typeface="Inter SemiBold"/>
                <a:cs typeface="Inter SemiBold"/>
                <a:sym typeface="Inter SemiBold"/>
              </a:rPr>
              <a:t>Pruebas de contrato</a:t>
            </a:r>
            <a:endParaRPr/>
          </a:p>
        </p:txBody>
      </p:sp>
      <p:sp>
        <p:nvSpPr>
          <p:cNvPr id="779" name="Google Shape;779;hc7cc306779174be_0_0"/>
          <p:cNvSpPr/>
          <p:nvPr/>
        </p:nvSpPr>
        <p:spPr>
          <a:xfrm>
            <a:off x="10049715" y="4802705"/>
            <a:ext cx="2194500" cy="868800"/>
          </a:xfrm>
          <a:prstGeom prst="chevron">
            <a:avLst>
              <a:gd fmla="val 50000" name="adj"/>
            </a:avLst>
          </a:prstGeom>
          <a:solidFill>
            <a:srgbClr val="F29A5E"/>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a:solidFill>
                  <a:srgbClr val="FFFFFF"/>
                </a:solidFill>
                <a:latin typeface="Inter SemiBold"/>
                <a:ea typeface="Inter SemiBold"/>
                <a:cs typeface="Inter SemiBold"/>
                <a:sym typeface="Inter SemiBold"/>
              </a:rPr>
              <a:t>Medición de cobertura</a:t>
            </a:r>
            <a:endParaRPr/>
          </a:p>
        </p:txBody>
      </p:sp>
      <p:sp>
        <p:nvSpPr>
          <p:cNvPr id="7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6" name="Google Shape;786;hc7cc306779174be_8_75"/>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EDT: así se organiza el trabajo</a:t>
            </a:r>
            <a:endParaRPr/>
          </a:p>
        </p:txBody>
      </p:sp>
      <p:sp>
        <p:nvSpPr>
          <p:cNvPr id="787"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8"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789" name="Google Shape;789;hc7cc306779174be_8_7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00" u="none" cap="none" strike="noStrike">
                <a:solidFill>
                  <a:srgbClr val="000000"/>
                </a:solidFill>
                <a:latin typeface="Inter"/>
                <a:ea typeface="Inter"/>
                <a:cs typeface="Inter"/>
                <a:sym typeface="Inter"/>
              </a:rPr>
              <a:t>9 fases · 49 cuentas de control · 222 paquetes de trabajo</a:t>
            </a:r>
            <a:endParaRPr/>
          </a:p>
        </p:txBody>
      </p:sp>
      <p:sp>
        <p:nvSpPr>
          <p:cNvPr id="790" name="!!edt_root"/>
          <p:cNvSpPr/>
          <p:nvPr/>
        </p:nvSpPr>
        <p:spPr>
          <a:xfrm>
            <a:off x="6400800" y="3200400"/>
            <a:ext cx="5486400" cy="77724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Proyecto LafroX · 56 meses</a:t>
            </a:r>
            <a:endParaRPr/>
          </a:p>
        </p:txBody>
      </p:sp>
      <p:cxnSp>
        <p:nvCxnSpPr>
          <p:cNvPr id="791" name="Google Shape;791;hc7cc306779174be_8_75"/>
          <p:cNvCxnSpPr/>
          <p:nvPr/>
        </p:nvCxnSpPr>
        <p:spPr>
          <a:xfrm>
            <a:off x="9144000" y="3977639"/>
            <a:ext cx="0" cy="246889"/>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792" name="Google Shape;792;hc7cc306779174be_8_75"/>
          <p:cNvCxnSpPr/>
          <p:nvPr/>
        </p:nvCxnSpPr>
        <p:spPr>
          <a:xfrm>
            <a:off x="1193800" y="4224528"/>
            <a:ext cx="159004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793" name="Google Shape;793;hc7cc306779174be_8_75"/>
          <p:cNvCxnSpPr/>
          <p:nvPr/>
        </p:nvCxnSpPr>
        <p:spPr>
          <a:xfrm>
            <a:off x="11938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794" name="!!ph1"/>
          <p:cNvSpPr/>
          <p:nvPr/>
        </p:nvSpPr>
        <p:spPr>
          <a:xfrm>
            <a:off x="2857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795" name="!!ph1a"/>
          <p:cNvSpPr txBox="1"/>
          <p:nvPr/>
        </p:nvSpPr>
        <p:spPr>
          <a:xfrm>
            <a:off x="3952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1</a:t>
            </a:r>
            <a:endParaRPr/>
          </a:p>
        </p:txBody>
      </p:sp>
      <p:sp>
        <p:nvSpPr>
          <p:cNvPr id="796" name="!!ph1b"/>
          <p:cNvSpPr txBox="1"/>
          <p:nvPr/>
        </p:nvSpPr>
        <p:spPr>
          <a:xfrm>
            <a:off x="3952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Inicio</a:t>
            </a:r>
            <a:endParaRPr/>
          </a:p>
        </p:txBody>
      </p:sp>
      <p:sp>
        <p:nvSpPr>
          <p:cNvPr id="797" name="!!ph1c"/>
          <p:cNvSpPr txBox="1"/>
          <p:nvPr/>
        </p:nvSpPr>
        <p:spPr>
          <a:xfrm>
            <a:off x="3952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9 CC · 35 PT</a:t>
            </a:r>
            <a:endParaRPr/>
          </a:p>
        </p:txBody>
      </p:sp>
      <p:sp>
        <p:nvSpPr>
          <p:cNvPr id="798" name="Google Shape;798;hc7cc306779174be_8_75"/>
          <p:cNvSpPr txBox="1"/>
          <p:nvPr/>
        </p:nvSpPr>
        <p:spPr>
          <a:xfrm>
            <a:off x="3952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6.920 HH</a:t>
            </a:r>
            <a:endParaRPr/>
          </a:p>
        </p:txBody>
      </p:sp>
      <p:cxnSp>
        <p:nvCxnSpPr>
          <p:cNvPr id="799" name="Google Shape;799;hc7cc306779174be_8_75"/>
          <p:cNvCxnSpPr/>
          <p:nvPr/>
        </p:nvCxnSpPr>
        <p:spPr>
          <a:xfrm>
            <a:off x="31813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00" name="!!ph2"/>
          <p:cNvSpPr/>
          <p:nvPr/>
        </p:nvSpPr>
        <p:spPr>
          <a:xfrm>
            <a:off x="22733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01" name="!!ph2a"/>
          <p:cNvSpPr txBox="1"/>
          <p:nvPr/>
        </p:nvSpPr>
        <p:spPr>
          <a:xfrm>
            <a:off x="23828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2</a:t>
            </a:r>
            <a:endParaRPr/>
          </a:p>
        </p:txBody>
      </p:sp>
      <p:sp>
        <p:nvSpPr>
          <p:cNvPr id="802" name="Google Shape;802;hc7cc306779174be_8_75"/>
          <p:cNvSpPr txBox="1"/>
          <p:nvPr/>
        </p:nvSpPr>
        <p:spPr>
          <a:xfrm>
            <a:off x="23828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Elaboración</a:t>
            </a:r>
            <a:endParaRPr/>
          </a:p>
        </p:txBody>
      </p:sp>
      <p:sp>
        <p:nvSpPr>
          <p:cNvPr id="803" name="Google Shape;803;hc7cc306779174be_8_75"/>
          <p:cNvSpPr txBox="1"/>
          <p:nvPr/>
        </p:nvSpPr>
        <p:spPr>
          <a:xfrm>
            <a:off x="23828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6 CC · 18 PT</a:t>
            </a:r>
            <a:endParaRPr/>
          </a:p>
        </p:txBody>
      </p:sp>
      <p:sp>
        <p:nvSpPr>
          <p:cNvPr id="804" name="!!ph2d"/>
          <p:cNvSpPr txBox="1"/>
          <p:nvPr/>
        </p:nvSpPr>
        <p:spPr>
          <a:xfrm>
            <a:off x="23828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4.320 HH</a:t>
            </a:r>
            <a:endParaRPr/>
          </a:p>
        </p:txBody>
      </p:sp>
      <p:cxnSp>
        <p:nvCxnSpPr>
          <p:cNvPr id="805" name="Google Shape;805;hc7cc306779174be_8_75"/>
          <p:cNvCxnSpPr/>
          <p:nvPr/>
        </p:nvCxnSpPr>
        <p:spPr>
          <a:xfrm>
            <a:off x="51689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06" name="!!ph4"/>
          <p:cNvSpPr/>
          <p:nvPr/>
        </p:nvSpPr>
        <p:spPr>
          <a:xfrm>
            <a:off x="42608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07" name="Google Shape;807;hc7cc306779174be_8_75"/>
          <p:cNvSpPr txBox="1"/>
          <p:nvPr/>
        </p:nvSpPr>
        <p:spPr>
          <a:xfrm>
            <a:off x="43703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3</a:t>
            </a:r>
            <a:endParaRPr/>
          </a:p>
        </p:txBody>
      </p:sp>
      <p:sp>
        <p:nvSpPr>
          <p:cNvPr id="808" name="!!ph3b"/>
          <p:cNvSpPr txBox="1"/>
          <p:nvPr/>
        </p:nvSpPr>
        <p:spPr>
          <a:xfrm>
            <a:off x="43703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Construcción</a:t>
            </a:r>
            <a:endParaRPr/>
          </a:p>
        </p:txBody>
      </p:sp>
      <p:sp>
        <p:nvSpPr>
          <p:cNvPr id="809" name="Google Shape;809;hc7cc306779174be_8_75"/>
          <p:cNvSpPr txBox="1"/>
          <p:nvPr/>
        </p:nvSpPr>
        <p:spPr>
          <a:xfrm>
            <a:off x="43703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11 CC · 79 PT</a:t>
            </a:r>
            <a:endParaRPr/>
          </a:p>
        </p:txBody>
      </p:sp>
      <p:sp>
        <p:nvSpPr>
          <p:cNvPr id="810" name="Google Shape;810;hc7cc306779174be_8_75"/>
          <p:cNvSpPr txBox="1"/>
          <p:nvPr/>
        </p:nvSpPr>
        <p:spPr>
          <a:xfrm>
            <a:off x="43703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33.280 HH</a:t>
            </a:r>
            <a:endParaRPr/>
          </a:p>
        </p:txBody>
      </p:sp>
      <p:cxnSp>
        <p:nvCxnSpPr>
          <p:cNvPr id="811" name="Google Shape;811;hc7cc306779174be_8_75"/>
          <p:cNvCxnSpPr/>
          <p:nvPr/>
        </p:nvCxnSpPr>
        <p:spPr>
          <a:xfrm>
            <a:off x="71564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12" name="!!ph3"/>
          <p:cNvSpPr/>
          <p:nvPr/>
        </p:nvSpPr>
        <p:spPr>
          <a:xfrm>
            <a:off x="62484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13" name="Google Shape;813;hc7cc306779174be_8_75"/>
          <p:cNvSpPr txBox="1"/>
          <p:nvPr/>
        </p:nvSpPr>
        <p:spPr>
          <a:xfrm>
            <a:off x="63579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4</a:t>
            </a:r>
            <a:endParaRPr/>
          </a:p>
        </p:txBody>
      </p:sp>
      <p:sp>
        <p:nvSpPr>
          <p:cNvPr id="814" name="Google Shape;814;hc7cc306779174be_8_75"/>
          <p:cNvSpPr txBox="1"/>
          <p:nvPr/>
        </p:nvSpPr>
        <p:spPr>
          <a:xfrm>
            <a:off x="63579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Transición</a:t>
            </a:r>
            <a:endParaRPr/>
          </a:p>
        </p:txBody>
      </p:sp>
      <p:sp>
        <p:nvSpPr>
          <p:cNvPr id="815" name="Google Shape;815;hc7cc306779174be_8_75"/>
          <p:cNvSpPr txBox="1"/>
          <p:nvPr/>
        </p:nvSpPr>
        <p:spPr>
          <a:xfrm>
            <a:off x="63579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3 CC · 10 PT</a:t>
            </a:r>
            <a:endParaRPr/>
          </a:p>
        </p:txBody>
      </p:sp>
      <p:sp>
        <p:nvSpPr>
          <p:cNvPr id="816" name="Google Shape;816;hc7cc306779174be_8_75"/>
          <p:cNvSpPr txBox="1"/>
          <p:nvPr/>
        </p:nvSpPr>
        <p:spPr>
          <a:xfrm>
            <a:off x="63579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20.672 HH</a:t>
            </a:r>
            <a:endParaRPr/>
          </a:p>
        </p:txBody>
      </p:sp>
      <p:cxnSp>
        <p:nvCxnSpPr>
          <p:cNvPr id="817" name="Google Shape;817;hc7cc306779174be_8_75"/>
          <p:cNvCxnSpPr/>
          <p:nvPr/>
        </p:nvCxnSpPr>
        <p:spPr>
          <a:xfrm>
            <a:off x="91440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18" name="Google Shape;818;hc7cc306779174be_8_75"/>
          <p:cNvSpPr/>
          <p:nvPr/>
        </p:nvSpPr>
        <p:spPr>
          <a:xfrm>
            <a:off x="82359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19" name="Google Shape;819;hc7cc306779174be_8_75"/>
          <p:cNvSpPr txBox="1"/>
          <p:nvPr/>
        </p:nvSpPr>
        <p:spPr>
          <a:xfrm>
            <a:off x="83454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5</a:t>
            </a:r>
            <a:endParaRPr/>
          </a:p>
        </p:txBody>
      </p:sp>
      <p:sp>
        <p:nvSpPr>
          <p:cNvPr id="820" name="Google Shape;820;hc7cc306779174be_8_75"/>
          <p:cNvSpPr txBox="1"/>
          <p:nvPr/>
        </p:nvSpPr>
        <p:spPr>
          <a:xfrm>
            <a:off x="83454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Adquisiciones</a:t>
            </a:r>
            <a:endParaRPr/>
          </a:p>
        </p:txBody>
      </p:sp>
      <p:sp>
        <p:nvSpPr>
          <p:cNvPr id="821" name="Google Shape;821;hc7cc306779174be_8_75"/>
          <p:cNvSpPr txBox="1"/>
          <p:nvPr/>
        </p:nvSpPr>
        <p:spPr>
          <a:xfrm>
            <a:off x="83454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4 CC · 13 PT</a:t>
            </a:r>
            <a:endParaRPr/>
          </a:p>
        </p:txBody>
      </p:sp>
      <p:sp>
        <p:nvSpPr>
          <p:cNvPr id="822" name="!!ph5d"/>
          <p:cNvSpPr txBox="1"/>
          <p:nvPr/>
        </p:nvSpPr>
        <p:spPr>
          <a:xfrm>
            <a:off x="83454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1.040 HH</a:t>
            </a:r>
            <a:endParaRPr/>
          </a:p>
        </p:txBody>
      </p:sp>
      <p:cxnSp>
        <p:nvCxnSpPr>
          <p:cNvPr id="823" name="Google Shape;823;hc7cc306779174be_8_75"/>
          <p:cNvCxnSpPr/>
          <p:nvPr/>
        </p:nvCxnSpPr>
        <p:spPr>
          <a:xfrm>
            <a:off x="111315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24" name="Google Shape;824;hc7cc306779174be_8_75"/>
          <p:cNvSpPr/>
          <p:nvPr/>
        </p:nvSpPr>
        <p:spPr>
          <a:xfrm>
            <a:off x="102235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25" name="Google Shape;825;hc7cc306779174be_8_75"/>
          <p:cNvSpPr txBox="1"/>
          <p:nvPr/>
        </p:nvSpPr>
        <p:spPr>
          <a:xfrm>
            <a:off x="1033303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6</a:t>
            </a:r>
            <a:endParaRPr/>
          </a:p>
        </p:txBody>
      </p:sp>
      <p:sp>
        <p:nvSpPr>
          <p:cNvPr id="826" name="Google Shape;826;hc7cc306779174be_8_75"/>
          <p:cNvSpPr txBox="1"/>
          <p:nvPr/>
        </p:nvSpPr>
        <p:spPr>
          <a:xfrm>
            <a:off x="1033303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Infraestructura</a:t>
            </a:r>
            <a:endParaRPr/>
          </a:p>
        </p:txBody>
      </p:sp>
      <p:sp>
        <p:nvSpPr>
          <p:cNvPr id="827" name="Google Shape;827;hc7cc306779174be_8_75"/>
          <p:cNvSpPr txBox="1"/>
          <p:nvPr/>
        </p:nvSpPr>
        <p:spPr>
          <a:xfrm>
            <a:off x="1033303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6 CC · 24 PT</a:t>
            </a:r>
            <a:endParaRPr/>
          </a:p>
        </p:txBody>
      </p:sp>
      <p:sp>
        <p:nvSpPr>
          <p:cNvPr id="828" name="Google Shape;828;hc7cc306779174be_8_75"/>
          <p:cNvSpPr txBox="1"/>
          <p:nvPr/>
        </p:nvSpPr>
        <p:spPr>
          <a:xfrm>
            <a:off x="1033303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3.840 HH</a:t>
            </a:r>
            <a:endParaRPr/>
          </a:p>
        </p:txBody>
      </p:sp>
      <p:cxnSp>
        <p:nvCxnSpPr>
          <p:cNvPr id="829" name="Google Shape;829;hc7cc306779174be_8_75"/>
          <p:cNvCxnSpPr/>
          <p:nvPr/>
        </p:nvCxnSpPr>
        <p:spPr>
          <a:xfrm>
            <a:off x="131191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30" name="Google Shape;830;hc7cc306779174be_8_75"/>
          <p:cNvSpPr/>
          <p:nvPr/>
        </p:nvSpPr>
        <p:spPr>
          <a:xfrm>
            <a:off x="122110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31" name="Google Shape;831;hc7cc306779174be_8_75"/>
          <p:cNvSpPr txBox="1"/>
          <p:nvPr/>
        </p:nvSpPr>
        <p:spPr>
          <a:xfrm>
            <a:off x="123205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7</a:t>
            </a:r>
            <a:endParaRPr/>
          </a:p>
        </p:txBody>
      </p:sp>
      <p:sp>
        <p:nvSpPr>
          <p:cNvPr id="832" name="Google Shape;832;hc7cc306779174be_8_75"/>
          <p:cNvSpPr txBox="1"/>
          <p:nvPr/>
        </p:nvSpPr>
        <p:spPr>
          <a:xfrm>
            <a:off x="123205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Capacitación y cambio</a:t>
            </a:r>
            <a:endParaRPr/>
          </a:p>
        </p:txBody>
      </p:sp>
      <p:sp>
        <p:nvSpPr>
          <p:cNvPr id="833" name="Google Shape;833;hc7cc306779174be_8_75"/>
          <p:cNvSpPr txBox="1"/>
          <p:nvPr/>
        </p:nvSpPr>
        <p:spPr>
          <a:xfrm>
            <a:off x="123205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3 CC · 13 PT</a:t>
            </a:r>
            <a:endParaRPr/>
          </a:p>
        </p:txBody>
      </p:sp>
      <p:sp>
        <p:nvSpPr>
          <p:cNvPr id="834" name="Google Shape;834;hc7cc306779174be_8_75"/>
          <p:cNvSpPr txBox="1"/>
          <p:nvPr/>
        </p:nvSpPr>
        <p:spPr>
          <a:xfrm>
            <a:off x="123205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4.736 HH</a:t>
            </a:r>
            <a:endParaRPr/>
          </a:p>
        </p:txBody>
      </p:sp>
      <p:cxnSp>
        <p:nvCxnSpPr>
          <p:cNvPr id="835" name="Google Shape;835;hc7cc306779174be_8_75"/>
          <p:cNvCxnSpPr/>
          <p:nvPr/>
        </p:nvCxnSpPr>
        <p:spPr>
          <a:xfrm>
            <a:off x="1510665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36" name="Google Shape;836;hc7cc306779174be_8_75"/>
          <p:cNvSpPr/>
          <p:nvPr/>
        </p:nvSpPr>
        <p:spPr>
          <a:xfrm>
            <a:off x="1419860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37" name="Google Shape;837;hc7cc306779174be_8_75"/>
          <p:cNvSpPr txBox="1"/>
          <p:nvPr/>
        </p:nvSpPr>
        <p:spPr>
          <a:xfrm>
            <a:off x="14308137"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8</a:t>
            </a:r>
            <a:endParaRPr/>
          </a:p>
        </p:txBody>
      </p:sp>
      <p:sp>
        <p:nvSpPr>
          <p:cNvPr id="838" name="Google Shape;838;hc7cc306779174be_8_75"/>
          <p:cNvSpPr txBox="1"/>
          <p:nvPr/>
        </p:nvSpPr>
        <p:spPr>
          <a:xfrm>
            <a:off x="14308137"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Operación y soporte</a:t>
            </a:r>
            <a:endParaRPr/>
          </a:p>
        </p:txBody>
      </p:sp>
      <p:sp>
        <p:nvSpPr>
          <p:cNvPr id="839" name="Google Shape;839;hc7cc306779174be_8_75"/>
          <p:cNvSpPr txBox="1"/>
          <p:nvPr/>
        </p:nvSpPr>
        <p:spPr>
          <a:xfrm>
            <a:off x="14308137"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5 CC · 26 PT</a:t>
            </a:r>
            <a:endParaRPr/>
          </a:p>
        </p:txBody>
      </p:sp>
      <p:sp>
        <p:nvSpPr>
          <p:cNvPr id="840" name="Google Shape;840;hc7cc306779174be_8_75"/>
          <p:cNvSpPr txBox="1"/>
          <p:nvPr/>
        </p:nvSpPr>
        <p:spPr>
          <a:xfrm>
            <a:off x="14308137"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129.879 HH</a:t>
            </a:r>
            <a:endParaRPr/>
          </a:p>
        </p:txBody>
      </p:sp>
      <p:cxnSp>
        <p:nvCxnSpPr>
          <p:cNvPr id="841" name="Google Shape;841;hc7cc306779174be_8_75"/>
          <p:cNvCxnSpPr/>
          <p:nvPr/>
        </p:nvCxnSpPr>
        <p:spPr>
          <a:xfrm>
            <a:off x="17094200" y="4224528"/>
            <a:ext cx="0" cy="210312"/>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42" name="Google Shape;842;hc7cc306779174be_8_75"/>
          <p:cNvSpPr/>
          <p:nvPr/>
        </p:nvSpPr>
        <p:spPr>
          <a:xfrm>
            <a:off x="16186150" y="4434840"/>
            <a:ext cx="1816100" cy="219456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43" name="Google Shape;843;hc7cc306779174be_8_75"/>
          <p:cNvSpPr txBox="1"/>
          <p:nvPr/>
        </p:nvSpPr>
        <p:spPr>
          <a:xfrm>
            <a:off x="16295688" y="4544568"/>
            <a:ext cx="1597025"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8641B"/>
                </a:solidFill>
                <a:latin typeface="Inter SemiBold"/>
                <a:ea typeface="Inter SemiBold"/>
                <a:cs typeface="Inter SemiBold"/>
                <a:sym typeface="Inter SemiBold"/>
              </a:rPr>
              <a:t>Fase 9</a:t>
            </a:r>
            <a:endParaRPr/>
          </a:p>
        </p:txBody>
      </p:sp>
      <p:sp>
        <p:nvSpPr>
          <p:cNvPr id="844" name="Google Shape;844;hc7cc306779174be_8_75"/>
          <p:cNvSpPr txBox="1"/>
          <p:nvPr/>
        </p:nvSpPr>
        <p:spPr>
          <a:xfrm>
            <a:off x="16295688" y="4846320"/>
            <a:ext cx="1597025" cy="857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11111"/>
                </a:solidFill>
                <a:latin typeface="Inter SemiBold"/>
                <a:ea typeface="Inter SemiBold"/>
                <a:cs typeface="Inter SemiBold"/>
                <a:sym typeface="Inter SemiBold"/>
              </a:rPr>
              <a:t>Cierre</a:t>
            </a:r>
            <a:endParaRPr/>
          </a:p>
        </p:txBody>
      </p:sp>
      <p:sp>
        <p:nvSpPr>
          <p:cNvPr id="845" name="Google Shape;845;hc7cc306779174be_8_75"/>
          <p:cNvSpPr txBox="1"/>
          <p:nvPr/>
        </p:nvSpPr>
        <p:spPr>
          <a:xfrm>
            <a:off x="16295688" y="5768340"/>
            <a:ext cx="1597025"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606060"/>
                </a:solidFill>
                <a:latin typeface="Inter"/>
                <a:ea typeface="Inter"/>
                <a:cs typeface="Inter"/>
                <a:sym typeface="Inter"/>
              </a:rPr>
              <a:t>2 CC · 4 PT</a:t>
            </a:r>
            <a:endParaRPr/>
          </a:p>
        </p:txBody>
      </p:sp>
      <p:sp>
        <p:nvSpPr>
          <p:cNvPr id="846" name="Google Shape;846;hc7cc306779174be_8_75"/>
          <p:cNvSpPr txBox="1"/>
          <p:nvPr/>
        </p:nvSpPr>
        <p:spPr>
          <a:xfrm>
            <a:off x="16295688" y="6103620"/>
            <a:ext cx="1597025"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E8641B"/>
                </a:solidFill>
                <a:latin typeface="Inter SemiBold"/>
                <a:ea typeface="Inter SemiBold"/>
                <a:cs typeface="Inter SemiBold"/>
                <a:sym typeface="Inter SemiBold"/>
              </a:rPr>
              <a:t>320 HH</a:t>
            </a:r>
            <a:endParaRPr/>
          </a:p>
        </p:txBody>
      </p:sp>
      <p:sp>
        <p:nvSpPr>
          <p:cNvPr id="847" name="Google Shape;847;hc7cc306779174be_8_75"/>
          <p:cNvSpPr/>
          <p:nvPr/>
        </p:nvSpPr>
        <p:spPr>
          <a:xfrm>
            <a:off x="914400" y="7086600"/>
            <a:ext cx="8138160" cy="868680"/>
          </a:xfrm>
          <a:prstGeom prst="roundRect">
            <a:avLst>
              <a:gd fmla="val 5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Las fases 1 a 4 se repiten en cada etapa</a:t>
            </a:r>
            <a:endParaRPr/>
          </a:p>
        </p:txBody>
      </p:sp>
      <p:sp>
        <p:nvSpPr>
          <p:cNvPr id="848" name="Google Shape;848;hc7cc306779174be_8_75"/>
          <p:cNvSpPr/>
          <p:nvPr/>
        </p:nvSpPr>
        <p:spPr>
          <a:xfrm>
            <a:off x="9235440" y="7086600"/>
            <a:ext cx="8138160" cy="868680"/>
          </a:xfrm>
          <a:prstGeom prst="roundRect">
            <a:avLst>
              <a:gd fmla="val 5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Operación concentra 129.879 HH</a:t>
            </a:r>
            <a:endParaRPr/>
          </a:p>
        </p:txBody>
      </p:sp>
      <p:sp>
        <p:nvSpPr>
          <p:cNvPr id="8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11</a:t>
            </a:r>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6" name="Google Shape;856;hc7cc306779174be_8_145"/>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857"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8"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859"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860" name="Google Shape;860;hc7cc306779174be_8_145"/>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861" name="Google Shape;861;hc7cc306779174be_8_145"/>
          <p:cNvCxnSpPr/>
          <p:nvPr/>
        </p:nvCxnSpPr>
        <p:spPr>
          <a:xfrm>
            <a:off x="2133600" y="3095625"/>
            <a:ext cx="14944725"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862" name="Google Shape;862;hc7cc306779174be_8_145"/>
          <p:cNvCxnSpPr/>
          <p:nvPr/>
        </p:nvCxnSpPr>
        <p:spPr>
          <a:xfrm>
            <a:off x="21336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63" name="Google Shape;863;hc7cc306779174be_8_145"/>
          <p:cNvSpPr/>
          <p:nvPr/>
        </p:nvSpPr>
        <p:spPr>
          <a:xfrm>
            <a:off x="4191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64" name="!!ph1a"/>
          <p:cNvSpPr txBox="1"/>
          <p:nvPr/>
        </p:nvSpPr>
        <p:spPr>
          <a:xfrm>
            <a:off x="6286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1</a:t>
            </a:r>
            <a:endParaRPr/>
          </a:p>
        </p:txBody>
      </p:sp>
      <p:sp>
        <p:nvSpPr>
          <p:cNvPr id="865" name="!!ph1b"/>
          <p:cNvSpPr txBox="1"/>
          <p:nvPr/>
        </p:nvSpPr>
        <p:spPr>
          <a:xfrm>
            <a:off x="6286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Inicio</a:t>
            </a:r>
            <a:endParaRPr/>
          </a:p>
        </p:txBody>
      </p:sp>
      <p:sp>
        <p:nvSpPr>
          <p:cNvPr id="866" name="!!ph1c"/>
          <p:cNvSpPr txBox="1"/>
          <p:nvPr/>
        </p:nvSpPr>
        <p:spPr>
          <a:xfrm>
            <a:off x="6286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9 CC · 35 PT</a:t>
            </a:r>
            <a:endParaRPr/>
          </a:p>
        </p:txBody>
      </p:sp>
      <p:sp>
        <p:nvSpPr>
          <p:cNvPr id="867" name="Google Shape;867;hc7cc306779174be_8_145"/>
          <p:cNvSpPr txBox="1"/>
          <p:nvPr/>
        </p:nvSpPr>
        <p:spPr>
          <a:xfrm>
            <a:off x="6286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6.920 HH</a:t>
            </a:r>
            <a:endParaRPr/>
          </a:p>
        </p:txBody>
      </p:sp>
      <p:cxnSp>
        <p:nvCxnSpPr>
          <p:cNvPr id="868" name="Google Shape;868;hc7cc306779174be_8_145"/>
          <p:cNvCxnSpPr/>
          <p:nvPr/>
        </p:nvCxnSpPr>
        <p:spPr>
          <a:xfrm>
            <a:off x="4810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69" name="!!ph2"/>
          <p:cNvSpPr/>
          <p:nvPr/>
        </p:nvSpPr>
        <p:spPr>
          <a:xfrm>
            <a:off x="4019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70" name="Google Shape;870;hc7cc306779174be_8_145"/>
          <p:cNvSpPr txBox="1"/>
          <p:nvPr/>
        </p:nvSpPr>
        <p:spPr>
          <a:xfrm>
            <a:off x="4114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871" name="!!ph2b"/>
          <p:cNvSpPr txBox="1"/>
          <p:nvPr/>
        </p:nvSpPr>
        <p:spPr>
          <a:xfrm>
            <a:off x="4114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872" name="Google Shape;872;hc7cc306779174be_8_145"/>
          <p:cNvSpPr txBox="1"/>
          <p:nvPr/>
        </p:nvSpPr>
        <p:spPr>
          <a:xfrm>
            <a:off x="4114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873" name="Google Shape;873;hc7cc306779174be_8_145"/>
          <p:cNvSpPr txBox="1"/>
          <p:nvPr/>
        </p:nvSpPr>
        <p:spPr>
          <a:xfrm>
            <a:off x="4114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874" name="Google Shape;874;hc7cc306779174be_8_145"/>
          <p:cNvCxnSpPr/>
          <p:nvPr/>
        </p:nvCxnSpPr>
        <p:spPr>
          <a:xfrm>
            <a:off x="6562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75" name="Google Shape;875;hc7cc306779174be_8_145"/>
          <p:cNvSpPr/>
          <p:nvPr/>
        </p:nvSpPr>
        <p:spPr>
          <a:xfrm>
            <a:off x="5772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76" name="!!ph3a"/>
          <p:cNvSpPr txBox="1"/>
          <p:nvPr/>
        </p:nvSpPr>
        <p:spPr>
          <a:xfrm>
            <a:off x="5867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877" name="Google Shape;877;hc7cc306779174be_8_145"/>
          <p:cNvSpPr txBox="1"/>
          <p:nvPr/>
        </p:nvSpPr>
        <p:spPr>
          <a:xfrm>
            <a:off x="5867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878" name="Google Shape;878;hc7cc306779174be_8_145"/>
          <p:cNvSpPr txBox="1"/>
          <p:nvPr/>
        </p:nvSpPr>
        <p:spPr>
          <a:xfrm>
            <a:off x="5867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879" name="Google Shape;879;hc7cc306779174be_8_145"/>
          <p:cNvSpPr txBox="1"/>
          <p:nvPr/>
        </p:nvSpPr>
        <p:spPr>
          <a:xfrm>
            <a:off x="5867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880" name="Google Shape;880;hc7cc306779174be_8_145"/>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81" name="Google Shape;881;hc7cc306779174be_8_145"/>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82" name="Google Shape;882;hc7cc306779174be_8_145"/>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883" name="Google Shape;883;hc7cc306779174be_8_145"/>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884" name="Google Shape;884;hc7cc306779174be_8_145"/>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885" name="Google Shape;885;hc7cc306779174be_8_145"/>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886" name="Google Shape;886;hc7cc306779174be_8_145"/>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87" name="Google Shape;887;hc7cc306779174be_8_145"/>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88" name="Google Shape;888;hc7cc306779174be_8_145"/>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889" name="Google Shape;889;hc7cc306779174be_8_145"/>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890" name="Google Shape;890;hc7cc306779174be_8_145"/>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891" name="Google Shape;891;hc7cc306779174be_8_145"/>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892" name="Google Shape;892;hc7cc306779174be_8_145"/>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93" name="Google Shape;893;hc7cc306779174be_8_145"/>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894" name="Google Shape;894;hc7cc306779174be_8_145"/>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895" name="Google Shape;895;hc7cc306779174be_8_145"/>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896" name="Google Shape;896;hc7cc306779174be_8_145"/>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897" name="Google Shape;897;hc7cc306779174be_8_145"/>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898" name="Google Shape;898;hc7cc306779174be_8_145"/>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899" name="Google Shape;899;hc7cc306779174be_8_145"/>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00" name="Google Shape;900;hc7cc306779174be_8_145"/>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901" name="Google Shape;901;hc7cc306779174be_8_145"/>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902" name="Google Shape;902;hc7cc306779174be_8_145"/>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903" name="Google Shape;903;hc7cc306779174be_8_145"/>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904" name="Google Shape;904;hc7cc306779174be_8_145"/>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05" name="Google Shape;905;hc7cc306779174be_8_145"/>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06" name="Google Shape;906;hc7cc306779174be_8_145"/>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907" name="Google Shape;907;hc7cc306779174be_8_145"/>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908" name="Google Shape;908;hc7cc306779174be_8_145"/>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909" name="Google Shape;909;hc7cc306779174be_8_145"/>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910" name="Google Shape;910;hc7cc306779174be_8_145"/>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11" name="Google Shape;911;hc7cc306779174be_8_145"/>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12" name="Google Shape;912;hc7cc306779174be_8_145"/>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913" name="Google Shape;913;hc7cc306779174be_8_145"/>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914" name="Google Shape;914;hc7cc306779174be_8_145"/>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915" name="Google Shape;915;hc7cc306779174be_8_145"/>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916" name="Google Shape;916;hc7cc306779174be_8_145"/>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1 · INICIO · 9 CUENTAS DE CONTROL</a:t>
            </a:r>
            <a:endParaRPr/>
          </a:p>
        </p:txBody>
      </p:sp>
      <p:sp>
        <p:nvSpPr>
          <p:cNvPr id="917" name="Google Shape;917;hc7cc306779174be_8_145"/>
          <p:cNvSpPr/>
          <p:nvPr/>
        </p:nvSpPr>
        <p:spPr>
          <a:xfrm>
            <a:off x="822960"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1.1 Definición inicial</a:t>
            </a:r>
            <a:endParaRPr/>
          </a:p>
        </p:txBody>
      </p:sp>
      <p:sp>
        <p:nvSpPr>
          <p:cNvPr id="918" name="Google Shape;918;hc7cc306779174be_8_145"/>
          <p:cNvSpPr/>
          <p:nvPr/>
        </p:nvSpPr>
        <p:spPr>
          <a:xfrm>
            <a:off x="4178807"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1.2 Alcance</a:t>
            </a:r>
            <a:endParaRPr/>
          </a:p>
        </p:txBody>
      </p:sp>
      <p:sp>
        <p:nvSpPr>
          <p:cNvPr id="919" name="Google Shape;919;hc7cc306779174be_8_145"/>
          <p:cNvSpPr/>
          <p:nvPr/>
        </p:nvSpPr>
        <p:spPr>
          <a:xfrm>
            <a:off x="7534655"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1.3 Planificación</a:t>
            </a:r>
            <a:endParaRPr/>
          </a:p>
        </p:txBody>
      </p:sp>
      <p:sp>
        <p:nvSpPr>
          <p:cNvPr id="920" name="Google Shape;920;hc7cc306779174be_8_145"/>
          <p:cNvSpPr/>
          <p:nvPr/>
        </p:nvSpPr>
        <p:spPr>
          <a:xfrm>
            <a:off x="10890503"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1.4 Interesados y comunicaciones</a:t>
            </a:r>
            <a:endParaRPr/>
          </a:p>
        </p:txBody>
      </p:sp>
      <p:sp>
        <p:nvSpPr>
          <p:cNvPr id="921" name="Google Shape;921;hc7cc306779174be_8_145"/>
          <p:cNvSpPr/>
          <p:nvPr/>
        </p:nvSpPr>
        <p:spPr>
          <a:xfrm>
            <a:off x="14246351"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1.5 Gestión de calidad</a:t>
            </a:r>
            <a:endParaRPr/>
          </a:p>
        </p:txBody>
      </p:sp>
      <p:sp>
        <p:nvSpPr>
          <p:cNvPr id="922" name="Google Shape;922;hc7cc306779174be_8_145"/>
          <p:cNvSpPr/>
          <p:nvPr/>
        </p:nvSpPr>
        <p:spPr>
          <a:xfrm>
            <a:off x="822960"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1.6 Gestión de riesgos</a:t>
            </a:r>
            <a:endParaRPr/>
          </a:p>
        </p:txBody>
      </p:sp>
      <p:sp>
        <p:nvSpPr>
          <p:cNvPr id="923" name="Google Shape;923;hc7cc306779174be_8_145"/>
          <p:cNvSpPr/>
          <p:nvPr/>
        </p:nvSpPr>
        <p:spPr>
          <a:xfrm>
            <a:off x="4178807"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1.7 Plan de reversibilidad</a:t>
            </a:r>
            <a:endParaRPr/>
          </a:p>
        </p:txBody>
      </p:sp>
      <p:sp>
        <p:nvSpPr>
          <p:cNvPr id="924" name="Google Shape;924;hc7cc306779174be_8_145"/>
          <p:cNvSpPr/>
          <p:nvPr/>
        </p:nvSpPr>
        <p:spPr>
          <a:xfrm>
            <a:off x="7534655"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1.8 Gobierno y control</a:t>
            </a:r>
            <a:endParaRPr/>
          </a:p>
        </p:txBody>
      </p:sp>
      <p:sp>
        <p:nvSpPr>
          <p:cNvPr id="925" name="Google Shape;925;hc7cc306779174be_8_145"/>
          <p:cNvSpPr/>
          <p:nvPr/>
        </p:nvSpPr>
        <p:spPr>
          <a:xfrm>
            <a:off x="10890503" y="850011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1.9 Cumplimiento normativo</a:t>
            </a:r>
            <a:endParaRPr/>
          </a:p>
        </p:txBody>
      </p:sp>
      <p:sp>
        <p:nvSpPr>
          <p:cNvPr id="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3" name="Google Shape;933;hc7cc306779174be_8_221"/>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934"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5"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936"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937" name="Google Shape;937;hc7cc306779174be_8_221"/>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938" name="Google Shape;938;hc7cc306779174be_8_221"/>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939" name="Google Shape;939;hc7cc306779174be_8_221"/>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40"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41"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942" name="Google Shape;942;hc7cc306779174be_8_221"/>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943"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944"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945" name="Google Shape;945;hc7cc306779174be_8_221"/>
          <p:cNvCxnSpPr/>
          <p:nvPr/>
        </p:nvCxnSpPr>
        <p:spPr>
          <a:xfrm>
            <a:off x="38862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46" name="Google Shape;946;hc7cc306779174be_8_221"/>
          <p:cNvSpPr/>
          <p:nvPr/>
        </p:nvSpPr>
        <p:spPr>
          <a:xfrm>
            <a:off x="21717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47" name="Google Shape;947;hc7cc306779174be_8_221"/>
          <p:cNvSpPr txBox="1"/>
          <p:nvPr/>
        </p:nvSpPr>
        <p:spPr>
          <a:xfrm>
            <a:off x="23812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2</a:t>
            </a:r>
            <a:endParaRPr/>
          </a:p>
        </p:txBody>
      </p:sp>
      <p:sp>
        <p:nvSpPr>
          <p:cNvPr id="948" name="Google Shape;948;hc7cc306779174be_8_221"/>
          <p:cNvSpPr txBox="1"/>
          <p:nvPr/>
        </p:nvSpPr>
        <p:spPr>
          <a:xfrm>
            <a:off x="23812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Elaboración</a:t>
            </a:r>
            <a:endParaRPr/>
          </a:p>
        </p:txBody>
      </p:sp>
      <p:sp>
        <p:nvSpPr>
          <p:cNvPr id="949" name="!!ph2c"/>
          <p:cNvSpPr txBox="1"/>
          <p:nvPr/>
        </p:nvSpPr>
        <p:spPr>
          <a:xfrm>
            <a:off x="23812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6 CC · 18 PT</a:t>
            </a:r>
            <a:endParaRPr/>
          </a:p>
        </p:txBody>
      </p:sp>
      <p:sp>
        <p:nvSpPr>
          <p:cNvPr id="950" name="Google Shape;950;hc7cc306779174be_8_221"/>
          <p:cNvSpPr txBox="1"/>
          <p:nvPr/>
        </p:nvSpPr>
        <p:spPr>
          <a:xfrm>
            <a:off x="23812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4.320 HH</a:t>
            </a:r>
            <a:endParaRPr/>
          </a:p>
        </p:txBody>
      </p:sp>
      <p:cxnSp>
        <p:nvCxnSpPr>
          <p:cNvPr id="951" name="Google Shape;951;hc7cc306779174be_8_221"/>
          <p:cNvCxnSpPr/>
          <p:nvPr/>
        </p:nvCxnSpPr>
        <p:spPr>
          <a:xfrm>
            <a:off x="6562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52" name="Google Shape;952;hc7cc306779174be_8_221"/>
          <p:cNvSpPr/>
          <p:nvPr/>
        </p:nvSpPr>
        <p:spPr>
          <a:xfrm>
            <a:off x="5772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53" name="Google Shape;953;hc7cc306779174be_8_221"/>
          <p:cNvSpPr txBox="1"/>
          <p:nvPr/>
        </p:nvSpPr>
        <p:spPr>
          <a:xfrm>
            <a:off x="5867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954" name="Google Shape;954;hc7cc306779174be_8_221"/>
          <p:cNvSpPr txBox="1"/>
          <p:nvPr/>
        </p:nvSpPr>
        <p:spPr>
          <a:xfrm>
            <a:off x="5867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955" name="Google Shape;955;hc7cc306779174be_8_221"/>
          <p:cNvSpPr txBox="1"/>
          <p:nvPr/>
        </p:nvSpPr>
        <p:spPr>
          <a:xfrm>
            <a:off x="5867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956" name="Google Shape;956;hc7cc306779174be_8_221"/>
          <p:cNvSpPr txBox="1"/>
          <p:nvPr/>
        </p:nvSpPr>
        <p:spPr>
          <a:xfrm>
            <a:off x="5867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957" name="Google Shape;957;hc7cc306779174be_8_221"/>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58" name="Google Shape;958;hc7cc306779174be_8_221"/>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59" name="Google Shape;959;hc7cc306779174be_8_221"/>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960" name="Google Shape;960;hc7cc306779174be_8_221"/>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961" name="Google Shape;961;hc7cc306779174be_8_221"/>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962" name="Google Shape;962;hc7cc306779174be_8_221"/>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963" name="Google Shape;963;hc7cc306779174be_8_221"/>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64" name="Google Shape;964;hc7cc306779174be_8_221"/>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65" name="Google Shape;965;hc7cc306779174be_8_221"/>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966" name="Google Shape;966;hc7cc306779174be_8_221"/>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967" name="Google Shape;967;hc7cc306779174be_8_221"/>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968" name="Google Shape;968;hc7cc306779174be_8_221"/>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969" name="Google Shape;969;hc7cc306779174be_8_221"/>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70" name="Google Shape;970;hc7cc306779174be_8_221"/>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71" name="Google Shape;971;hc7cc306779174be_8_221"/>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972" name="Google Shape;972;hc7cc306779174be_8_221"/>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973" name="Google Shape;973;hc7cc306779174be_8_221"/>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974" name="Google Shape;974;hc7cc306779174be_8_221"/>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975" name="Google Shape;975;hc7cc306779174be_8_221"/>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76" name="Google Shape;976;hc7cc306779174be_8_221"/>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77" name="Google Shape;977;hc7cc306779174be_8_221"/>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978" name="Google Shape;978;hc7cc306779174be_8_221"/>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979" name="Google Shape;979;hc7cc306779174be_8_221"/>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980" name="Google Shape;980;hc7cc306779174be_8_221"/>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981" name="Google Shape;981;hc7cc306779174be_8_221"/>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82" name="Google Shape;982;hc7cc306779174be_8_221"/>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83" name="Google Shape;983;hc7cc306779174be_8_221"/>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984" name="Google Shape;984;hc7cc306779174be_8_221"/>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985" name="Google Shape;985;hc7cc306779174be_8_221"/>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986" name="Google Shape;986;hc7cc306779174be_8_221"/>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987" name="Google Shape;987;hc7cc306779174be_8_221"/>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988" name="Google Shape;988;hc7cc306779174be_8_221"/>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989" name="Google Shape;989;hc7cc306779174be_8_221"/>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990" name="Google Shape;990;hc7cc306779174be_8_221"/>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991" name="Google Shape;991;hc7cc306779174be_8_221"/>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992" name="Google Shape;992;hc7cc306779174be_8_221"/>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993" name="Google Shape;993;hc7cc306779174be_8_221"/>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2 · ELABORACIÓN · 6 CUENTAS DE CONTROL</a:t>
            </a:r>
            <a:endParaRPr/>
          </a:p>
        </p:txBody>
      </p:sp>
      <p:sp>
        <p:nvSpPr>
          <p:cNvPr id="994" name="Google Shape;994;hc7cc306779174be_8_221"/>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2.1 Arquitectura</a:t>
            </a:r>
            <a:endParaRPr/>
          </a:p>
        </p:txBody>
      </p:sp>
      <p:sp>
        <p:nvSpPr>
          <p:cNvPr id="995" name="Google Shape;995;hc7cc306779174be_8_221"/>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2.2 Seguridad</a:t>
            </a:r>
            <a:endParaRPr/>
          </a:p>
        </p:txBody>
      </p:sp>
      <p:sp>
        <p:nvSpPr>
          <p:cNvPr id="996" name="Google Shape;996;hc7cc306779174be_8_221"/>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2.3 Sala técnica y racks</a:t>
            </a:r>
            <a:endParaRPr/>
          </a:p>
        </p:txBody>
      </p:sp>
      <p:sp>
        <p:nvSpPr>
          <p:cNvPr id="997" name="Google Shape;997;hc7cc306779174be_8_221"/>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2.4 Validación de diseños</a:t>
            </a:r>
            <a:endParaRPr/>
          </a:p>
        </p:txBody>
      </p:sp>
      <p:sp>
        <p:nvSpPr>
          <p:cNvPr id="998" name="Google Shape;998;hc7cc306779174be_8_221"/>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2.5 Continuidad del negocio</a:t>
            </a:r>
            <a:endParaRPr/>
          </a:p>
        </p:txBody>
      </p:sp>
      <p:sp>
        <p:nvSpPr>
          <p:cNvPr id="999" name="Google Shape;999;hc7cc306779174be_8_221"/>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2.6 Experiencia de usuario</a:t>
            </a:r>
            <a:endParaRPr/>
          </a:p>
        </p:txBody>
      </p:sp>
      <p:sp>
        <p:nvSpPr>
          <p:cNvPr id="100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7" name="Google Shape;1007;hc7cc306779174be_8_294"/>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008"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9"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10"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011" name="Google Shape;1011;hc7cc306779174be_8_294"/>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12" name="Google Shape;1012;hc7cc306779174be_8_294"/>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13" name="Google Shape;1013;hc7cc306779174be_8_294"/>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14"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15"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016" name="Google Shape;1016;hc7cc306779174be_8_294"/>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017"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018" name="Google Shape;1018;hc7cc306779174be_8_294"/>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019" name="Google Shape;1019;hc7cc306779174be_8_294"/>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20"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21" name="Google Shape;1021;hc7cc306779174be_8_294"/>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022" name="Google Shape;1022;hc7cc306779174be_8_294"/>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023" name="!!ph2c"/>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024" name="Google Shape;1024;hc7cc306779174be_8_294"/>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025" name="Google Shape;1025;hc7cc306779174be_8_294"/>
          <p:cNvCxnSpPr/>
          <p:nvPr/>
        </p:nvCxnSpPr>
        <p:spPr>
          <a:xfrm>
            <a:off x="56388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26" name="Google Shape;1026;hc7cc306779174be_8_294"/>
          <p:cNvSpPr/>
          <p:nvPr/>
        </p:nvSpPr>
        <p:spPr>
          <a:xfrm>
            <a:off x="39243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27" name="!!ph3a"/>
          <p:cNvSpPr txBox="1"/>
          <p:nvPr/>
        </p:nvSpPr>
        <p:spPr>
          <a:xfrm>
            <a:off x="41338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3</a:t>
            </a:r>
            <a:endParaRPr/>
          </a:p>
        </p:txBody>
      </p:sp>
      <p:sp>
        <p:nvSpPr>
          <p:cNvPr id="1028" name="Google Shape;1028;hc7cc306779174be_8_294"/>
          <p:cNvSpPr txBox="1"/>
          <p:nvPr/>
        </p:nvSpPr>
        <p:spPr>
          <a:xfrm>
            <a:off x="41338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Construcción</a:t>
            </a:r>
            <a:endParaRPr/>
          </a:p>
        </p:txBody>
      </p:sp>
      <p:sp>
        <p:nvSpPr>
          <p:cNvPr id="1029" name="Google Shape;1029;hc7cc306779174be_8_294"/>
          <p:cNvSpPr txBox="1"/>
          <p:nvPr/>
        </p:nvSpPr>
        <p:spPr>
          <a:xfrm>
            <a:off x="41338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11 CC · 79 PT</a:t>
            </a:r>
            <a:endParaRPr/>
          </a:p>
        </p:txBody>
      </p:sp>
      <p:sp>
        <p:nvSpPr>
          <p:cNvPr id="1030" name="Google Shape;1030;hc7cc306779174be_8_294"/>
          <p:cNvSpPr txBox="1"/>
          <p:nvPr/>
        </p:nvSpPr>
        <p:spPr>
          <a:xfrm>
            <a:off x="41338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33.280 HH</a:t>
            </a:r>
            <a:endParaRPr/>
          </a:p>
        </p:txBody>
      </p:sp>
      <p:cxnSp>
        <p:nvCxnSpPr>
          <p:cNvPr id="1031" name="Google Shape;1031;hc7cc306779174be_8_294"/>
          <p:cNvCxnSpPr/>
          <p:nvPr/>
        </p:nvCxnSpPr>
        <p:spPr>
          <a:xfrm>
            <a:off x="8315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32" name="Google Shape;1032;hc7cc306779174be_8_294"/>
          <p:cNvSpPr/>
          <p:nvPr/>
        </p:nvSpPr>
        <p:spPr>
          <a:xfrm>
            <a:off x="7524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33" name="Google Shape;1033;hc7cc306779174be_8_294"/>
          <p:cNvSpPr txBox="1"/>
          <p:nvPr/>
        </p:nvSpPr>
        <p:spPr>
          <a:xfrm>
            <a:off x="7620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034" name="Google Shape;1034;hc7cc306779174be_8_294"/>
          <p:cNvSpPr txBox="1"/>
          <p:nvPr/>
        </p:nvSpPr>
        <p:spPr>
          <a:xfrm>
            <a:off x="7620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035" name="Google Shape;1035;hc7cc306779174be_8_294"/>
          <p:cNvSpPr txBox="1"/>
          <p:nvPr/>
        </p:nvSpPr>
        <p:spPr>
          <a:xfrm>
            <a:off x="7620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036" name="Google Shape;1036;hc7cc306779174be_8_294"/>
          <p:cNvSpPr txBox="1"/>
          <p:nvPr/>
        </p:nvSpPr>
        <p:spPr>
          <a:xfrm>
            <a:off x="7620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037" name="Google Shape;1037;hc7cc306779174be_8_294"/>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38" name="Google Shape;1038;hc7cc306779174be_8_294"/>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39" name="Google Shape;1039;hc7cc306779174be_8_294"/>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040" name="Google Shape;1040;hc7cc306779174be_8_294"/>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041" name="Google Shape;1041;hc7cc306779174be_8_294"/>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042" name="Google Shape;1042;hc7cc306779174be_8_294"/>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043" name="Google Shape;1043;hc7cc306779174be_8_294"/>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44" name="Google Shape;1044;hc7cc306779174be_8_294"/>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45" name="Google Shape;1045;hc7cc306779174be_8_294"/>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046" name="Google Shape;1046;hc7cc306779174be_8_294"/>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047" name="Google Shape;1047;hc7cc306779174be_8_294"/>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048" name="Google Shape;1048;hc7cc306779174be_8_294"/>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049" name="Google Shape;1049;hc7cc306779174be_8_294"/>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50" name="Google Shape;1050;hc7cc306779174be_8_294"/>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51" name="Google Shape;1051;hc7cc306779174be_8_294"/>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052" name="Google Shape;1052;hc7cc306779174be_8_294"/>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053" name="Google Shape;1053;hc7cc306779174be_8_294"/>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054" name="Google Shape;1054;hc7cc306779174be_8_294"/>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055" name="Google Shape;1055;hc7cc306779174be_8_294"/>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56" name="Google Shape;1056;hc7cc306779174be_8_294"/>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57" name="Google Shape;1057;hc7cc306779174be_8_294"/>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058" name="Google Shape;1058;hc7cc306779174be_8_294"/>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059" name="Google Shape;1059;hc7cc306779174be_8_294"/>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060" name="Google Shape;1060;hc7cc306779174be_8_294"/>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061" name="Google Shape;1061;hc7cc306779174be_8_294"/>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62" name="Google Shape;1062;hc7cc306779174be_8_294"/>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63" name="Google Shape;1063;hc7cc306779174be_8_294"/>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064" name="Google Shape;1064;hc7cc306779174be_8_294"/>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065" name="Google Shape;1065;hc7cc306779174be_8_294"/>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066" name="Google Shape;1066;hc7cc306779174be_8_294"/>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067" name="Google Shape;1067;hc7cc306779174be_8_294"/>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3 · CONSTRUCCIÓN · 11 CUENTAS DE CONTROL</a:t>
            </a:r>
            <a:endParaRPr/>
          </a:p>
        </p:txBody>
      </p:sp>
      <p:sp>
        <p:nvSpPr>
          <p:cNvPr id="1068" name="Google Shape;1068;hc7cc306779174be_8_294"/>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 Ambientes y CI/CD</a:t>
            </a:r>
            <a:endParaRPr/>
          </a:p>
        </p:txBody>
      </p:sp>
      <p:sp>
        <p:nvSpPr>
          <p:cNvPr id="1069" name="Google Shape;1069;hc7cc306779174be_8_294"/>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3.2 Servicios de nube</a:t>
            </a:r>
            <a:endParaRPr/>
          </a:p>
        </p:txBody>
      </p:sp>
      <p:sp>
        <p:nvSpPr>
          <p:cNvPr id="1070" name="Google Shape;1070;hc7cc306779174be_8_294"/>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3.3 Base compartida</a:t>
            </a:r>
            <a:endParaRPr/>
          </a:p>
        </p:txBody>
      </p:sp>
      <p:sp>
        <p:nvSpPr>
          <p:cNvPr id="1071" name="Google Shape;1071;hc7cc306779174be_8_294"/>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3.4 Módulos Etapa 1</a:t>
            </a:r>
            <a:endParaRPr/>
          </a:p>
        </p:txBody>
      </p:sp>
      <p:sp>
        <p:nvSpPr>
          <p:cNvPr id="1072" name="Google Shape;1072;hc7cc306779174be_8_294"/>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3.5 Módulos Etapa 2</a:t>
            </a:r>
            <a:endParaRPr/>
          </a:p>
        </p:txBody>
      </p:sp>
      <p:sp>
        <p:nvSpPr>
          <p:cNvPr id="1073" name="Google Shape;1073;hc7cc306779174be_8_294"/>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3.6 Integraciones</a:t>
            </a:r>
            <a:endParaRPr/>
          </a:p>
        </p:txBody>
      </p:sp>
      <p:sp>
        <p:nvSpPr>
          <p:cNvPr id="1074" name="Google Shape;1074;hc7cc306779174be_8_294"/>
          <p:cNvSpPr/>
          <p:nvPr/>
        </p:nvSpPr>
        <p:spPr>
          <a:xfrm>
            <a:off x="82296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3.7 Migración de datos</a:t>
            </a:r>
            <a:endParaRPr/>
          </a:p>
        </p:txBody>
      </p:sp>
      <p:sp>
        <p:nvSpPr>
          <p:cNvPr id="1075" name="Google Shape;1075;hc7cc306779174be_8_294"/>
          <p:cNvSpPr/>
          <p:nvPr/>
        </p:nvSpPr>
        <p:spPr>
          <a:xfrm>
            <a:off x="3619499"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3.8 Pruebas Etapa 1</a:t>
            </a:r>
            <a:endParaRPr/>
          </a:p>
        </p:txBody>
      </p:sp>
      <p:sp>
        <p:nvSpPr>
          <p:cNvPr id="1076" name="Google Shape;1076;hc7cc306779174be_8_294"/>
          <p:cNvSpPr/>
          <p:nvPr/>
        </p:nvSpPr>
        <p:spPr>
          <a:xfrm>
            <a:off x="641604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3.9 Pruebas Etapa 2</a:t>
            </a:r>
            <a:endParaRPr/>
          </a:p>
        </p:txBody>
      </p:sp>
      <p:sp>
        <p:nvSpPr>
          <p:cNvPr id="1077" name="Google Shape;1077;hc7cc306779174be_8_294"/>
          <p:cNvSpPr/>
          <p:nvPr/>
        </p:nvSpPr>
        <p:spPr>
          <a:xfrm>
            <a:off x="921258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3.10 Innovaciones</a:t>
            </a:r>
            <a:endParaRPr/>
          </a:p>
        </p:txBody>
      </p:sp>
      <p:sp>
        <p:nvSpPr>
          <p:cNvPr id="1078" name="Google Shape;1078;hc7cc306779174be_8_294"/>
          <p:cNvSpPr/>
          <p:nvPr/>
        </p:nvSpPr>
        <p:spPr>
          <a:xfrm>
            <a:off x="12009120" y="850011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3.11 Documentación</a:t>
            </a:r>
            <a:endParaRPr/>
          </a:p>
        </p:txBody>
      </p:sp>
      <p:sp>
        <p:nvSpPr>
          <p:cNvPr id="107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6" name="Google Shape;1086;hc7cc306779174be_8_372"/>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087"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8"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89"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090" name="Google Shape;1090;hc7cc306779174be_8_372"/>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91" name="Google Shape;1091;hc7cc306779174be_8_372"/>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092" name="Google Shape;1092;hc7cc306779174be_8_372"/>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93"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094"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095" name="Google Shape;1095;hc7cc306779174be_8_372"/>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096"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097" name="Google Shape;1097;hc7cc306779174be_8_372"/>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098" name="Google Shape;1098;hc7cc306779174be_8_372"/>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099"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00" name="Google Shape;1100;hc7cc306779174be_8_372"/>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101" name="Google Shape;1101;hc7cc306779174be_8_372"/>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102" name="Google Shape;1102;hc7cc306779174be_8_372"/>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103" name="Google Shape;1103;hc7cc306779174be_8_372"/>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104" name="Google Shape;1104;hc7cc306779174be_8_372"/>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05" name="!!ph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06" name="Google Shape;1106;hc7cc306779174be_8_372"/>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107" name="Google Shape;1107;hc7cc306779174be_8_372"/>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108" name="!!ph3c"/>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109" name="!!ph3d"/>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110" name="Google Shape;1110;hc7cc306779174be_8_372"/>
          <p:cNvCxnSpPr/>
          <p:nvPr/>
        </p:nvCxnSpPr>
        <p:spPr>
          <a:xfrm>
            <a:off x="73914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11" name="Google Shape;1111;hc7cc306779174be_8_372"/>
          <p:cNvSpPr/>
          <p:nvPr/>
        </p:nvSpPr>
        <p:spPr>
          <a:xfrm>
            <a:off x="56769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12" name="Google Shape;1112;hc7cc306779174be_8_372"/>
          <p:cNvSpPr txBox="1"/>
          <p:nvPr/>
        </p:nvSpPr>
        <p:spPr>
          <a:xfrm>
            <a:off x="58864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4</a:t>
            </a:r>
            <a:endParaRPr/>
          </a:p>
        </p:txBody>
      </p:sp>
      <p:sp>
        <p:nvSpPr>
          <p:cNvPr id="1113" name="Google Shape;1113;hc7cc306779174be_8_372"/>
          <p:cNvSpPr txBox="1"/>
          <p:nvPr/>
        </p:nvSpPr>
        <p:spPr>
          <a:xfrm>
            <a:off x="58864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Transición</a:t>
            </a:r>
            <a:endParaRPr/>
          </a:p>
        </p:txBody>
      </p:sp>
      <p:sp>
        <p:nvSpPr>
          <p:cNvPr id="1114" name="Google Shape;1114;hc7cc306779174be_8_372"/>
          <p:cNvSpPr txBox="1"/>
          <p:nvPr/>
        </p:nvSpPr>
        <p:spPr>
          <a:xfrm>
            <a:off x="58864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3 CC · 10 PT</a:t>
            </a:r>
            <a:endParaRPr/>
          </a:p>
        </p:txBody>
      </p:sp>
      <p:sp>
        <p:nvSpPr>
          <p:cNvPr id="1115" name="Google Shape;1115;hc7cc306779174be_8_372"/>
          <p:cNvSpPr txBox="1"/>
          <p:nvPr/>
        </p:nvSpPr>
        <p:spPr>
          <a:xfrm>
            <a:off x="58864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20.672 HH</a:t>
            </a:r>
            <a:endParaRPr/>
          </a:p>
        </p:txBody>
      </p:sp>
      <p:cxnSp>
        <p:nvCxnSpPr>
          <p:cNvPr id="1116" name="Google Shape;1116;hc7cc306779174be_8_372"/>
          <p:cNvCxnSpPr/>
          <p:nvPr/>
        </p:nvCxnSpPr>
        <p:spPr>
          <a:xfrm>
            <a:off x="100679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17" name="Google Shape;1117;hc7cc306779174be_8_372"/>
          <p:cNvSpPr/>
          <p:nvPr/>
        </p:nvSpPr>
        <p:spPr>
          <a:xfrm>
            <a:off x="92773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18" name="Google Shape;1118;hc7cc306779174be_8_372"/>
          <p:cNvSpPr txBox="1"/>
          <p:nvPr/>
        </p:nvSpPr>
        <p:spPr>
          <a:xfrm>
            <a:off x="93726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119" name="Google Shape;1119;hc7cc306779174be_8_372"/>
          <p:cNvSpPr txBox="1"/>
          <p:nvPr/>
        </p:nvSpPr>
        <p:spPr>
          <a:xfrm>
            <a:off x="93726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120" name="Google Shape;1120;hc7cc306779174be_8_372"/>
          <p:cNvSpPr txBox="1"/>
          <p:nvPr/>
        </p:nvSpPr>
        <p:spPr>
          <a:xfrm>
            <a:off x="93726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121" name="Google Shape;1121;hc7cc306779174be_8_372"/>
          <p:cNvSpPr txBox="1"/>
          <p:nvPr/>
        </p:nvSpPr>
        <p:spPr>
          <a:xfrm>
            <a:off x="93726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122" name="Google Shape;1122;hc7cc306779174be_8_372"/>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23" name="Google Shape;1123;hc7cc306779174be_8_372"/>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24" name="Google Shape;1124;hc7cc306779174be_8_372"/>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125" name="Google Shape;1125;hc7cc306779174be_8_372"/>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126" name="Google Shape;1126;hc7cc306779174be_8_372"/>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127" name="Google Shape;1127;hc7cc306779174be_8_372"/>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128" name="Google Shape;1128;hc7cc306779174be_8_372"/>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29" name="Google Shape;1129;hc7cc306779174be_8_372"/>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30" name="Google Shape;1130;hc7cc306779174be_8_372"/>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131" name="Google Shape;1131;hc7cc306779174be_8_372"/>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132" name="Google Shape;1132;hc7cc306779174be_8_372"/>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133" name="Google Shape;1133;hc7cc306779174be_8_372"/>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134" name="Google Shape;1134;hc7cc306779174be_8_372"/>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35" name="Google Shape;1135;hc7cc306779174be_8_372"/>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36" name="Google Shape;1136;hc7cc306779174be_8_372"/>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137" name="Google Shape;1137;hc7cc306779174be_8_372"/>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138" name="Google Shape;1138;hc7cc306779174be_8_372"/>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139" name="Google Shape;1139;hc7cc306779174be_8_372"/>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140" name="Google Shape;1140;hc7cc306779174be_8_372"/>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41" name="Google Shape;1141;hc7cc306779174be_8_372"/>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42" name="Google Shape;1142;hc7cc306779174be_8_372"/>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143" name="Google Shape;1143;hc7cc306779174be_8_372"/>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144" name="Google Shape;1144;hc7cc306779174be_8_372"/>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145" name="Google Shape;1145;hc7cc306779174be_8_372"/>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146" name="Google Shape;1146;hc7cc306779174be_8_372"/>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4 · TRANSICIÓN · 3 CUENTAS DE CONTROL</a:t>
            </a:r>
            <a:endParaRPr/>
          </a:p>
        </p:txBody>
      </p:sp>
      <p:sp>
        <p:nvSpPr>
          <p:cNvPr id="1147" name="Google Shape;1147;hc7cc306779174be_8_372"/>
          <p:cNvSpPr/>
          <p:nvPr/>
        </p:nvSpPr>
        <p:spPr>
          <a:xfrm>
            <a:off x="82296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4.1 Plan de implantación</a:t>
            </a:r>
            <a:endParaRPr/>
          </a:p>
        </p:txBody>
      </p:sp>
      <p:sp>
        <p:nvSpPr>
          <p:cNvPr id="1148" name="Google Shape;1148;hc7cc306779174be_8_372"/>
          <p:cNvSpPr/>
          <p:nvPr/>
        </p:nvSpPr>
        <p:spPr>
          <a:xfrm>
            <a:off x="641604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4.2 Marcha blanca y producción E1</a:t>
            </a:r>
            <a:endParaRPr/>
          </a:p>
        </p:txBody>
      </p:sp>
      <p:sp>
        <p:nvSpPr>
          <p:cNvPr id="1149" name="Google Shape;1149;hc7cc306779174be_8_372"/>
          <p:cNvSpPr/>
          <p:nvPr/>
        </p:nvSpPr>
        <p:spPr>
          <a:xfrm>
            <a:off x="1200912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4.3 Marcha blanca y producción E2</a:t>
            </a:r>
            <a:endParaRPr/>
          </a:p>
        </p:txBody>
      </p:sp>
      <p:sp>
        <p:nvSpPr>
          <p:cNvPr id="115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7" name="Google Shape;1157;hc7cc306779174be_8_442"/>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158"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9"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160"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161" name="Google Shape;1161;hc7cc306779174be_8_442"/>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162" name="Google Shape;1162;hc7cc306779174be_8_442"/>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163" name="Google Shape;1163;hc7cc306779174be_8_442"/>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64"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65"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166" name="Google Shape;1166;hc7cc306779174be_8_442"/>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167"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168"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169" name="Google Shape;1169;hc7cc306779174be_8_442"/>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70" name="Google Shape;1170;hc7cc306779174be_8_44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71" name="!!ph2a"/>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172" name="Google Shape;1172;hc7cc306779174be_8_442"/>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173" name="Google Shape;1173;hc7cc306779174be_8_442"/>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174" name="Google Shape;1174;hc7cc306779174be_8_442"/>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175" name="Google Shape;1175;hc7cc306779174be_8_442"/>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76" name="Google Shape;1176;hc7cc306779174be_8_442"/>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77" name="Google Shape;1177;hc7cc306779174be_8_442"/>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178" name="Google Shape;1178;hc7cc306779174be_8_442"/>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179" name="Google Shape;1179;hc7cc306779174be_8_442"/>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180" name="Google Shape;1180;hc7cc306779174be_8_442"/>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181" name="Google Shape;1181;hc7cc306779174be_8_442"/>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82" name="Google Shape;1182;hc7cc306779174be_8_442"/>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83" name="Google Shape;1183;hc7cc306779174be_8_442"/>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184" name="Google Shape;1184;hc7cc306779174be_8_442"/>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185" name="Google Shape;1185;hc7cc306779174be_8_442"/>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186" name="Google Shape;1186;hc7cc306779174be_8_442"/>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187" name="Google Shape;1187;hc7cc306779174be_8_442"/>
          <p:cNvCxnSpPr/>
          <p:nvPr/>
        </p:nvCxnSpPr>
        <p:spPr>
          <a:xfrm>
            <a:off x="91440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88" name="Google Shape;1188;hc7cc306779174be_8_442"/>
          <p:cNvSpPr/>
          <p:nvPr/>
        </p:nvSpPr>
        <p:spPr>
          <a:xfrm>
            <a:off x="74295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89" name="Google Shape;1189;hc7cc306779174be_8_442"/>
          <p:cNvSpPr txBox="1"/>
          <p:nvPr/>
        </p:nvSpPr>
        <p:spPr>
          <a:xfrm>
            <a:off x="76390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5</a:t>
            </a:r>
            <a:endParaRPr/>
          </a:p>
        </p:txBody>
      </p:sp>
      <p:sp>
        <p:nvSpPr>
          <p:cNvPr id="1190" name="Google Shape;1190;hc7cc306779174be_8_442"/>
          <p:cNvSpPr txBox="1"/>
          <p:nvPr/>
        </p:nvSpPr>
        <p:spPr>
          <a:xfrm>
            <a:off x="76390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Adquisiciones</a:t>
            </a:r>
            <a:endParaRPr/>
          </a:p>
        </p:txBody>
      </p:sp>
      <p:sp>
        <p:nvSpPr>
          <p:cNvPr id="1191" name="Google Shape;1191;hc7cc306779174be_8_442"/>
          <p:cNvSpPr txBox="1"/>
          <p:nvPr/>
        </p:nvSpPr>
        <p:spPr>
          <a:xfrm>
            <a:off x="76390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4 CC · 13 PT</a:t>
            </a:r>
            <a:endParaRPr/>
          </a:p>
        </p:txBody>
      </p:sp>
      <p:sp>
        <p:nvSpPr>
          <p:cNvPr id="1192" name="Google Shape;1192;hc7cc306779174be_8_442"/>
          <p:cNvSpPr txBox="1"/>
          <p:nvPr/>
        </p:nvSpPr>
        <p:spPr>
          <a:xfrm>
            <a:off x="76390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1.040 HH</a:t>
            </a:r>
            <a:endParaRPr/>
          </a:p>
        </p:txBody>
      </p:sp>
      <p:cxnSp>
        <p:nvCxnSpPr>
          <p:cNvPr id="1193" name="Google Shape;1193;hc7cc306779174be_8_442"/>
          <p:cNvCxnSpPr/>
          <p:nvPr/>
        </p:nvCxnSpPr>
        <p:spPr>
          <a:xfrm>
            <a:off x="118205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194" name="Google Shape;1194;hc7cc306779174be_8_442"/>
          <p:cNvSpPr/>
          <p:nvPr/>
        </p:nvSpPr>
        <p:spPr>
          <a:xfrm>
            <a:off x="110299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195" name="Google Shape;1195;hc7cc306779174be_8_442"/>
          <p:cNvSpPr txBox="1"/>
          <p:nvPr/>
        </p:nvSpPr>
        <p:spPr>
          <a:xfrm>
            <a:off x="111252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196" name="Google Shape;1196;hc7cc306779174be_8_442"/>
          <p:cNvSpPr txBox="1"/>
          <p:nvPr/>
        </p:nvSpPr>
        <p:spPr>
          <a:xfrm>
            <a:off x="111252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197" name="Google Shape;1197;hc7cc306779174be_8_442"/>
          <p:cNvSpPr txBox="1"/>
          <p:nvPr/>
        </p:nvSpPr>
        <p:spPr>
          <a:xfrm>
            <a:off x="111252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198" name="Google Shape;1198;hc7cc306779174be_8_442"/>
          <p:cNvSpPr txBox="1"/>
          <p:nvPr/>
        </p:nvSpPr>
        <p:spPr>
          <a:xfrm>
            <a:off x="111252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199" name="Google Shape;1199;hc7cc306779174be_8_442"/>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00" name="Google Shape;1200;hc7cc306779174be_8_442"/>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01" name="Google Shape;1201;hc7cc306779174be_8_442"/>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202" name="Google Shape;1202;hc7cc306779174be_8_442"/>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203" name="Google Shape;1203;hc7cc306779174be_8_442"/>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204" name="Google Shape;1204;hc7cc306779174be_8_442"/>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205" name="Google Shape;1205;hc7cc306779174be_8_442"/>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06" name="Google Shape;1206;hc7cc306779174be_8_442"/>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07" name="Google Shape;1207;hc7cc306779174be_8_442"/>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208" name="Google Shape;1208;hc7cc306779174be_8_442"/>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209" name="Google Shape;1209;hc7cc306779174be_8_442"/>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210" name="Google Shape;1210;hc7cc306779174be_8_442"/>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211" name="Google Shape;1211;hc7cc306779174be_8_442"/>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12" name="Google Shape;1212;hc7cc306779174be_8_442"/>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13" name="Google Shape;1213;hc7cc306779174be_8_442"/>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214" name="Google Shape;1214;hc7cc306779174be_8_442"/>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215" name="Google Shape;1215;hc7cc306779174be_8_442"/>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216" name="Google Shape;1216;hc7cc306779174be_8_442"/>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217" name="Google Shape;1217;hc7cc306779174be_8_442"/>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5 · ADQUISICIONES · 4 CUENTAS DE CONTROL</a:t>
            </a:r>
            <a:endParaRPr/>
          </a:p>
        </p:txBody>
      </p:sp>
      <p:sp>
        <p:nvSpPr>
          <p:cNvPr id="1218" name="Google Shape;1218;hc7cc306779174be_8_442"/>
          <p:cNvSpPr/>
          <p:nvPr/>
        </p:nvSpPr>
        <p:spPr>
          <a:xfrm>
            <a:off x="82296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5.1 Hardware</a:t>
            </a:r>
            <a:endParaRPr/>
          </a:p>
        </p:txBody>
      </p:sp>
      <p:sp>
        <p:nvSpPr>
          <p:cNvPr id="1219" name="Google Shape;1219;hc7cc306779174be_8_442"/>
          <p:cNvSpPr/>
          <p:nvPr/>
        </p:nvSpPr>
        <p:spPr>
          <a:xfrm>
            <a:off x="501777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5.2 Nube y licencias</a:t>
            </a:r>
            <a:endParaRPr/>
          </a:p>
        </p:txBody>
      </p:sp>
      <p:sp>
        <p:nvSpPr>
          <p:cNvPr id="1220" name="Google Shape;1220;hc7cc306779174be_8_442"/>
          <p:cNvSpPr/>
          <p:nvPr/>
        </p:nvSpPr>
        <p:spPr>
          <a:xfrm>
            <a:off x="921258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5.3 Enlaces</a:t>
            </a:r>
            <a:endParaRPr/>
          </a:p>
        </p:txBody>
      </p:sp>
      <p:sp>
        <p:nvSpPr>
          <p:cNvPr id="1221" name="Google Shape;1221;hc7cc306779174be_8_442"/>
          <p:cNvSpPr/>
          <p:nvPr/>
        </p:nvSpPr>
        <p:spPr>
          <a:xfrm>
            <a:off x="13407390" y="7360920"/>
            <a:ext cx="405765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5.4 Acuerdos con terceros</a:t>
            </a:r>
            <a:endParaRPr/>
          </a:p>
        </p:txBody>
      </p:sp>
      <p:sp>
        <p:nvSpPr>
          <p:cNvPr id="122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29" name="Google Shape;1229;hc7cc306779174be_8_513"/>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230"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31"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232"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233" name="Google Shape;1233;hc7cc306779174be_8_513"/>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234" name="Google Shape;1234;hc7cc306779174be_8_513"/>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235" name="Google Shape;1235;hc7cc306779174be_8_513"/>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36"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37"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238" name="Google Shape;1238;hc7cc306779174be_8_513"/>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239"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240"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241" name="Google Shape;1241;hc7cc306779174be_8_513"/>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42" name="Google Shape;1242;hc7cc306779174be_8_513"/>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43" name="Google Shape;1243;hc7cc306779174be_8_513"/>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244" name="Google Shape;1244;hc7cc306779174be_8_513"/>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245" name="!!ph2c"/>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246" name="Google Shape;1246;hc7cc306779174be_8_513"/>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247" name="Google Shape;1247;hc7cc306779174be_8_513"/>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48" name="Google Shape;1248;hc7cc306779174be_8_51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49" name="Google Shape;1249;hc7cc306779174be_8_513"/>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250" name="Google Shape;1250;hc7cc306779174be_8_513"/>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251" name="Google Shape;1251;hc7cc306779174be_8_513"/>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252" name="Google Shape;1252;hc7cc306779174be_8_513"/>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253" name="Google Shape;1253;hc7cc306779174be_8_513"/>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54" name="Google Shape;1254;hc7cc306779174be_8_513"/>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55" name="Google Shape;1255;hc7cc306779174be_8_513"/>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256" name="Google Shape;1256;hc7cc306779174be_8_513"/>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257" name="Google Shape;1257;hc7cc306779174be_8_513"/>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258" name="Google Shape;1258;hc7cc306779174be_8_513"/>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259" name="Google Shape;1259;hc7cc306779174be_8_513"/>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60" name="Google Shape;1260;hc7cc306779174be_8_513"/>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61" name="Google Shape;1261;hc7cc306779174be_8_513"/>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262" name="Google Shape;1262;hc7cc306779174be_8_513"/>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263" name="Google Shape;1263;hc7cc306779174be_8_513"/>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264" name="Google Shape;1264;hc7cc306779174be_8_513"/>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265" name="Google Shape;1265;hc7cc306779174be_8_513"/>
          <p:cNvCxnSpPr/>
          <p:nvPr/>
        </p:nvCxnSpPr>
        <p:spPr>
          <a:xfrm>
            <a:off x="108966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66" name="Google Shape;1266;hc7cc306779174be_8_513"/>
          <p:cNvSpPr/>
          <p:nvPr/>
        </p:nvSpPr>
        <p:spPr>
          <a:xfrm>
            <a:off x="91821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67" name="Google Shape;1267;hc7cc306779174be_8_513"/>
          <p:cNvSpPr txBox="1"/>
          <p:nvPr/>
        </p:nvSpPr>
        <p:spPr>
          <a:xfrm>
            <a:off x="93916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6</a:t>
            </a:r>
            <a:endParaRPr/>
          </a:p>
        </p:txBody>
      </p:sp>
      <p:sp>
        <p:nvSpPr>
          <p:cNvPr id="1268" name="Google Shape;1268;hc7cc306779174be_8_513"/>
          <p:cNvSpPr txBox="1"/>
          <p:nvPr/>
        </p:nvSpPr>
        <p:spPr>
          <a:xfrm>
            <a:off x="93916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Infraestructura</a:t>
            </a:r>
            <a:endParaRPr/>
          </a:p>
        </p:txBody>
      </p:sp>
      <p:sp>
        <p:nvSpPr>
          <p:cNvPr id="1269" name="Google Shape;1269;hc7cc306779174be_8_513"/>
          <p:cNvSpPr txBox="1"/>
          <p:nvPr/>
        </p:nvSpPr>
        <p:spPr>
          <a:xfrm>
            <a:off x="93916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6 CC · 24 PT</a:t>
            </a:r>
            <a:endParaRPr/>
          </a:p>
        </p:txBody>
      </p:sp>
      <p:sp>
        <p:nvSpPr>
          <p:cNvPr id="1270" name="Google Shape;1270;hc7cc306779174be_8_513"/>
          <p:cNvSpPr txBox="1"/>
          <p:nvPr/>
        </p:nvSpPr>
        <p:spPr>
          <a:xfrm>
            <a:off x="93916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3.840 HH</a:t>
            </a:r>
            <a:endParaRPr/>
          </a:p>
        </p:txBody>
      </p:sp>
      <p:cxnSp>
        <p:nvCxnSpPr>
          <p:cNvPr id="1271" name="Google Shape;1271;hc7cc306779174be_8_513"/>
          <p:cNvCxnSpPr/>
          <p:nvPr/>
        </p:nvCxnSpPr>
        <p:spPr>
          <a:xfrm>
            <a:off x="135731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72" name="Google Shape;1272;hc7cc306779174be_8_513"/>
          <p:cNvSpPr/>
          <p:nvPr/>
        </p:nvSpPr>
        <p:spPr>
          <a:xfrm>
            <a:off x="127825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73" name="Google Shape;1273;hc7cc306779174be_8_513"/>
          <p:cNvSpPr txBox="1"/>
          <p:nvPr/>
        </p:nvSpPr>
        <p:spPr>
          <a:xfrm>
            <a:off x="128778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274" name="Google Shape;1274;hc7cc306779174be_8_513"/>
          <p:cNvSpPr txBox="1"/>
          <p:nvPr/>
        </p:nvSpPr>
        <p:spPr>
          <a:xfrm>
            <a:off x="128778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275" name="Google Shape;1275;hc7cc306779174be_8_513"/>
          <p:cNvSpPr txBox="1"/>
          <p:nvPr/>
        </p:nvSpPr>
        <p:spPr>
          <a:xfrm>
            <a:off x="128778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276" name="Google Shape;1276;hc7cc306779174be_8_513"/>
          <p:cNvSpPr txBox="1"/>
          <p:nvPr/>
        </p:nvSpPr>
        <p:spPr>
          <a:xfrm>
            <a:off x="128778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277" name="Google Shape;1277;hc7cc306779174be_8_513"/>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78" name="Google Shape;1278;hc7cc306779174be_8_513"/>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79" name="Google Shape;1279;hc7cc306779174be_8_513"/>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280" name="Google Shape;1280;hc7cc306779174be_8_513"/>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281" name="Google Shape;1281;hc7cc306779174be_8_513"/>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282" name="Google Shape;1282;hc7cc306779174be_8_513"/>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283" name="Google Shape;1283;hc7cc306779174be_8_513"/>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284" name="Google Shape;1284;hc7cc306779174be_8_513"/>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285" name="Google Shape;1285;hc7cc306779174be_8_513"/>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286" name="Google Shape;1286;hc7cc306779174be_8_513"/>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287" name="Google Shape;1287;hc7cc306779174be_8_513"/>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288" name="Google Shape;1288;hc7cc306779174be_8_513"/>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289" name="Google Shape;1289;hc7cc306779174be_8_513"/>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6 · INFRAESTRUCTURA · 6 CUENTAS DE CONTROL</a:t>
            </a:r>
            <a:endParaRPr/>
          </a:p>
        </p:txBody>
      </p:sp>
      <p:sp>
        <p:nvSpPr>
          <p:cNvPr id="1290" name="Google Shape;1290;hc7cc306779174be_8_513"/>
          <p:cNvSpPr/>
          <p:nvPr/>
        </p:nvSpPr>
        <p:spPr>
          <a:xfrm>
            <a:off x="8229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6.1 Sala técnica Talca</a:t>
            </a:r>
            <a:endParaRPr/>
          </a:p>
        </p:txBody>
      </p:sp>
      <p:sp>
        <p:nvSpPr>
          <p:cNvPr id="1291" name="Google Shape;1291;hc7cc306779174be_8_513"/>
          <p:cNvSpPr/>
          <p:nvPr/>
        </p:nvSpPr>
        <p:spPr>
          <a:xfrm>
            <a:off x="3619499"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6.2 Cableado</a:t>
            </a:r>
            <a:endParaRPr/>
          </a:p>
        </p:txBody>
      </p:sp>
      <p:sp>
        <p:nvSpPr>
          <p:cNvPr id="1292" name="Google Shape;1292;hc7cc306779174be_8_513"/>
          <p:cNvSpPr/>
          <p:nvPr/>
        </p:nvSpPr>
        <p:spPr>
          <a:xfrm>
            <a:off x="641604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6.3 Racks y gabinetes</a:t>
            </a:r>
            <a:endParaRPr/>
          </a:p>
        </p:txBody>
      </p:sp>
      <p:sp>
        <p:nvSpPr>
          <p:cNvPr id="1293" name="Google Shape;1293;hc7cc306779174be_8_513"/>
          <p:cNvSpPr/>
          <p:nvPr/>
        </p:nvSpPr>
        <p:spPr>
          <a:xfrm>
            <a:off x="921258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6.4 Seguridad física</a:t>
            </a:r>
            <a:endParaRPr/>
          </a:p>
        </p:txBody>
      </p:sp>
      <p:sp>
        <p:nvSpPr>
          <p:cNvPr id="1294" name="Google Shape;1294;hc7cc306779174be_8_513"/>
          <p:cNvSpPr/>
          <p:nvPr/>
        </p:nvSpPr>
        <p:spPr>
          <a:xfrm>
            <a:off x="1200912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6.5 Equipamiento de campo</a:t>
            </a:r>
            <a:endParaRPr/>
          </a:p>
        </p:txBody>
      </p:sp>
      <p:sp>
        <p:nvSpPr>
          <p:cNvPr id="1295" name="Google Shape;1295;hc7cc306779174be_8_513"/>
          <p:cNvSpPr/>
          <p:nvPr/>
        </p:nvSpPr>
        <p:spPr>
          <a:xfrm>
            <a:off x="14805660" y="7360920"/>
            <a:ext cx="265938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6.6 Configuración de sitios</a:t>
            </a:r>
            <a:endParaRPr/>
          </a:p>
        </p:txBody>
      </p:sp>
      <p:sp>
        <p:nvSpPr>
          <p:cNvPr id="129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3" name="Google Shape;1303;hc7cc306779174be_8_586"/>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304"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5"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306"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307" name="Google Shape;1307;hc7cc306779174be_8_586"/>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08" name="Google Shape;1308;hc7cc306779174be_8_586"/>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09" name="Google Shape;1309;hc7cc306779174be_8_586"/>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10"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11"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312" name="Google Shape;1312;hc7cc306779174be_8_586"/>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313"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314" name="Google Shape;1314;hc7cc306779174be_8_586"/>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315" name="Google Shape;1315;hc7cc306779174be_8_586"/>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16"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17" name="Google Shape;1317;hc7cc306779174be_8_586"/>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318" name="Google Shape;1318;hc7cc306779174be_8_586"/>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319" name="Google Shape;1319;hc7cc306779174be_8_586"/>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320" name="Google Shape;1320;hc7cc306779174be_8_586"/>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321" name="Google Shape;1321;hc7cc306779174be_8_586"/>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22" name="!!ph3"/>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23" name="!!ph3a"/>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324" name="!!ph3b"/>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325" name="Google Shape;1325;hc7cc306779174be_8_586"/>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326" name="Google Shape;1326;hc7cc306779174be_8_586"/>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327" name="Google Shape;1327;hc7cc306779174be_8_586"/>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28" name="Google Shape;1328;hc7cc306779174be_8_586"/>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29" name="Google Shape;1329;hc7cc306779174be_8_586"/>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330" name="Google Shape;1330;hc7cc306779174be_8_586"/>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331" name="Google Shape;1331;hc7cc306779174be_8_586"/>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332" name="Google Shape;1332;hc7cc306779174be_8_586"/>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333" name="Google Shape;1333;hc7cc306779174be_8_586"/>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34" name="Google Shape;1334;hc7cc306779174be_8_586"/>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35" name="Google Shape;1335;hc7cc306779174be_8_586"/>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336" name="Google Shape;1336;hc7cc306779174be_8_586"/>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337" name="Google Shape;1337;hc7cc306779174be_8_586"/>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338" name="Google Shape;1338;hc7cc306779174be_8_586"/>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339" name="Google Shape;1339;hc7cc306779174be_8_586"/>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40" name="Google Shape;1340;hc7cc306779174be_8_586"/>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41" name="Google Shape;1341;hc7cc306779174be_8_586"/>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342" name="Google Shape;1342;hc7cc306779174be_8_586"/>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343" name="Google Shape;1343;hc7cc306779174be_8_586"/>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344" name="Google Shape;1344;hc7cc306779174be_8_586"/>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345" name="Google Shape;1345;hc7cc306779174be_8_586"/>
          <p:cNvCxnSpPr/>
          <p:nvPr/>
        </p:nvCxnSpPr>
        <p:spPr>
          <a:xfrm>
            <a:off x="126492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46" name="Google Shape;1346;hc7cc306779174be_8_586"/>
          <p:cNvSpPr/>
          <p:nvPr/>
        </p:nvSpPr>
        <p:spPr>
          <a:xfrm>
            <a:off x="109347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47" name="Google Shape;1347;hc7cc306779174be_8_586"/>
          <p:cNvSpPr txBox="1"/>
          <p:nvPr/>
        </p:nvSpPr>
        <p:spPr>
          <a:xfrm>
            <a:off x="111442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7</a:t>
            </a:r>
            <a:endParaRPr/>
          </a:p>
        </p:txBody>
      </p:sp>
      <p:sp>
        <p:nvSpPr>
          <p:cNvPr id="1348" name="Google Shape;1348;hc7cc306779174be_8_586"/>
          <p:cNvSpPr txBox="1"/>
          <p:nvPr/>
        </p:nvSpPr>
        <p:spPr>
          <a:xfrm>
            <a:off x="111442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Capacitación y cambio</a:t>
            </a:r>
            <a:endParaRPr/>
          </a:p>
        </p:txBody>
      </p:sp>
      <p:sp>
        <p:nvSpPr>
          <p:cNvPr id="1349" name="Google Shape;1349;hc7cc306779174be_8_586"/>
          <p:cNvSpPr txBox="1"/>
          <p:nvPr/>
        </p:nvSpPr>
        <p:spPr>
          <a:xfrm>
            <a:off x="111442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3 CC · 13 PT</a:t>
            </a:r>
            <a:endParaRPr/>
          </a:p>
        </p:txBody>
      </p:sp>
      <p:sp>
        <p:nvSpPr>
          <p:cNvPr id="1350" name="Google Shape;1350;hc7cc306779174be_8_586"/>
          <p:cNvSpPr txBox="1"/>
          <p:nvPr/>
        </p:nvSpPr>
        <p:spPr>
          <a:xfrm>
            <a:off x="111442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4.736 HH</a:t>
            </a:r>
            <a:endParaRPr/>
          </a:p>
        </p:txBody>
      </p:sp>
      <p:cxnSp>
        <p:nvCxnSpPr>
          <p:cNvPr id="1351" name="Google Shape;1351;hc7cc306779174be_8_586"/>
          <p:cNvCxnSpPr/>
          <p:nvPr/>
        </p:nvCxnSpPr>
        <p:spPr>
          <a:xfrm>
            <a:off x="153257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52" name="Google Shape;1352;hc7cc306779174be_8_586"/>
          <p:cNvSpPr/>
          <p:nvPr/>
        </p:nvSpPr>
        <p:spPr>
          <a:xfrm>
            <a:off x="145351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53" name="Google Shape;1353;hc7cc306779174be_8_586"/>
          <p:cNvSpPr txBox="1"/>
          <p:nvPr/>
        </p:nvSpPr>
        <p:spPr>
          <a:xfrm>
            <a:off x="146304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354" name="Google Shape;1354;hc7cc306779174be_8_586"/>
          <p:cNvSpPr txBox="1"/>
          <p:nvPr/>
        </p:nvSpPr>
        <p:spPr>
          <a:xfrm>
            <a:off x="146304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355" name="Google Shape;1355;hc7cc306779174be_8_586"/>
          <p:cNvSpPr txBox="1"/>
          <p:nvPr/>
        </p:nvSpPr>
        <p:spPr>
          <a:xfrm>
            <a:off x="146304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356" name="Google Shape;1356;hc7cc306779174be_8_586"/>
          <p:cNvSpPr txBox="1"/>
          <p:nvPr/>
        </p:nvSpPr>
        <p:spPr>
          <a:xfrm>
            <a:off x="146304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357" name="Google Shape;1357;hc7cc306779174be_8_586"/>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58" name="Google Shape;1358;hc7cc306779174be_8_586"/>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59" name="Google Shape;1359;hc7cc306779174be_8_586"/>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360" name="Google Shape;1360;hc7cc306779174be_8_586"/>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361" name="Google Shape;1361;hc7cc306779174be_8_586"/>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362" name="Google Shape;1362;hc7cc306779174be_8_586"/>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363" name="Google Shape;1363;hc7cc306779174be_8_586"/>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7 · CAPACITACIÓN Y CAMBIO · 3 CUENTAS DE CONTROL</a:t>
            </a:r>
            <a:endParaRPr/>
          </a:p>
        </p:txBody>
      </p:sp>
      <p:sp>
        <p:nvSpPr>
          <p:cNvPr id="1364" name="Google Shape;1364;hc7cc306779174be_8_586"/>
          <p:cNvSpPr/>
          <p:nvPr/>
        </p:nvSpPr>
        <p:spPr>
          <a:xfrm>
            <a:off x="82296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7.1 Capacitación por roles</a:t>
            </a:r>
            <a:endParaRPr/>
          </a:p>
        </p:txBody>
      </p:sp>
      <p:sp>
        <p:nvSpPr>
          <p:cNvPr id="1365" name="Google Shape;1365;hc7cc306779174be_8_586"/>
          <p:cNvSpPr/>
          <p:nvPr/>
        </p:nvSpPr>
        <p:spPr>
          <a:xfrm>
            <a:off x="641604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7.2 Gestión del cambio</a:t>
            </a:r>
            <a:endParaRPr/>
          </a:p>
        </p:txBody>
      </p:sp>
      <p:sp>
        <p:nvSpPr>
          <p:cNvPr id="1366" name="Google Shape;1366;hc7cc306779174be_8_586"/>
          <p:cNvSpPr/>
          <p:nvPr/>
        </p:nvSpPr>
        <p:spPr>
          <a:xfrm>
            <a:off x="12009120" y="7360920"/>
            <a:ext cx="5455919"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7.3 Evaluaciones y certificaciones</a:t>
            </a:r>
            <a:endParaRPr/>
          </a:p>
        </p:txBody>
      </p:sp>
      <p:sp>
        <p:nvSpPr>
          <p:cNvPr id="136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4" name="Google Shape;1374;hc7cc306779174be_8_656"/>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375"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6"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377"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378" name="Google Shape;1378;hc7cc306779174be_8_656"/>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79" name="Google Shape;1379;hc7cc306779174be_8_656"/>
          <p:cNvCxnSpPr/>
          <p:nvPr/>
        </p:nvCxnSpPr>
        <p:spPr>
          <a:xfrm>
            <a:off x="1209675" y="3095625"/>
            <a:ext cx="1586865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380" name="Google Shape;1380;hc7cc306779174be_8_656"/>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81"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82"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383" name="Google Shape;1383;hc7cc306779174be_8_656"/>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384"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385" name="Google Shape;1385;hc7cc306779174be_8_656"/>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386" name="Google Shape;1386;hc7cc306779174be_8_656"/>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87" name="!!ph2"/>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88" name="Google Shape;1388;hc7cc306779174be_8_656"/>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389" name="!!ph2b"/>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390" name="Google Shape;1390;hc7cc306779174be_8_656"/>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391" name="Google Shape;1391;hc7cc306779174be_8_656"/>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392" name="Google Shape;1392;hc7cc306779174be_8_656"/>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93" name="Google Shape;1393;hc7cc306779174be_8_656"/>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394" name="!!ph3a"/>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395" name="Google Shape;1395;hc7cc306779174be_8_656"/>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396" name="Google Shape;1396;hc7cc306779174be_8_656"/>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397" name="Google Shape;1397;hc7cc306779174be_8_656"/>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398" name="Google Shape;1398;hc7cc306779174be_8_656"/>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399" name="Google Shape;1399;hc7cc306779174be_8_656"/>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00" name="Google Shape;1400;hc7cc306779174be_8_656"/>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401" name="Google Shape;1401;hc7cc306779174be_8_656"/>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402" name="Google Shape;1402;hc7cc306779174be_8_656"/>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403" name="Google Shape;1403;hc7cc306779174be_8_656"/>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404" name="Google Shape;1404;hc7cc306779174be_8_656"/>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05" name="Google Shape;1405;hc7cc306779174be_8_656"/>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06" name="Google Shape;1406;hc7cc306779174be_8_656"/>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407" name="Google Shape;1407;hc7cc306779174be_8_656"/>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408" name="Google Shape;1408;hc7cc306779174be_8_656"/>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409" name="Google Shape;1409;hc7cc306779174be_8_656"/>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410" name="Google Shape;1410;hc7cc306779174be_8_656"/>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11" name="Google Shape;1411;hc7cc306779174be_8_656"/>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12" name="Google Shape;1412;hc7cc306779174be_8_656"/>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413" name="Google Shape;1413;hc7cc306779174be_8_656"/>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414" name="Google Shape;1414;hc7cc306779174be_8_656"/>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415" name="Google Shape;1415;hc7cc306779174be_8_656"/>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416" name="Google Shape;1416;hc7cc306779174be_8_656"/>
          <p:cNvCxnSpPr/>
          <p:nvPr/>
        </p:nvCxnSpPr>
        <p:spPr>
          <a:xfrm>
            <a:off x="11725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17" name="Google Shape;1417;hc7cc306779174be_8_656"/>
          <p:cNvSpPr/>
          <p:nvPr/>
        </p:nvSpPr>
        <p:spPr>
          <a:xfrm>
            <a:off x="10934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18" name="Google Shape;1418;hc7cc306779174be_8_656"/>
          <p:cNvSpPr txBox="1"/>
          <p:nvPr/>
        </p:nvSpPr>
        <p:spPr>
          <a:xfrm>
            <a:off x="11029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419" name="Google Shape;1419;hc7cc306779174be_8_656"/>
          <p:cNvSpPr txBox="1"/>
          <p:nvPr/>
        </p:nvSpPr>
        <p:spPr>
          <a:xfrm>
            <a:off x="11029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420" name="Google Shape;1420;hc7cc306779174be_8_656"/>
          <p:cNvSpPr txBox="1"/>
          <p:nvPr/>
        </p:nvSpPr>
        <p:spPr>
          <a:xfrm>
            <a:off x="11029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421" name="Google Shape;1421;hc7cc306779174be_8_656"/>
          <p:cNvSpPr txBox="1"/>
          <p:nvPr/>
        </p:nvSpPr>
        <p:spPr>
          <a:xfrm>
            <a:off x="11029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422" name="Google Shape;1422;hc7cc306779174be_8_656"/>
          <p:cNvCxnSpPr/>
          <p:nvPr/>
        </p:nvCxnSpPr>
        <p:spPr>
          <a:xfrm>
            <a:off x="144018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23" name="Google Shape;1423;hc7cc306779174be_8_656"/>
          <p:cNvSpPr/>
          <p:nvPr/>
        </p:nvSpPr>
        <p:spPr>
          <a:xfrm>
            <a:off x="126873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24" name="Google Shape;1424;hc7cc306779174be_8_656"/>
          <p:cNvSpPr txBox="1"/>
          <p:nvPr/>
        </p:nvSpPr>
        <p:spPr>
          <a:xfrm>
            <a:off x="128968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8</a:t>
            </a:r>
            <a:endParaRPr/>
          </a:p>
        </p:txBody>
      </p:sp>
      <p:sp>
        <p:nvSpPr>
          <p:cNvPr id="1425" name="Google Shape;1425;hc7cc306779174be_8_656"/>
          <p:cNvSpPr txBox="1"/>
          <p:nvPr/>
        </p:nvSpPr>
        <p:spPr>
          <a:xfrm>
            <a:off x="128968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Operación y soporte</a:t>
            </a:r>
            <a:endParaRPr/>
          </a:p>
        </p:txBody>
      </p:sp>
      <p:sp>
        <p:nvSpPr>
          <p:cNvPr id="1426" name="Google Shape;1426;hc7cc306779174be_8_656"/>
          <p:cNvSpPr txBox="1"/>
          <p:nvPr/>
        </p:nvSpPr>
        <p:spPr>
          <a:xfrm>
            <a:off x="128968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5 CC · 26 PT</a:t>
            </a:r>
            <a:endParaRPr/>
          </a:p>
        </p:txBody>
      </p:sp>
      <p:sp>
        <p:nvSpPr>
          <p:cNvPr id="1427" name="Google Shape;1427;hc7cc306779174be_8_656"/>
          <p:cNvSpPr txBox="1"/>
          <p:nvPr/>
        </p:nvSpPr>
        <p:spPr>
          <a:xfrm>
            <a:off x="128968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129.879 HH</a:t>
            </a:r>
            <a:endParaRPr/>
          </a:p>
        </p:txBody>
      </p:sp>
      <p:cxnSp>
        <p:nvCxnSpPr>
          <p:cNvPr id="1428" name="Google Shape;1428;hc7cc306779174be_8_656"/>
          <p:cNvCxnSpPr/>
          <p:nvPr/>
        </p:nvCxnSpPr>
        <p:spPr>
          <a:xfrm>
            <a:off x="1707832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29" name="Google Shape;1429;hc7cc306779174be_8_656"/>
          <p:cNvSpPr/>
          <p:nvPr/>
        </p:nvSpPr>
        <p:spPr>
          <a:xfrm>
            <a:off x="1628775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30" name="Google Shape;1430;hc7cc306779174be_8_656"/>
          <p:cNvSpPr txBox="1"/>
          <p:nvPr/>
        </p:nvSpPr>
        <p:spPr>
          <a:xfrm>
            <a:off x="1638300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9</a:t>
            </a:r>
            <a:endParaRPr/>
          </a:p>
        </p:txBody>
      </p:sp>
      <p:sp>
        <p:nvSpPr>
          <p:cNvPr id="1431" name="Google Shape;1431;hc7cc306779174be_8_656"/>
          <p:cNvSpPr txBox="1"/>
          <p:nvPr/>
        </p:nvSpPr>
        <p:spPr>
          <a:xfrm>
            <a:off x="1638300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Cierre</a:t>
            </a:r>
            <a:endParaRPr/>
          </a:p>
        </p:txBody>
      </p:sp>
      <p:sp>
        <p:nvSpPr>
          <p:cNvPr id="1432" name="Google Shape;1432;hc7cc306779174be_8_656"/>
          <p:cNvSpPr txBox="1"/>
          <p:nvPr/>
        </p:nvSpPr>
        <p:spPr>
          <a:xfrm>
            <a:off x="1638300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2 CC · 4 PT</a:t>
            </a:r>
            <a:endParaRPr/>
          </a:p>
        </p:txBody>
      </p:sp>
      <p:sp>
        <p:nvSpPr>
          <p:cNvPr id="1433" name="Google Shape;1433;hc7cc306779174be_8_656"/>
          <p:cNvSpPr txBox="1"/>
          <p:nvPr/>
        </p:nvSpPr>
        <p:spPr>
          <a:xfrm>
            <a:off x="1638300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320 HH</a:t>
            </a:r>
            <a:endParaRPr/>
          </a:p>
        </p:txBody>
      </p:sp>
      <p:sp>
        <p:nvSpPr>
          <p:cNvPr id="1434" name="Google Shape;1434;hc7cc306779174be_8_656"/>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8 · OPERACIÓN Y SOPORTE · 5 CUENTAS DE CONTROL</a:t>
            </a:r>
            <a:endParaRPr/>
          </a:p>
        </p:txBody>
      </p:sp>
      <p:sp>
        <p:nvSpPr>
          <p:cNvPr id="1435" name="Google Shape;1435;hc7cc306779174be_8_656"/>
          <p:cNvSpPr/>
          <p:nvPr/>
        </p:nvSpPr>
        <p:spPr>
          <a:xfrm>
            <a:off x="822960"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8.1 Servicios de operación</a:t>
            </a:r>
            <a:endParaRPr/>
          </a:p>
        </p:txBody>
      </p:sp>
      <p:sp>
        <p:nvSpPr>
          <p:cNvPr id="1436" name="Google Shape;1436;hc7cc306779174be_8_656"/>
          <p:cNvSpPr/>
          <p:nvPr/>
        </p:nvSpPr>
        <p:spPr>
          <a:xfrm>
            <a:off x="4178807"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8.2 Mantenimiento</a:t>
            </a:r>
            <a:endParaRPr/>
          </a:p>
        </p:txBody>
      </p:sp>
      <p:sp>
        <p:nvSpPr>
          <p:cNvPr id="1437" name="Google Shape;1437;hc7cc306779174be_8_656"/>
          <p:cNvSpPr/>
          <p:nvPr/>
        </p:nvSpPr>
        <p:spPr>
          <a:xfrm>
            <a:off x="7534655"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8.3 Innovaciones</a:t>
            </a:r>
            <a:endParaRPr/>
          </a:p>
        </p:txBody>
      </p:sp>
      <p:sp>
        <p:nvSpPr>
          <p:cNvPr id="1438" name="Google Shape;1438;hc7cc306779174be_8_656"/>
          <p:cNvSpPr/>
          <p:nvPr/>
        </p:nvSpPr>
        <p:spPr>
          <a:xfrm>
            <a:off x="10890503"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8.4 Informes periódicos</a:t>
            </a:r>
            <a:endParaRPr/>
          </a:p>
        </p:txBody>
      </p:sp>
      <p:sp>
        <p:nvSpPr>
          <p:cNvPr id="1439" name="Google Shape;1439;hc7cc306779174be_8_656"/>
          <p:cNvSpPr/>
          <p:nvPr/>
        </p:nvSpPr>
        <p:spPr>
          <a:xfrm>
            <a:off x="14246351" y="7360920"/>
            <a:ext cx="3218687"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8.5 Transferencia</a:t>
            </a:r>
            <a:endParaRPr/>
          </a:p>
        </p:txBody>
      </p:sp>
      <p:sp>
        <p:nvSpPr>
          <p:cNvPr id="144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7" name="Google Shape;1447;hc7cc306779174be_8_728"/>
          <p:cNvSpPr txBox="1"/>
          <p:nvPr/>
        </p:nvSpPr>
        <p:spPr>
          <a:xfrm>
            <a:off x="3619500" y="647700"/>
            <a:ext cx="11049000" cy="704850"/>
          </a:xfrm>
          <a:prstGeom prst="rect">
            <a:avLst/>
          </a:prstGeom>
          <a:noFill/>
          <a:ln>
            <a:noFill/>
          </a:ln>
        </p:spPr>
        <p:txBody>
          <a:bodyPr anchorCtr="0" anchor="t" bIns="0" lIns="0" spcFirstLastPara="1" rIns="0" wrap="square" tIns="0">
            <a:spAutoFit/>
          </a:bodyPr>
          <a:lstStyle/>
          <a:p>
            <a:pPr indent="0" lvl="0" marL="0" marR="0" rtl="0" algn="ctr">
              <a:lnSpc>
                <a:spcPct val="292277"/>
              </a:lnSpc>
              <a:spcBef>
                <a:spcPts val="0"/>
              </a:spcBef>
              <a:spcAft>
                <a:spcPts val="0"/>
              </a:spcAft>
              <a:buNone/>
            </a:pPr>
            <a:r>
              <a:rPr b="1" i="0" lang="en-US" sz="3600" u="none" cap="none" strike="noStrike">
                <a:solidFill>
                  <a:srgbClr val="111111"/>
                </a:solidFill>
                <a:latin typeface="Inter SemiBold"/>
                <a:ea typeface="Inter SemiBold"/>
                <a:cs typeface="Inter SemiBold"/>
                <a:sym typeface="Inter SemiBold"/>
              </a:rPr>
              <a:t>EDT: así se organiza el trabajo</a:t>
            </a:r>
            <a:endParaRPr/>
          </a:p>
        </p:txBody>
      </p:sp>
      <p:sp>
        <p:nvSpPr>
          <p:cNvPr id="1448"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9"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450" name="!!edt_root"/>
          <p:cNvSpPr/>
          <p:nvPr/>
        </p:nvSpPr>
        <p:spPr>
          <a:xfrm>
            <a:off x="7048500" y="2095500"/>
            <a:ext cx="4191000" cy="57150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i="0" lang="en-US" sz="1700" u="none" cap="none" strike="noStrike">
                <a:solidFill>
                  <a:srgbClr val="FFFFFF"/>
                </a:solidFill>
                <a:latin typeface="Inter SemiBold"/>
                <a:ea typeface="Inter SemiBold"/>
                <a:cs typeface="Inter SemiBold"/>
                <a:sym typeface="Inter SemiBold"/>
              </a:rPr>
              <a:t>Proyecto LafroX · 56 meses</a:t>
            </a:r>
            <a:endParaRPr/>
          </a:p>
        </p:txBody>
      </p:sp>
      <p:cxnSp>
        <p:nvCxnSpPr>
          <p:cNvPr id="1451" name="Google Shape;1451;hc7cc306779174be_8_728"/>
          <p:cNvCxnSpPr/>
          <p:nvPr/>
        </p:nvCxnSpPr>
        <p:spPr>
          <a:xfrm>
            <a:off x="9144000" y="2667000"/>
            <a:ext cx="0" cy="4286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452" name="Google Shape;1452;hc7cc306779174be_8_728"/>
          <p:cNvCxnSpPr/>
          <p:nvPr/>
        </p:nvCxnSpPr>
        <p:spPr>
          <a:xfrm>
            <a:off x="1209675" y="3095625"/>
            <a:ext cx="14944725"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cxnSp>
        <p:nvCxnSpPr>
          <p:cNvPr id="1453" name="Google Shape;1453;hc7cc306779174be_8_728"/>
          <p:cNvCxnSpPr/>
          <p:nvPr/>
        </p:nvCxnSpPr>
        <p:spPr>
          <a:xfrm>
            <a:off x="1209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54" name="!!ph1"/>
          <p:cNvSpPr/>
          <p:nvPr/>
        </p:nvSpPr>
        <p:spPr>
          <a:xfrm>
            <a:off x="419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55" name="!!ph1a"/>
          <p:cNvSpPr txBox="1"/>
          <p:nvPr/>
        </p:nvSpPr>
        <p:spPr>
          <a:xfrm>
            <a:off x="514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1</a:t>
            </a:r>
            <a:endParaRPr/>
          </a:p>
        </p:txBody>
      </p:sp>
      <p:sp>
        <p:nvSpPr>
          <p:cNvPr id="1456" name="Google Shape;1456;hc7cc306779174be_8_728"/>
          <p:cNvSpPr txBox="1"/>
          <p:nvPr/>
        </p:nvSpPr>
        <p:spPr>
          <a:xfrm>
            <a:off x="514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Inicio</a:t>
            </a:r>
            <a:endParaRPr/>
          </a:p>
        </p:txBody>
      </p:sp>
      <p:sp>
        <p:nvSpPr>
          <p:cNvPr id="1457" name="!!ph1c"/>
          <p:cNvSpPr txBox="1"/>
          <p:nvPr/>
        </p:nvSpPr>
        <p:spPr>
          <a:xfrm>
            <a:off x="514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9 CC · 35 PT</a:t>
            </a:r>
            <a:endParaRPr/>
          </a:p>
        </p:txBody>
      </p:sp>
      <p:sp>
        <p:nvSpPr>
          <p:cNvPr id="1458" name="!!ph1d"/>
          <p:cNvSpPr txBox="1"/>
          <p:nvPr/>
        </p:nvSpPr>
        <p:spPr>
          <a:xfrm>
            <a:off x="514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6.920 HH</a:t>
            </a:r>
            <a:endParaRPr/>
          </a:p>
        </p:txBody>
      </p:sp>
      <p:cxnSp>
        <p:nvCxnSpPr>
          <p:cNvPr id="1459" name="Google Shape;1459;hc7cc306779174be_8_728"/>
          <p:cNvCxnSpPr/>
          <p:nvPr/>
        </p:nvCxnSpPr>
        <p:spPr>
          <a:xfrm>
            <a:off x="2962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60" name="Google Shape;1460;hc7cc306779174be_8_728"/>
          <p:cNvSpPr/>
          <p:nvPr/>
        </p:nvSpPr>
        <p:spPr>
          <a:xfrm>
            <a:off x="2171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61" name="!!ph2a"/>
          <p:cNvSpPr txBox="1"/>
          <p:nvPr/>
        </p:nvSpPr>
        <p:spPr>
          <a:xfrm>
            <a:off x="2266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2</a:t>
            </a:r>
            <a:endParaRPr/>
          </a:p>
        </p:txBody>
      </p:sp>
      <p:sp>
        <p:nvSpPr>
          <p:cNvPr id="1462" name="Google Shape;1462;hc7cc306779174be_8_728"/>
          <p:cNvSpPr txBox="1"/>
          <p:nvPr/>
        </p:nvSpPr>
        <p:spPr>
          <a:xfrm>
            <a:off x="2266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Elaboración</a:t>
            </a:r>
            <a:endParaRPr/>
          </a:p>
        </p:txBody>
      </p:sp>
      <p:sp>
        <p:nvSpPr>
          <p:cNvPr id="1463" name="Google Shape;1463;hc7cc306779174be_8_728"/>
          <p:cNvSpPr txBox="1"/>
          <p:nvPr/>
        </p:nvSpPr>
        <p:spPr>
          <a:xfrm>
            <a:off x="2266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18 PT</a:t>
            </a:r>
            <a:endParaRPr/>
          </a:p>
        </p:txBody>
      </p:sp>
      <p:sp>
        <p:nvSpPr>
          <p:cNvPr id="1464" name="Google Shape;1464;hc7cc306779174be_8_728"/>
          <p:cNvSpPr txBox="1"/>
          <p:nvPr/>
        </p:nvSpPr>
        <p:spPr>
          <a:xfrm>
            <a:off x="2266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4.320 HH</a:t>
            </a:r>
            <a:endParaRPr/>
          </a:p>
        </p:txBody>
      </p:sp>
      <p:cxnSp>
        <p:nvCxnSpPr>
          <p:cNvPr id="1465" name="Google Shape;1465;hc7cc306779174be_8_728"/>
          <p:cNvCxnSpPr/>
          <p:nvPr/>
        </p:nvCxnSpPr>
        <p:spPr>
          <a:xfrm>
            <a:off x="4714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66" name="Google Shape;1466;hc7cc306779174be_8_728"/>
          <p:cNvSpPr/>
          <p:nvPr/>
        </p:nvSpPr>
        <p:spPr>
          <a:xfrm>
            <a:off x="3924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67" name="Google Shape;1467;hc7cc306779174be_8_728"/>
          <p:cNvSpPr txBox="1"/>
          <p:nvPr/>
        </p:nvSpPr>
        <p:spPr>
          <a:xfrm>
            <a:off x="4019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3</a:t>
            </a:r>
            <a:endParaRPr/>
          </a:p>
        </p:txBody>
      </p:sp>
      <p:sp>
        <p:nvSpPr>
          <p:cNvPr id="1468" name="Google Shape;1468;hc7cc306779174be_8_728"/>
          <p:cNvSpPr txBox="1"/>
          <p:nvPr/>
        </p:nvSpPr>
        <p:spPr>
          <a:xfrm>
            <a:off x="4019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Construcción</a:t>
            </a:r>
            <a:endParaRPr/>
          </a:p>
        </p:txBody>
      </p:sp>
      <p:sp>
        <p:nvSpPr>
          <p:cNvPr id="1469" name="Google Shape;1469;hc7cc306779174be_8_728"/>
          <p:cNvSpPr txBox="1"/>
          <p:nvPr/>
        </p:nvSpPr>
        <p:spPr>
          <a:xfrm>
            <a:off x="4019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11 CC · 79 PT</a:t>
            </a:r>
            <a:endParaRPr/>
          </a:p>
        </p:txBody>
      </p:sp>
      <p:sp>
        <p:nvSpPr>
          <p:cNvPr id="1470" name="Google Shape;1470;hc7cc306779174be_8_728"/>
          <p:cNvSpPr txBox="1"/>
          <p:nvPr/>
        </p:nvSpPr>
        <p:spPr>
          <a:xfrm>
            <a:off x="4019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33.280 HH</a:t>
            </a:r>
            <a:endParaRPr/>
          </a:p>
        </p:txBody>
      </p:sp>
      <p:cxnSp>
        <p:nvCxnSpPr>
          <p:cNvPr id="1471" name="Google Shape;1471;hc7cc306779174be_8_728"/>
          <p:cNvCxnSpPr/>
          <p:nvPr/>
        </p:nvCxnSpPr>
        <p:spPr>
          <a:xfrm>
            <a:off x="64674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72" name="Google Shape;1472;hc7cc306779174be_8_728"/>
          <p:cNvSpPr/>
          <p:nvPr/>
        </p:nvSpPr>
        <p:spPr>
          <a:xfrm>
            <a:off x="56769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73" name="Google Shape;1473;hc7cc306779174be_8_728"/>
          <p:cNvSpPr txBox="1"/>
          <p:nvPr/>
        </p:nvSpPr>
        <p:spPr>
          <a:xfrm>
            <a:off x="57721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4</a:t>
            </a:r>
            <a:endParaRPr/>
          </a:p>
        </p:txBody>
      </p:sp>
      <p:sp>
        <p:nvSpPr>
          <p:cNvPr id="1474" name="Google Shape;1474;hc7cc306779174be_8_728"/>
          <p:cNvSpPr txBox="1"/>
          <p:nvPr/>
        </p:nvSpPr>
        <p:spPr>
          <a:xfrm>
            <a:off x="57721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Transición</a:t>
            </a:r>
            <a:endParaRPr/>
          </a:p>
        </p:txBody>
      </p:sp>
      <p:sp>
        <p:nvSpPr>
          <p:cNvPr id="1475" name="Google Shape;1475;hc7cc306779174be_8_728"/>
          <p:cNvSpPr txBox="1"/>
          <p:nvPr/>
        </p:nvSpPr>
        <p:spPr>
          <a:xfrm>
            <a:off x="57721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10 PT</a:t>
            </a:r>
            <a:endParaRPr/>
          </a:p>
        </p:txBody>
      </p:sp>
      <p:sp>
        <p:nvSpPr>
          <p:cNvPr id="1476" name="Google Shape;1476;hc7cc306779174be_8_728"/>
          <p:cNvSpPr txBox="1"/>
          <p:nvPr/>
        </p:nvSpPr>
        <p:spPr>
          <a:xfrm>
            <a:off x="57721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20.672 HH</a:t>
            </a:r>
            <a:endParaRPr/>
          </a:p>
        </p:txBody>
      </p:sp>
      <p:cxnSp>
        <p:nvCxnSpPr>
          <p:cNvPr id="1477" name="Google Shape;1477;hc7cc306779174be_8_728"/>
          <p:cNvCxnSpPr/>
          <p:nvPr/>
        </p:nvCxnSpPr>
        <p:spPr>
          <a:xfrm>
            <a:off x="82200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78" name="Google Shape;1478;hc7cc306779174be_8_728"/>
          <p:cNvSpPr/>
          <p:nvPr/>
        </p:nvSpPr>
        <p:spPr>
          <a:xfrm>
            <a:off x="74295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79" name="Google Shape;1479;hc7cc306779174be_8_728"/>
          <p:cNvSpPr txBox="1"/>
          <p:nvPr/>
        </p:nvSpPr>
        <p:spPr>
          <a:xfrm>
            <a:off x="75247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5</a:t>
            </a:r>
            <a:endParaRPr/>
          </a:p>
        </p:txBody>
      </p:sp>
      <p:sp>
        <p:nvSpPr>
          <p:cNvPr id="1480" name="Google Shape;1480;hc7cc306779174be_8_728"/>
          <p:cNvSpPr txBox="1"/>
          <p:nvPr/>
        </p:nvSpPr>
        <p:spPr>
          <a:xfrm>
            <a:off x="75247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Adquisiciones</a:t>
            </a:r>
            <a:endParaRPr/>
          </a:p>
        </p:txBody>
      </p:sp>
      <p:sp>
        <p:nvSpPr>
          <p:cNvPr id="1481" name="Google Shape;1481;hc7cc306779174be_8_728"/>
          <p:cNvSpPr txBox="1"/>
          <p:nvPr/>
        </p:nvSpPr>
        <p:spPr>
          <a:xfrm>
            <a:off x="75247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4 CC · 13 PT</a:t>
            </a:r>
            <a:endParaRPr/>
          </a:p>
        </p:txBody>
      </p:sp>
      <p:sp>
        <p:nvSpPr>
          <p:cNvPr id="1482" name="Google Shape;1482;hc7cc306779174be_8_728"/>
          <p:cNvSpPr txBox="1"/>
          <p:nvPr/>
        </p:nvSpPr>
        <p:spPr>
          <a:xfrm>
            <a:off x="75247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1.040 HH</a:t>
            </a:r>
            <a:endParaRPr/>
          </a:p>
        </p:txBody>
      </p:sp>
      <p:cxnSp>
        <p:nvCxnSpPr>
          <p:cNvPr id="1483" name="Google Shape;1483;hc7cc306779174be_8_728"/>
          <p:cNvCxnSpPr/>
          <p:nvPr/>
        </p:nvCxnSpPr>
        <p:spPr>
          <a:xfrm>
            <a:off x="99726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84" name="Google Shape;1484;hc7cc306779174be_8_728"/>
          <p:cNvSpPr/>
          <p:nvPr/>
        </p:nvSpPr>
        <p:spPr>
          <a:xfrm>
            <a:off x="91821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85" name="Google Shape;1485;hc7cc306779174be_8_728"/>
          <p:cNvSpPr txBox="1"/>
          <p:nvPr/>
        </p:nvSpPr>
        <p:spPr>
          <a:xfrm>
            <a:off x="92773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6</a:t>
            </a:r>
            <a:endParaRPr/>
          </a:p>
        </p:txBody>
      </p:sp>
      <p:sp>
        <p:nvSpPr>
          <p:cNvPr id="1486" name="Google Shape;1486;hc7cc306779174be_8_728"/>
          <p:cNvSpPr txBox="1"/>
          <p:nvPr/>
        </p:nvSpPr>
        <p:spPr>
          <a:xfrm>
            <a:off x="92773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Infraestructura</a:t>
            </a:r>
            <a:endParaRPr/>
          </a:p>
        </p:txBody>
      </p:sp>
      <p:sp>
        <p:nvSpPr>
          <p:cNvPr id="1487" name="Google Shape;1487;hc7cc306779174be_8_728"/>
          <p:cNvSpPr txBox="1"/>
          <p:nvPr/>
        </p:nvSpPr>
        <p:spPr>
          <a:xfrm>
            <a:off x="92773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6 CC · 24 PT</a:t>
            </a:r>
            <a:endParaRPr/>
          </a:p>
        </p:txBody>
      </p:sp>
      <p:sp>
        <p:nvSpPr>
          <p:cNvPr id="1488" name="Google Shape;1488;hc7cc306779174be_8_728"/>
          <p:cNvSpPr txBox="1"/>
          <p:nvPr/>
        </p:nvSpPr>
        <p:spPr>
          <a:xfrm>
            <a:off x="92773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3.840 HH</a:t>
            </a:r>
            <a:endParaRPr/>
          </a:p>
        </p:txBody>
      </p:sp>
      <p:cxnSp>
        <p:nvCxnSpPr>
          <p:cNvPr id="1489" name="Google Shape;1489;hc7cc306779174be_8_728"/>
          <p:cNvCxnSpPr/>
          <p:nvPr/>
        </p:nvCxnSpPr>
        <p:spPr>
          <a:xfrm>
            <a:off x="117252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90" name="Google Shape;1490;hc7cc306779174be_8_728"/>
          <p:cNvSpPr/>
          <p:nvPr/>
        </p:nvSpPr>
        <p:spPr>
          <a:xfrm>
            <a:off x="109347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91" name="Google Shape;1491;hc7cc306779174be_8_728"/>
          <p:cNvSpPr txBox="1"/>
          <p:nvPr/>
        </p:nvSpPr>
        <p:spPr>
          <a:xfrm>
            <a:off x="110299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7</a:t>
            </a:r>
            <a:endParaRPr/>
          </a:p>
        </p:txBody>
      </p:sp>
      <p:sp>
        <p:nvSpPr>
          <p:cNvPr id="1492" name="Google Shape;1492;hc7cc306779174be_8_728"/>
          <p:cNvSpPr txBox="1"/>
          <p:nvPr/>
        </p:nvSpPr>
        <p:spPr>
          <a:xfrm>
            <a:off x="110299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Capacitación y cambio</a:t>
            </a:r>
            <a:endParaRPr/>
          </a:p>
        </p:txBody>
      </p:sp>
      <p:sp>
        <p:nvSpPr>
          <p:cNvPr id="1493" name="Google Shape;1493;hc7cc306779174be_8_728"/>
          <p:cNvSpPr txBox="1"/>
          <p:nvPr/>
        </p:nvSpPr>
        <p:spPr>
          <a:xfrm>
            <a:off x="110299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3 CC · 13 PT</a:t>
            </a:r>
            <a:endParaRPr/>
          </a:p>
        </p:txBody>
      </p:sp>
      <p:sp>
        <p:nvSpPr>
          <p:cNvPr id="1494" name="Google Shape;1494;hc7cc306779174be_8_728"/>
          <p:cNvSpPr txBox="1"/>
          <p:nvPr/>
        </p:nvSpPr>
        <p:spPr>
          <a:xfrm>
            <a:off x="110299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4.736 HH</a:t>
            </a:r>
            <a:endParaRPr/>
          </a:p>
        </p:txBody>
      </p:sp>
      <p:cxnSp>
        <p:nvCxnSpPr>
          <p:cNvPr id="1495" name="Google Shape;1495;hc7cc306779174be_8_728"/>
          <p:cNvCxnSpPr/>
          <p:nvPr/>
        </p:nvCxnSpPr>
        <p:spPr>
          <a:xfrm>
            <a:off x="13477875" y="3095625"/>
            <a:ext cx="0" cy="95250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496" name="Google Shape;1496;hc7cc306779174be_8_728"/>
          <p:cNvSpPr/>
          <p:nvPr/>
        </p:nvSpPr>
        <p:spPr>
          <a:xfrm>
            <a:off x="12687300" y="4048125"/>
            <a:ext cx="1581150" cy="219075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497" name="Google Shape;1497;hc7cc306779174be_8_728"/>
          <p:cNvSpPr txBox="1"/>
          <p:nvPr/>
        </p:nvSpPr>
        <p:spPr>
          <a:xfrm>
            <a:off x="12782550" y="4191000"/>
            <a:ext cx="13906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C7C7"/>
                </a:solidFill>
                <a:latin typeface="Inter SemiBold"/>
                <a:ea typeface="Inter SemiBold"/>
                <a:cs typeface="Inter SemiBold"/>
                <a:sym typeface="Inter SemiBold"/>
              </a:rPr>
              <a:t>Fase 8</a:t>
            </a:r>
            <a:endParaRPr/>
          </a:p>
        </p:txBody>
      </p:sp>
      <p:sp>
        <p:nvSpPr>
          <p:cNvPr id="1498" name="Google Shape;1498;hc7cc306779174be_8_728"/>
          <p:cNvSpPr txBox="1"/>
          <p:nvPr/>
        </p:nvSpPr>
        <p:spPr>
          <a:xfrm>
            <a:off x="12782550" y="4533900"/>
            <a:ext cx="1390650" cy="723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C7C7"/>
                </a:solidFill>
                <a:latin typeface="Inter SemiBold"/>
                <a:ea typeface="Inter SemiBold"/>
                <a:cs typeface="Inter SemiBold"/>
                <a:sym typeface="Inter SemiBold"/>
              </a:rPr>
              <a:t>Operación y soporte</a:t>
            </a:r>
            <a:endParaRPr/>
          </a:p>
        </p:txBody>
      </p:sp>
      <p:sp>
        <p:nvSpPr>
          <p:cNvPr id="1499" name="Google Shape;1499;hc7cc306779174be_8_728"/>
          <p:cNvSpPr txBox="1"/>
          <p:nvPr/>
        </p:nvSpPr>
        <p:spPr>
          <a:xfrm>
            <a:off x="12782550" y="5467350"/>
            <a:ext cx="13906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7C7C7"/>
                </a:solidFill>
                <a:latin typeface="Inter"/>
                <a:ea typeface="Inter"/>
                <a:cs typeface="Inter"/>
                <a:sym typeface="Inter"/>
              </a:rPr>
              <a:t>5 CC · 26 PT</a:t>
            </a:r>
            <a:endParaRPr/>
          </a:p>
        </p:txBody>
      </p:sp>
      <p:sp>
        <p:nvSpPr>
          <p:cNvPr id="1500" name="Google Shape;1500;hc7cc306779174be_8_728"/>
          <p:cNvSpPr txBox="1"/>
          <p:nvPr/>
        </p:nvSpPr>
        <p:spPr>
          <a:xfrm>
            <a:off x="12782550" y="5829300"/>
            <a:ext cx="139065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C7C7"/>
                </a:solidFill>
                <a:latin typeface="Inter SemiBold"/>
                <a:ea typeface="Inter SemiBold"/>
                <a:cs typeface="Inter SemiBold"/>
                <a:sym typeface="Inter SemiBold"/>
              </a:rPr>
              <a:t>129.879 HH</a:t>
            </a:r>
            <a:endParaRPr/>
          </a:p>
        </p:txBody>
      </p:sp>
      <p:cxnSp>
        <p:nvCxnSpPr>
          <p:cNvPr id="1501" name="Google Shape;1501;hc7cc306779174be_8_728"/>
          <p:cNvCxnSpPr/>
          <p:nvPr/>
        </p:nvCxnSpPr>
        <p:spPr>
          <a:xfrm>
            <a:off x="16154400" y="3095625"/>
            <a:ext cx="0" cy="238125"/>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502" name="Google Shape;1502;hc7cc306779174be_8_728"/>
          <p:cNvSpPr/>
          <p:nvPr/>
        </p:nvSpPr>
        <p:spPr>
          <a:xfrm>
            <a:off x="14439900" y="3333750"/>
            <a:ext cx="3429000" cy="314325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503" name="Google Shape;1503;hc7cc306779174be_8_728"/>
          <p:cNvSpPr txBox="1"/>
          <p:nvPr/>
        </p:nvSpPr>
        <p:spPr>
          <a:xfrm>
            <a:off x="14649450" y="3543300"/>
            <a:ext cx="30099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Inter SemiBold"/>
                <a:ea typeface="Inter SemiBold"/>
                <a:cs typeface="Inter SemiBold"/>
                <a:sym typeface="Inter SemiBold"/>
              </a:rPr>
              <a:t>Fase 9</a:t>
            </a:r>
            <a:endParaRPr/>
          </a:p>
        </p:txBody>
      </p:sp>
      <p:sp>
        <p:nvSpPr>
          <p:cNvPr id="1504" name="Google Shape;1504;hc7cc306779174be_8_728"/>
          <p:cNvSpPr txBox="1"/>
          <p:nvPr/>
        </p:nvSpPr>
        <p:spPr>
          <a:xfrm>
            <a:off x="14649450" y="4000500"/>
            <a:ext cx="3009900" cy="1190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FFFFFF"/>
                </a:solidFill>
                <a:latin typeface="Inter SemiBold"/>
                <a:ea typeface="Inter SemiBold"/>
                <a:cs typeface="Inter SemiBold"/>
                <a:sym typeface="Inter SemiBold"/>
              </a:rPr>
              <a:t>Cierre</a:t>
            </a:r>
            <a:endParaRPr/>
          </a:p>
        </p:txBody>
      </p:sp>
      <p:sp>
        <p:nvSpPr>
          <p:cNvPr id="1505" name="Google Shape;1505;hc7cc306779174be_8_728"/>
          <p:cNvSpPr txBox="1"/>
          <p:nvPr/>
        </p:nvSpPr>
        <p:spPr>
          <a:xfrm>
            <a:off x="14649450" y="5467350"/>
            <a:ext cx="30099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Inter"/>
                <a:ea typeface="Inter"/>
                <a:cs typeface="Inter"/>
                <a:sym typeface="Inter"/>
              </a:rPr>
              <a:t>2 CC · 4 PT</a:t>
            </a:r>
            <a:endParaRPr/>
          </a:p>
        </p:txBody>
      </p:sp>
      <p:sp>
        <p:nvSpPr>
          <p:cNvPr id="1506" name="Google Shape;1506;hc7cc306779174be_8_728"/>
          <p:cNvSpPr txBox="1"/>
          <p:nvPr/>
        </p:nvSpPr>
        <p:spPr>
          <a:xfrm>
            <a:off x="14649450" y="5924550"/>
            <a:ext cx="300990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Inter SemiBold"/>
                <a:ea typeface="Inter SemiBold"/>
                <a:cs typeface="Inter SemiBold"/>
                <a:sym typeface="Inter SemiBold"/>
              </a:rPr>
              <a:t>320 HH</a:t>
            </a:r>
            <a:endParaRPr/>
          </a:p>
        </p:txBody>
      </p:sp>
      <p:sp>
        <p:nvSpPr>
          <p:cNvPr id="1507" name="Google Shape;1507;hc7cc306779174be_8_728"/>
          <p:cNvSpPr txBox="1"/>
          <p:nvPr/>
        </p:nvSpPr>
        <p:spPr>
          <a:xfrm>
            <a:off x="822960" y="6949440"/>
            <a:ext cx="1664208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641B"/>
                </a:solidFill>
                <a:latin typeface="Inter SemiBold"/>
                <a:ea typeface="Inter SemiBold"/>
                <a:cs typeface="Inter SemiBold"/>
                <a:sym typeface="Inter SemiBold"/>
              </a:rPr>
              <a:t>FASE 9 · CIERRE · 2 CUENTAS DE CONTROL</a:t>
            </a:r>
            <a:endParaRPr/>
          </a:p>
        </p:txBody>
      </p:sp>
      <p:sp>
        <p:nvSpPr>
          <p:cNvPr id="1508" name="Google Shape;1508;hc7cc306779174be_8_728"/>
          <p:cNvSpPr/>
          <p:nvPr/>
        </p:nvSpPr>
        <p:spPr>
          <a:xfrm>
            <a:off x="822960" y="7360920"/>
            <a:ext cx="825246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9.1 Cierre de la implementación</a:t>
            </a:r>
            <a:endParaRPr/>
          </a:p>
        </p:txBody>
      </p:sp>
      <p:sp>
        <p:nvSpPr>
          <p:cNvPr id="1509" name="Google Shape;1509;hc7cc306779174be_8_728"/>
          <p:cNvSpPr/>
          <p:nvPr/>
        </p:nvSpPr>
        <p:spPr>
          <a:xfrm>
            <a:off x="9212580" y="7360920"/>
            <a:ext cx="8252460" cy="1005840"/>
          </a:xfrm>
          <a:prstGeom prst="roundRect">
            <a:avLst>
              <a:gd fmla="val 15000" name="adj"/>
            </a:avLst>
          </a:prstGeom>
          <a:solidFill>
            <a:srgbClr val="FFFFFF"/>
          </a:solidFill>
          <a:ln cap="flat" cmpd="sng" w="19050">
            <a:solidFill>
              <a:srgbClr val="E8641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800" u="none" cap="none" strike="noStrike">
                <a:solidFill>
                  <a:srgbClr val="111111"/>
                </a:solidFill>
                <a:latin typeface="Inter SemiBold"/>
                <a:ea typeface="Inter SemiBold"/>
                <a:cs typeface="Inter SemiBold"/>
                <a:sym typeface="Inter SemiBold"/>
              </a:rPr>
              <a:t>9.2 Salida al término del contrato</a:t>
            </a:r>
            <a:endParaRPr/>
          </a:p>
        </p:txBody>
      </p:sp>
      <p:sp>
        <p:nvSpPr>
          <p:cNvPr id="151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24"/>
          <p:cNvSpPr txBox="1"/>
          <p:nvPr/>
        </p:nvSpPr>
        <p:spPr>
          <a:xfrm>
            <a:off x="1503838" y="1097280"/>
            <a:ext cx="6035040" cy="26517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Cómo se divide el proyecto</a:t>
            </a:r>
            <a:endParaRPr/>
          </a:p>
        </p:txBody>
      </p:sp>
      <p:sp>
        <p:nvSpPr>
          <p:cNvPr id="1517" name="!!deco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600">
                <a:solidFill>
                  <a:srgbClr val="606060"/>
                </a:solidFill>
                <a:latin typeface="Inter"/>
                <a:ea typeface="Inter"/>
                <a:cs typeface="Inter"/>
                <a:sym typeface="Inter"/>
              </a:rPr>
              <a:t>2 etapas + operación</a:t>
            </a:r>
            <a:br>
              <a:rPr b="0" lang="en-US" sz="2600">
                <a:solidFill>
                  <a:srgbClr val="606060"/>
                </a:solidFill>
                <a:latin typeface="Inter"/>
                <a:ea typeface="Inter"/>
                <a:cs typeface="Inter"/>
                <a:sym typeface="Inter"/>
              </a:rPr>
            </a:br>
            <a:r>
              <a:rPr b="0" lang="en-US" sz="2600">
                <a:solidFill>
                  <a:srgbClr val="606060"/>
                </a:solidFill>
                <a:latin typeface="Inter"/>
                <a:ea typeface="Inter"/>
                <a:cs typeface="Inter"/>
                <a:sym typeface="Inter"/>
              </a:rPr>
              <a:t>8 frentes con responsable</a:t>
            </a:r>
            <a:endParaRPr/>
          </a:p>
        </p:txBody>
      </p:sp>
      <p:sp>
        <p:nvSpPr>
          <p:cNvPr id="1519" name="Google Shape;1519;p24"/>
          <p:cNvSpPr txBox="1"/>
          <p:nvPr/>
        </p:nvSpPr>
        <p:spPr>
          <a:xfrm>
            <a:off x="1499616" y="5486400"/>
            <a:ext cx="566928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Solapes: meses 13–15 y 19–20</a:t>
            </a:r>
            <a:endParaRPr/>
          </a:p>
        </p:txBody>
      </p:sp>
      <p:sp>
        <p:nvSpPr>
          <p:cNvPr id="1520" name="Google Shape;1520;p24"/>
          <p:cNvSpPr/>
          <p:nvPr/>
        </p:nvSpPr>
        <p:spPr>
          <a:xfrm>
            <a:off x="12076611" y="1188720"/>
            <a:ext cx="367392"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BLOQUES</a:t>
            </a:r>
            <a:endParaRPr/>
          </a:p>
        </p:txBody>
      </p:sp>
      <p:sp>
        <p:nvSpPr>
          <p:cNvPr id="1523" name="Google Shape;1523;p24"/>
          <p:cNvSpPr txBox="1"/>
          <p:nvPr/>
        </p:nvSpPr>
        <p:spPr>
          <a:xfrm>
            <a:off x="7680960" y="1463040"/>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1</a:t>
            </a:r>
            <a:endParaRPr/>
          </a:p>
        </p:txBody>
      </p:sp>
      <p:sp>
        <p:nvSpPr>
          <p:cNvPr id="1524" name="Google Shape;1524;p24"/>
          <p:cNvSpPr/>
          <p:nvPr/>
        </p:nvSpPr>
        <p:spPr>
          <a:xfrm>
            <a:off x="10607040" y="1463040"/>
            <a:ext cx="1959428" cy="411480"/>
          </a:xfrm>
          <a:prstGeom prst="roundRect">
            <a:avLst>
              <a:gd fmla="val 3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m1–16</a:t>
            </a:r>
            <a:endParaRPr/>
          </a:p>
        </p:txBody>
      </p:sp>
      <p:sp>
        <p:nvSpPr>
          <p:cNvPr id="1525" name="Google Shape;1525;p24"/>
          <p:cNvSpPr txBox="1"/>
          <p:nvPr/>
        </p:nvSpPr>
        <p:spPr>
          <a:xfrm>
            <a:off x="7680960" y="1993392"/>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2</a:t>
            </a:r>
            <a:endParaRPr/>
          </a:p>
        </p:txBody>
      </p:sp>
      <p:sp>
        <p:nvSpPr>
          <p:cNvPr id="1526" name="Google Shape;1526;p24"/>
          <p:cNvSpPr/>
          <p:nvPr/>
        </p:nvSpPr>
        <p:spPr>
          <a:xfrm>
            <a:off x="12076611" y="1993392"/>
            <a:ext cx="1102178" cy="411480"/>
          </a:xfrm>
          <a:prstGeom prst="roundRect">
            <a:avLst>
              <a:gd fmla="val 30000" name="adj"/>
            </a:avLst>
          </a:prstGeom>
          <a:solidFill>
            <a:srgbClr val="F29A5E"/>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m13–21</a:t>
            </a:r>
            <a:endParaRPr/>
          </a:p>
        </p:txBody>
      </p:sp>
      <p:sp>
        <p:nvSpPr>
          <p:cNvPr id="1527" name="Google Shape;1527;p24"/>
          <p:cNvSpPr txBox="1"/>
          <p:nvPr/>
        </p:nvSpPr>
        <p:spPr>
          <a:xfrm>
            <a:off x="7680960" y="2523744"/>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Operación</a:t>
            </a:r>
            <a:endParaRPr/>
          </a:p>
        </p:txBody>
      </p:sp>
      <p:sp>
        <p:nvSpPr>
          <p:cNvPr id="1528" name="Google Shape;1528;p24"/>
          <p:cNvSpPr/>
          <p:nvPr/>
        </p:nvSpPr>
        <p:spPr>
          <a:xfrm>
            <a:off x="13056325" y="2523744"/>
            <a:ext cx="4408714" cy="411480"/>
          </a:xfrm>
          <a:prstGeom prst="roundRect">
            <a:avLst>
              <a:gd fmla="val 3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m21–56</a:t>
            </a:r>
            <a:endParaRPr/>
          </a:p>
        </p:txBody>
      </p:sp>
      <p:sp>
        <p:nvSpPr>
          <p:cNvPr id="1529" name="Google Shape;1529;p24"/>
          <p:cNvSpPr txBox="1"/>
          <p:nvPr/>
        </p:nvSpPr>
        <p:spPr>
          <a:xfrm>
            <a:off x="7680960" y="31546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FRENTES</a:t>
            </a:r>
            <a:endParaRPr/>
          </a:p>
        </p:txBody>
      </p:sp>
      <p:sp>
        <p:nvSpPr>
          <p:cNvPr id="1530" name="Google Shape;1530;p24"/>
          <p:cNvSpPr txBox="1"/>
          <p:nvPr/>
        </p:nvSpPr>
        <p:spPr>
          <a:xfrm>
            <a:off x="7680960" y="348386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F1 Dirección</a:t>
            </a:r>
            <a:endParaRPr/>
          </a:p>
        </p:txBody>
      </p:sp>
      <p:sp>
        <p:nvSpPr>
          <p:cNvPr id="1531" name="Google Shape;1531;p24"/>
          <p:cNvSpPr txBox="1"/>
          <p:nvPr/>
        </p:nvSpPr>
        <p:spPr>
          <a:xfrm>
            <a:off x="7680960" y="376732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Jefe de Proyecto</a:t>
            </a:r>
            <a:endParaRPr/>
          </a:p>
        </p:txBody>
      </p:sp>
      <p:sp>
        <p:nvSpPr>
          <p:cNvPr id="1532" name="Google Shape;1532;p24"/>
          <p:cNvSpPr/>
          <p:nvPr/>
        </p:nvSpPr>
        <p:spPr>
          <a:xfrm>
            <a:off x="10607040" y="3593592"/>
            <a:ext cx="685800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F2 Arquitectura</a:t>
            </a:r>
            <a:endParaRPr/>
          </a:p>
        </p:txBody>
      </p:sp>
      <p:sp>
        <p:nvSpPr>
          <p:cNvPr id="1534" name="Google Shape;1534;p24"/>
          <p:cNvSpPr txBox="1"/>
          <p:nvPr/>
        </p:nvSpPr>
        <p:spPr>
          <a:xfrm>
            <a:off x="7680960" y="4389120"/>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Arquitecto de Solución</a:t>
            </a:r>
            <a:endParaRPr/>
          </a:p>
        </p:txBody>
      </p:sp>
      <p:sp>
        <p:nvSpPr>
          <p:cNvPr id="1535" name="Google Shape;1535;p24"/>
          <p:cNvSpPr/>
          <p:nvPr/>
        </p:nvSpPr>
        <p:spPr>
          <a:xfrm>
            <a:off x="10607040" y="4215384"/>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F3 Construcción E1</a:t>
            </a:r>
            <a:endParaRPr/>
          </a:p>
        </p:txBody>
      </p:sp>
      <p:sp>
        <p:nvSpPr>
          <p:cNvPr id="1537" name="Google Shape;1537;p24"/>
          <p:cNvSpPr txBox="1"/>
          <p:nvPr/>
        </p:nvSpPr>
        <p:spPr>
          <a:xfrm>
            <a:off x="7680960" y="501091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38" name="Google Shape;1538;p24"/>
          <p:cNvSpPr/>
          <p:nvPr/>
        </p:nvSpPr>
        <p:spPr>
          <a:xfrm>
            <a:off x="10607040" y="4837176"/>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F4 Construcción E2</a:t>
            </a:r>
            <a:endParaRPr/>
          </a:p>
        </p:txBody>
      </p:sp>
      <p:sp>
        <p:nvSpPr>
          <p:cNvPr id="1540" name="Google Shape;1540;p24"/>
          <p:cNvSpPr txBox="1"/>
          <p:nvPr/>
        </p:nvSpPr>
        <p:spPr>
          <a:xfrm>
            <a:off x="7680960" y="5632704"/>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41" name="Google Shape;1541;p24"/>
          <p:cNvSpPr/>
          <p:nvPr/>
        </p:nvSpPr>
        <p:spPr>
          <a:xfrm>
            <a:off x="12076611" y="5458968"/>
            <a:ext cx="979714"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F5 Plataforma</a:t>
            </a:r>
            <a:endParaRPr/>
          </a:p>
        </p:txBody>
      </p:sp>
      <p:sp>
        <p:nvSpPr>
          <p:cNvPr id="1543" name="Google Shape;1543;p24"/>
          <p:cNvSpPr txBox="1"/>
          <p:nvPr/>
        </p:nvSpPr>
        <p:spPr>
          <a:xfrm>
            <a:off x="7680960" y="6254496"/>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44" name="Google Shape;1544;p24"/>
          <p:cNvSpPr/>
          <p:nvPr/>
        </p:nvSpPr>
        <p:spPr>
          <a:xfrm>
            <a:off x="10607040" y="6080760"/>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F6 Calidad</a:t>
            </a:r>
            <a:endParaRPr/>
          </a:p>
        </p:txBody>
      </p:sp>
      <p:sp>
        <p:nvSpPr>
          <p:cNvPr id="1546" name="Google Shape;1546;p24"/>
          <p:cNvSpPr txBox="1"/>
          <p:nvPr/>
        </p:nvSpPr>
        <p:spPr>
          <a:xfrm>
            <a:off x="7680960" y="687628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Calidad</a:t>
            </a:r>
            <a:endParaRPr/>
          </a:p>
        </p:txBody>
      </p:sp>
      <p:sp>
        <p:nvSpPr>
          <p:cNvPr id="1547" name="Google Shape;1547;p24"/>
          <p:cNvSpPr/>
          <p:nvPr/>
        </p:nvSpPr>
        <p:spPr>
          <a:xfrm>
            <a:off x="10607040" y="6702552"/>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F7 Implantación</a:t>
            </a:r>
            <a:endParaRPr/>
          </a:p>
        </p:txBody>
      </p:sp>
      <p:sp>
        <p:nvSpPr>
          <p:cNvPr id="1549" name="Google Shape;1549;p24"/>
          <p:cNvSpPr txBox="1"/>
          <p:nvPr/>
        </p:nvSpPr>
        <p:spPr>
          <a:xfrm>
            <a:off x="7680960" y="7498079"/>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Implantación</a:t>
            </a:r>
            <a:endParaRPr/>
          </a:p>
        </p:txBody>
      </p:sp>
      <p:sp>
        <p:nvSpPr>
          <p:cNvPr id="1550" name="Google Shape;1550;p24"/>
          <p:cNvSpPr/>
          <p:nvPr/>
        </p:nvSpPr>
        <p:spPr>
          <a:xfrm>
            <a:off x="11586754" y="7324344"/>
            <a:ext cx="159203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F8 Operación</a:t>
            </a:r>
            <a:endParaRPr/>
          </a:p>
        </p:txBody>
      </p:sp>
      <p:sp>
        <p:nvSpPr>
          <p:cNvPr id="1552" name="Google Shape;1552;p24"/>
          <p:cNvSpPr txBox="1"/>
          <p:nvPr/>
        </p:nvSpPr>
        <p:spPr>
          <a:xfrm>
            <a:off x="7680960" y="811987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53" name="Google Shape;1553;p24"/>
          <p:cNvSpPr/>
          <p:nvPr/>
        </p:nvSpPr>
        <p:spPr>
          <a:xfrm>
            <a:off x="13056325" y="7946136"/>
            <a:ext cx="4408714" cy="384048"/>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a:t>
            </a:r>
            <a:endParaRPr/>
          </a:p>
        </p:txBody>
      </p:sp>
      <p:sp>
        <p:nvSpPr>
          <p:cNvPr id="1555" name="Google Shape;1555;p24"/>
          <p:cNvSpPr txBox="1"/>
          <p:nvPr/>
        </p:nvSpPr>
        <p:spPr>
          <a:xfrm>
            <a:off x="11756571"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m13</a:t>
            </a:r>
            <a:endParaRPr/>
          </a:p>
        </p:txBody>
      </p:sp>
      <p:sp>
        <p:nvSpPr>
          <p:cNvPr id="1556" name="Google Shape;1556;p24"/>
          <p:cNvSpPr txBox="1"/>
          <p:nvPr/>
        </p:nvSpPr>
        <p:spPr>
          <a:xfrm>
            <a:off x="1273628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m21</a:t>
            </a:r>
            <a:endParaRPr/>
          </a:p>
        </p:txBody>
      </p:sp>
      <p:sp>
        <p:nvSpPr>
          <p:cNvPr id="1557" name="Google Shape;1557;p24"/>
          <p:cNvSpPr txBox="1"/>
          <p:nvPr/>
        </p:nvSpPr>
        <p:spPr>
          <a:xfrm>
            <a:off x="1702253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m56</a:t>
            </a:r>
            <a:endParaRPr/>
          </a:p>
        </p:txBody>
      </p:sp>
      <p:sp>
        <p:nvSpPr>
          <p:cNvPr id="155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21</a:t>
            </a:r>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5" name="Google Shape;1565;p25"/>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Gantt de implementación</a:t>
            </a:r>
            <a:endParaRPr/>
          </a:p>
        </p:txBody>
      </p:sp>
      <p:sp>
        <p:nvSpPr>
          <p:cNvPr id="1566"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7"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568"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69"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70" name="Google Shape;1570;p2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Meses 1–24 · congelamientos, reversión y riesgos a la vista</a:t>
            </a:r>
            <a:endParaRPr/>
          </a:p>
        </p:txBody>
      </p:sp>
      <p:sp>
        <p:nvSpPr>
          <p:cNvPr id="1571" name="Google Shape;1571;p25"/>
          <p:cNvSpPr/>
          <p:nvPr/>
        </p:nvSpPr>
        <p:spPr>
          <a:xfrm>
            <a:off x="776097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2" name="Google Shape;1572;p25"/>
          <p:cNvSpPr txBox="1"/>
          <p:nvPr/>
        </p:nvSpPr>
        <p:spPr>
          <a:xfrm>
            <a:off x="766953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3" name="Google Shape;1573;p25"/>
          <p:cNvSpPr/>
          <p:nvPr/>
        </p:nvSpPr>
        <p:spPr>
          <a:xfrm>
            <a:off x="944118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4" name="Google Shape;1574;p25"/>
          <p:cNvSpPr txBox="1"/>
          <p:nvPr/>
        </p:nvSpPr>
        <p:spPr>
          <a:xfrm>
            <a:off x="934974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5" name="Google Shape;1575;p25"/>
          <p:cNvSpPr/>
          <p:nvPr/>
        </p:nvSpPr>
        <p:spPr>
          <a:xfrm>
            <a:off x="1448180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6" name="Google Shape;1576;p25"/>
          <p:cNvSpPr txBox="1"/>
          <p:nvPr/>
        </p:nvSpPr>
        <p:spPr>
          <a:xfrm>
            <a:off x="1439036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7" name="Google Shape;1577;p25"/>
          <p:cNvSpPr/>
          <p:nvPr/>
        </p:nvSpPr>
        <p:spPr>
          <a:xfrm>
            <a:off x="1616201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8" name="Google Shape;1578;p25"/>
          <p:cNvSpPr txBox="1"/>
          <p:nvPr/>
        </p:nvSpPr>
        <p:spPr>
          <a:xfrm>
            <a:off x="1607057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9" name="Google Shape;1579;p25"/>
          <p:cNvSpPr txBox="1"/>
          <p:nvPr/>
        </p:nvSpPr>
        <p:spPr>
          <a:xfrm>
            <a:off x="731520" y="3017520"/>
            <a:ext cx="30175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Gris = congelamiento</a:t>
            </a:r>
            <a:endParaRPr/>
          </a:p>
        </p:txBody>
      </p:sp>
      <p:sp>
        <p:nvSpPr>
          <p:cNvPr id="1580" name="Google Shape;1580;p25"/>
          <p:cNvSpPr txBox="1"/>
          <p:nvPr/>
        </p:nvSpPr>
        <p:spPr>
          <a:xfrm>
            <a:off x="731520" y="338328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Diseño e infraestructura</a:t>
            </a:r>
            <a:endParaRPr/>
          </a:p>
        </p:txBody>
      </p:sp>
      <p:sp>
        <p:nvSpPr>
          <p:cNvPr id="1581" name="!!gv_0"/>
          <p:cNvSpPr/>
          <p:nvPr/>
        </p:nvSpPr>
        <p:spPr>
          <a:xfrm>
            <a:off x="3840480" y="3383280"/>
            <a:ext cx="18288" cy="310896"/>
          </a:xfrm>
          <a:prstGeom prst="roundRect">
            <a:avLst>
              <a:gd fmla="val 30000" name="adj"/>
            </a:avLst>
          </a:prstGeom>
          <a:solidFill>
            <a:srgbClr val="606060"/>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2" name="Google Shape;1582;p25"/>
          <p:cNvSpPr txBox="1"/>
          <p:nvPr/>
        </p:nvSpPr>
        <p:spPr>
          <a:xfrm>
            <a:off x="731520" y="378561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E1</a:t>
            </a:r>
            <a:endParaRPr/>
          </a:p>
        </p:txBody>
      </p:sp>
      <p:sp>
        <p:nvSpPr>
          <p:cNvPr id="1583" name="!!gv_1"/>
          <p:cNvSpPr/>
          <p:nvPr/>
        </p:nvSpPr>
        <p:spPr>
          <a:xfrm>
            <a:off x="6080760" y="3785616"/>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4" name="Google Shape;1584;p25"/>
          <p:cNvSpPr txBox="1"/>
          <p:nvPr/>
        </p:nvSpPr>
        <p:spPr>
          <a:xfrm>
            <a:off x="731520" y="418795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Migración de datos</a:t>
            </a:r>
            <a:endParaRPr/>
          </a:p>
        </p:txBody>
      </p:sp>
      <p:sp>
        <p:nvSpPr>
          <p:cNvPr id="1585" name="!!gv_2"/>
          <p:cNvSpPr/>
          <p:nvPr/>
        </p:nvSpPr>
        <p:spPr>
          <a:xfrm>
            <a:off x="7200900" y="4187952"/>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6" name="Google Shape;1586;p25"/>
          <p:cNvSpPr txBox="1"/>
          <p:nvPr/>
        </p:nvSpPr>
        <p:spPr>
          <a:xfrm>
            <a:off x="731520" y="459028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E1</a:t>
            </a:r>
            <a:endParaRPr/>
          </a:p>
        </p:txBody>
      </p:sp>
      <p:sp>
        <p:nvSpPr>
          <p:cNvPr id="1587" name="!!gv_3"/>
          <p:cNvSpPr/>
          <p:nvPr/>
        </p:nvSpPr>
        <p:spPr>
          <a:xfrm>
            <a:off x="10561320" y="4590288"/>
            <a:ext cx="18288" cy="310896"/>
          </a:xfrm>
          <a:prstGeom prst="roundRect">
            <a:avLst>
              <a:gd fmla="val 3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8" name="Google Shape;1588;p25"/>
          <p:cNvSpPr txBox="1"/>
          <p:nvPr/>
        </p:nvSpPr>
        <p:spPr>
          <a:xfrm>
            <a:off x="731520" y="4992624"/>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E2</a:t>
            </a:r>
            <a:endParaRPr/>
          </a:p>
        </p:txBody>
      </p:sp>
      <p:sp>
        <p:nvSpPr>
          <p:cNvPr id="1589" name="!!gv_6"/>
          <p:cNvSpPr/>
          <p:nvPr/>
        </p:nvSpPr>
        <p:spPr>
          <a:xfrm>
            <a:off x="10561320" y="4992624"/>
            <a:ext cx="18288" cy="310896"/>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0" name="Google Shape;1590;p25"/>
          <p:cNvSpPr txBox="1"/>
          <p:nvPr/>
        </p:nvSpPr>
        <p:spPr>
          <a:xfrm>
            <a:off x="731520" y="539496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E2</a:t>
            </a:r>
            <a:endParaRPr/>
          </a:p>
        </p:txBody>
      </p:sp>
      <p:sp>
        <p:nvSpPr>
          <p:cNvPr id="1591" name="!!gv_8"/>
          <p:cNvSpPr/>
          <p:nvPr/>
        </p:nvSpPr>
        <p:spPr>
          <a:xfrm>
            <a:off x="13921739" y="5394960"/>
            <a:ext cx="18288" cy="310896"/>
          </a:xfrm>
          <a:prstGeom prst="roundRect">
            <a:avLst>
              <a:gd fmla="val 30000" name="adj"/>
            </a:avLst>
          </a:prstGeom>
          <a:solidFill>
            <a:srgbClr val="9A9A9A"/>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2" name="Google Shape;1592;p25"/>
          <p:cNvSpPr txBox="1"/>
          <p:nvPr/>
        </p:nvSpPr>
        <p:spPr>
          <a:xfrm>
            <a:off x="731520" y="579729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Gestión del cambio</a:t>
            </a:r>
            <a:endParaRPr/>
          </a:p>
        </p:txBody>
      </p:sp>
      <p:sp>
        <p:nvSpPr>
          <p:cNvPr id="1593" name="!!gv_9"/>
          <p:cNvSpPr/>
          <p:nvPr/>
        </p:nvSpPr>
        <p:spPr>
          <a:xfrm>
            <a:off x="4400550" y="5797296"/>
            <a:ext cx="18288" cy="310896"/>
          </a:xfrm>
          <a:prstGeom prst="roundRect">
            <a:avLst>
              <a:gd fmla="val 30000" name="adj"/>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4" name="Google Shape;1594;p25"/>
          <p:cNvSpPr txBox="1"/>
          <p:nvPr/>
        </p:nvSpPr>
        <p:spPr>
          <a:xfrm>
            <a:off x="731520" y="61996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Operación → m56</a:t>
            </a:r>
            <a:endParaRPr/>
          </a:p>
        </p:txBody>
      </p:sp>
      <p:sp>
        <p:nvSpPr>
          <p:cNvPr id="1595" name="!!gv_10"/>
          <p:cNvSpPr/>
          <p:nvPr/>
        </p:nvSpPr>
        <p:spPr>
          <a:xfrm>
            <a:off x="15041880" y="6199632"/>
            <a:ext cx="18288" cy="310896"/>
          </a:xfrm>
          <a:prstGeom prst="roundRect">
            <a:avLst>
              <a:gd fmla="val 3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6" name="Google Shape;1596;p25"/>
          <p:cNvSpPr txBox="1"/>
          <p:nvPr/>
        </p:nvSpPr>
        <p:spPr>
          <a:xfrm>
            <a:off x="731520" y="660196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Cambios de software</a:t>
            </a:r>
            <a:endParaRPr/>
          </a:p>
        </p:txBody>
      </p:sp>
      <p:sp>
        <p:nvSpPr>
          <p:cNvPr id="1597" name="Google Shape;1597;p25"/>
          <p:cNvSpPr txBox="1"/>
          <p:nvPr/>
        </p:nvSpPr>
        <p:spPr>
          <a:xfrm>
            <a:off x="731520" y="7004304"/>
            <a:ext cx="3017520"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Hitos</a:t>
            </a:r>
            <a:endParaRPr/>
          </a:p>
        </p:txBody>
      </p:sp>
      <p:sp>
        <p:nvSpPr>
          <p:cNvPr id="1598" name="Google Shape;1598;p25"/>
          <p:cNvSpPr txBox="1"/>
          <p:nvPr/>
        </p:nvSpPr>
        <p:spPr>
          <a:xfrm>
            <a:off x="731520" y="75712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Riesgos</a:t>
            </a:r>
            <a:endParaRPr/>
          </a:p>
        </p:txBody>
      </p:sp>
      <p:cxnSp>
        <p:nvCxnSpPr>
          <p:cNvPr id="1599" name="Google Shape;1599;p25"/>
          <p:cNvCxnSpPr/>
          <p:nvPr/>
        </p:nvCxnSpPr>
        <p:spPr>
          <a:xfrm>
            <a:off x="3840480" y="7991856"/>
            <a:ext cx="13441680" cy="0"/>
          </a:xfrm>
          <a:prstGeom prst="straightConnector1">
            <a:avLst/>
          </a:prstGeom>
          <a:noFill/>
          <a:ln cap="flat" cmpd="sng" w="1270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600" name="Google Shape;1600;p25"/>
          <p:cNvSpPr txBox="1"/>
          <p:nvPr/>
        </p:nvSpPr>
        <p:spPr>
          <a:xfrm>
            <a:off x="38404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a:t>
            </a:r>
            <a:endParaRPr/>
          </a:p>
        </p:txBody>
      </p:sp>
      <p:sp>
        <p:nvSpPr>
          <p:cNvPr id="1601" name="Google Shape;1601;p25"/>
          <p:cNvSpPr txBox="1"/>
          <p:nvPr/>
        </p:nvSpPr>
        <p:spPr>
          <a:xfrm>
            <a:off x="44005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a:t>
            </a:r>
            <a:endParaRPr/>
          </a:p>
        </p:txBody>
      </p:sp>
      <p:sp>
        <p:nvSpPr>
          <p:cNvPr id="1602" name="Google Shape;1602;p25"/>
          <p:cNvSpPr txBox="1"/>
          <p:nvPr/>
        </p:nvSpPr>
        <p:spPr>
          <a:xfrm>
            <a:off x="49606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3</a:t>
            </a:r>
            <a:endParaRPr/>
          </a:p>
        </p:txBody>
      </p:sp>
      <p:sp>
        <p:nvSpPr>
          <p:cNvPr id="1603" name="Google Shape;1603;p25"/>
          <p:cNvSpPr txBox="1"/>
          <p:nvPr/>
        </p:nvSpPr>
        <p:spPr>
          <a:xfrm>
            <a:off x="55206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4</a:t>
            </a:r>
            <a:endParaRPr/>
          </a:p>
        </p:txBody>
      </p:sp>
      <p:sp>
        <p:nvSpPr>
          <p:cNvPr id="1604" name="Google Shape;1604;p25"/>
          <p:cNvSpPr txBox="1"/>
          <p:nvPr/>
        </p:nvSpPr>
        <p:spPr>
          <a:xfrm>
            <a:off x="608076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5</a:t>
            </a:r>
            <a:endParaRPr/>
          </a:p>
        </p:txBody>
      </p:sp>
      <p:sp>
        <p:nvSpPr>
          <p:cNvPr id="1605" name="Google Shape;1605;p25"/>
          <p:cNvSpPr txBox="1"/>
          <p:nvPr/>
        </p:nvSpPr>
        <p:spPr>
          <a:xfrm>
            <a:off x="664082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6</a:t>
            </a:r>
            <a:endParaRPr/>
          </a:p>
        </p:txBody>
      </p:sp>
      <p:sp>
        <p:nvSpPr>
          <p:cNvPr id="1606" name="Google Shape;1606;p25"/>
          <p:cNvSpPr txBox="1"/>
          <p:nvPr/>
        </p:nvSpPr>
        <p:spPr>
          <a:xfrm>
            <a:off x="72009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7</a:t>
            </a:r>
            <a:endParaRPr/>
          </a:p>
        </p:txBody>
      </p:sp>
      <p:sp>
        <p:nvSpPr>
          <p:cNvPr id="1607" name="Google Shape;1607;p25"/>
          <p:cNvSpPr txBox="1"/>
          <p:nvPr/>
        </p:nvSpPr>
        <p:spPr>
          <a:xfrm>
            <a:off x="77609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8</a:t>
            </a:r>
            <a:endParaRPr/>
          </a:p>
        </p:txBody>
      </p:sp>
      <p:sp>
        <p:nvSpPr>
          <p:cNvPr id="1608" name="Google Shape;1608;p25"/>
          <p:cNvSpPr txBox="1"/>
          <p:nvPr/>
        </p:nvSpPr>
        <p:spPr>
          <a:xfrm>
            <a:off x="832104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9</a:t>
            </a:r>
            <a:endParaRPr/>
          </a:p>
        </p:txBody>
      </p:sp>
      <p:sp>
        <p:nvSpPr>
          <p:cNvPr id="1609" name="Google Shape;1609;p25"/>
          <p:cNvSpPr txBox="1"/>
          <p:nvPr/>
        </p:nvSpPr>
        <p:spPr>
          <a:xfrm>
            <a:off x="88811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10</a:t>
            </a:r>
            <a:endParaRPr/>
          </a:p>
        </p:txBody>
      </p:sp>
      <p:sp>
        <p:nvSpPr>
          <p:cNvPr id="1610" name="Google Shape;1610;p25"/>
          <p:cNvSpPr txBox="1"/>
          <p:nvPr/>
        </p:nvSpPr>
        <p:spPr>
          <a:xfrm>
            <a:off x="94411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11</a:t>
            </a:r>
            <a:endParaRPr/>
          </a:p>
        </p:txBody>
      </p:sp>
      <p:sp>
        <p:nvSpPr>
          <p:cNvPr id="1611" name="Google Shape;1611;p25"/>
          <p:cNvSpPr txBox="1"/>
          <p:nvPr/>
        </p:nvSpPr>
        <p:spPr>
          <a:xfrm>
            <a:off x="100012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12</a:t>
            </a:r>
            <a:endParaRPr/>
          </a:p>
        </p:txBody>
      </p:sp>
      <p:sp>
        <p:nvSpPr>
          <p:cNvPr id="1612" name="Google Shape;1612;p25"/>
          <p:cNvSpPr txBox="1"/>
          <p:nvPr/>
        </p:nvSpPr>
        <p:spPr>
          <a:xfrm>
            <a:off x="105613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13</a:t>
            </a:r>
            <a:endParaRPr/>
          </a:p>
        </p:txBody>
      </p:sp>
      <p:sp>
        <p:nvSpPr>
          <p:cNvPr id="1613" name="Google Shape;1613;p25"/>
          <p:cNvSpPr txBox="1"/>
          <p:nvPr/>
        </p:nvSpPr>
        <p:spPr>
          <a:xfrm>
            <a:off x="111213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14</a:t>
            </a:r>
            <a:endParaRPr/>
          </a:p>
        </p:txBody>
      </p:sp>
      <p:sp>
        <p:nvSpPr>
          <p:cNvPr id="1614" name="Google Shape;1614;p25"/>
          <p:cNvSpPr txBox="1"/>
          <p:nvPr/>
        </p:nvSpPr>
        <p:spPr>
          <a:xfrm>
            <a:off x="1168145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15</a:t>
            </a:r>
            <a:endParaRPr/>
          </a:p>
        </p:txBody>
      </p:sp>
      <p:sp>
        <p:nvSpPr>
          <p:cNvPr id="1615" name="Google Shape;1615;p25"/>
          <p:cNvSpPr txBox="1"/>
          <p:nvPr/>
        </p:nvSpPr>
        <p:spPr>
          <a:xfrm>
            <a:off x="1224153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16</a:t>
            </a:r>
            <a:endParaRPr/>
          </a:p>
        </p:txBody>
      </p:sp>
      <p:sp>
        <p:nvSpPr>
          <p:cNvPr id="1616" name="Google Shape;1616;p25"/>
          <p:cNvSpPr txBox="1"/>
          <p:nvPr/>
        </p:nvSpPr>
        <p:spPr>
          <a:xfrm>
            <a:off x="128016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17</a:t>
            </a:r>
            <a:endParaRPr/>
          </a:p>
        </p:txBody>
      </p:sp>
      <p:sp>
        <p:nvSpPr>
          <p:cNvPr id="1617" name="Google Shape;1617;p25"/>
          <p:cNvSpPr txBox="1"/>
          <p:nvPr/>
        </p:nvSpPr>
        <p:spPr>
          <a:xfrm>
            <a:off x="133616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18</a:t>
            </a:r>
            <a:endParaRPr/>
          </a:p>
        </p:txBody>
      </p:sp>
      <p:sp>
        <p:nvSpPr>
          <p:cNvPr id="1618" name="Google Shape;1618;p25"/>
          <p:cNvSpPr txBox="1"/>
          <p:nvPr/>
        </p:nvSpPr>
        <p:spPr>
          <a:xfrm>
            <a:off x="1392173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19</a:t>
            </a:r>
            <a:endParaRPr/>
          </a:p>
        </p:txBody>
      </p:sp>
      <p:sp>
        <p:nvSpPr>
          <p:cNvPr id="1619" name="Google Shape;1619;p25"/>
          <p:cNvSpPr txBox="1"/>
          <p:nvPr/>
        </p:nvSpPr>
        <p:spPr>
          <a:xfrm>
            <a:off x="144818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20</a:t>
            </a:r>
            <a:endParaRPr/>
          </a:p>
        </p:txBody>
      </p:sp>
      <p:sp>
        <p:nvSpPr>
          <p:cNvPr id="1620" name="Google Shape;1620;p25"/>
          <p:cNvSpPr txBox="1"/>
          <p:nvPr/>
        </p:nvSpPr>
        <p:spPr>
          <a:xfrm>
            <a:off x="150418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21</a:t>
            </a:r>
            <a:endParaRPr/>
          </a:p>
        </p:txBody>
      </p:sp>
      <p:sp>
        <p:nvSpPr>
          <p:cNvPr id="1621" name="Google Shape;1621;p25"/>
          <p:cNvSpPr txBox="1"/>
          <p:nvPr/>
        </p:nvSpPr>
        <p:spPr>
          <a:xfrm>
            <a:off x="156019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22</a:t>
            </a:r>
            <a:endParaRPr/>
          </a:p>
        </p:txBody>
      </p:sp>
      <p:sp>
        <p:nvSpPr>
          <p:cNvPr id="1622" name="Google Shape;1622;p25"/>
          <p:cNvSpPr txBox="1"/>
          <p:nvPr/>
        </p:nvSpPr>
        <p:spPr>
          <a:xfrm>
            <a:off x="1616201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23</a:t>
            </a:r>
            <a:endParaRPr/>
          </a:p>
        </p:txBody>
      </p:sp>
      <p:sp>
        <p:nvSpPr>
          <p:cNvPr id="1623" name="Google Shape;1623;p25"/>
          <p:cNvSpPr txBox="1"/>
          <p:nvPr/>
        </p:nvSpPr>
        <p:spPr>
          <a:xfrm>
            <a:off x="1672208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24</a:t>
            </a:r>
            <a:endParaRPr/>
          </a:p>
        </p:txBody>
      </p:sp>
      <p:sp>
        <p:nvSpPr>
          <p:cNvPr id="16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p:transition spd="med" advTm="100">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deco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1" name="Google Shape;1631;p26"/>
          <p:cNvSpPr txBox="1"/>
          <p:nvPr/>
        </p:nvSpPr>
        <p:spPr>
          <a:xfrm>
            <a:off x="2223023" y="962040"/>
            <a:ext cx="14034000" cy="8505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525" u="none" cap="none" strike="noStrike">
                <a:solidFill>
                  <a:srgbClr val="111111"/>
                </a:solidFill>
                <a:latin typeface="Inter SemiBold"/>
                <a:ea typeface="Inter SemiBold"/>
                <a:cs typeface="Inter SemiBold"/>
                <a:sym typeface="Inter SemiBold"/>
              </a:rPr>
              <a:t>Gantt de implementación</a:t>
            </a:r>
            <a:endParaRPr sz="1432"/>
          </a:p>
        </p:txBody>
      </p:sp>
      <p:sp>
        <p:nvSpPr>
          <p:cNvPr id="1632" name="!!deco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3" name="!!deco3"/>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634" name="!!deco4"/>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5" name="!!deco5"/>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6" name="Google Shape;1636;p26"/>
          <p:cNvSpPr txBox="1"/>
          <p:nvPr/>
        </p:nvSpPr>
        <p:spPr>
          <a:xfrm>
            <a:off x="15085298" y="8875656"/>
            <a:ext cx="1994100" cy="2835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1842" u="none" cap="none" strike="noStrike">
                <a:solidFill>
                  <a:srgbClr val="000000"/>
                </a:solidFill>
                <a:latin typeface="Inter"/>
                <a:ea typeface="Inter"/>
                <a:cs typeface="Inter"/>
                <a:sym typeface="Inter"/>
              </a:rPr>
              <a:t>Siguiente</a:t>
            </a:r>
            <a:endParaRPr sz="1432"/>
          </a:p>
        </p:txBody>
      </p:sp>
      <p:sp>
        <p:nvSpPr>
          <p:cNvPr id="1637" name="Google Shape;1637;p26"/>
          <p:cNvSpPr txBox="1"/>
          <p:nvPr/>
        </p:nvSpPr>
        <p:spPr>
          <a:xfrm>
            <a:off x="1755222" y="2346037"/>
            <a:ext cx="14969700" cy="3150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46" u="none" cap="none" strike="noStrike">
                <a:solidFill>
                  <a:srgbClr val="000000"/>
                </a:solidFill>
                <a:latin typeface="Inter"/>
                <a:ea typeface="Inter"/>
                <a:cs typeface="Inter"/>
                <a:sym typeface="Inter"/>
              </a:rPr>
              <a:t>Meses 1–24 · congelamientos, certificaciones, reversión y riesgos a la vista</a:t>
            </a:r>
            <a:endParaRPr sz="1432"/>
          </a:p>
        </p:txBody>
      </p:sp>
      <p:sp>
        <p:nvSpPr>
          <p:cNvPr id="1638" name="Google Shape;1638;p26"/>
          <p:cNvSpPr/>
          <p:nvPr/>
        </p:nvSpPr>
        <p:spPr>
          <a:xfrm>
            <a:off x="782494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0" name="Google Shape;1640;p26"/>
          <p:cNvSpPr/>
          <p:nvPr/>
        </p:nvSpPr>
        <p:spPr>
          <a:xfrm>
            <a:off x="954411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2" name="Google Shape;1642;p26"/>
          <p:cNvSpPr/>
          <p:nvPr/>
        </p:nvSpPr>
        <p:spPr>
          <a:xfrm>
            <a:off x="1470162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4" name="Google Shape;1644;p26"/>
          <p:cNvSpPr/>
          <p:nvPr/>
        </p:nvSpPr>
        <p:spPr>
          <a:xfrm>
            <a:off x="1642079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6" name="Google Shape;1646;p26"/>
          <p:cNvSpPr txBox="1"/>
          <p:nvPr/>
        </p:nvSpPr>
        <p:spPr>
          <a:xfrm>
            <a:off x="632499" y="2794238"/>
            <a:ext cx="30873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32" u="none" cap="none" strike="noStrike">
                <a:solidFill>
                  <a:srgbClr val="606060"/>
                </a:solidFill>
                <a:latin typeface="Inter"/>
                <a:ea typeface="Inter"/>
                <a:cs typeface="Inter"/>
                <a:sym typeface="Inter"/>
              </a:rPr>
              <a:t>Gris = congelamiento</a:t>
            </a:r>
            <a:endParaRPr sz="1432"/>
          </a:p>
        </p:txBody>
      </p:sp>
      <p:sp>
        <p:nvSpPr>
          <p:cNvPr id="1647" name="Google Shape;1647;p26"/>
          <p:cNvSpPr txBox="1"/>
          <p:nvPr/>
        </p:nvSpPr>
        <p:spPr>
          <a:xfrm>
            <a:off x="632499" y="3168479"/>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Diseño e infraestructura</a:t>
            </a:r>
            <a:endParaRPr sz="1432"/>
          </a:p>
        </p:txBody>
      </p:sp>
      <p:sp>
        <p:nvSpPr>
          <p:cNvPr id="1648" name="!!gv_0"/>
          <p:cNvSpPr/>
          <p:nvPr/>
        </p:nvSpPr>
        <p:spPr>
          <a:xfrm>
            <a:off x="3813547" y="3168479"/>
            <a:ext cx="6876300" cy="299700"/>
          </a:xfrm>
          <a:prstGeom prst="roundRect">
            <a:avLst>
              <a:gd fmla="val 30000" name="adj"/>
            </a:avLst>
          </a:prstGeom>
          <a:solidFill>
            <a:srgbClr val="606060"/>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E1</a:t>
            </a:r>
            <a:endParaRPr sz="1432"/>
          </a:p>
        </p:txBody>
      </p:sp>
      <p:sp>
        <p:nvSpPr>
          <p:cNvPr id="1650" name="!!gv_1"/>
          <p:cNvSpPr/>
          <p:nvPr/>
        </p:nvSpPr>
        <p:spPr>
          <a:xfrm>
            <a:off x="6105774" y="3561432"/>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Migración de datos</a:t>
            </a:r>
            <a:endParaRPr sz="1432"/>
          </a:p>
        </p:txBody>
      </p:sp>
      <p:sp>
        <p:nvSpPr>
          <p:cNvPr id="1652" name="!!gv_2"/>
          <p:cNvSpPr/>
          <p:nvPr/>
        </p:nvSpPr>
        <p:spPr>
          <a:xfrm>
            <a:off x="7251887" y="3954385"/>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E1</a:t>
            </a:r>
            <a:endParaRPr sz="1432"/>
          </a:p>
        </p:txBody>
      </p:sp>
      <p:sp>
        <p:nvSpPr>
          <p:cNvPr id="1654" name="!!gv_3"/>
          <p:cNvSpPr/>
          <p:nvPr/>
        </p:nvSpPr>
        <p:spPr>
          <a:xfrm>
            <a:off x="10690226" y="4347338"/>
            <a:ext cx="1719000" cy="299700"/>
          </a:xfrm>
          <a:prstGeom prst="roundRect">
            <a:avLst>
              <a:gd fmla="val 30000" name="adj"/>
            </a:avLst>
          </a:prstGeom>
          <a:solidFill>
            <a:srgbClr val="F29A5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5" name="Google Shape;1655;p26"/>
          <p:cNvSpPr txBox="1"/>
          <p:nvPr/>
        </p:nvSpPr>
        <p:spPr>
          <a:xfrm>
            <a:off x="10690226" y="4347338"/>
            <a:ext cx="17190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Olas 1·2·3</a:t>
            </a:r>
            <a:endParaRPr sz="1432"/>
          </a:p>
        </p:txBody>
      </p:sp>
      <p:sp>
        <p:nvSpPr>
          <p:cNvPr id="1656" name="Google Shape;1656;p26"/>
          <p:cNvSpPr txBox="1"/>
          <p:nvPr/>
        </p:nvSpPr>
        <p:spPr>
          <a:xfrm>
            <a:off x="632499" y="474029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E2</a:t>
            </a:r>
            <a:endParaRPr sz="1432"/>
          </a:p>
        </p:txBody>
      </p:sp>
      <p:sp>
        <p:nvSpPr>
          <p:cNvPr id="1657" name="Google Shape;1657;p26"/>
          <p:cNvSpPr/>
          <p:nvPr/>
        </p:nvSpPr>
        <p:spPr>
          <a:xfrm>
            <a:off x="10690226" y="4740292"/>
            <a:ext cx="3438600" cy="299700"/>
          </a:xfrm>
          <a:prstGeom prst="roundRect">
            <a:avLst>
              <a:gd fmla="val 30000" name="adj"/>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E2</a:t>
            </a:r>
            <a:endParaRPr sz="1432"/>
          </a:p>
        </p:txBody>
      </p:sp>
      <p:sp>
        <p:nvSpPr>
          <p:cNvPr id="1659" name="!!gv_5"/>
          <p:cNvSpPr/>
          <p:nvPr/>
        </p:nvSpPr>
        <p:spPr>
          <a:xfrm>
            <a:off x="14128565" y="5133245"/>
            <a:ext cx="1146300" cy="299700"/>
          </a:xfrm>
          <a:prstGeom prst="roundRect">
            <a:avLst>
              <a:gd fmla="val 30000" name="adj"/>
            </a:avLst>
          </a:prstGeom>
          <a:solidFill>
            <a:srgbClr val="9A9A9A"/>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Calidad</a:t>
            </a:r>
            <a:endParaRPr sz="1432"/>
          </a:p>
        </p:txBody>
      </p:sp>
      <p:sp>
        <p:nvSpPr>
          <p:cNvPr id="1661" name="!!gv_6"/>
          <p:cNvSpPr/>
          <p:nvPr/>
        </p:nvSpPr>
        <p:spPr>
          <a:xfrm>
            <a:off x="10690226" y="5619758"/>
            <a:ext cx="6876300" cy="112200"/>
          </a:xfrm>
          <a:prstGeom prst="roundRect">
            <a:avLst>
              <a:gd fmla="val 30000" name="adj"/>
            </a:avLst>
          </a:prstGeom>
          <a:solidFill>
            <a:srgbClr val="F3C9A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4" name="Google Shape;1664;p26"/>
          <p:cNvSpPr txBox="1"/>
          <p:nvPr/>
        </p:nvSpPr>
        <p:spPr>
          <a:xfrm>
            <a:off x="8398000"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5" name="Google Shape;1665;p26"/>
          <p:cNvSpPr txBox="1"/>
          <p:nvPr/>
        </p:nvSpPr>
        <p:spPr>
          <a:xfrm>
            <a:off x="12409396"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6" name="Google Shape;1666;p26"/>
          <p:cNvSpPr txBox="1"/>
          <p:nvPr/>
        </p:nvSpPr>
        <p:spPr>
          <a:xfrm>
            <a:off x="13555509" y="5526198"/>
            <a:ext cx="14328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restauración</a:t>
            </a:r>
            <a:endParaRPr sz="1432"/>
          </a:p>
        </p:txBody>
      </p:sp>
      <p:sp>
        <p:nvSpPr>
          <p:cNvPr id="1667" name="Google Shape;1667;p26"/>
          <p:cNvSpPr txBox="1"/>
          <p:nvPr/>
        </p:nvSpPr>
        <p:spPr>
          <a:xfrm>
            <a:off x="632499" y="591915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Gestión del cambio</a:t>
            </a:r>
            <a:endParaRPr sz="1432"/>
          </a:p>
        </p:txBody>
      </p:sp>
      <p:sp>
        <p:nvSpPr>
          <p:cNvPr id="1668" name="!!gv_9"/>
          <p:cNvSpPr/>
          <p:nvPr/>
        </p:nvSpPr>
        <p:spPr>
          <a:xfrm>
            <a:off x="4386604" y="5919151"/>
            <a:ext cx="11461200" cy="299700"/>
          </a:xfrm>
          <a:prstGeom prst="roundRect">
            <a:avLst>
              <a:gd fmla="val 30000" name="adj"/>
            </a:avLst>
          </a:prstGeom>
          <a:solidFill>
            <a:srgbClr val="C7C7C7"/>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Operación → m56</a:t>
            </a:r>
            <a:endParaRPr sz="1432"/>
          </a:p>
        </p:txBody>
      </p:sp>
      <p:sp>
        <p:nvSpPr>
          <p:cNvPr id="1670" name="Google Shape;1670;p26"/>
          <p:cNvSpPr/>
          <p:nvPr/>
        </p:nvSpPr>
        <p:spPr>
          <a:xfrm>
            <a:off x="15274679" y="6312104"/>
            <a:ext cx="2292300" cy="299700"/>
          </a:xfrm>
          <a:prstGeom prst="homePlate">
            <a:avLst>
              <a:gd fmla="val 50000" name="adj"/>
            </a:avLst>
          </a:prstGeom>
          <a:solidFill>
            <a:srgbClr val="3C3C3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Cambios de software</a:t>
            </a:r>
            <a:endParaRPr sz="1432"/>
          </a:p>
        </p:txBody>
      </p:sp>
      <p:sp>
        <p:nvSpPr>
          <p:cNvPr id="1672" name="Google Shape;1672;p26"/>
          <p:cNvSpPr txBox="1"/>
          <p:nvPr/>
        </p:nvSpPr>
        <p:spPr>
          <a:xfrm>
            <a:off x="632499" y="709801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Hitos</a:t>
            </a:r>
            <a:endParaRPr sz="1432"/>
          </a:p>
        </p:txBody>
      </p:sp>
      <p:sp>
        <p:nvSpPr>
          <p:cNvPr id="1673" name="Google Shape;1673;p26"/>
          <p:cNvSpPr txBox="1"/>
          <p:nvPr/>
        </p:nvSpPr>
        <p:spPr>
          <a:xfrm>
            <a:off x="632499" y="765937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a:t>
            </a:r>
            <a:endParaRPr sz="1432"/>
          </a:p>
        </p:txBody>
      </p:sp>
      <p:cxnSp>
        <p:nvCxnSpPr>
          <p:cNvPr id="1674" name="Google Shape;1674;p26"/>
          <p:cNvCxnSpPr/>
          <p:nvPr/>
        </p:nvCxnSpPr>
        <p:spPr>
          <a:xfrm>
            <a:off x="3813547" y="8071038"/>
            <a:ext cx="13753500" cy="0"/>
          </a:xfrm>
          <a:prstGeom prst="straightConnector1">
            <a:avLst/>
          </a:prstGeom>
          <a:noFill/>
          <a:ln cap="flat" cmpd="sng" w="26000">
            <a:solidFill>
              <a:srgbClr val="9A9A9A"/>
            </a:solidFill>
            <a:prstDash val="solid"/>
            <a:round/>
            <a:headEnd len="sm" w="sm" type="none"/>
            <a:tailEnd len="sm" w="sm" type="none"/>
          </a:ln>
          <a:effectLst>
            <a:outerShdw blurRad="81855" rotWithShape="0" dir="5400000" dist="40928">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a:t>
            </a:r>
            <a:endParaRPr sz="1432"/>
          </a:p>
        </p:txBody>
      </p:sp>
      <p:sp>
        <p:nvSpPr>
          <p:cNvPr id="1676" name="Google Shape;1676;p26"/>
          <p:cNvSpPr txBox="1"/>
          <p:nvPr/>
        </p:nvSpPr>
        <p:spPr>
          <a:xfrm>
            <a:off x="438660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a:t>
            </a:r>
            <a:endParaRPr sz="1432"/>
          </a:p>
        </p:txBody>
      </p:sp>
      <p:sp>
        <p:nvSpPr>
          <p:cNvPr id="1677" name="Google Shape;1677;p26"/>
          <p:cNvSpPr txBox="1"/>
          <p:nvPr/>
        </p:nvSpPr>
        <p:spPr>
          <a:xfrm>
            <a:off x="495966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3</a:t>
            </a:r>
            <a:endParaRPr sz="1432"/>
          </a:p>
        </p:txBody>
      </p:sp>
      <p:sp>
        <p:nvSpPr>
          <p:cNvPr id="1678" name="Google Shape;1678;p26"/>
          <p:cNvSpPr txBox="1"/>
          <p:nvPr/>
        </p:nvSpPr>
        <p:spPr>
          <a:xfrm>
            <a:off x="553271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4</a:t>
            </a:r>
            <a:endParaRPr sz="1432"/>
          </a:p>
        </p:txBody>
      </p:sp>
      <p:sp>
        <p:nvSpPr>
          <p:cNvPr id="1679" name="Google Shape;1679;p26"/>
          <p:cNvSpPr txBox="1"/>
          <p:nvPr/>
        </p:nvSpPr>
        <p:spPr>
          <a:xfrm>
            <a:off x="610577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5</a:t>
            </a:r>
            <a:endParaRPr sz="1432"/>
          </a:p>
        </p:txBody>
      </p:sp>
      <p:sp>
        <p:nvSpPr>
          <p:cNvPr id="1680" name="Google Shape;1680;p26"/>
          <p:cNvSpPr txBox="1"/>
          <p:nvPr/>
        </p:nvSpPr>
        <p:spPr>
          <a:xfrm>
            <a:off x="667882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6</a:t>
            </a:r>
            <a:endParaRPr sz="1432"/>
          </a:p>
        </p:txBody>
      </p:sp>
      <p:sp>
        <p:nvSpPr>
          <p:cNvPr id="1681" name="Google Shape;1681;p26"/>
          <p:cNvSpPr txBox="1"/>
          <p:nvPr/>
        </p:nvSpPr>
        <p:spPr>
          <a:xfrm>
            <a:off x="725188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7</a:t>
            </a:r>
            <a:endParaRPr sz="1432"/>
          </a:p>
        </p:txBody>
      </p:sp>
      <p:sp>
        <p:nvSpPr>
          <p:cNvPr id="1682" name="Google Shape;1682;p26"/>
          <p:cNvSpPr txBox="1"/>
          <p:nvPr/>
        </p:nvSpPr>
        <p:spPr>
          <a:xfrm>
            <a:off x="782494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8</a:t>
            </a:r>
            <a:endParaRPr sz="1432"/>
          </a:p>
        </p:txBody>
      </p:sp>
      <p:sp>
        <p:nvSpPr>
          <p:cNvPr id="1683" name="Google Shape;1683;p26"/>
          <p:cNvSpPr txBox="1"/>
          <p:nvPr/>
        </p:nvSpPr>
        <p:spPr>
          <a:xfrm>
            <a:off x="839800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9</a:t>
            </a:r>
            <a:endParaRPr sz="1432"/>
          </a:p>
        </p:txBody>
      </p:sp>
      <p:sp>
        <p:nvSpPr>
          <p:cNvPr id="1684" name="Google Shape;1684;p26"/>
          <p:cNvSpPr txBox="1"/>
          <p:nvPr/>
        </p:nvSpPr>
        <p:spPr>
          <a:xfrm>
            <a:off x="897105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10</a:t>
            </a:r>
            <a:endParaRPr sz="1432"/>
          </a:p>
        </p:txBody>
      </p:sp>
      <p:sp>
        <p:nvSpPr>
          <p:cNvPr id="1685" name="Google Shape;1685;p26"/>
          <p:cNvSpPr txBox="1"/>
          <p:nvPr/>
        </p:nvSpPr>
        <p:spPr>
          <a:xfrm>
            <a:off x="954411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11</a:t>
            </a:r>
            <a:endParaRPr sz="1432"/>
          </a:p>
        </p:txBody>
      </p:sp>
      <p:sp>
        <p:nvSpPr>
          <p:cNvPr id="1686" name="Google Shape;1686;p26"/>
          <p:cNvSpPr txBox="1"/>
          <p:nvPr/>
        </p:nvSpPr>
        <p:spPr>
          <a:xfrm>
            <a:off x="1011717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12</a:t>
            </a:r>
            <a:endParaRPr sz="1432"/>
          </a:p>
        </p:txBody>
      </p:sp>
      <p:sp>
        <p:nvSpPr>
          <p:cNvPr id="1687" name="Google Shape;1687;p26"/>
          <p:cNvSpPr txBox="1"/>
          <p:nvPr/>
        </p:nvSpPr>
        <p:spPr>
          <a:xfrm>
            <a:off x="1069022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13</a:t>
            </a:r>
            <a:endParaRPr sz="1432"/>
          </a:p>
        </p:txBody>
      </p:sp>
      <p:sp>
        <p:nvSpPr>
          <p:cNvPr id="1688" name="Google Shape;1688;p26"/>
          <p:cNvSpPr txBox="1"/>
          <p:nvPr/>
        </p:nvSpPr>
        <p:spPr>
          <a:xfrm>
            <a:off x="1126328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14</a:t>
            </a:r>
            <a:endParaRPr sz="1432"/>
          </a:p>
        </p:txBody>
      </p:sp>
      <p:sp>
        <p:nvSpPr>
          <p:cNvPr id="1689" name="Google Shape;1689;p26"/>
          <p:cNvSpPr txBox="1"/>
          <p:nvPr/>
        </p:nvSpPr>
        <p:spPr>
          <a:xfrm>
            <a:off x="11836338"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15</a:t>
            </a:r>
            <a:endParaRPr sz="1432"/>
          </a:p>
        </p:txBody>
      </p:sp>
      <p:sp>
        <p:nvSpPr>
          <p:cNvPr id="1690" name="Google Shape;1690;p26"/>
          <p:cNvSpPr txBox="1"/>
          <p:nvPr/>
        </p:nvSpPr>
        <p:spPr>
          <a:xfrm>
            <a:off x="1240939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16</a:t>
            </a:r>
            <a:endParaRPr sz="1432"/>
          </a:p>
        </p:txBody>
      </p:sp>
      <p:sp>
        <p:nvSpPr>
          <p:cNvPr id="1691" name="Google Shape;1691;p26"/>
          <p:cNvSpPr txBox="1"/>
          <p:nvPr/>
        </p:nvSpPr>
        <p:spPr>
          <a:xfrm>
            <a:off x="12982452"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17</a:t>
            </a:r>
            <a:endParaRPr sz="1432"/>
          </a:p>
        </p:txBody>
      </p:sp>
      <p:sp>
        <p:nvSpPr>
          <p:cNvPr id="1692" name="Google Shape;1692;p26"/>
          <p:cNvSpPr txBox="1"/>
          <p:nvPr/>
        </p:nvSpPr>
        <p:spPr>
          <a:xfrm>
            <a:off x="1355550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18</a:t>
            </a:r>
            <a:endParaRPr sz="1432"/>
          </a:p>
        </p:txBody>
      </p:sp>
      <p:sp>
        <p:nvSpPr>
          <p:cNvPr id="1693" name="Google Shape;1693;p26"/>
          <p:cNvSpPr txBox="1"/>
          <p:nvPr/>
        </p:nvSpPr>
        <p:spPr>
          <a:xfrm>
            <a:off x="1412856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19</a:t>
            </a:r>
            <a:endParaRPr sz="1432"/>
          </a:p>
        </p:txBody>
      </p:sp>
      <p:sp>
        <p:nvSpPr>
          <p:cNvPr id="1694" name="Google Shape;1694;p26"/>
          <p:cNvSpPr txBox="1"/>
          <p:nvPr/>
        </p:nvSpPr>
        <p:spPr>
          <a:xfrm>
            <a:off x="1470162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20</a:t>
            </a:r>
            <a:endParaRPr sz="1432"/>
          </a:p>
        </p:txBody>
      </p:sp>
      <p:sp>
        <p:nvSpPr>
          <p:cNvPr id="1695" name="Google Shape;1695;p26"/>
          <p:cNvSpPr txBox="1"/>
          <p:nvPr/>
        </p:nvSpPr>
        <p:spPr>
          <a:xfrm>
            <a:off x="1527467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21</a:t>
            </a:r>
            <a:endParaRPr sz="1432"/>
          </a:p>
        </p:txBody>
      </p:sp>
      <p:sp>
        <p:nvSpPr>
          <p:cNvPr id="1696" name="Google Shape;1696;p26"/>
          <p:cNvSpPr txBox="1"/>
          <p:nvPr/>
        </p:nvSpPr>
        <p:spPr>
          <a:xfrm>
            <a:off x="1584773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22</a:t>
            </a:r>
            <a:endParaRPr sz="1432"/>
          </a:p>
        </p:txBody>
      </p:sp>
      <p:sp>
        <p:nvSpPr>
          <p:cNvPr id="1697" name="Google Shape;1697;p26"/>
          <p:cNvSpPr txBox="1"/>
          <p:nvPr/>
        </p:nvSpPr>
        <p:spPr>
          <a:xfrm>
            <a:off x="1642079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23</a:t>
            </a:r>
            <a:endParaRPr sz="1432"/>
          </a:p>
        </p:txBody>
      </p:sp>
      <p:sp>
        <p:nvSpPr>
          <p:cNvPr id="1698" name="Google Shape;1698;p26"/>
          <p:cNvSpPr txBox="1"/>
          <p:nvPr/>
        </p:nvSpPr>
        <p:spPr>
          <a:xfrm>
            <a:off x="169938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24</a:t>
            </a:r>
            <a:endParaRPr sz="1432"/>
          </a:p>
        </p:txBody>
      </p:sp>
      <p:sp>
        <p:nvSpPr>
          <p:cNvPr id="1699" name="Google Shape;1699;p26"/>
          <p:cNvSpPr/>
          <p:nvPr/>
        </p:nvSpPr>
        <p:spPr>
          <a:xfrm>
            <a:off x="9544113"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E1</a:t>
            </a:r>
            <a:endParaRPr sz="1432"/>
          </a:p>
        </p:txBody>
      </p:sp>
      <p:sp>
        <p:nvSpPr>
          <p:cNvPr id="1700" name="Google Shape;1700;p26"/>
          <p:cNvSpPr/>
          <p:nvPr/>
        </p:nvSpPr>
        <p:spPr>
          <a:xfrm>
            <a:off x="12982452"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E2</a:t>
            </a:r>
            <a:endParaRPr sz="1432"/>
          </a:p>
        </p:txBody>
      </p:sp>
      <p:sp>
        <p:nvSpPr>
          <p:cNvPr id="1701" name="Google Shape;1701;p26"/>
          <p:cNvSpPr/>
          <p:nvPr/>
        </p:nvSpPr>
        <p:spPr>
          <a:xfrm>
            <a:off x="4560860"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a:t>
            </a:r>
            <a:endParaRPr sz="1432"/>
          </a:p>
        </p:txBody>
      </p:sp>
      <p:sp>
        <p:nvSpPr>
          <p:cNvPr id="1703" name="Google Shape;1703;p26"/>
          <p:cNvSpPr/>
          <p:nvPr/>
        </p:nvSpPr>
        <p:spPr>
          <a:xfrm>
            <a:off x="5706973"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H2</a:t>
            </a:r>
            <a:endParaRPr sz="1432"/>
          </a:p>
        </p:txBody>
      </p:sp>
      <p:sp>
        <p:nvSpPr>
          <p:cNvPr id="1705" name="Google Shape;1705;p26"/>
          <p:cNvSpPr/>
          <p:nvPr/>
        </p:nvSpPr>
        <p:spPr>
          <a:xfrm>
            <a:off x="685308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H3</a:t>
            </a:r>
            <a:endParaRPr sz="1432"/>
          </a:p>
        </p:txBody>
      </p:sp>
      <p:sp>
        <p:nvSpPr>
          <p:cNvPr id="1707" name="Google Shape;1707;p26"/>
          <p:cNvSpPr/>
          <p:nvPr/>
        </p:nvSpPr>
        <p:spPr>
          <a:xfrm>
            <a:off x="914531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H4</a:t>
            </a:r>
            <a:endParaRPr sz="1432"/>
          </a:p>
        </p:txBody>
      </p:sp>
      <p:sp>
        <p:nvSpPr>
          <p:cNvPr id="1709" name="Google Shape;1709;p26"/>
          <p:cNvSpPr/>
          <p:nvPr/>
        </p:nvSpPr>
        <p:spPr>
          <a:xfrm>
            <a:off x="1029142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H5</a:t>
            </a:r>
            <a:endParaRPr sz="1432"/>
          </a:p>
        </p:txBody>
      </p:sp>
      <p:sp>
        <p:nvSpPr>
          <p:cNvPr id="1711" name="Google Shape;1711;p26"/>
          <p:cNvSpPr/>
          <p:nvPr/>
        </p:nvSpPr>
        <p:spPr>
          <a:xfrm>
            <a:off x="1086448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H6</a:t>
            </a:r>
            <a:endParaRPr sz="1432"/>
          </a:p>
        </p:txBody>
      </p:sp>
      <p:sp>
        <p:nvSpPr>
          <p:cNvPr id="1713" name="Google Shape;1713;p26"/>
          <p:cNvSpPr/>
          <p:nvPr/>
        </p:nvSpPr>
        <p:spPr>
          <a:xfrm>
            <a:off x="11437539"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H8</a:t>
            </a:r>
            <a:endParaRPr sz="1432"/>
          </a:p>
        </p:txBody>
      </p:sp>
      <p:sp>
        <p:nvSpPr>
          <p:cNvPr id="1715" name="Google Shape;1715;p26"/>
          <p:cNvSpPr/>
          <p:nvPr/>
        </p:nvSpPr>
        <p:spPr>
          <a:xfrm>
            <a:off x="12583652"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H7</a:t>
            </a:r>
            <a:endParaRPr sz="1432"/>
          </a:p>
        </p:txBody>
      </p:sp>
      <p:sp>
        <p:nvSpPr>
          <p:cNvPr id="1717" name="Google Shape;1717;p26"/>
          <p:cNvSpPr/>
          <p:nvPr/>
        </p:nvSpPr>
        <p:spPr>
          <a:xfrm>
            <a:off x="13156708"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H9</a:t>
            </a:r>
            <a:endParaRPr sz="1432"/>
          </a:p>
        </p:txBody>
      </p:sp>
      <p:sp>
        <p:nvSpPr>
          <p:cNvPr id="1719" name="Google Shape;1719;p26"/>
          <p:cNvSpPr/>
          <p:nvPr/>
        </p:nvSpPr>
        <p:spPr>
          <a:xfrm>
            <a:off x="13729765"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H10</a:t>
            </a:r>
            <a:endParaRPr sz="1432"/>
          </a:p>
        </p:txBody>
      </p:sp>
      <p:sp>
        <p:nvSpPr>
          <p:cNvPr id="1721" name="Google Shape;1721;p26"/>
          <p:cNvSpPr/>
          <p:nvPr/>
        </p:nvSpPr>
        <p:spPr>
          <a:xfrm>
            <a:off x="1430282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H11</a:t>
            </a:r>
            <a:endParaRPr sz="1432"/>
          </a:p>
        </p:txBody>
      </p:sp>
      <p:sp>
        <p:nvSpPr>
          <p:cNvPr id="1723" name="Google Shape;1723;p26"/>
          <p:cNvSpPr/>
          <p:nvPr/>
        </p:nvSpPr>
        <p:spPr>
          <a:xfrm>
            <a:off x="15448934"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H12</a:t>
            </a:r>
            <a:endParaRPr sz="1432"/>
          </a:p>
        </p:txBody>
      </p:sp>
      <p:sp>
        <p:nvSpPr>
          <p:cNvPr id="1725" name="Google Shape;1725;p26"/>
          <p:cNvSpPr/>
          <p:nvPr/>
        </p:nvSpPr>
        <p:spPr>
          <a:xfrm>
            <a:off x="4523436"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6" name="Google Shape;1726;p26"/>
          <p:cNvSpPr/>
          <p:nvPr/>
        </p:nvSpPr>
        <p:spPr>
          <a:xfrm>
            <a:off x="5669549"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7" name="Google Shape;1727;p26"/>
          <p:cNvSpPr/>
          <p:nvPr/>
        </p:nvSpPr>
        <p:spPr>
          <a:xfrm>
            <a:off x="6815662"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8" name="Google Shape;1728;p26"/>
          <p:cNvSpPr/>
          <p:nvPr/>
        </p:nvSpPr>
        <p:spPr>
          <a:xfrm>
            <a:off x="796177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2</a:t>
            </a:r>
            <a:endParaRPr sz="1432"/>
          </a:p>
        </p:txBody>
      </p:sp>
      <p:sp>
        <p:nvSpPr>
          <p:cNvPr id="1729" name="Google Shape;1729;p26"/>
          <p:cNvSpPr/>
          <p:nvPr/>
        </p:nvSpPr>
        <p:spPr>
          <a:xfrm>
            <a:off x="968094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4</a:t>
            </a:r>
            <a:endParaRPr sz="1432"/>
          </a:p>
        </p:txBody>
      </p:sp>
      <p:sp>
        <p:nvSpPr>
          <p:cNvPr id="1730" name="Google Shape;1730;p26"/>
          <p:cNvSpPr/>
          <p:nvPr/>
        </p:nvSpPr>
        <p:spPr>
          <a:xfrm>
            <a:off x="10254001"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31" name="Google Shape;1731;p26"/>
          <p:cNvSpPr txBox="1"/>
          <p:nvPr/>
        </p:nvSpPr>
        <p:spPr>
          <a:xfrm>
            <a:off x="3813547" y="8426567"/>
            <a:ext cx="110400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 m2 R-001 · m4 R-014 · m6 R-006 · m8 R-005, R-011 · m11 R-003, R-013, R-015, R-016 · m12 R-012</a:t>
            </a:r>
            <a:endParaRPr sz="1432"/>
          </a:p>
        </p:txBody>
      </p:sp>
      <p:sp>
        <p:nvSpPr>
          <p:cNvPr id="17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deco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39" name="!!deco2"/>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40" name="Google Shape;1740;p27"/>
          <p:cNvSpPr txBox="1"/>
          <p:nvPr/>
        </p:nvSpPr>
        <p:spPr>
          <a:xfrm>
            <a:off x="9389512" y="1188720"/>
            <a:ext cx="5669280" cy="237744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Esfuerzo por mes</a:t>
            </a:r>
            <a:endParaRPr/>
          </a:p>
        </p:txBody>
      </p:sp>
      <p:sp>
        <p:nvSpPr>
          <p:cNvPr id="1741" name="!!brand"/>
          <p:cNvSpPr txBox="1"/>
          <p:nvPr/>
        </p:nvSpPr>
        <p:spPr>
          <a:xfrm>
            <a:off x="13217409" y="1000125"/>
            <a:ext cx="3328659"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1742" name="!!logo"/>
          <p:cNvPicPr preferRelativeResize="0"/>
          <p:nvPr/>
        </p:nvPicPr>
        <p:blipFill rotWithShape="1">
          <a:blip r:embed="rId3">
            <a:alphaModFix/>
          </a:blip>
          <a:srcRect b="0" l="0" r="0" t="0"/>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8.106 HH</a:t>
            </a:r>
            <a:endParaRPr/>
          </a:p>
        </p:txBody>
      </p:sp>
      <p:sp>
        <p:nvSpPr>
          <p:cNvPr id="1744" name="Google Shape;1744;p27"/>
          <p:cNvSpPr txBox="1"/>
          <p:nvPr/>
        </p:nvSpPr>
        <p:spPr>
          <a:xfrm>
            <a:off x="9390888" y="4389120"/>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máximo mensual · mes 15</a:t>
            </a:r>
            <a:endParaRPr/>
          </a:p>
        </p:txBody>
      </p:sp>
      <p:sp>
        <p:nvSpPr>
          <p:cNvPr id="1745" name="Google Shape;1745;p27"/>
          <p:cNvSpPr txBox="1"/>
          <p:nvPr/>
        </p:nvSpPr>
        <p:spPr>
          <a:xfrm>
            <a:off x="9390888" y="4956048"/>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69 personas</a:t>
            </a:r>
            <a:endParaRPr/>
          </a:p>
        </p:txBody>
      </p:sp>
      <p:sp>
        <p:nvSpPr>
          <p:cNvPr id="1746" name="Google Shape;1746;p27"/>
          <p:cNvSpPr txBox="1"/>
          <p:nvPr/>
        </p:nvSpPr>
        <p:spPr>
          <a:xfrm>
            <a:off x="9390888" y="5504688"/>
            <a:ext cx="53035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equivalentes · peak del mes 15</a:t>
            </a:r>
            <a:endParaRPr b="0" sz="1700">
              <a:solidFill>
                <a:srgbClr val="606060"/>
              </a:solidFill>
              <a:latin typeface="Inter"/>
              <a:ea typeface="Inter"/>
              <a:cs typeface="Inter"/>
              <a:sym typeface="Inter"/>
            </a:endParaRPr>
          </a:p>
        </p:txBody>
      </p:sp>
      <p:sp>
        <p:nvSpPr>
          <p:cNvPr id="1747" name="Google Shape;1747;p27"/>
          <p:cNvSpPr txBox="1"/>
          <p:nvPr/>
        </p:nvSpPr>
        <p:spPr>
          <a:xfrm>
            <a:off x="9390888" y="6071616"/>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≈3.200–3.900</a:t>
            </a:r>
            <a:endParaRPr/>
          </a:p>
        </p:txBody>
      </p:sp>
      <p:sp>
        <p:nvSpPr>
          <p:cNvPr id="1748" name="Google Shape;1748;p27"/>
          <p:cNvSpPr txBox="1"/>
          <p:nvPr/>
        </p:nvSpPr>
        <p:spPr>
          <a:xfrm>
            <a:off x="9390888" y="6620256"/>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HH/mes en operación</a:t>
            </a:r>
            <a:endParaRPr/>
          </a:p>
        </p:txBody>
      </p:sp>
      <p:sp>
        <p:nvSpPr>
          <p:cNvPr id="1749" name="Google Shape;1749;p27"/>
          <p:cNvSpPr txBox="1"/>
          <p:nvPr/>
        </p:nvSpPr>
        <p:spPr>
          <a:xfrm>
            <a:off x="9390888" y="7187184"/>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217.543 HH</a:t>
            </a:r>
            <a:endParaRPr/>
          </a:p>
        </p:txBody>
      </p:sp>
      <p:sp>
        <p:nvSpPr>
          <p:cNvPr id="1750" name="Google Shape;1750;p27"/>
          <p:cNvSpPr txBox="1"/>
          <p:nvPr/>
        </p:nvSpPr>
        <p:spPr>
          <a:xfrm>
            <a:off x="9390888" y="7735824"/>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programadas en total</a:t>
            </a:r>
            <a:endParaRPr/>
          </a:p>
        </p:txBody>
      </p:sp>
      <p:graphicFrame>
        <p:nvGraphicFramePr>
          <p:cNvPr id="1751" name="Google Shape;1751;p27"/>
          <p:cNvGraphicFramePr/>
          <p:nvPr/>
        </p:nvGraphicFramePr>
        <p:xfrm>
          <a:off x="457200" y="1188720"/>
          <a:ext cx="8686800" cy="7863840"/>
        </p:xfrm>
        <a:graphic>
          <a:graphicData uri="http://schemas.openxmlformats.org/drawingml/2006/chart">
            <c:chart r:id="rId4"/>
          </a:graphicData>
        </a:graphic>
      </p:graphicFrame>
      <p:sp>
        <p:nvSpPr>
          <p:cNvPr id="175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23</a:t>
            </a: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6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
        <p:nvSpPr>
          <p:cNvPr id="1764" name="Rounded Rectangle 1763"/>
          <p:cNvSpPr/>
          <p:nvPr/>
        </p:nvSpPr>
        <p:spPr>
          <a:xfrm>
            <a:off x="5943600" y="457200"/>
            <a:ext cx="6400800" cy="868680"/>
          </a:xfrm>
          <a:prstGeom prst="roundRect">
            <a:avLst>
              <a:gd name="adj" fmla="val 12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000" b="1">
                <a:solidFill>
                  <a:srgbClr val="FFFFFF"/>
                </a:solidFill>
                <a:latin typeface="Inter SemiBold"/>
              </a:rPr>
              <a:t>Riesgos del proyecto LafroX</a:t>
            </a:r>
          </a:p>
          <a:p>
            <a:pPr algn="ctr"/>
            <a:r>
              <a:rPr sz="1400" b="0">
                <a:solidFill>
                  <a:srgbClr val="C7C7C7"/>
                </a:solidFill>
                <a:latin typeface="Inter"/>
              </a:rPr>
              <a:t>45 riesgos · reserva 2.058,5 HH</a:t>
            </a:r>
          </a:p>
        </p:txBody>
      </p:sp>
      <p:cxnSp>
        <p:nvCxnSpPr>
          <p:cNvPr id="1765" name="Connector 1764"/>
          <p:cNvCxnSpPr/>
          <p:nvPr/>
        </p:nvCxnSpPr>
        <p:spPr>
          <a:xfrm>
            <a:off x="2670048" y="1645920"/>
            <a:ext cx="13962888"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6" name="Connector 1765"/>
          <p:cNvCxnSpPr/>
          <p:nvPr/>
        </p:nvCxnSpPr>
        <p:spPr>
          <a:xfrm>
            <a:off x="9144000" y="132588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2724912" y="1645920"/>
            <a:ext cx="0" cy="22859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8" name="Rounded Rectangle 1767"/>
          <p:cNvSpPr/>
          <p:nvPr/>
        </p:nvSpPr>
        <p:spPr>
          <a:xfrm>
            <a:off x="640080" y="1874519"/>
            <a:ext cx="4169664" cy="9144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Inter SemiBold"/>
              </a:rPr>
              <a:t>1 · Solución y tecnología</a:t>
            </a:r>
          </a:p>
          <a:p>
            <a:pPr algn="ctr"/>
            <a:r>
              <a:rPr sz="1300" b="0">
                <a:solidFill>
                  <a:srgbClr val="F29A5E"/>
                </a:solidFill>
                <a:latin typeface="Inter"/>
              </a:rPr>
              <a:t>14 riesgos</a:t>
            </a:r>
          </a:p>
        </p:txBody>
      </p:sp>
      <p:sp>
        <p:nvSpPr>
          <p:cNvPr id="1769" name="Rounded Rectangle 1768"/>
          <p:cNvSpPr/>
          <p:nvPr/>
        </p:nvSpPr>
        <p:spPr>
          <a:xfrm>
            <a:off x="640080" y="297180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R-005</a:t>
            </a:r>
          </a:p>
          <a:p>
            <a:pPr algn="l"/>
            <a:r>
              <a:rPr sz="1300" b="0">
                <a:solidFill>
                  <a:srgbClr val="111111"/>
                </a:solidFill>
                <a:latin typeface="Inter"/>
              </a:rPr>
              <a:t>Duplicados tras reconexión</a:t>
            </a:r>
          </a:p>
        </p:txBody>
      </p:sp>
      <p:sp>
        <p:nvSpPr>
          <p:cNvPr id="1770" name="Rounded Rectangle 1769"/>
          <p:cNvSpPr/>
          <p:nvPr/>
        </p:nvSpPr>
        <p:spPr>
          <a:xfrm>
            <a:off x="640080" y="3758184"/>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R-008</a:t>
            </a:r>
          </a:p>
          <a:p>
            <a:pPr algn="l"/>
            <a:r>
              <a:rPr sz="1300" b="0">
                <a:solidFill>
                  <a:srgbClr val="111111"/>
                </a:solidFill>
                <a:latin typeface="Inter"/>
              </a:rPr>
              <a:t>Turno sin señal o batería</a:t>
            </a:r>
          </a:p>
        </p:txBody>
      </p:sp>
      <p:sp>
        <p:nvSpPr>
          <p:cNvPr id="1771" name="Rounded Rectangle 1770"/>
          <p:cNvSpPr/>
          <p:nvPr/>
        </p:nvSpPr>
        <p:spPr>
          <a:xfrm>
            <a:off x="640080" y="4544568"/>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R-009</a:t>
            </a:r>
          </a:p>
          <a:p>
            <a:pPr algn="l"/>
            <a:r>
              <a:rPr sz="1300" b="0">
                <a:solidFill>
                  <a:srgbClr val="111111"/>
                </a:solidFill>
                <a:latin typeface="Inter"/>
              </a:rPr>
              <a:t>Relevo local en corte</a:t>
            </a:r>
          </a:p>
        </p:txBody>
      </p:sp>
      <p:sp>
        <p:nvSpPr>
          <p:cNvPr id="1772" name="Rounded Rectangle 1771"/>
          <p:cNvSpPr/>
          <p:nvPr/>
        </p:nvSpPr>
        <p:spPr>
          <a:xfrm>
            <a:off x="640080" y="5330952"/>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R-010</a:t>
            </a:r>
          </a:p>
          <a:p>
            <a:pPr algn="l"/>
            <a:r>
              <a:rPr sz="1300" b="0">
                <a:solidFill>
                  <a:srgbClr val="111111"/>
                </a:solidFill>
                <a:latin typeface="Inter"/>
              </a:rPr>
              <a:t>Terminales a −22 °C</a:t>
            </a:r>
          </a:p>
        </p:txBody>
      </p:sp>
      <p:sp>
        <p:nvSpPr>
          <p:cNvPr id="1773" name="Rounded Rectangle 1772"/>
          <p:cNvSpPr/>
          <p:nvPr/>
        </p:nvSpPr>
        <p:spPr>
          <a:xfrm>
            <a:off x="640080" y="6117336"/>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R-004</a:t>
            </a:r>
          </a:p>
          <a:p>
            <a:pPr algn="l"/>
            <a:r>
              <a:rPr sz="1300" b="0">
                <a:solidFill>
                  <a:srgbClr val="111111"/>
                </a:solidFill>
                <a:latin typeface="Inter"/>
              </a:rPr>
              <a:t>Maestros e historia</a:t>
            </a:r>
          </a:p>
        </p:txBody>
      </p:sp>
      <p:sp>
        <p:nvSpPr>
          <p:cNvPr id="1774" name="Rounded Rectangle 1773"/>
          <p:cNvSpPr/>
          <p:nvPr/>
        </p:nvSpPr>
        <p:spPr>
          <a:xfrm>
            <a:off x="640080" y="690372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R-011</a:t>
            </a:r>
          </a:p>
          <a:p>
            <a:pPr algn="l"/>
            <a:r>
              <a:rPr sz="1300" b="0">
                <a:solidFill>
                  <a:srgbClr val="111111"/>
                </a:solidFill>
                <a:latin typeface="Inter"/>
              </a:rPr>
              <a:t>Regla o sensor térmico</a:t>
            </a:r>
          </a:p>
        </p:txBody>
      </p:sp>
      <p:sp>
        <p:nvSpPr>
          <p:cNvPr id="1775" name="Rounded Rectangle 1774"/>
          <p:cNvSpPr/>
          <p:nvPr/>
        </p:nvSpPr>
        <p:spPr>
          <a:xfrm>
            <a:off x="640080" y="7690104"/>
            <a:ext cx="2029968" cy="713232"/>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FFFFFF"/>
                </a:solidFill>
                <a:latin typeface="Inter SemiBold"/>
              </a:rPr>
              <a:t>R-012</a:t>
            </a:r>
          </a:p>
          <a:p>
            <a:pPr algn="l"/>
            <a:r>
              <a:rPr sz="1300" b="0">
                <a:solidFill>
                  <a:srgbClr val="FFFFFF"/>
                </a:solidFill>
                <a:latin typeface="Inter"/>
              </a:rPr>
              <a:t>Retiro sin trazabilidad</a:t>
            </a:r>
          </a:p>
        </p:txBody>
      </p:sp>
      <p:sp>
        <p:nvSpPr>
          <p:cNvPr id="1776" name="Rounded Rectangle 1775"/>
          <p:cNvSpPr/>
          <p:nvPr/>
        </p:nvSpPr>
        <p:spPr>
          <a:xfrm>
            <a:off x="2779776" y="297180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R-013</a:t>
            </a:r>
          </a:p>
          <a:p>
            <a:pPr algn="l"/>
            <a:r>
              <a:rPr sz="1300" b="0">
                <a:solidFill>
                  <a:srgbClr val="111111"/>
                </a:solidFill>
                <a:latin typeface="Inter"/>
              </a:rPr>
              <a:t>Peak sin capacidad</a:t>
            </a:r>
          </a:p>
        </p:txBody>
      </p:sp>
      <p:sp>
        <p:nvSpPr>
          <p:cNvPr id="1777" name="Rounded Rectangle 1776"/>
          <p:cNvSpPr/>
          <p:nvPr/>
        </p:nvSpPr>
        <p:spPr>
          <a:xfrm>
            <a:off x="2779776" y="3758184"/>
            <a:ext cx="2029968" cy="713232"/>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FFFFFF"/>
                </a:solidFill>
                <a:latin typeface="Inter SemiBold"/>
              </a:rPr>
              <a:t>R-015</a:t>
            </a:r>
          </a:p>
          <a:p>
            <a:pPr algn="l"/>
            <a:r>
              <a:rPr sz="1300" b="0">
                <a:solidFill>
                  <a:srgbClr val="FFFFFF"/>
                </a:solidFill>
                <a:latin typeface="Inter"/>
              </a:rPr>
              <a:t>RTO/RPO excedidos</a:t>
            </a:r>
          </a:p>
        </p:txBody>
      </p:sp>
      <p:sp>
        <p:nvSpPr>
          <p:cNvPr id="1778" name="Rounded Rectangle 1777"/>
          <p:cNvSpPr/>
          <p:nvPr/>
        </p:nvSpPr>
        <p:spPr>
          <a:xfrm>
            <a:off x="2779776" y="4544568"/>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R-016</a:t>
            </a:r>
          </a:p>
          <a:p>
            <a:pPr algn="l"/>
            <a:r>
              <a:rPr sz="1300" b="0">
                <a:solidFill>
                  <a:srgbClr val="111111"/>
                </a:solidFill>
                <a:latin typeface="Inter"/>
              </a:rPr>
              <a:t>Uso indebido de privilegios</a:t>
            </a:r>
          </a:p>
        </p:txBody>
      </p:sp>
      <p:sp>
        <p:nvSpPr>
          <p:cNvPr id="1779" name="Rounded Rectangle 1778"/>
          <p:cNvSpPr/>
          <p:nvPr/>
        </p:nvSpPr>
        <p:spPr>
          <a:xfrm>
            <a:off x="2779776" y="5330952"/>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R-032</a:t>
            </a:r>
          </a:p>
          <a:p>
            <a:pPr algn="l"/>
            <a:r>
              <a:rPr sz="1300" b="0">
                <a:solidFill>
                  <a:srgbClr val="111111"/>
                </a:solidFill>
                <a:latin typeface="Inter"/>
              </a:rPr>
              <a:t>Bloqueo de nube o terceros</a:t>
            </a:r>
          </a:p>
        </p:txBody>
      </p:sp>
      <p:sp>
        <p:nvSpPr>
          <p:cNvPr id="1780" name="Rounded Rectangle 1779"/>
          <p:cNvSpPr/>
          <p:nvPr/>
        </p:nvSpPr>
        <p:spPr>
          <a:xfrm>
            <a:off x="2779776" y="6117336"/>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R-033</a:t>
            </a:r>
          </a:p>
          <a:p>
            <a:pPr algn="l"/>
            <a:r>
              <a:rPr sz="1300" b="0">
                <a:solidFill>
                  <a:srgbClr val="111111"/>
                </a:solidFill>
                <a:latin typeface="Inter"/>
              </a:rPr>
              <a:t>Fin de soporte</a:t>
            </a:r>
          </a:p>
        </p:txBody>
      </p:sp>
      <p:sp>
        <p:nvSpPr>
          <p:cNvPr id="1781" name="Rounded Rectangle 1780"/>
          <p:cNvSpPr/>
          <p:nvPr/>
        </p:nvSpPr>
        <p:spPr>
          <a:xfrm>
            <a:off x="2779776" y="6903720"/>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R-037</a:t>
            </a:r>
          </a:p>
          <a:p>
            <a:pPr algn="l"/>
            <a:r>
              <a:rPr sz="1300" b="0">
                <a:solidFill>
                  <a:srgbClr val="111111"/>
                </a:solidFill>
                <a:latin typeface="Inter"/>
              </a:rPr>
              <a:t>INN-02 no reproduce</a:t>
            </a:r>
          </a:p>
        </p:txBody>
      </p:sp>
      <p:sp>
        <p:nvSpPr>
          <p:cNvPr id="1782" name="Rounded Rectangle 1781"/>
          <p:cNvSpPr/>
          <p:nvPr/>
        </p:nvSpPr>
        <p:spPr>
          <a:xfrm>
            <a:off x="2779776" y="7690104"/>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R-038</a:t>
            </a:r>
          </a:p>
          <a:p>
            <a:pPr algn="l"/>
            <a:r>
              <a:rPr sz="1300" b="0">
                <a:solidFill>
                  <a:srgbClr val="111111"/>
                </a:solidFill>
                <a:latin typeface="Inter"/>
              </a:rPr>
              <a:t>INN-03 vida útil</a:t>
            </a:r>
          </a:p>
        </p:txBody>
      </p:sp>
      <p:cxnSp>
        <p:nvCxnSpPr>
          <p:cNvPr id="1783" name="Connector 1782"/>
          <p:cNvCxnSpPr/>
          <p:nvPr/>
        </p:nvCxnSpPr>
        <p:spPr>
          <a:xfrm>
            <a:off x="5934456" y="1645920"/>
            <a:ext cx="0" cy="22859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4" name="Rounded Rectangle 1783"/>
          <p:cNvSpPr/>
          <p:nvPr/>
        </p:nvSpPr>
        <p:spPr>
          <a:xfrm>
            <a:off x="4919472" y="1874519"/>
            <a:ext cx="2029968" cy="9144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Inter SemiBold"/>
              </a:rPr>
              <a:t>2 · Integración y legado</a:t>
            </a:r>
          </a:p>
          <a:p>
            <a:pPr algn="ctr"/>
            <a:r>
              <a:rPr sz="1300" b="0">
                <a:solidFill>
                  <a:srgbClr val="F29A5E"/>
                </a:solidFill>
                <a:latin typeface="Inter"/>
              </a:rPr>
              <a:t>7 riesgos</a:t>
            </a:r>
          </a:p>
        </p:txBody>
      </p:sp>
      <p:sp>
        <p:nvSpPr>
          <p:cNvPr id="1785" name="Rounded Rectangle 1784"/>
          <p:cNvSpPr/>
          <p:nvPr/>
        </p:nvSpPr>
        <p:spPr>
          <a:xfrm>
            <a:off x="4919472" y="297180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R-001</a:t>
            </a:r>
          </a:p>
          <a:p>
            <a:pPr algn="l"/>
            <a:r>
              <a:rPr sz="1300" b="0">
                <a:solidFill>
                  <a:srgbClr val="111111"/>
                </a:solidFill>
                <a:latin typeface="Inter"/>
              </a:rPr>
              <a:t>Interfaces del ERP</a:t>
            </a:r>
          </a:p>
        </p:txBody>
      </p:sp>
      <p:sp>
        <p:nvSpPr>
          <p:cNvPr id="1786" name="Rounded Rectangle 1785"/>
          <p:cNvSpPr/>
          <p:nvPr/>
        </p:nvSpPr>
        <p:spPr>
          <a:xfrm>
            <a:off x="4919472" y="3758184"/>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R-002</a:t>
            </a:r>
          </a:p>
          <a:p>
            <a:pPr algn="l"/>
            <a:r>
              <a:rPr sz="1300" b="0">
                <a:solidFill>
                  <a:srgbClr val="111111"/>
                </a:solidFill>
                <a:latin typeface="Inter"/>
              </a:rPr>
              <a:t>Telemetría del tercero</a:t>
            </a:r>
          </a:p>
        </p:txBody>
      </p:sp>
      <p:sp>
        <p:nvSpPr>
          <p:cNvPr id="1787" name="Rounded Rectangle 1786"/>
          <p:cNvSpPr/>
          <p:nvPr/>
        </p:nvSpPr>
        <p:spPr>
          <a:xfrm>
            <a:off x="4919472" y="4544568"/>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R-003</a:t>
            </a:r>
          </a:p>
          <a:p>
            <a:pPr algn="l"/>
            <a:r>
              <a:rPr sz="1300" b="0">
                <a:solidFill>
                  <a:srgbClr val="111111"/>
                </a:solidFill>
                <a:latin typeface="Inter"/>
              </a:rPr>
              <a:t>Convivencia del WMS</a:t>
            </a:r>
          </a:p>
        </p:txBody>
      </p:sp>
      <p:sp>
        <p:nvSpPr>
          <p:cNvPr id="1788" name="Rounded Rectangle 1787"/>
          <p:cNvSpPr/>
          <p:nvPr/>
        </p:nvSpPr>
        <p:spPr>
          <a:xfrm>
            <a:off x="4919472" y="5330952"/>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R-030</a:t>
            </a:r>
          </a:p>
          <a:p>
            <a:pPr algn="l"/>
            <a:r>
              <a:rPr sz="1300" b="0">
                <a:solidFill>
                  <a:srgbClr val="111111"/>
                </a:solidFill>
                <a:latin typeface="Inter"/>
              </a:rPr>
              <a:t>Certificación EDI</a:t>
            </a:r>
          </a:p>
        </p:txBody>
      </p:sp>
      <p:sp>
        <p:nvSpPr>
          <p:cNvPr id="1789" name="Rounded Rectangle 1788"/>
          <p:cNvSpPr/>
          <p:nvPr/>
        </p:nvSpPr>
        <p:spPr>
          <a:xfrm>
            <a:off x="4919472" y="6117336"/>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R-031</a:t>
            </a:r>
          </a:p>
          <a:p>
            <a:pPr algn="l"/>
            <a:r>
              <a:rPr sz="1300" b="0">
                <a:solidFill>
                  <a:srgbClr val="111111"/>
                </a:solidFill>
                <a:latin typeface="Inter"/>
              </a:rPr>
              <a:t>Avisos confusos</a:t>
            </a:r>
          </a:p>
        </p:txBody>
      </p:sp>
      <p:sp>
        <p:nvSpPr>
          <p:cNvPr id="1790" name="Rounded Rectangle 1789"/>
          <p:cNvSpPr/>
          <p:nvPr/>
        </p:nvSpPr>
        <p:spPr>
          <a:xfrm>
            <a:off x="4919472" y="6903720"/>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R-043</a:t>
            </a:r>
          </a:p>
          <a:p>
            <a:pPr algn="l"/>
            <a:r>
              <a:rPr sz="1300" b="0">
                <a:solidFill>
                  <a:srgbClr val="111111"/>
                </a:solidFill>
                <a:latin typeface="Inter"/>
              </a:rPr>
              <a:t>Pago con doble cargo</a:t>
            </a:r>
          </a:p>
        </p:txBody>
      </p:sp>
      <p:sp>
        <p:nvSpPr>
          <p:cNvPr id="1791" name="Rounded Rectangle 1790"/>
          <p:cNvSpPr/>
          <p:nvPr/>
        </p:nvSpPr>
        <p:spPr>
          <a:xfrm>
            <a:off x="4919472" y="7690104"/>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R-045</a:t>
            </a:r>
          </a:p>
          <a:p>
            <a:pPr algn="l"/>
            <a:r>
              <a:rPr sz="1300" b="0">
                <a:solidFill>
                  <a:srgbClr val="111111"/>
                </a:solidFill>
                <a:latin typeface="Inter"/>
              </a:rPr>
              <a:t>Mapa no realista</a:t>
            </a:r>
          </a:p>
        </p:txBody>
      </p:sp>
      <p:cxnSp>
        <p:nvCxnSpPr>
          <p:cNvPr id="1792" name="Connector 1791"/>
          <p:cNvCxnSpPr/>
          <p:nvPr/>
        </p:nvCxnSpPr>
        <p:spPr>
          <a:xfrm>
            <a:off x="8074152" y="1645920"/>
            <a:ext cx="0" cy="22859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3" name="Rounded Rectangle 1792"/>
          <p:cNvSpPr/>
          <p:nvPr/>
        </p:nvSpPr>
        <p:spPr>
          <a:xfrm>
            <a:off x="7059168" y="1874519"/>
            <a:ext cx="2029968" cy="9144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Inter SemiBold"/>
              </a:rPr>
              <a:t>3 · Operación del cliente</a:t>
            </a:r>
          </a:p>
          <a:p>
            <a:pPr algn="ctr"/>
            <a:r>
              <a:rPr sz="1300" b="0">
                <a:solidFill>
                  <a:srgbClr val="F29A5E"/>
                </a:solidFill>
                <a:latin typeface="Inter"/>
              </a:rPr>
              <a:t>8 riesgos</a:t>
            </a:r>
          </a:p>
        </p:txBody>
      </p:sp>
      <p:sp>
        <p:nvSpPr>
          <p:cNvPr id="1794" name="Rounded Rectangle 1793"/>
          <p:cNvSpPr/>
          <p:nvPr/>
        </p:nvSpPr>
        <p:spPr>
          <a:xfrm>
            <a:off x="7059168" y="297180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R-006</a:t>
            </a:r>
          </a:p>
          <a:p>
            <a:pPr algn="l"/>
            <a:r>
              <a:rPr sz="1300" b="0">
                <a:solidFill>
                  <a:srgbClr val="111111"/>
                </a:solidFill>
                <a:latin typeface="Inter"/>
              </a:rPr>
              <a:t>Enlaces de Concepción</a:t>
            </a:r>
          </a:p>
        </p:txBody>
      </p:sp>
      <p:sp>
        <p:nvSpPr>
          <p:cNvPr id="1795" name="Rounded Rectangle 1794"/>
          <p:cNvSpPr/>
          <p:nvPr/>
        </p:nvSpPr>
        <p:spPr>
          <a:xfrm>
            <a:off x="7059168" y="3758184"/>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R-007</a:t>
            </a:r>
          </a:p>
          <a:p>
            <a:pPr algn="l"/>
            <a:r>
              <a:rPr sz="1300" b="0">
                <a:solidFill>
                  <a:srgbClr val="111111"/>
                </a:solidFill>
                <a:latin typeface="Inter"/>
              </a:rPr>
              <a:t>Cross-docking sin enlace</a:t>
            </a:r>
          </a:p>
        </p:txBody>
      </p:sp>
      <p:sp>
        <p:nvSpPr>
          <p:cNvPr id="1796" name="Rounded Rectangle 1795"/>
          <p:cNvSpPr/>
          <p:nvPr/>
        </p:nvSpPr>
        <p:spPr>
          <a:xfrm>
            <a:off x="7059168" y="4544568"/>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R-014</a:t>
            </a:r>
          </a:p>
          <a:p>
            <a:pPr algn="l"/>
            <a:r>
              <a:rPr sz="1300" b="0">
                <a:solidFill>
                  <a:srgbClr val="111111"/>
                </a:solidFill>
                <a:latin typeface="Inter"/>
              </a:rPr>
              <a:t>Sala y energía</a:t>
            </a:r>
          </a:p>
        </p:txBody>
      </p:sp>
      <p:sp>
        <p:nvSpPr>
          <p:cNvPr id="1797" name="Rounded Rectangle 1796"/>
          <p:cNvSpPr/>
          <p:nvPr/>
        </p:nvSpPr>
        <p:spPr>
          <a:xfrm>
            <a:off x="7059168" y="5330952"/>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R-022</a:t>
            </a:r>
          </a:p>
          <a:p>
            <a:pPr algn="l"/>
            <a:r>
              <a:rPr sz="1300" b="0">
                <a:solidFill>
                  <a:srgbClr val="111111"/>
                </a:solidFill>
                <a:latin typeface="Inter"/>
              </a:rPr>
              <a:t>Contrapartes tardías</a:t>
            </a:r>
          </a:p>
        </p:txBody>
      </p:sp>
      <p:sp>
        <p:nvSpPr>
          <p:cNvPr id="1798" name="Rounded Rectangle 1797"/>
          <p:cNvSpPr/>
          <p:nvPr/>
        </p:nvSpPr>
        <p:spPr>
          <a:xfrm>
            <a:off x="7059168" y="6117336"/>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R-023</a:t>
            </a:r>
          </a:p>
          <a:p>
            <a:pPr algn="l"/>
            <a:r>
              <a:rPr sz="1300" b="0">
                <a:solidFill>
                  <a:srgbClr val="111111"/>
                </a:solidFill>
                <a:latin typeface="Inter"/>
              </a:rPr>
              <a:t>Choque con congelamientos</a:t>
            </a:r>
          </a:p>
        </p:txBody>
      </p:sp>
      <p:sp>
        <p:nvSpPr>
          <p:cNvPr id="1799" name="Rounded Rectangle 1798"/>
          <p:cNvSpPr/>
          <p:nvPr/>
        </p:nvSpPr>
        <p:spPr>
          <a:xfrm>
            <a:off x="7059168" y="690372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R-024</a:t>
            </a:r>
          </a:p>
          <a:p>
            <a:pPr algn="l"/>
            <a:r>
              <a:rPr sz="1300" b="0">
                <a:solidFill>
                  <a:srgbClr val="111111"/>
                </a:solidFill>
                <a:latin typeface="Inter"/>
              </a:rPr>
              <a:t>Terreno o instalación tarde</a:t>
            </a:r>
          </a:p>
        </p:txBody>
      </p:sp>
      <p:sp>
        <p:nvSpPr>
          <p:cNvPr id="1800" name="Rounded Rectangle 1799"/>
          <p:cNvSpPr/>
          <p:nvPr/>
        </p:nvSpPr>
        <p:spPr>
          <a:xfrm>
            <a:off x="7059168" y="7690104"/>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R-028</a:t>
            </a:r>
          </a:p>
          <a:p>
            <a:pPr algn="l"/>
            <a:r>
              <a:rPr sz="1300" b="0">
                <a:solidFill>
                  <a:srgbClr val="111111"/>
                </a:solidFill>
                <a:latin typeface="Inter"/>
              </a:rPr>
              <a:t>Rendición insuficiente</a:t>
            </a:r>
          </a:p>
        </p:txBody>
      </p:sp>
      <p:sp>
        <p:nvSpPr>
          <p:cNvPr id="1801" name="Rounded Rectangle 1800"/>
          <p:cNvSpPr/>
          <p:nvPr/>
        </p:nvSpPr>
        <p:spPr>
          <a:xfrm>
            <a:off x="7059168" y="8476488"/>
            <a:ext cx="2029968" cy="713232"/>
          </a:xfrm>
          <a:prstGeom prst="roundRect">
            <a:avLst>
              <a:gd name="adj" fmla="val 10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R-044</a:t>
            </a:r>
          </a:p>
          <a:p>
            <a:pPr algn="l"/>
            <a:r>
              <a:rPr sz="1300" b="0">
                <a:solidFill>
                  <a:srgbClr val="111111"/>
                </a:solidFill>
                <a:latin typeface="Inter"/>
              </a:rPr>
              <a:t>Envases y custodia</a:t>
            </a:r>
          </a:p>
        </p:txBody>
      </p:sp>
      <p:cxnSp>
        <p:nvCxnSpPr>
          <p:cNvPr id="1802" name="Connector 1801"/>
          <p:cNvCxnSpPr/>
          <p:nvPr/>
        </p:nvCxnSpPr>
        <p:spPr>
          <a:xfrm>
            <a:off x="10213848" y="1645920"/>
            <a:ext cx="0" cy="22859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3" name="Rounded Rectangle 1802"/>
          <p:cNvSpPr/>
          <p:nvPr/>
        </p:nvSpPr>
        <p:spPr>
          <a:xfrm>
            <a:off x="9198864" y="1874519"/>
            <a:ext cx="2029968" cy="9144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Inter SemiBold"/>
              </a:rPr>
              <a:t>4 · Personas y adopción</a:t>
            </a:r>
          </a:p>
          <a:p>
            <a:pPr algn="ctr"/>
            <a:r>
              <a:rPr sz="1300" b="0">
                <a:solidFill>
                  <a:srgbClr val="F29A5E"/>
                </a:solidFill>
                <a:latin typeface="Inter"/>
              </a:rPr>
              <a:t>7 riesgos</a:t>
            </a:r>
          </a:p>
        </p:txBody>
      </p:sp>
      <p:sp>
        <p:nvSpPr>
          <p:cNvPr id="1804" name="Rounded Rectangle 1803"/>
          <p:cNvSpPr/>
          <p:nvPr/>
        </p:nvSpPr>
        <p:spPr>
          <a:xfrm>
            <a:off x="9198864" y="297180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R-017</a:t>
            </a:r>
          </a:p>
          <a:p>
            <a:pPr algn="l"/>
            <a:r>
              <a:rPr sz="1300" b="0">
                <a:solidFill>
                  <a:srgbClr val="111111"/>
                </a:solidFill>
                <a:latin typeface="Inter"/>
              </a:rPr>
              <a:t>Objeción sindical</a:t>
            </a:r>
          </a:p>
        </p:txBody>
      </p:sp>
      <p:sp>
        <p:nvSpPr>
          <p:cNvPr id="1805" name="Rounded Rectangle 1804"/>
          <p:cNvSpPr/>
          <p:nvPr/>
        </p:nvSpPr>
        <p:spPr>
          <a:xfrm>
            <a:off x="9198864" y="3758184"/>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R-018</a:t>
            </a:r>
          </a:p>
          <a:p>
            <a:pPr algn="l"/>
            <a:r>
              <a:rPr sz="1300" b="0">
                <a:solidFill>
                  <a:srgbClr val="111111"/>
                </a:solidFill>
                <a:latin typeface="Inter"/>
              </a:rPr>
              <a:t>Conductores rotativos</a:t>
            </a:r>
          </a:p>
        </p:txBody>
      </p:sp>
      <p:sp>
        <p:nvSpPr>
          <p:cNvPr id="1806" name="Rounded Rectangle 1805"/>
          <p:cNvSpPr/>
          <p:nvPr/>
        </p:nvSpPr>
        <p:spPr>
          <a:xfrm>
            <a:off x="9198864" y="4544568"/>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R-019</a:t>
            </a:r>
          </a:p>
          <a:p>
            <a:pPr algn="l"/>
            <a:r>
              <a:rPr sz="1300" b="0">
                <a:solidFill>
                  <a:srgbClr val="111111"/>
                </a:solidFill>
                <a:latin typeface="Inter"/>
              </a:rPr>
              <a:t>Bodega nocturna</a:t>
            </a:r>
          </a:p>
        </p:txBody>
      </p:sp>
      <p:sp>
        <p:nvSpPr>
          <p:cNvPr id="1807" name="Rounded Rectangle 1806"/>
          <p:cNvSpPr/>
          <p:nvPr/>
        </p:nvSpPr>
        <p:spPr>
          <a:xfrm>
            <a:off x="9198864" y="5330952"/>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R-020</a:t>
            </a:r>
          </a:p>
          <a:p>
            <a:pPr algn="l"/>
            <a:r>
              <a:rPr sz="1300" b="0">
                <a:solidFill>
                  <a:srgbClr val="111111"/>
                </a:solidFill>
                <a:latin typeface="Inter"/>
              </a:rPr>
              <a:t>Capacitación interrumpe</a:t>
            </a:r>
          </a:p>
        </p:txBody>
      </p:sp>
      <p:sp>
        <p:nvSpPr>
          <p:cNvPr id="1808" name="Rounded Rectangle 1807"/>
          <p:cNvSpPr/>
          <p:nvPr/>
        </p:nvSpPr>
        <p:spPr>
          <a:xfrm>
            <a:off x="9198864" y="6117336"/>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R-021</a:t>
            </a:r>
          </a:p>
          <a:p>
            <a:pPr algn="l"/>
            <a:r>
              <a:rPr sz="1300" b="0">
                <a:solidFill>
                  <a:srgbClr val="111111"/>
                </a:solidFill>
                <a:latin typeface="Inter"/>
              </a:rPr>
              <a:t>Conocimiento de rutas</a:t>
            </a:r>
          </a:p>
        </p:txBody>
      </p:sp>
      <p:sp>
        <p:nvSpPr>
          <p:cNvPr id="1809" name="Rounded Rectangle 1808"/>
          <p:cNvSpPr/>
          <p:nvPr/>
        </p:nvSpPr>
        <p:spPr>
          <a:xfrm>
            <a:off x="9198864" y="6903720"/>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R-036</a:t>
            </a:r>
          </a:p>
          <a:p>
            <a:pPr algn="l"/>
            <a:r>
              <a:rPr sz="1300" b="0">
                <a:solidFill>
                  <a:srgbClr val="111111"/>
                </a:solidFill>
                <a:latin typeface="Inter"/>
              </a:rPr>
              <a:t>INN-01 sin confirmación</a:t>
            </a:r>
          </a:p>
        </p:txBody>
      </p:sp>
      <p:sp>
        <p:nvSpPr>
          <p:cNvPr id="1810" name="Rounded Rectangle 1809"/>
          <p:cNvSpPr/>
          <p:nvPr/>
        </p:nvSpPr>
        <p:spPr>
          <a:xfrm>
            <a:off x="9198864" y="7690104"/>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R-040</a:t>
            </a:r>
          </a:p>
          <a:p>
            <a:pPr algn="l"/>
            <a:r>
              <a:rPr sz="1300" b="0">
                <a:solidFill>
                  <a:srgbClr val="111111"/>
                </a:solidFill>
                <a:latin typeface="Inter"/>
              </a:rPr>
              <a:t>INN-05 hoja confusa</a:t>
            </a:r>
          </a:p>
        </p:txBody>
      </p:sp>
      <p:cxnSp>
        <p:nvCxnSpPr>
          <p:cNvPr id="1811" name="Connector 1810"/>
          <p:cNvCxnSpPr/>
          <p:nvPr/>
        </p:nvCxnSpPr>
        <p:spPr>
          <a:xfrm>
            <a:off x="12353544" y="1645920"/>
            <a:ext cx="0" cy="22859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2" name="Rounded Rectangle 1811"/>
          <p:cNvSpPr/>
          <p:nvPr/>
        </p:nvSpPr>
        <p:spPr>
          <a:xfrm>
            <a:off x="11338560" y="1874519"/>
            <a:ext cx="2029968" cy="9144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Inter SemiBold"/>
              </a:rPr>
              <a:t>5 · Contrato y licitación</a:t>
            </a:r>
          </a:p>
          <a:p>
            <a:pPr algn="ctr"/>
            <a:r>
              <a:rPr sz="1300" b="0">
                <a:solidFill>
                  <a:srgbClr val="F29A5E"/>
                </a:solidFill>
                <a:latin typeface="Inter"/>
              </a:rPr>
              <a:t>4 riesgos</a:t>
            </a:r>
          </a:p>
        </p:txBody>
      </p:sp>
      <p:sp>
        <p:nvSpPr>
          <p:cNvPr id="1813" name="Rounded Rectangle 1812"/>
          <p:cNvSpPr/>
          <p:nvPr/>
        </p:nvSpPr>
        <p:spPr>
          <a:xfrm>
            <a:off x="11338560" y="297180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R-026</a:t>
            </a:r>
          </a:p>
          <a:p>
            <a:pPr algn="l"/>
            <a:r>
              <a:rPr sz="1300" b="0">
                <a:solidFill>
                  <a:srgbClr val="111111"/>
                </a:solidFill>
                <a:latin typeface="Inter"/>
              </a:rPr>
              <a:t>Marcha blanca sin aceptación</a:t>
            </a:r>
          </a:p>
        </p:txBody>
      </p:sp>
      <p:sp>
        <p:nvSpPr>
          <p:cNvPr id="1814" name="Rounded Rectangle 1813"/>
          <p:cNvSpPr/>
          <p:nvPr/>
        </p:nvSpPr>
        <p:spPr>
          <a:xfrm>
            <a:off x="11338560" y="3758184"/>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R-027</a:t>
            </a:r>
          </a:p>
          <a:p>
            <a:pPr algn="l"/>
            <a:r>
              <a:rPr sz="1300" b="0">
                <a:solidFill>
                  <a:srgbClr val="111111"/>
                </a:solidFill>
                <a:latin typeface="Inter"/>
              </a:rPr>
              <a:t>Alcance sin aprobación</a:t>
            </a:r>
          </a:p>
        </p:txBody>
      </p:sp>
      <p:sp>
        <p:nvSpPr>
          <p:cNvPr id="1815" name="Rounded Rectangle 1814"/>
          <p:cNvSpPr/>
          <p:nvPr/>
        </p:nvSpPr>
        <p:spPr>
          <a:xfrm>
            <a:off x="11338560" y="4544568"/>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R-039</a:t>
            </a:r>
          </a:p>
          <a:p>
            <a:pPr algn="l"/>
            <a:r>
              <a:rPr sz="1300" b="0">
                <a:solidFill>
                  <a:srgbClr val="111111"/>
                </a:solidFill>
                <a:latin typeface="Inter"/>
              </a:rPr>
              <a:t>INN-04 costo de servir</a:t>
            </a:r>
          </a:p>
        </p:txBody>
      </p:sp>
      <p:sp>
        <p:nvSpPr>
          <p:cNvPr id="1816" name="Rounded Rectangle 1815"/>
          <p:cNvSpPr/>
          <p:nvPr/>
        </p:nvSpPr>
        <p:spPr>
          <a:xfrm>
            <a:off x="11338560" y="5330952"/>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R-041</a:t>
            </a:r>
          </a:p>
          <a:p>
            <a:pPr algn="l"/>
            <a:r>
              <a:rPr sz="1300" b="0">
                <a:solidFill>
                  <a:srgbClr val="111111"/>
                </a:solidFill>
                <a:latin typeface="Inter"/>
              </a:rPr>
              <a:t>Salida incompleta</a:t>
            </a:r>
          </a:p>
        </p:txBody>
      </p:sp>
      <p:cxnSp>
        <p:nvCxnSpPr>
          <p:cNvPr id="1817" name="Connector 1816"/>
          <p:cNvCxnSpPr/>
          <p:nvPr/>
        </p:nvCxnSpPr>
        <p:spPr>
          <a:xfrm>
            <a:off x="14493240" y="1645920"/>
            <a:ext cx="0" cy="22859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8" name="Rounded Rectangle 1817"/>
          <p:cNvSpPr/>
          <p:nvPr/>
        </p:nvSpPr>
        <p:spPr>
          <a:xfrm>
            <a:off x="13478256" y="1874519"/>
            <a:ext cx="2029968" cy="9144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Inter SemiBold"/>
              </a:rPr>
              <a:t>6 · Regulatorio y externo</a:t>
            </a:r>
          </a:p>
          <a:p>
            <a:pPr algn="ctr"/>
            <a:r>
              <a:rPr sz="1300" b="0">
                <a:solidFill>
                  <a:srgbClr val="F29A5E"/>
                </a:solidFill>
                <a:latin typeface="Inter"/>
              </a:rPr>
              <a:t>2 riesgos</a:t>
            </a:r>
          </a:p>
        </p:txBody>
      </p:sp>
      <p:sp>
        <p:nvSpPr>
          <p:cNvPr id="1819" name="Rounded Rectangle 1818"/>
          <p:cNvSpPr/>
          <p:nvPr/>
        </p:nvSpPr>
        <p:spPr>
          <a:xfrm>
            <a:off x="13478256" y="297180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R-029</a:t>
            </a:r>
          </a:p>
          <a:p>
            <a:pPr algn="l"/>
            <a:r>
              <a:rPr sz="1300" b="0">
                <a:solidFill>
                  <a:srgbClr val="111111"/>
                </a:solidFill>
                <a:latin typeface="Inter"/>
              </a:rPr>
              <a:t>POD sin evidencia</a:t>
            </a:r>
          </a:p>
        </p:txBody>
      </p:sp>
      <p:sp>
        <p:nvSpPr>
          <p:cNvPr id="1820" name="Rounded Rectangle 1819"/>
          <p:cNvSpPr/>
          <p:nvPr/>
        </p:nvSpPr>
        <p:spPr>
          <a:xfrm>
            <a:off x="13478256" y="3758184"/>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R-042</a:t>
            </a:r>
          </a:p>
          <a:p>
            <a:pPr algn="l"/>
            <a:r>
              <a:rPr sz="1300" b="0">
                <a:solidFill>
                  <a:srgbClr val="111111"/>
                </a:solidFill>
                <a:latin typeface="Inter"/>
              </a:rPr>
              <a:t>Cambio normativo</a:t>
            </a:r>
          </a:p>
        </p:txBody>
      </p:sp>
      <p:cxnSp>
        <p:nvCxnSpPr>
          <p:cNvPr id="1821" name="Connector 1820"/>
          <p:cNvCxnSpPr/>
          <p:nvPr/>
        </p:nvCxnSpPr>
        <p:spPr>
          <a:xfrm>
            <a:off x="16632936" y="1645920"/>
            <a:ext cx="0" cy="228599"/>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2" name="Rounded Rectangle 1821"/>
          <p:cNvSpPr/>
          <p:nvPr/>
        </p:nvSpPr>
        <p:spPr>
          <a:xfrm>
            <a:off x="15617952" y="1874519"/>
            <a:ext cx="2029968" cy="9144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Inter SemiBold"/>
              </a:rPr>
              <a:t>7 · Empresa proveedora</a:t>
            </a:r>
          </a:p>
          <a:p>
            <a:pPr algn="ctr"/>
            <a:r>
              <a:rPr sz="1300" b="0">
                <a:solidFill>
                  <a:srgbClr val="F29A5E"/>
                </a:solidFill>
                <a:latin typeface="Inter"/>
              </a:rPr>
              <a:t>3 riesgos</a:t>
            </a:r>
          </a:p>
        </p:txBody>
      </p:sp>
      <p:sp>
        <p:nvSpPr>
          <p:cNvPr id="1823" name="Rounded Rectangle 1822"/>
          <p:cNvSpPr/>
          <p:nvPr/>
        </p:nvSpPr>
        <p:spPr>
          <a:xfrm>
            <a:off x="15617952" y="2971800"/>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R-025</a:t>
            </a:r>
          </a:p>
          <a:p>
            <a:pPr algn="l"/>
            <a:r>
              <a:rPr sz="1300" b="0">
                <a:solidFill>
                  <a:srgbClr val="111111"/>
                </a:solidFill>
                <a:latin typeface="Inter"/>
              </a:rPr>
              <a:t>Dotación compartida</a:t>
            </a:r>
          </a:p>
        </p:txBody>
      </p:sp>
      <p:sp>
        <p:nvSpPr>
          <p:cNvPr id="1824" name="Rounded Rectangle 1823"/>
          <p:cNvSpPr/>
          <p:nvPr/>
        </p:nvSpPr>
        <p:spPr>
          <a:xfrm>
            <a:off x="15617952" y="3758184"/>
            <a:ext cx="2029968" cy="713232"/>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R-034</a:t>
            </a:r>
          </a:p>
          <a:p>
            <a:pPr algn="l"/>
            <a:r>
              <a:rPr sz="1300" b="0">
                <a:solidFill>
                  <a:srgbClr val="111111"/>
                </a:solidFill>
                <a:latin typeface="Inter"/>
              </a:rPr>
              <a:t>Mesa o NOC insuficiente</a:t>
            </a:r>
          </a:p>
        </p:txBody>
      </p:sp>
      <p:sp>
        <p:nvSpPr>
          <p:cNvPr id="1825" name="Rounded Rectangle 1824"/>
          <p:cNvSpPr/>
          <p:nvPr/>
        </p:nvSpPr>
        <p:spPr>
          <a:xfrm>
            <a:off x="15617952" y="4544568"/>
            <a:ext cx="2029968" cy="713232"/>
          </a:xfrm>
          <a:prstGeom prst="roundRect">
            <a:avLst>
              <a:gd name="adj" fmla="val 1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r>
              <a:rPr sz="1300" b="1">
                <a:solidFill>
                  <a:srgbClr val="111111"/>
                </a:solidFill>
                <a:latin typeface="Inter SemiBold"/>
              </a:rPr>
              <a:t>R-035</a:t>
            </a:r>
          </a:p>
          <a:p>
            <a:pPr algn="l"/>
            <a:r>
              <a:rPr sz="1300" b="0">
                <a:solidFill>
                  <a:srgbClr val="111111"/>
                </a:solidFill>
                <a:latin typeface="Inter"/>
              </a:rPr>
              <a:t>Costos subestimados</a:t>
            </a:r>
          </a:p>
        </p:txBody>
      </p:sp>
      <p:sp>
        <p:nvSpPr>
          <p:cNvPr id="1826" name="TextBox 1825"/>
          <p:cNvSpPr txBox="1"/>
          <p:nvPr/>
        </p:nvSpPr>
        <p:spPr>
          <a:xfrm>
            <a:off x="640080" y="9509760"/>
            <a:ext cx="128016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2   </a:t>
            </a:r>
            <a:r>
              <a:rPr sz="1400" b="0">
                <a:solidFill>
                  <a:srgbClr val="F29A5E"/>
                </a:solidFill>
                <a:latin typeface="Inter"/>
              </a:rPr>
              <a:t>■ </a:t>
            </a:r>
            <a:r>
              <a:rPr sz="1400" b="0">
                <a:solidFill>
                  <a:srgbClr val="3C3C3C"/>
                </a:solidFill>
                <a:latin typeface="Inter"/>
              </a:rPr>
              <a:t>Alta 23   </a:t>
            </a:r>
            <a:r>
              <a:rPr sz="1400" b="0">
                <a:solidFill>
                  <a:srgbClr val="C7C7C7"/>
                </a:solidFill>
                <a:latin typeface="Inter"/>
              </a:rPr>
              <a:t>■ </a:t>
            </a:r>
            <a:r>
              <a:rPr sz="1400" b="0">
                <a:solidFill>
                  <a:srgbClr val="3C3C3C"/>
                </a:solidFill>
                <a:latin typeface="Inter"/>
              </a:rPr>
              <a:t>Media 19   </a:t>
            </a:r>
            <a:r>
              <a:rPr sz="1400" b="0">
                <a:solidFill>
                  <a:srgbClr val="9A9A9A"/>
                </a:solidFill>
                <a:latin typeface="Inter"/>
              </a:rPr>
              <a:t>□ </a:t>
            </a:r>
            <a:r>
              <a:rPr sz="1400" b="0">
                <a:solidFill>
                  <a:srgbClr val="3C3C3C"/>
                </a:solidFill>
                <a:latin typeface="Inter"/>
              </a:rPr>
              <a:t>Baja 1</a:t>
            </a:r>
          </a:p>
        </p:txBody>
      </p:sp>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deco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769" name="!!deco2"/>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770" name="!!deco3"/>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771" name="!!deco4"/>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772" name="Google Shape;1772;hc7cc306779174be_6_2"/>
          <p:cNvSpPr txBox="1"/>
          <p:nvPr/>
        </p:nvSpPr>
        <p:spPr>
          <a:xfrm>
            <a:off x="777294" y="987549"/>
            <a:ext cx="7589400" cy="1440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RBS: de dónde vienen los riesgos</a:t>
            </a:r>
            <a:endParaRPr/>
          </a:p>
        </p:txBody>
      </p:sp>
      <p:sp>
        <p:nvSpPr>
          <p:cNvPr id="1773" name="Google Shape;1773;hc7cc306779174be_6_2"/>
          <p:cNvSpPr txBox="1"/>
          <p:nvPr/>
        </p:nvSpPr>
        <p:spPr>
          <a:xfrm>
            <a:off x="1435608" y="4846320"/>
            <a:ext cx="7589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400">
                <a:solidFill>
                  <a:srgbClr val="3C3C3C"/>
                </a:solidFill>
                <a:latin typeface="Inter"/>
                <a:ea typeface="Inter"/>
                <a:cs typeface="Inter"/>
                <a:sym typeface="Inter"/>
              </a:rPr>
              <a:t>7 ramas · 45 riesgos · ISO 31000</a:t>
            </a:r>
            <a:endParaRPr/>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2 críticos · 23 altos · 19 medios · 1 bajo</a:t>
            </a:r>
            <a:endParaRPr/>
          </a:p>
        </p:txBody>
      </p:sp>
      <p:sp>
        <p:nvSpPr>
          <p:cNvPr id="1779" name="Google Shape;1779;hc7cc306779174be_6_2"/>
          <p:cNvSpPr/>
          <p:nvPr/>
        </p:nvSpPr>
        <p:spPr>
          <a:xfrm>
            <a:off x="9326880" y="914400"/>
            <a:ext cx="1737300" cy="7370100"/>
          </a:xfrm>
          <a:prstGeom prst="roundRect">
            <a:avLst>
              <a:gd fmla="val 8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4400">
                <a:solidFill>
                  <a:srgbClr val="FFFFFF"/>
                </a:solidFill>
                <a:latin typeface="Inter SemiBold"/>
                <a:ea typeface="Inter SemiBold"/>
                <a:cs typeface="Inter SemiBold"/>
                <a:sym typeface="Inter SemiBold"/>
              </a:rPr>
              <a:t>45</a:t>
            </a:r>
            <a:endParaRPr/>
          </a:p>
          <a:p>
            <a:pPr indent="0" lvl="0" marL="0" marR="0" rtl="0" algn="ctr">
              <a:spcBef>
                <a:spcPts val="0"/>
              </a:spcBef>
              <a:spcAft>
                <a:spcPts val="0"/>
              </a:spcAft>
              <a:buNone/>
            </a:pPr>
            <a:r>
              <a:rPr b="0" lang="en-US" sz="1700">
                <a:solidFill>
                  <a:srgbClr val="C7C7C7"/>
                </a:solidFill>
                <a:latin typeface="Inter"/>
                <a:ea typeface="Inter"/>
                <a:cs typeface="Inter"/>
                <a:sym typeface="Inter"/>
              </a:rPr>
              <a:t>riesgos</a:t>
            </a:r>
            <a:endParaRPr/>
          </a:p>
        </p:txBody>
      </p:sp>
      <p:cxnSp>
        <p:nvCxnSpPr>
          <p:cNvPr id="1780" name="Google Shape;1780;hc7cc306779174be_6_2"/>
          <p:cNvCxnSpPr/>
          <p:nvPr/>
        </p:nvCxnSpPr>
        <p:spPr>
          <a:xfrm>
            <a:off x="11064240" y="136245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1" name="Google Shape;1781;hc7cc306779174be_6_2"/>
          <p:cNvSpPr/>
          <p:nvPr/>
        </p:nvSpPr>
        <p:spPr>
          <a:xfrm>
            <a:off x="11430000" y="914400"/>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14</a:t>
            </a:r>
            <a:endParaRPr/>
          </a:p>
        </p:txBody>
      </p:sp>
      <p:sp>
        <p:nvSpPr>
          <p:cNvPr id="1783" name="Google Shape;1783;hc7cc306779174be_6_2"/>
          <p:cNvSpPr txBox="1"/>
          <p:nvPr/>
        </p:nvSpPr>
        <p:spPr>
          <a:xfrm>
            <a:off x="12390120" y="98755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1 · Solución y tecnología</a:t>
            </a:r>
            <a:endParaRPr/>
          </a:p>
        </p:txBody>
      </p:sp>
      <p:sp>
        <p:nvSpPr>
          <p:cNvPr id="1784" name="Google Shape;1784;hc7cc306779174be_6_2"/>
          <p:cNvSpPr txBox="1"/>
          <p:nvPr/>
        </p:nvSpPr>
        <p:spPr>
          <a:xfrm>
            <a:off x="12390120" y="138988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R-012 Retiro · R-015 RTO/RPO</a:t>
            </a:r>
            <a:endParaRPr/>
          </a:p>
        </p:txBody>
      </p:sp>
      <p:cxnSp>
        <p:nvCxnSpPr>
          <p:cNvPr id="1785" name="Google Shape;1785;hc7cc306779174be_6_2"/>
          <p:cNvCxnSpPr/>
          <p:nvPr/>
        </p:nvCxnSpPr>
        <p:spPr>
          <a:xfrm>
            <a:off x="11064240" y="244144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6" name="Google Shape;1786;hc7cc306779174be_6_2"/>
          <p:cNvSpPr/>
          <p:nvPr/>
        </p:nvSpPr>
        <p:spPr>
          <a:xfrm>
            <a:off x="11430000" y="1993391"/>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88" name="Google Shape;1788;hc7cc306779174be_6_2"/>
          <p:cNvSpPr txBox="1"/>
          <p:nvPr/>
        </p:nvSpPr>
        <p:spPr>
          <a:xfrm>
            <a:off x="12390120" y="2066543"/>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2 · Integración y legado</a:t>
            </a:r>
            <a:endParaRPr/>
          </a:p>
        </p:txBody>
      </p:sp>
      <p:sp>
        <p:nvSpPr>
          <p:cNvPr id="1789" name="Google Shape;1789;hc7cc306779174be_6_2"/>
          <p:cNvSpPr txBox="1"/>
          <p:nvPr/>
        </p:nvSpPr>
        <p:spPr>
          <a:xfrm>
            <a:off x="12390120" y="2468879"/>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R-001 Interfaces ERP · R-003 WMS</a:t>
            </a:r>
            <a:endParaRPr/>
          </a:p>
        </p:txBody>
      </p:sp>
      <p:cxnSp>
        <p:nvCxnSpPr>
          <p:cNvPr id="1790" name="Google Shape;1790;hc7cc306779174be_6_2"/>
          <p:cNvCxnSpPr/>
          <p:nvPr/>
        </p:nvCxnSpPr>
        <p:spPr>
          <a:xfrm>
            <a:off x="11064240" y="3520439"/>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1" name="Google Shape;1791;hc7cc306779174be_6_2"/>
          <p:cNvSpPr/>
          <p:nvPr/>
        </p:nvSpPr>
        <p:spPr>
          <a:xfrm>
            <a:off x="11430000" y="3072384"/>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8</a:t>
            </a:r>
            <a:endParaRPr/>
          </a:p>
        </p:txBody>
      </p:sp>
      <p:sp>
        <p:nvSpPr>
          <p:cNvPr id="1793" name="Google Shape;1793;hc7cc306779174be_6_2"/>
          <p:cNvSpPr txBox="1"/>
          <p:nvPr/>
        </p:nvSpPr>
        <p:spPr>
          <a:xfrm>
            <a:off x="12390120" y="3145536"/>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3 · Operación del cliente</a:t>
            </a:r>
            <a:endParaRPr/>
          </a:p>
        </p:txBody>
      </p:sp>
      <p:sp>
        <p:nvSpPr>
          <p:cNvPr id="1794" name="Google Shape;1794;hc7cc306779174be_6_2"/>
          <p:cNvSpPr txBox="1"/>
          <p:nvPr/>
        </p:nvSpPr>
        <p:spPr>
          <a:xfrm>
            <a:off x="12390120" y="3547872"/>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R-006 Enlaces · R-014 Sala y energía</a:t>
            </a:r>
            <a:endParaRPr/>
          </a:p>
        </p:txBody>
      </p:sp>
      <p:cxnSp>
        <p:nvCxnSpPr>
          <p:cNvPr id="1795" name="Google Shape;1795;hc7cc306779174be_6_2"/>
          <p:cNvCxnSpPr/>
          <p:nvPr/>
        </p:nvCxnSpPr>
        <p:spPr>
          <a:xfrm>
            <a:off x="11064240" y="4599432"/>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6" name="Google Shape;1796;hc7cc306779174be_6_2"/>
          <p:cNvSpPr/>
          <p:nvPr/>
        </p:nvSpPr>
        <p:spPr>
          <a:xfrm>
            <a:off x="11430000" y="4151376"/>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98" name="Google Shape;1798;hc7cc306779174be_6_2"/>
          <p:cNvSpPr txBox="1"/>
          <p:nvPr/>
        </p:nvSpPr>
        <p:spPr>
          <a:xfrm>
            <a:off x="12390120" y="4224528"/>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4 · Personas y adopción</a:t>
            </a:r>
            <a:endParaRPr/>
          </a:p>
        </p:txBody>
      </p:sp>
      <p:sp>
        <p:nvSpPr>
          <p:cNvPr id="1799" name="Google Shape;1799;hc7cc306779174be_6_2"/>
          <p:cNvSpPr txBox="1"/>
          <p:nvPr/>
        </p:nvSpPr>
        <p:spPr>
          <a:xfrm>
            <a:off x="12390120" y="4626864"/>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R-017 Sindicato · R-021 Rutas</a:t>
            </a:r>
            <a:endParaRPr/>
          </a:p>
        </p:txBody>
      </p:sp>
      <p:cxnSp>
        <p:nvCxnSpPr>
          <p:cNvPr id="1800" name="Google Shape;1800;hc7cc306779174be_6_2"/>
          <p:cNvCxnSpPr/>
          <p:nvPr/>
        </p:nvCxnSpPr>
        <p:spPr>
          <a:xfrm>
            <a:off x="11064240" y="5678424"/>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1" name="Google Shape;1801;hc7cc306779174be_6_2"/>
          <p:cNvSpPr/>
          <p:nvPr/>
        </p:nvSpPr>
        <p:spPr>
          <a:xfrm>
            <a:off x="11430000" y="5230368"/>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4</a:t>
            </a:r>
            <a:endParaRPr/>
          </a:p>
        </p:txBody>
      </p:sp>
      <p:sp>
        <p:nvSpPr>
          <p:cNvPr id="1803" name="Google Shape;1803;hc7cc306779174be_6_2"/>
          <p:cNvSpPr txBox="1"/>
          <p:nvPr/>
        </p:nvSpPr>
        <p:spPr>
          <a:xfrm>
            <a:off x="12390120" y="5303520"/>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5 · Contrato y licitación</a:t>
            </a:r>
            <a:endParaRPr/>
          </a:p>
        </p:txBody>
      </p:sp>
      <p:sp>
        <p:nvSpPr>
          <p:cNvPr id="1804" name="Google Shape;1804;hc7cc306779174be_6_2"/>
          <p:cNvSpPr txBox="1"/>
          <p:nvPr/>
        </p:nvSpPr>
        <p:spPr>
          <a:xfrm>
            <a:off x="12390120" y="5705856"/>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R-026 Aceptación · R-027 Alcance</a:t>
            </a:r>
            <a:endParaRPr/>
          </a:p>
        </p:txBody>
      </p:sp>
      <p:cxnSp>
        <p:nvCxnSpPr>
          <p:cNvPr id="1805" name="Google Shape;1805;hc7cc306779174be_6_2"/>
          <p:cNvCxnSpPr/>
          <p:nvPr/>
        </p:nvCxnSpPr>
        <p:spPr>
          <a:xfrm>
            <a:off x="11064240" y="675741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6" name="Google Shape;1806;hc7cc306779174be_6_2"/>
          <p:cNvSpPr/>
          <p:nvPr/>
        </p:nvSpPr>
        <p:spPr>
          <a:xfrm>
            <a:off x="11430000" y="6309359"/>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2</a:t>
            </a:r>
            <a:endParaRPr/>
          </a:p>
        </p:txBody>
      </p:sp>
      <p:sp>
        <p:nvSpPr>
          <p:cNvPr id="1808" name="Google Shape;1808;hc7cc306779174be_6_2"/>
          <p:cNvSpPr txBox="1"/>
          <p:nvPr/>
        </p:nvSpPr>
        <p:spPr>
          <a:xfrm>
            <a:off x="12390120" y="638251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6 · Regulatorio y externo</a:t>
            </a:r>
            <a:endParaRPr/>
          </a:p>
        </p:txBody>
      </p:sp>
      <p:sp>
        <p:nvSpPr>
          <p:cNvPr id="1809" name="Google Shape;1809;hc7cc306779174be_6_2"/>
          <p:cNvSpPr txBox="1"/>
          <p:nvPr/>
        </p:nvSpPr>
        <p:spPr>
          <a:xfrm>
            <a:off x="12390120" y="678484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R-029 Evidencia · R-042 Normativa</a:t>
            </a:r>
            <a:endParaRPr/>
          </a:p>
        </p:txBody>
      </p:sp>
      <p:cxnSp>
        <p:nvCxnSpPr>
          <p:cNvPr id="1810" name="Google Shape;1810;hc7cc306779174be_6_2"/>
          <p:cNvCxnSpPr/>
          <p:nvPr/>
        </p:nvCxnSpPr>
        <p:spPr>
          <a:xfrm>
            <a:off x="11064240" y="783640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11" name="Google Shape;1811;hc7cc306779174be_6_2"/>
          <p:cNvSpPr/>
          <p:nvPr/>
        </p:nvSpPr>
        <p:spPr>
          <a:xfrm>
            <a:off x="11430000" y="7388352"/>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3</a:t>
            </a:r>
            <a:endParaRPr/>
          </a:p>
        </p:txBody>
      </p:sp>
      <p:sp>
        <p:nvSpPr>
          <p:cNvPr id="1813" name="Google Shape;1813;hc7cc306779174be_6_2"/>
          <p:cNvSpPr txBox="1"/>
          <p:nvPr/>
        </p:nvSpPr>
        <p:spPr>
          <a:xfrm>
            <a:off x="12390120" y="7461504"/>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7 · Empresa proveedora</a:t>
            </a:r>
            <a:endParaRPr/>
          </a:p>
        </p:txBody>
      </p:sp>
      <p:sp>
        <p:nvSpPr>
          <p:cNvPr id="1814" name="Google Shape;1814;hc7cc306779174be_6_2"/>
          <p:cNvSpPr txBox="1"/>
          <p:nvPr/>
        </p:nvSpPr>
        <p:spPr>
          <a:xfrm>
            <a:off x="12390120" y="7863840"/>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R-025 Dotación · R-034 Mesa y NOC</a:t>
            </a:r>
            <a:endParaRPr/>
          </a:p>
        </p:txBody>
      </p:sp>
      <p:sp>
        <p:nvSpPr>
          <p:cNvPr id="18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25</a:t>
            </a:r>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0" name="Shape 1820"/>
        <p:cNvGrpSpPr/>
        <p:nvPr/>
      </p:nvGrpSpPr>
      <p:grpSpPr>
        <a:xfrm>
          <a:off x="0" y="0"/>
          <a:ext cx="0" cy="0"/>
          <a:chOff x="0" y="0"/>
          <a:chExt cx="0" cy="0"/>
        </a:xfrm>
      </p:grpSpPr>
      <p:sp>
        <p:nvSpPr>
          <p:cNvPr id="1824" name="!!deco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1" name="Google Shape;1821;p29"/>
          <p:cNvSpPr txBox="1"/>
          <p:nvPr/>
        </p:nvSpPr>
        <p:spPr>
          <a:xfrm>
            <a:off x="1503838" y="1097280"/>
            <a:ext cx="6035100" cy="2377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Riesgos principales</a:t>
            </a:r>
            <a:endParaRPr/>
          </a:p>
        </p:txBody>
      </p:sp>
      <p:graphicFrame>
        <p:nvGraphicFramePr>
          <p:cNvPr id="1823" name="Google Shape;1823;p29"/>
          <p:cNvGraphicFramePr/>
          <p:nvPr/>
        </p:nvGraphicFramePr>
        <p:xfrm>
          <a:off x="3361800" y="2794400"/>
          <a:ext cx="3000000" cy="3000000"/>
        </p:xfrm>
        <a:graphic>
          <a:graphicData uri="http://schemas.openxmlformats.org/drawingml/2006/table">
            <a:tbl>
              <a:tblPr>
                <a:noFill/>
                <a:tableStyleId>{C4A5C758-D4A7-4D3F-9BCE-32F5856BC382}</a:tableStyleId>
              </a:tblPr>
              <a:tblGrid>
                <a:gridCol w="1748650"/>
                <a:gridCol w="1379100"/>
                <a:gridCol w="1750825"/>
                <a:gridCol w="2286775"/>
                <a:gridCol w="4081550"/>
              </a:tblGrid>
              <a:tr h="381000">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ID</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P decimal</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I decimal</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Exposicion decimal (qP *qI)</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500" b="1">
                          <a:solidFill>
                            <a:srgbClr val="FFFFFF"/>
                          </a:solidFill>
                          <a:latin typeface="Inter SemiBold"/>
                          <a:ea typeface="Inter"/>
                          <a:cs typeface="Inter"/>
                          <a:sym typeface="Inter"/>
                        </a:rPr>
                        <a:t>Zona registrada</a:t>
                      </a:r>
                      <a:endParaRPr sz="2100">
                        <a:solidFill>
                          <a:srgbClr val="FFFFFF"/>
                        </a:solidFill>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R-012</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FFFFFF"/>
                          </a:solidFill>
                          <a:latin typeface="Inter SemiBold"/>
                          <a:ea typeface="Inter"/>
                          <a:cs typeface="Inter"/>
                          <a:sym typeface="Inter"/>
                        </a:rPr>
                        <a:t>Critica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R-015</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FFFFFF"/>
                          </a:solidFill>
                          <a:latin typeface="Inter SemiBold"/>
                          <a:ea typeface="Inter"/>
                          <a:cs typeface="Inter"/>
                          <a:sym typeface="Inter"/>
                        </a:rPr>
                        <a:t>Critica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R-005</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R-006</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613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R-011</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R-013</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R-016</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0,30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0,80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0,24</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R-001</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4F4F4"/>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r h="381000">
                <a:tc>
                  <a:txBody>
                    <a:bodyPr/>
                    <a:lstStyle/>
                    <a:p>
                      <a:pPr indent="0" lvl="0" marL="0" rtl="0" algn="l">
                        <a:lnSpc>
                          <a:spcPct val="115000"/>
                        </a:lnSpc>
                        <a:spcBef>
                          <a:spcPts val="0"/>
                        </a:spcBef>
                        <a:spcAft>
                          <a:spcPts val="0"/>
                        </a:spcAft>
                        <a:buNone/>
                      </a:pPr>
                      <a:r>
                        <a:rPr lang="en-US" sz="1500">
                          <a:solidFill>
                            <a:srgbClr val="111111"/>
                          </a:solidFill>
                          <a:latin typeface="Inter"/>
                          <a:ea typeface="Inter"/>
                          <a:cs typeface="Inter"/>
                          <a:sym typeface="Inter"/>
                        </a:rPr>
                        <a:t>R-003</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0,50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0,40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US" sz="1500">
                          <a:solidFill>
                            <a:srgbClr val="111111"/>
                          </a:solidFill>
                          <a:latin typeface="Inter"/>
                          <a:ea typeface="Inter"/>
                          <a:cs typeface="Inter"/>
                          <a:sym typeface="Inter"/>
                        </a:rPr>
                        <a:t>0,20</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US" sz="1500" b="1">
                          <a:solidFill>
                            <a:srgbClr val="111111"/>
                          </a:solidFill>
                          <a:latin typeface="Inter SemiBold"/>
                          <a:ea typeface="Inter"/>
                          <a:cs typeface="Inter"/>
                          <a:sym typeface="Inter"/>
                        </a:rPr>
                        <a:t>Alta</a:t>
                      </a:r>
                      <a:endParaRPr sz="2700">
                        <a:latin typeface="Inter"/>
                        <a:ea typeface="Inter"/>
                        <a:cs typeface="Inter"/>
                        <a:sym typeface="Inter"/>
                      </a:endParaRPr>
                    </a:p>
                  </a:txBody>
                  <a:tcPr marT="91425" marB="91425" marR="28575" marL="28575" anchor="b">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29A5E"/>
                    </a:solidFill>
                  </a:tcPr>
                </a:tc>
              </a:tr>
            </a:tbl>
          </a:graphicData>
        </a:graphic>
      </p:graphicFrame>
      <p:sp>
        <p:nvSpPr>
          <p:cNvPr id="182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26</a:t>
            </a: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30" name="!!deco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8" name="Google Shape;1828;hc7cc306779174be_6_58"/>
          <p:cNvSpPr txBox="1"/>
          <p:nvPr/>
        </p:nvSpPr>
        <p:spPr>
          <a:xfrm>
            <a:off x="1503838" y="1097280"/>
            <a:ext cx="6035100" cy="1551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Matriz de exposicion</a:t>
            </a:r>
            <a:endParaRPr/>
          </a:p>
        </p:txBody>
      </p:sp>
      <p:graphicFrame>
        <p:nvGraphicFramePr>
          <p:cNvPr id="1829" name="Google Shape;1829;hc7cc306779174be_6_58"/>
          <p:cNvGraphicFramePr/>
          <p:nvPr/>
        </p:nvGraphicFramePr>
        <p:xfrm>
          <a:off x="1275463" y="2831475"/>
          <a:ext cx="3000000" cy="3000000"/>
        </p:xfrm>
        <a:graphic>
          <a:graphicData uri="http://schemas.openxmlformats.org/drawingml/2006/table">
            <a:tbl>
              <a:tblPr>
                <a:noFill/>
                <a:tableStyleId>{C4A5C758-D4A7-4D3F-9BCE-32F5856BC382}</a:tableStyleId>
              </a:tblPr>
              <a:tblGrid>
                <a:gridCol w="1948225"/>
                <a:gridCol w="1630725"/>
                <a:gridCol w="3050125"/>
                <a:gridCol w="2340425"/>
                <a:gridCol w="2340425"/>
                <a:gridCol w="2340425"/>
                <a:gridCol w="2340425"/>
              </a:tblGrid>
              <a:tr h="1012500">
                <a:tc>
                  <a:txBody>
                    <a:bodyPr/>
                    <a:lstStyle/>
                    <a:p>
                      <a:pPr indent="0" lvl="0" marL="0" rtl="0" algn="l">
                        <a:spcBef>
                          <a:spcPts val="0"/>
                        </a:spcBef>
                        <a:spcAft>
                          <a:spcPts val="0"/>
                        </a:spcAft>
                        <a:buNone/>
                      </a:pPr>
                      <a:r>
                        <a:rPr sz="1500" b="1">
                          <a:solidFill>
                            <a:srgbClr val="FFFFFF"/>
                          </a:solidFill>
                          <a:latin typeface="Inter SemiBold"/>
                        </a:rPr>
                        <a:t/>
                      </a:r>
                      <a:endParaRPr b="1" sz="1800">
                        <a:solidFill>
                          <a:schemeClr val="dk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gridSpan="6">
                  <a:txBody>
                    <a:bodyPr/>
                    <a:lstStyle/>
                    <a:p>
                      <a:pPr indent="0" lvl="0" marL="0" rtl="0" algn="ctr">
                        <a:spcBef>
                          <a:spcPts val="0"/>
                        </a:spcBef>
                        <a:spcAft>
                          <a:spcPts val="0"/>
                        </a:spcAft>
                        <a:buNone/>
                      </a:pPr>
                      <a:r>
                        <a:rPr b="1" lang="en-US" sz="1500">
                          <a:solidFill>
                            <a:srgbClr val="FFFFFF"/>
                          </a:solidFill>
                          <a:latin typeface="Inter SemiBold"/>
                          <a:ea typeface="Inter"/>
                          <a:cs typeface="Inter"/>
                          <a:sym typeface="Inter"/>
                        </a:rPr>
                        <a:t>IMPACTO</a:t>
                      </a:r>
                      <a:endParaRPr b="1" sz="1800">
                        <a:solidFill>
                          <a:schemeClr val="dk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hMerge="1">
                  <a:txBody>
                    <a:bodyPr/>
                    <a:p/>
                  </a:txBody>
                </a:tc>
                <a:tc hMerge="1">
                  <a:txBody>
                    <a:bodyPr/>
                    <a:p/>
                  </a:txBody>
                </a:tc>
                <a:tc hMerge="1">
                  <a:txBody>
                    <a:bodyPr/>
                    <a:p/>
                  </a:txBody>
                </a:tc>
                <a:tc hMerge="1">
                  <a:txBody>
                    <a:bodyPr/>
                    <a:p/>
                  </a:txBody>
                </a:tc>
                <a:tc hMerge="1">
                  <a:txBody>
                    <a:bodyPr/>
                    <a:p/>
                  </a:txBody>
                </a:tc>
              </a:tr>
              <a:tr h="564275">
                <a:tc rowSpan="6">
                  <a:txBody>
                    <a:bodyPr/>
                    <a:lstStyle/>
                    <a:p>
                      <a:pPr indent="0" lvl="0" marL="0" rtl="0" algn="ctr">
                        <a:spcBef>
                          <a:spcPts val="0"/>
                        </a:spcBef>
                        <a:spcAft>
                          <a:spcPts val="0"/>
                        </a:spcAft>
                        <a:buNone/>
                      </a:pPr>
                      <a:r>
                        <a:rPr b="1" lang="en-US" sz="1500">
                          <a:solidFill>
                            <a:srgbClr val="FFFFFF"/>
                          </a:solidFill>
                          <a:latin typeface="Inter SemiBold"/>
                          <a:ea typeface="Inter"/>
                          <a:cs typeface="Inter"/>
                          <a:sym typeface="Inter"/>
                        </a:rPr>
                        <a:t>PROBABILIDAD</a:t>
                      </a:r>
                      <a:endParaRPr b="1" sz="1800">
                        <a:solidFill>
                          <a:schemeClr val="dk1"/>
                        </a:solidFill>
                        <a:latin typeface="Inter"/>
                        <a:ea typeface="Inter"/>
                        <a:cs typeface="Inter"/>
                        <a:sym typeface="Inter"/>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l">
                        <a:spcBef>
                          <a:spcPts val="0"/>
                        </a:spcBef>
                        <a:spcAft>
                          <a:spcPts val="0"/>
                        </a:spcAft>
                        <a:buNone/>
                      </a:pPr>
                      <a:r>
                        <a:rPr sz="1500" b="1">
                          <a:solidFill>
                            <a:srgbClr val="FFFFFF"/>
                          </a:solidFill>
                          <a:latin typeface="Inter SemiBold"/>
                        </a:rPr>
                        <a:t/>
                      </a:r>
                      <a:endParaRPr b="1" sz="1800">
                        <a:solidFill>
                          <a:schemeClr val="dk1"/>
                        </a:solidFill>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8641B"/>
                    </a:solidFill>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MUY BAJO</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BAJO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MEDIO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ALTO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MUY ALTO</a:t>
                      </a:r>
                      <a:endParaRPr b="1" sz="1800">
                        <a:latin typeface="Inter"/>
                        <a:ea typeface="Inter"/>
                        <a:cs typeface="Inter"/>
                        <a:sym typeface="Inter"/>
                      </a:endParaRPr>
                    </a:p>
                  </a:txBody>
                  <a:tcPr marT="91425" marB="91425" marR="91425" marL="91425">
                    <a:lnT cap="flat" cmpd="sng" w="9525">
                      <a:solidFill>
                        <a:schemeClr val="dk1"/>
                      </a:solidFill>
                      <a:prstDash val="solid"/>
                      <a:round/>
                      <a:headEnd len="sm" w="sm" type="none"/>
                      <a:tailEnd len="sm" w="sm" type="none"/>
                    </a:lnT>
                    <a:lnB cap="flat" cmpd="sng" w="7625">
                      <a:solidFill>
                        <a:srgbClr val="999999"/>
                      </a:solidFill>
                      <a:prstDash val="solid"/>
                      <a:round/>
                      <a:headEnd len="sm" w="sm" type="none"/>
                      <a:tailEnd len="sm" w="sm" type="none"/>
                    </a:lnB>
                  </a:tcPr>
                </a:tc>
              </a:tr>
              <a:tr h="1175775">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MUY ALTA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lnT cap="flat" cmpd="sng" w="9525">
                      <a:solidFill>
                        <a:schemeClr val="dk1"/>
                      </a:solidFill>
                      <a:prstDash val="solid"/>
                      <a:round/>
                      <a:headEnd len="sm" w="sm" type="none"/>
                      <a:tailEnd len="sm" w="sm" type="none"/>
                    </a:lnT>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r h="1012500">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ALTA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r h="1012500">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MEDIA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R-002, R-019, R-020, R-027, R-031, R-033, R-036, R-037, R-039, R-040</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BD5BA"/>
                    </a:solidFill>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R-001, R-003, R-004, R-007, R-017, R-018, R-021, R-022, R-024, R-025, R-026, R-029, R-030, R-035, R-038, R-042, R-045</a:t>
                      </a:r>
                      <a:endParaRPr b="1" sz="16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9A5E"/>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b="1" lang="en-US" sz="1400">
                          <a:solidFill>
                            <a:srgbClr val="FFFFFF"/>
                          </a:solidFill>
                          <a:latin typeface="Inter SemiBold"/>
                        </a:rPr>
                        <a:t>R-012, R-015</a:t>
                      </a:r>
                      <a:endParaRPr b="1" sz="1500">
                        <a:solidFill>
                          <a:srgbClr val="FFFFFF"/>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E8641B"/>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r h="1012500">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BAJA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R-044</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DEBDD"/>
                    </a:solidFill>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R-008, R-009, R-010, R-023, R-028, R-032, R-034, R-041, R-043</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BD5BA"/>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b="1" lang="en-US" sz="1400">
                          <a:solidFill>
                            <a:srgbClr val="111111"/>
                          </a:solidFill>
                          <a:latin typeface="Inter SemiBold"/>
                        </a:rPr>
                        <a:t>R-005, R-006, R-011, R-013, R-014, R-016</a:t>
                      </a:r>
                      <a:endParaRPr b="1" sz="1500">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29A5E"/>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r h="1012500">
                <a:tc vMerge="1">
                  <a:txBody>
                    <a:bodyPr/>
                    <a:p/>
                  </a:txBody>
                </a:tc>
                <a:tc>
                  <a:txBody>
                    <a:bodyPr/>
                    <a:lstStyle/>
                    <a:p>
                      <a:pPr indent="0" lvl="0" marL="0" rtl="0" algn="l">
                        <a:spcBef>
                          <a:spcPts val="0"/>
                        </a:spcBef>
                        <a:spcAft>
                          <a:spcPts val="0"/>
                        </a:spcAft>
                        <a:buNone/>
                      </a:pPr>
                      <a:r>
                        <a:rPr b="1" lang="en-US" sz="1500">
                          <a:solidFill>
                            <a:srgbClr val="111111"/>
                          </a:solidFill>
                          <a:latin typeface="Inter SemiBold"/>
                          <a:ea typeface="Inter"/>
                          <a:cs typeface="Inter"/>
                          <a:sym typeface="Inter"/>
                        </a:rPr>
                        <a:t>MUY BAJA</a:t>
                      </a:r>
                      <a:endParaRPr b="1" sz="1800">
                        <a:latin typeface="Inter"/>
                        <a:ea typeface="Inter"/>
                        <a:cs typeface="Inter"/>
                        <a:sym typeface="Inter"/>
                      </a:endParaRPr>
                    </a:p>
                  </a:txBody>
                  <a:tcPr marT="91425" marB="91425" marR="91425" marL="91425">
                    <a:lnL cap="flat" cmpd="sng" w="9525">
                      <a:solidFill>
                        <a:schemeClr val="dk1"/>
                      </a:solidFill>
                      <a:prstDash val="solid"/>
                      <a:round/>
                      <a:headEnd len="sm" w="sm" type="none"/>
                      <a:tailEnd len="sm" w="sm" type="none"/>
                    </a:lnL>
                    <a:lnR cap="flat" cmpd="sng" w="7625">
                      <a:solidFill>
                        <a:srgbClr val="999999"/>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US" sz="1400">
                          <a:solidFill>
                            <a:srgbClr val="111111"/>
                          </a:solidFill>
                          <a:latin typeface="Inter SemiBold"/>
                        </a:rPr>
                        <a:t>—</a:t>
                      </a:r>
                      <a:endParaRPr b="1" sz="1500">
                        <a:solidFill>
                          <a:srgbClr val="808080"/>
                        </a:solidFill>
                        <a:latin typeface="Inter"/>
                        <a:ea typeface="Inter"/>
                        <a:cs typeface="Inter"/>
                        <a:sym typeface="Inter"/>
                      </a:endParaRPr>
                    </a:p>
                  </a:txBody>
                  <a:tcPr marT="91425" marB="91425" marR="28575" marL="28575" anchor="ctr">
                    <a:lnL cap="flat" cmpd="sng" w="7625">
                      <a:solidFill>
                        <a:srgbClr val="999999"/>
                      </a:solidFill>
                      <a:prstDash val="solid"/>
                      <a:round/>
                      <a:headEnd len="sm" w="sm" type="none"/>
                      <a:tailEnd len="sm" w="sm" type="none"/>
                    </a:lnL>
                    <a:lnR cap="flat" cmpd="sng" w="7625">
                      <a:solidFill>
                        <a:srgbClr val="999999"/>
                      </a:solidFill>
                      <a:prstDash val="solid"/>
                      <a:round/>
                      <a:headEnd len="sm" w="sm" type="none"/>
                      <a:tailEnd len="sm" w="sm" type="none"/>
                    </a:lnR>
                    <a:lnT cap="flat" cmpd="sng" w="7625">
                      <a:solidFill>
                        <a:srgbClr val="999999"/>
                      </a:solidFill>
                      <a:prstDash val="solid"/>
                      <a:round/>
                      <a:headEnd len="sm" w="sm" type="none"/>
                      <a:tailEnd len="sm" w="sm" type="none"/>
                    </a:lnT>
                    <a:lnB cap="flat" cmpd="sng" w="7625">
                      <a:solidFill>
                        <a:srgbClr val="999999"/>
                      </a:solidFill>
                      <a:prstDash val="solid"/>
                      <a:round/>
                      <a:headEnd len="sm" w="sm" type="none"/>
                      <a:tailEnd len="sm" w="sm" type="none"/>
                    </a:lnB>
                    <a:solidFill>
                      <a:srgbClr val="F4F4F4"/>
                    </a:solidFill>
                  </a:tcPr>
                </a:tc>
              </a:tr>
            </a:tbl>
          </a:graphicData>
        </a:graphic>
      </p:graphicFrame>
      <p:sp>
        <p:nvSpPr>
          <p:cNvPr id="1831"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27</a:t>
            </a:r>
          </a:p>
        </p:txBody>
      </p:sp>
    </p:spTree>
  </p:cSld>
  <p:clrMapOvr>
    <a:masterClrMapping/>
  </p:clrMapOvr>
  <p:transition spd="med">
    <p:push dir="l"/>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76" name="!!deco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875" name="!!deco2"/>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a:p>
        </p:txBody>
      </p:sp>
      <p:sp>
        <p:nvSpPr>
          <p:cNvPr id="1835" name="Google Shape;1835;hc7cc306779174be_4_255"/>
          <p:cNvSpPr txBox="1"/>
          <p:nvPr/>
        </p:nvSpPr>
        <p:spPr>
          <a:xfrm>
            <a:off x="9389512" y="1188720"/>
            <a:ext cx="5486400" cy="1662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Normas y leyes</a:t>
            </a:r>
            <a:endParaRPr sz="1400"/>
          </a:p>
        </p:txBody>
      </p:sp>
      <p:sp>
        <p:nvSpPr>
          <p:cNvPr id="1836" name="!!brand"/>
          <p:cNvSpPr txBox="1"/>
          <p:nvPr/>
        </p:nvSpPr>
        <p:spPr>
          <a:xfrm>
            <a:off x="13217409" y="1000125"/>
            <a:ext cx="332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sz="1400"/>
          </a:p>
        </p:txBody>
      </p:sp>
      <p:pic>
        <p:nvPicPr>
          <p:cNvPr descr="Isotipo LafroX" id="1837" name="!!logo"/>
          <p:cNvPicPr preferRelativeResize="0"/>
          <p:nvPr/>
        </p:nvPicPr>
        <p:blipFill rotWithShape="1">
          <a:blip r:embed="rId3">
            <a:alphaModFix/>
          </a:blip>
          <a:srcRect b="0" l="0" r="0" t="0"/>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NORMA → CÓMO SE ACREDITA</a:t>
            </a:r>
            <a:endParaRPr sz="1400"/>
          </a:p>
        </p:txBody>
      </p:sp>
      <p:sp>
        <p:nvSpPr>
          <p:cNvPr id="1839" name="Google Shape;1839;hc7cc306779174be_4_255"/>
          <p:cNvSpPr/>
          <p:nvPr/>
        </p:nvSpPr>
        <p:spPr>
          <a:xfrm>
            <a:off x="731520" y="169164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0" name="Google Shape;1840;hc7cc306779174be_4_255"/>
          <p:cNvSpPr txBox="1"/>
          <p:nvPr/>
        </p:nvSpPr>
        <p:spPr>
          <a:xfrm>
            <a:off x="914400" y="169164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25010</a:t>
            </a:r>
            <a:endParaRPr sz="1400"/>
          </a:p>
        </p:txBody>
      </p:sp>
      <p:sp>
        <p:nvSpPr>
          <p:cNvPr id="1841" name="Google Shape;1841;hc7cc306779174be_4_255"/>
          <p:cNvSpPr txBox="1"/>
          <p:nvPr/>
        </p:nvSpPr>
        <p:spPr>
          <a:xfrm>
            <a:off x="3657600" y="169164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8 características con umbral</a:t>
            </a:r>
            <a:endParaRPr sz="1400"/>
          </a:p>
        </p:txBody>
      </p:sp>
      <p:sp>
        <p:nvSpPr>
          <p:cNvPr id="1842" name="Google Shape;1842;hc7cc306779174be_4_255"/>
          <p:cNvSpPr/>
          <p:nvPr/>
        </p:nvSpPr>
        <p:spPr>
          <a:xfrm>
            <a:off x="731520" y="258775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3" name="Google Shape;1843;hc7cc306779174be_4_255"/>
          <p:cNvSpPr txBox="1"/>
          <p:nvPr/>
        </p:nvSpPr>
        <p:spPr>
          <a:xfrm>
            <a:off x="914400" y="258775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25012</a:t>
            </a:r>
            <a:endParaRPr sz="1400"/>
          </a:p>
        </p:txBody>
      </p:sp>
      <p:sp>
        <p:nvSpPr>
          <p:cNvPr id="1844" name="Google Shape;1844;hc7cc306779174be_4_255"/>
          <p:cNvSpPr txBox="1"/>
          <p:nvPr/>
        </p:nvSpPr>
        <p:spPr>
          <a:xfrm>
            <a:off x="3657600" y="258775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Datos medidos y conciliados</a:t>
            </a:r>
            <a:endParaRPr sz="1400"/>
          </a:p>
        </p:txBody>
      </p:sp>
      <p:sp>
        <p:nvSpPr>
          <p:cNvPr id="1845" name="Google Shape;1845;hc7cc306779174be_4_255"/>
          <p:cNvSpPr/>
          <p:nvPr/>
        </p:nvSpPr>
        <p:spPr>
          <a:xfrm>
            <a:off x="731520" y="3483864"/>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6" name="Google Shape;1846;hc7cc306779174be_4_255"/>
          <p:cNvSpPr txBox="1"/>
          <p:nvPr/>
        </p:nvSpPr>
        <p:spPr>
          <a:xfrm>
            <a:off x="914400" y="3483864"/>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29119</a:t>
            </a:r>
            <a:endParaRPr sz="1400"/>
          </a:p>
        </p:txBody>
      </p:sp>
      <p:sp>
        <p:nvSpPr>
          <p:cNvPr id="1847" name="Google Shape;1847;hc7cc306779174be_4_255"/>
          <p:cNvSpPr txBox="1"/>
          <p:nvPr/>
        </p:nvSpPr>
        <p:spPr>
          <a:xfrm>
            <a:off x="3657600" y="3483864"/>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Proceso de pruebas en 3 niveles</a:t>
            </a:r>
            <a:endParaRPr sz="1400"/>
          </a:p>
        </p:txBody>
      </p:sp>
      <p:sp>
        <p:nvSpPr>
          <p:cNvPr id="1848" name="Google Shape;1848;hc7cc306779174be_4_255"/>
          <p:cNvSpPr/>
          <p:nvPr/>
        </p:nvSpPr>
        <p:spPr>
          <a:xfrm>
            <a:off x="731520" y="4379976"/>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9" name="Google Shape;1849;hc7cc306779174be_4_255"/>
          <p:cNvSpPr txBox="1"/>
          <p:nvPr/>
        </p:nvSpPr>
        <p:spPr>
          <a:xfrm>
            <a:off x="914400" y="4379976"/>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PMBOK cap. 8</a:t>
            </a:r>
            <a:endParaRPr sz="1400"/>
          </a:p>
        </p:txBody>
      </p:sp>
      <p:sp>
        <p:nvSpPr>
          <p:cNvPr id="1850" name="Google Shape;1850;hc7cc306779174be_4_255"/>
          <p:cNvSpPr txBox="1"/>
          <p:nvPr/>
        </p:nvSpPr>
        <p:spPr>
          <a:xfrm>
            <a:off x="3657600" y="4379976"/>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Planificar, gestionar y controlar</a:t>
            </a:r>
            <a:endParaRPr sz="1400"/>
          </a:p>
        </p:txBody>
      </p:sp>
      <p:sp>
        <p:nvSpPr>
          <p:cNvPr id="1851" name="Google Shape;1851;hc7cc306779174be_4_255"/>
          <p:cNvSpPr/>
          <p:nvPr/>
        </p:nvSpPr>
        <p:spPr>
          <a:xfrm>
            <a:off x="731520" y="5276088"/>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2" name="Google Shape;1852;hc7cc306779174be_4_255"/>
          <p:cNvSpPr txBox="1"/>
          <p:nvPr/>
        </p:nvSpPr>
        <p:spPr>
          <a:xfrm>
            <a:off x="914400" y="5276088"/>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WCAG 2.2 AA</a:t>
            </a:r>
            <a:endParaRPr sz="1400"/>
          </a:p>
        </p:txBody>
      </p:sp>
      <p:sp>
        <p:nvSpPr>
          <p:cNvPr id="1853" name="Google Shape;1853;hc7cc306779174be_4_255"/>
          <p:cNvSpPr txBox="1"/>
          <p:nvPr/>
        </p:nvSpPr>
        <p:spPr>
          <a:xfrm>
            <a:off x="3657600" y="5276088"/>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Herramienta + revisión manual</a:t>
            </a:r>
            <a:endParaRPr sz="1400"/>
          </a:p>
        </p:txBody>
      </p:sp>
      <p:sp>
        <p:nvSpPr>
          <p:cNvPr id="1854" name="Google Shape;1854;hc7cc306779174be_4_255"/>
          <p:cNvSpPr/>
          <p:nvPr/>
        </p:nvSpPr>
        <p:spPr>
          <a:xfrm>
            <a:off x="731520" y="617220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5" name="Google Shape;1855;hc7cc306779174be_4_255"/>
          <p:cNvSpPr txBox="1"/>
          <p:nvPr/>
        </p:nvSpPr>
        <p:spPr>
          <a:xfrm>
            <a:off x="914400" y="617220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OWASP</a:t>
            </a:r>
            <a:endParaRPr sz="1400"/>
          </a:p>
        </p:txBody>
      </p:sp>
      <p:sp>
        <p:nvSpPr>
          <p:cNvPr id="1856" name="Google Shape;1856;hc7cc306779174be_4_255"/>
          <p:cNvSpPr txBox="1"/>
          <p:nvPr/>
        </p:nvSpPr>
        <p:spPr>
          <a:xfrm>
            <a:off x="3657600" y="617220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Análisis estático y dinámico</a:t>
            </a:r>
            <a:endParaRPr sz="1400"/>
          </a:p>
        </p:txBody>
      </p:sp>
      <p:sp>
        <p:nvSpPr>
          <p:cNvPr id="1857" name="Google Shape;1857;hc7cc306779174be_4_255"/>
          <p:cNvSpPr/>
          <p:nvPr/>
        </p:nvSpPr>
        <p:spPr>
          <a:xfrm>
            <a:off x="731520" y="706831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8" name="Google Shape;1858;hc7cc306779174be_4_255"/>
          <p:cNvSpPr txBox="1"/>
          <p:nvPr/>
        </p:nvSpPr>
        <p:spPr>
          <a:xfrm>
            <a:off x="914400" y="706831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 9001</a:t>
            </a:r>
            <a:endParaRPr sz="1400"/>
          </a:p>
        </p:txBody>
      </p:sp>
      <p:sp>
        <p:nvSpPr>
          <p:cNvPr id="1859" name="Google Shape;1859;hc7cc306779174be_4_255"/>
          <p:cNvSpPr txBox="1"/>
          <p:nvPr/>
        </p:nvSpPr>
        <p:spPr>
          <a:xfrm>
            <a:off x="3657600" y="706831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Marco de auditoría</a:t>
            </a:r>
            <a:endParaRPr sz="1400"/>
          </a:p>
        </p:txBody>
      </p:sp>
      <p:sp>
        <p:nvSpPr>
          <p:cNvPr id="1860" name="Google Shape;1860;hc7cc306779174be_4_255"/>
          <p:cNvSpPr/>
          <p:nvPr/>
        </p:nvSpPr>
        <p:spPr>
          <a:xfrm>
            <a:off x="731520" y="7964423"/>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61" name="Google Shape;1861;hc7cc306779174be_4_255"/>
          <p:cNvSpPr txBox="1"/>
          <p:nvPr/>
        </p:nvSpPr>
        <p:spPr>
          <a:xfrm>
            <a:off x="914400" y="7964423"/>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CMMI-DEV N3</a:t>
            </a:r>
            <a:endParaRPr sz="1400"/>
          </a:p>
        </p:txBody>
      </p:sp>
      <p:sp>
        <p:nvSpPr>
          <p:cNvPr id="1862" name="Google Shape;1862;hc7cc306779174be_4_255"/>
          <p:cNvSpPr txBox="1"/>
          <p:nvPr/>
        </p:nvSpPr>
        <p:spPr>
          <a:xfrm>
            <a:off x="3657600" y="7964423"/>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Madurez del proceso</a:t>
            </a:r>
            <a:endParaRPr sz="1400"/>
          </a:p>
        </p:txBody>
      </p:sp>
      <p:sp>
        <p:nvSpPr>
          <p:cNvPr id="1863" name="Google Shape;1863;hc7cc306779174be_4_255"/>
          <p:cNvSpPr txBox="1"/>
          <p:nvPr/>
        </p:nvSpPr>
        <p:spPr>
          <a:xfrm>
            <a:off x="9390888" y="365760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LEYES</a:t>
            </a:r>
            <a:endParaRPr sz="1400"/>
          </a:p>
        </p:txBody>
      </p:sp>
      <p:sp>
        <p:nvSpPr>
          <p:cNvPr id="1864" name="Google Shape;1864;hc7cc306779174be_4_255"/>
          <p:cNvSpPr txBox="1"/>
          <p:nvPr/>
        </p:nvSpPr>
        <p:spPr>
          <a:xfrm>
            <a:off x="9390888" y="40690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Decreto 977</a:t>
            </a:r>
            <a:endParaRPr sz="1400"/>
          </a:p>
        </p:txBody>
      </p:sp>
      <p:sp>
        <p:nvSpPr>
          <p:cNvPr id="1865" name="Google Shape;1865;hc7cc306779174be_4_255"/>
          <p:cNvSpPr txBox="1"/>
          <p:nvPr/>
        </p:nvSpPr>
        <p:spPr>
          <a:xfrm>
            <a:off x="9390888" y="44348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 −18 °C registrado y retiro expedito</a:t>
            </a:r>
            <a:endParaRPr sz="1400"/>
          </a:p>
        </p:txBody>
      </p:sp>
      <p:sp>
        <p:nvSpPr>
          <p:cNvPr id="1866" name="Google Shape;1866;hc7cc306779174be_4_255"/>
          <p:cNvSpPr txBox="1"/>
          <p:nvPr/>
        </p:nvSpPr>
        <p:spPr>
          <a:xfrm>
            <a:off x="9390888" y="49834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SII · DTE</a:t>
            </a:r>
            <a:endParaRPr sz="1400"/>
          </a:p>
        </p:txBody>
      </p:sp>
      <p:sp>
        <p:nvSpPr>
          <p:cNvPr id="1867" name="Google Shape;1867;hc7cc306779174be_4_255"/>
          <p:cNvSpPr txBox="1"/>
          <p:nvPr/>
        </p:nvSpPr>
        <p:spPr>
          <a:xfrm>
            <a:off x="9390888" y="53492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Guía electrónica y acuse de recibo</a:t>
            </a:r>
            <a:endParaRPr sz="1400"/>
          </a:p>
        </p:txBody>
      </p:sp>
      <p:sp>
        <p:nvSpPr>
          <p:cNvPr id="1868" name="Google Shape;1868;hc7cc306779174be_4_255"/>
          <p:cNvSpPr txBox="1"/>
          <p:nvPr/>
        </p:nvSpPr>
        <p:spPr>
          <a:xfrm>
            <a:off x="9390888" y="58978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Art. 25 bis</a:t>
            </a:r>
            <a:endParaRPr sz="1400"/>
          </a:p>
        </p:txBody>
      </p:sp>
      <p:sp>
        <p:nvSpPr>
          <p:cNvPr id="1869" name="Google Shape;1869;hc7cc306779174be_4_255"/>
          <p:cNvSpPr txBox="1"/>
          <p:nvPr/>
        </p:nvSpPr>
        <p:spPr>
          <a:xfrm>
            <a:off x="9390888" y="62636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Jornada de conductores en el ruteo</a:t>
            </a:r>
            <a:endParaRPr sz="1400"/>
          </a:p>
        </p:txBody>
      </p:sp>
      <p:sp>
        <p:nvSpPr>
          <p:cNvPr id="1870" name="Google Shape;1870;hc7cc306779174be_4_255"/>
          <p:cNvSpPr txBox="1"/>
          <p:nvPr/>
        </p:nvSpPr>
        <p:spPr>
          <a:xfrm>
            <a:off x="9390888" y="68122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Ley 21.719</a:t>
            </a:r>
            <a:endParaRPr sz="1400"/>
          </a:p>
        </p:txBody>
      </p:sp>
      <p:sp>
        <p:nvSpPr>
          <p:cNvPr id="1871" name="Google Shape;1871;hc7cc306779174be_4_255"/>
          <p:cNvSpPr txBox="1"/>
          <p:nvPr/>
        </p:nvSpPr>
        <p:spPr>
          <a:xfrm>
            <a:off x="9390888" y="71780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Datos personales, desde dic-2026</a:t>
            </a:r>
            <a:endParaRPr sz="1400"/>
          </a:p>
        </p:txBody>
      </p:sp>
      <p:sp>
        <p:nvSpPr>
          <p:cNvPr id="1872" name="Google Shape;1872;hc7cc306779174be_4_255"/>
          <p:cNvSpPr txBox="1"/>
          <p:nvPr/>
        </p:nvSpPr>
        <p:spPr>
          <a:xfrm>
            <a:off x="9390888" y="7726679"/>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GS1 · EDI</a:t>
            </a:r>
            <a:endParaRPr sz="1400"/>
          </a:p>
        </p:txBody>
      </p:sp>
      <p:sp>
        <p:nvSpPr>
          <p:cNvPr id="1873" name="Google Shape;1873;hc7cc306779174be_4_255"/>
          <p:cNvSpPr txBox="1"/>
          <p:nvPr/>
        </p:nvSpPr>
        <p:spPr>
          <a:xfrm>
            <a:off x="9390888" y="80924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GTIN, GLN y SSCC</a:t>
            </a:r>
            <a:endParaRPr sz="1400"/>
          </a:p>
        </p:txBody>
      </p:sp>
      <p:sp>
        <p:nvSpPr>
          <p:cNvPr id="187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28</a:t>
            </a:r>
          </a:p>
        </p:txBody>
      </p:sp>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0" name="Google Shape;1880;hc7cc306779174be_4_489"/>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Calidad del producto</a:t>
            </a:r>
            <a:endParaRPr sz="1400"/>
          </a:p>
        </p:txBody>
      </p:sp>
      <p:sp>
        <p:nvSpPr>
          <p:cNvPr id="1881"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2"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883"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4"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5" name="Google Shape;1885;hc7cc306779174be_4_489"/>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886" name="Google Shape;1886;hc7cc306779174be_4_489"/>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4 objetivos medibles · 8 características ISO/IEC 25010, cada una con su umbral</a:t>
            </a:r>
            <a:endParaRPr sz="1400"/>
          </a:p>
        </p:txBody>
      </p:sp>
      <p:sp>
        <p:nvSpPr>
          <p:cNvPr id="1887" name="Google Shape;1887;hc7cc306779174be_4_489"/>
          <p:cNvSpPr/>
          <p:nvPr/>
        </p:nvSpPr>
        <p:spPr>
          <a:xfrm>
            <a:off x="91440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100 %</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requisitos con prueba aprobada</a:t>
            </a:r>
            <a:endParaRPr sz="1400"/>
          </a:p>
        </p:txBody>
      </p:sp>
      <p:sp>
        <p:nvSpPr>
          <p:cNvPr id="1888" name="Google Shape;1888;hc7cc306779174be_4_489"/>
          <p:cNvSpPr/>
          <p:nvPr/>
        </p:nvSpPr>
        <p:spPr>
          <a:xfrm>
            <a:off x="507492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defectos críticos o altos al cierre</a:t>
            </a:r>
            <a:endParaRPr sz="1400"/>
          </a:p>
        </p:txBody>
      </p:sp>
      <p:sp>
        <p:nvSpPr>
          <p:cNvPr id="1889" name="Google Shape;1889;hc7cc306779174be_4_489"/>
          <p:cNvSpPr/>
          <p:nvPr/>
        </p:nvSpPr>
        <p:spPr>
          <a:xfrm>
            <a:off x="923544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 min</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 caída entre 05:30 y 07:00</a:t>
            </a:r>
            <a:endParaRPr sz="1400"/>
          </a:p>
        </p:txBody>
      </p:sp>
      <p:sp>
        <p:nvSpPr>
          <p:cNvPr id="1890" name="Google Shape;1890;hc7cc306779174be_4_489"/>
          <p:cNvSpPr/>
          <p:nvPr/>
        </p:nvSpPr>
        <p:spPr>
          <a:xfrm>
            <a:off x="13395959"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16 de 16</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resultados del Caso</a:t>
            </a:r>
            <a:endParaRPr sz="1400"/>
          </a:p>
        </p:txBody>
      </p:sp>
      <p:sp>
        <p:nvSpPr>
          <p:cNvPr id="1891" name="Google Shape;1891;hc7cc306779174be_4_489"/>
          <p:cNvSpPr/>
          <p:nvPr/>
        </p:nvSpPr>
        <p:spPr>
          <a:xfrm>
            <a:off x="91440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Funcionalidad</a:t>
            </a:r>
            <a:endParaRPr sz="1400"/>
          </a:p>
        </p:txBody>
      </p:sp>
      <p:sp>
        <p:nvSpPr>
          <p:cNvPr id="1893" name="Google Shape;1893;hc7cc306779174be_4_489"/>
          <p:cNvSpPr txBox="1"/>
          <p:nvPr/>
        </p:nvSpPr>
        <p:spPr>
          <a:xfrm>
            <a:off x="114300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100 % de requisitos probados</a:t>
            </a:r>
            <a:endParaRPr sz="1400"/>
          </a:p>
        </p:txBody>
      </p:sp>
      <p:sp>
        <p:nvSpPr>
          <p:cNvPr id="1894" name="Google Shape;1894;hc7cc306779174be_4_489"/>
          <p:cNvSpPr/>
          <p:nvPr/>
        </p:nvSpPr>
        <p:spPr>
          <a:xfrm>
            <a:off x="5074920" y="470916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Desempeño</a:t>
            </a:r>
            <a:endParaRPr sz="1400"/>
          </a:p>
        </p:txBody>
      </p:sp>
      <p:sp>
        <p:nvSpPr>
          <p:cNvPr id="1896" name="Google Shape;1896;hc7cc306779174be_4_489"/>
          <p:cNvSpPr txBox="1"/>
          <p:nvPr/>
        </p:nvSpPr>
        <p:spPr>
          <a:xfrm>
            <a:off x="5303520" y="536752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p95: preparación ≤ 1 s · preventa ≤ 1,5 s</a:t>
            </a:r>
            <a:endParaRPr sz="1400"/>
          </a:p>
        </p:txBody>
      </p:sp>
      <p:sp>
        <p:nvSpPr>
          <p:cNvPr id="1897" name="Google Shape;1897;hc7cc306779174be_4_489"/>
          <p:cNvSpPr/>
          <p:nvPr/>
        </p:nvSpPr>
        <p:spPr>
          <a:xfrm>
            <a:off x="923544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Compatibilidad</a:t>
            </a:r>
            <a:endParaRPr sz="1400"/>
          </a:p>
        </p:txBody>
      </p:sp>
      <p:sp>
        <p:nvSpPr>
          <p:cNvPr id="1899" name="Google Shape;1899;hc7cc306779174be_4_489"/>
          <p:cNvSpPr txBox="1"/>
          <p:nvPr/>
        </p:nvSpPr>
        <p:spPr>
          <a:xfrm>
            <a:off x="946404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15 de 15 integraciones</a:t>
            </a:r>
            <a:endParaRPr sz="1400"/>
          </a:p>
        </p:txBody>
      </p:sp>
      <p:sp>
        <p:nvSpPr>
          <p:cNvPr id="1900" name="Google Shape;1900;hc7cc306779174be_4_489"/>
          <p:cNvSpPr/>
          <p:nvPr/>
        </p:nvSpPr>
        <p:spPr>
          <a:xfrm>
            <a:off x="13395959"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Usabilidad</a:t>
            </a:r>
            <a:endParaRPr sz="1400"/>
          </a:p>
        </p:txBody>
      </p:sp>
      <p:sp>
        <p:nvSpPr>
          <p:cNvPr id="1902" name="Google Shape;1902;hc7cc306779174be_4_489"/>
          <p:cNvSpPr txBox="1"/>
          <p:nvPr/>
        </p:nvSpPr>
        <p:spPr>
          <a:xfrm>
            <a:off x="13624559"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WCAG 2.2 AA · guantes a −22 °C</a:t>
            </a:r>
            <a:endParaRPr sz="1400"/>
          </a:p>
        </p:txBody>
      </p:sp>
      <p:sp>
        <p:nvSpPr>
          <p:cNvPr id="1903" name="Google Shape;1903;hc7cc306779174be_4_489"/>
          <p:cNvSpPr/>
          <p:nvPr/>
        </p:nvSpPr>
        <p:spPr>
          <a:xfrm>
            <a:off x="914400" y="649224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Fiabilidad</a:t>
            </a:r>
            <a:endParaRPr sz="1400"/>
          </a:p>
        </p:txBody>
      </p:sp>
      <p:sp>
        <p:nvSpPr>
          <p:cNvPr id="1905" name="Google Shape;1905;hc7cc306779174be_4_489"/>
          <p:cNvSpPr txBox="1"/>
          <p:nvPr/>
        </p:nvSpPr>
        <p:spPr>
          <a:xfrm>
            <a:off x="114300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 99,9 % · RTO ≤ 4 h · RPO ≤ 15 min</a:t>
            </a:r>
            <a:endParaRPr sz="1400"/>
          </a:p>
        </p:txBody>
      </p:sp>
      <p:sp>
        <p:nvSpPr>
          <p:cNvPr id="1906" name="Google Shape;1906;hc7cc306779174be_4_489"/>
          <p:cNvSpPr/>
          <p:nvPr/>
        </p:nvSpPr>
        <p:spPr>
          <a:xfrm>
            <a:off x="507492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Seguridad</a:t>
            </a:r>
            <a:endParaRPr sz="1400"/>
          </a:p>
        </p:txBody>
      </p:sp>
      <p:sp>
        <p:nvSpPr>
          <p:cNvPr id="1908" name="Google Shape;1908;hc7cc306779174be_4_489"/>
          <p:cNvSpPr txBox="1"/>
          <p:nvPr/>
        </p:nvSpPr>
        <p:spPr>
          <a:xfrm>
            <a:off x="530352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0 hallazgos críticos o altos</a:t>
            </a:r>
            <a:endParaRPr sz="1400"/>
          </a:p>
        </p:txBody>
      </p:sp>
      <p:sp>
        <p:nvSpPr>
          <p:cNvPr id="1909" name="Google Shape;1909;hc7cc306779174be_4_489"/>
          <p:cNvSpPr/>
          <p:nvPr/>
        </p:nvSpPr>
        <p:spPr>
          <a:xfrm>
            <a:off x="923544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Mantenibilidad</a:t>
            </a:r>
            <a:endParaRPr sz="1400"/>
          </a:p>
        </p:txBody>
      </p:sp>
      <p:sp>
        <p:nvSpPr>
          <p:cNvPr id="1911" name="Google Shape;1911;hc7cc306779174be_4_489"/>
          <p:cNvSpPr txBox="1"/>
          <p:nvPr/>
        </p:nvSpPr>
        <p:spPr>
          <a:xfrm>
            <a:off x="9464040" y="715060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Cobertura 70 % negocio · 80 % global</a:t>
            </a:r>
            <a:endParaRPr sz="1400"/>
          </a:p>
        </p:txBody>
      </p:sp>
      <p:sp>
        <p:nvSpPr>
          <p:cNvPr id="1912" name="Google Shape;1912;hc7cc306779174be_4_489"/>
          <p:cNvSpPr/>
          <p:nvPr/>
        </p:nvSpPr>
        <p:spPr>
          <a:xfrm>
            <a:off x="13395959"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Portabilidad</a:t>
            </a:r>
            <a:endParaRPr sz="1400"/>
          </a:p>
        </p:txBody>
      </p:sp>
      <p:sp>
        <p:nvSpPr>
          <p:cNvPr id="1914" name="Google Shape;1914;hc7cc306779174be_4_489"/>
          <p:cNvSpPr txBox="1"/>
          <p:nvPr/>
        </p:nvSpPr>
        <p:spPr>
          <a:xfrm>
            <a:off x="13624559"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Mismo artefacto de QA a Producción</a:t>
            </a:r>
            <a:endParaRPr sz="1400"/>
          </a:p>
        </p:txBody>
      </p:sp>
      <p:sp>
        <p:nvSpPr>
          <p:cNvPr id="19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29</a:t>
            </a:r>
          </a:p>
        </p:txBody>
      </p:sp>
    </p:spTree>
  </p:cSld>
  <p:clrMapOvr>
    <a:masterClrMapping/>
  </p:clrMapOvr>
  <p:transition spd="med">
    <p:push dir="l"/>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deco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22" name="!!deco2"/>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923" name="!!deco3"/>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924" name="!!deco4"/>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925" name="Google Shape;1925;p31"/>
          <p:cNvSpPr txBox="1"/>
          <p:nvPr/>
        </p:nvSpPr>
        <p:spPr>
          <a:xfrm>
            <a:off x="1431044" y="1908274"/>
            <a:ext cx="8336653" cy="2790501"/>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7926">
                <a:solidFill>
                  <a:srgbClr val="111111"/>
                </a:solidFill>
                <a:latin typeface="Inter SemiBold"/>
                <a:ea typeface="Inter SemiBold"/>
                <a:cs typeface="Inter SemiBold"/>
                <a:sym typeface="Inter SemiBold"/>
              </a:rPr>
              <a:t>Calidad que bloquea</a:t>
            </a:r>
            <a:endParaRPr/>
          </a:p>
        </p:txBody>
      </p:sp>
      <p:sp>
        <p:nvSpPr>
          <p:cNvPr id="1926" name="Google Shape;1926;p31"/>
          <p:cNvSpPr txBox="1"/>
          <p:nvPr/>
        </p:nvSpPr>
        <p:spPr>
          <a:xfrm>
            <a:off x="1435608" y="4846320"/>
            <a:ext cx="758952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7 puertas. Sin excepciones.</a:t>
            </a:r>
            <a:endParaRPr/>
          </a:p>
        </p:txBody>
      </p:sp>
      <p:sp>
        <p:nvSpPr>
          <p:cNvPr id="1927" name="Google Shape;1927;p31"/>
          <p:cNvSpPr txBox="1"/>
          <p:nvPr/>
        </p:nvSpPr>
        <p:spPr>
          <a:xfrm>
            <a:off x="1435608" y="5760720"/>
            <a:ext cx="76809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ART. 17.3 · 6 CONDICIONES PARA ACEPTAR</a:t>
            </a:r>
            <a:endParaRPr/>
          </a:p>
        </p:txBody>
      </p:sp>
      <p:sp>
        <p:nvSpPr>
          <p:cNvPr id="1928" name="Google Shape;1928;p31"/>
          <p:cNvSpPr/>
          <p:nvPr/>
        </p:nvSpPr>
        <p:spPr>
          <a:xfrm>
            <a:off x="143560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1</a:t>
            </a:r>
            <a:endParaRPr/>
          </a:p>
        </p:txBody>
      </p:sp>
      <p:sp>
        <p:nvSpPr>
          <p:cNvPr id="1929" name="Google Shape;1929;p31"/>
          <p:cNvSpPr txBox="1"/>
          <p:nvPr/>
        </p:nvSpPr>
        <p:spPr>
          <a:xfrm>
            <a:off x="1984248" y="6398011"/>
            <a:ext cx="3291840" cy="26161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0 incidentes críticos o altos</a:t>
            </a:r>
            <a:endParaRPr b="0" sz="1700">
              <a:solidFill>
                <a:srgbClr val="3C3C3C"/>
              </a:solidFill>
              <a:latin typeface="Inter"/>
              <a:ea typeface="Inter"/>
              <a:cs typeface="Inter"/>
              <a:sym typeface="Inter"/>
            </a:endParaRPr>
          </a:p>
        </p:txBody>
      </p:sp>
      <p:sp>
        <p:nvSpPr>
          <p:cNvPr id="1930" name="Google Shape;1930;p31"/>
          <p:cNvSpPr/>
          <p:nvPr/>
        </p:nvSpPr>
        <p:spPr>
          <a:xfrm>
            <a:off x="536752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2</a:t>
            </a:r>
            <a:endParaRPr/>
          </a:p>
        </p:txBody>
      </p:sp>
      <p:sp>
        <p:nvSpPr>
          <p:cNvPr id="1931" name="Google Shape;1931;p31"/>
          <p:cNvSpPr txBox="1"/>
          <p:nvPr/>
        </p:nvSpPr>
        <p:spPr>
          <a:xfrm>
            <a:off x="5916168" y="6217920"/>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4 semanas de volumen real</a:t>
            </a:r>
            <a:endParaRPr/>
          </a:p>
        </p:txBody>
      </p:sp>
      <p:sp>
        <p:nvSpPr>
          <p:cNvPr id="1932" name="Google Shape;1932;p31"/>
          <p:cNvSpPr/>
          <p:nvPr/>
        </p:nvSpPr>
        <p:spPr>
          <a:xfrm>
            <a:off x="143560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3</a:t>
            </a:r>
            <a:endParaRPr/>
          </a:p>
        </p:txBody>
      </p:sp>
      <p:sp>
        <p:nvSpPr>
          <p:cNvPr id="1933" name="Google Shape;1933;p31"/>
          <p:cNvSpPr txBox="1"/>
          <p:nvPr/>
        </p:nvSpPr>
        <p:spPr>
          <a:xfrm>
            <a:off x="198424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caída en despacho</a:t>
            </a:r>
            <a:endParaRPr/>
          </a:p>
        </p:txBody>
      </p:sp>
      <p:sp>
        <p:nvSpPr>
          <p:cNvPr id="1934" name="Google Shape;1934;p31"/>
          <p:cNvSpPr/>
          <p:nvPr/>
        </p:nvSpPr>
        <p:spPr>
          <a:xfrm>
            <a:off x="536752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4</a:t>
            </a:r>
            <a:endParaRPr/>
          </a:p>
        </p:txBody>
      </p:sp>
      <p:sp>
        <p:nvSpPr>
          <p:cNvPr id="1935" name="Google Shape;1935;p31"/>
          <p:cNvSpPr txBox="1"/>
          <p:nvPr/>
        </p:nvSpPr>
        <p:spPr>
          <a:xfrm>
            <a:off x="591616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diferencias sin explicar</a:t>
            </a:r>
            <a:endParaRPr/>
          </a:p>
        </p:txBody>
      </p:sp>
      <p:sp>
        <p:nvSpPr>
          <p:cNvPr id="1936" name="Google Shape;1936;p31"/>
          <p:cNvSpPr/>
          <p:nvPr/>
        </p:nvSpPr>
        <p:spPr>
          <a:xfrm>
            <a:off x="143560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5</a:t>
            </a:r>
            <a:endParaRPr/>
          </a:p>
        </p:txBody>
      </p:sp>
      <p:sp>
        <p:nvSpPr>
          <p:cNvPr id="1937" name="Google Shape;1937;p31"/>
          <p:cNvSpPr txBox="1"/>
          <p:nvPr/>
        </p:nvSpPr>
        <p:spPr>
          <a:xfrm>
            <a:off x="198424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100 % usuarios certificados</a:t>
            </a:r>
            <a:endParaRPr/>
          </a:p>
        </p:txBody>
      </p:sp>
      <p:sp>
        <p:nvSpPr>
          <p:cNvPr id="1938" name="Google Shape;1938;p31"/>
          <p:cNvSpPr/>
          <p:nvPr/>
        </p:nvSpPr>
        <p:spPr>
          <a:xfrm>
            <a:off x="536752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6</a:t>
            </a:r>
            <a:endParaRPr/>
          </a:p>
        </p:txBody>
      </p:sp>
      <p:sp>
        <p:nvSpPr>
          <p:cNvPr id="1939" name="Google Shape;1939;p31"/>
          <p:cNvSpPr txBox="1"/>
          <p:nvPr/>
        </p:nvSpPr>
        <p:spPr>
          <a:xfrm>
            <a:off x="591616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Acta de la Contraparte</a:t>
            </a:r>
            <a:endParaRPr/>
          </a:p>
        </p:txBody>
      </p:sp>
      <p:sp>
        <p:nvSpPr>
          <p:cNvPr id="1940" name="Google Shape;1940;p31"/>
          <p:cNvSpPr/>
          <p:nvPr/>
        </p:nvSpPr>
        <p:spPr>
          <a:xfrm>
            <a:off x="9509760" y="91440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G0</a:t>
            </a:r>
            <a:endParaRPr/>
          </a:p>
        </p:txBody>
      </p:sp>
      <p:sp>
        <p:nvSpPr>
          <p:cNvPr id="1942" name="Google Shape;1942;p31"/>
          <p:cNvSpPr txBox="1"/>
          <p:nvPr/>
        </p:nvSpPr>
        <p:spPr>
          <a:xfrm>
            <a:off x="10561320" y="9875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Compromiso local</a:t>
            </a:r>
            <a:endParaRPr/>
          </a:p>
        </p:txBody>
      </p:sp>
      <p:sp>
        <p:nvSpPr>
          <p:cNvPr id="1943" name="Google Shape;1943;p31"/>
          <p:cNvSpPr txBox="1"/>
          <p:nvPr/>
        </p:nvSpPr>
        <p:spPr>
          <a:xfrm>
            <a:off x="10561320" y="14173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Formato y pruebas</a:t>
            </a:r>
            <a:endParaRPr/>
          </a:p>
        </p:txBody>
      </p:sp>
      <p:sp>
        <p:nvSpPr>
          <p:cNvPr id="1944" name="Google Shape;1944;p31"/>
          <p:cNvSpPr/>
          <p:nvPr/>
        </p:nvSpPr>
        <p:spPr>
          <a:xfrm>
            <a:off x="9509760" y="201168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G1</a:t>
            </a:r>
            <a:endParaRPr/>
          </a:p>
        </p:txBody>
      </p:sp>
      <p:sp>
        <p:nvSpPr>
          <p:cNvPr id="1946" name="Google Shape;1946;p31"/>
          <p:cNvSpPr txBox="1"/>
          <p:nvPr/>
        </p:nvSpPr>
        <p:spPr>
          <a:xfrm>
            <a:off x="10561320" y="208483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Solicitud de fusión</a:t>
            </a:r>
            <a:endParaRPr/>
          </a:p>
        </p:txBody>
      </p:sp>
      <p:sp>
        <p:nvSpPr>
          <p:cNvPr id="1947" name="Google Shape;1947;p31"/>
          <p:cNvSpPr txBox="1"/>
          <p:nvPr/>
        </p:nvSpPr>
        <p:spPr>
          <a:xfrm>
            <a:off x="10561320" y="25146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Revisión por pares</a:t>
            </a:r>
            <a:endParaRPr/>
          </a:p>
        </p:txBody>
      </p:sp>
      <p:sp>
        <p:nvSpPr>
          <p:cNvPr id="1948" name="Google Shape;1948;p31"/>
          <p:cNvSpPr/>
          <p:nvPr/>
        </p:nvSpPr>
        <p:spPr>
          <a:xfrm>
            <a:off x="9509760" y="310896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G2</a:t>
            </a:r>
            <a:endParaRPr/>
          </a:p>
        </p:txBody>
      </p:sp>
      <p:sp>
        <p:nvSpPr>
          <p:cNvPr id="1950" name="Google Shape;1950;p31"/>
          <p:cNvSpPr txBox="1"/>
          <p:nvPr/>
        </p:nvSpPr>
        <p:spPr>
          <a:xfrm>
            <a:off x="10561320" y="318211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Integración continua</a:t>
            </a:r>
            <a:endParaRPr/>
          </a:p>
        </p:txBody>
      </p:sp>
      <p:sp>
        <p:nvSpPr>
          <p:cNvPr id="1951" name="Google Shape;1951;p31"/>
          <p:cNvSpPr txBox="1"/>
          <p:nvPr/>
        </p:nvSpPr>
        <p:spPr>
          <a:xfrm>
            <a:off x="10561320" y="361188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Cobertura · complejidad · contratos</a:t>
            </a:r>
            <a:endParaRPr/>
          </a:p>
        </p:txBody>
      </p:sp>
      <p:sp>
        <p:nvSpPr>
          <p:cNvPr id="1952" name="Google Shape;1952;p31"/>
          <p:cNvSpPr/>
          <p:nvPr/>
        </p:nvSpPr>
        <p:spPr>
          <a:xfrm>
            <a:off x="9509760" y="420624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G3</a:t>
            </a:r>
            <a:endParaRPr/>
          </a:p>
        </p:txBody>
      </p:sp>
      <p:sp>
        <p:nvSpPr>
          <p:cNvPr id="1954" name="Google Shape;1954;p31"/>
          <p:cNvSpPr txBox="1"/>
          <p:nvPr/>
        </p:nvSpPr>
        <p:spPr>
          <a:xfrm>
            <a:off x="10561320" y="427939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Promoción a QA</a:t>
            </a:r>
            <a:endParaRPr/>
          </a:p>
        </p:txBody>
      </p:sp>
      <p:sp>
        <p:nvSpPr>
          <p:cNvPr id="1955" name="Google Shape;1955;p31"/>
          <p:cNvSpPr txBox="1"/>
          <p:nvPr/>
        </p:nvSpPr>
        <p:spPr>
          <a:xfrm>
            <a:off x="10561320" y="4709159"/>
            <a:ext cx="667512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Sin vulnerabilidades críticas o altas</a:t>
            </a:r>
            <a:endParaRPr b="0" sz="1600">
              <a:solidFill>
                <a:srgbClr val="606060"/>
              </a:solidFill>
              <a:latin typeface="Inter"/>
              <a:ea typeface="Inter"/>
              <a:cs typeface="Inter"/>
              <a:sym typeface="Inter"/>
            </a:endParaRPr>
          </a:p>
        </p:txBody>
      </p:sp>
      <p:sp>
        <p:nvSpPr>
          <p:cNvPr id="1956" name="Google Shape;1956;p31"/>
          <p:cNvSpPr/>
          <p:nvPr/>
        </p:nvSpPr>
        <p:spPr>
          <a:xfrm>
            <a:off x="9509760" y="530352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G4</a:t>
            </a:r>
            <a:endParaRPr/>
          </a:p>
        </p:txBody>
      </p:sp>
      <p:sp>
        <p:nvSpPr>
          <p:cNvPr id="1958" name="Google Shape;1958;p31"/>
          <p:cNvSpPr txBox="1"/>
          <p:nvPr/>
        </p:nvSpPr>
        <p:spPr>
          <a:xfrm>
            <a:off x="10561320" y="537667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Preproducción</a:t>
            </a:r>
            <a:endParaRPr/>
          </a:p>
        </p:txBody>
      </p:sp>
      <p:sp>
        <p:nvSpPr>
          <p:cNvPr id="1959" name="Google Shape;1959;p31"/>
          <p:cNvSpPr txBox="1"/>
          <p:nvPr/>
        </p:nvSpPr>
        <p:spPr>
          <a:xfrm>
            <a:off x="10561320" y="580644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Regresión · DAST · WCAG</a:t>
            </a:r>
            <a:endParaRPr/>
          </a:p>
        </p:txBody>
      </p:sp>
      <p:sp>
        <p:nvSpPr>
          <p:cNvPr id="1960" name="Google Shape;1960;p31"/>
          <p:cNvSpPr/>
          <p:nvPr/>
        </p:nvSpPr>
        <p:spPr>
          <a:xfrm>
            <a:off x="9509760" y="6400800"/>
            <a:ext cx="7863840" cy="96012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G5</a:t>
            </a:r>
            <a:endParaRPr/>
          </a:p>
        </p:txBody>
      </p:sp>
      <p:sp>
        <p:nvSpPr>
          <p:cNvPr id="1962" name="Google Shape;1962;p31"/>
          <p:cNvSpPr txBox="1"/>
          <p:nvPr/>
        </p:nvSpPr>
        <p:spPr>
          <a:xfrm>
            <a:off x="10561320" y="64739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FFFFFF"/>
                </a:solidFill>
                <a:latin typeface="Inter SemiBold"/>
                <a:ea typeface="Inter SemiBold"/>
                <a:cs typeface="Inter SemiBold"/>
                <a:sym typeface="Inter SemiBold"/>
              </a:rPr>
              <a:t>Entrada a Producción</a:t>
            </a:r>
            <a:endParaRPr/>
          </a:p>
        </p:txBody>
      </p:sp>
      <p:sp>
        <p:nvSpPr>
          <p:cNvPr id="1963" name="Google Shape;1963;p31"/>
          <p:cNvSpPr txBox="1"/>
          <p:nvPr/>
        </p:nvSpPr>
        <p:spPr>
          <a:xfrm>
            <a:off x="10561320" y="69037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C7C7C7"/>
                </a:solidFill>
                <a:latin typeface="Inter"/>
                <a:ea typeface="Inter"/>
                <a:cs typeface="Inter"/>
                <a:sym typeface="Inter"/>
              </a:rPr>
              <a:t>Pruebas habilitantes · reversión</a:t>
            </a:r>
            <a:endParaRPr/>
          </a:p>
        </p:txBody>
      </p:sp>
      <p:sp>
        <p:nvSpPr>
          <p:cNvPr id="1964" name="Google Shape;1964;p31"/>
          <p:cNvSpPr/>
          <p:nvPr/>
        </p:nvSpPr>
        <p:spPr>
          <a:xfrm>
            <a:off x="9509760" y="7498079"/>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G6</a:t>
            </a:r>
            <a:endParaRPr/>
          </a:p>
        </p:txBody>
      </p:sp>
      <p:sp>
        <p:nvSpPr>
          <p:cNvPr id="1966" name="Google Shape;1966;p31"/>
          <p:cNvSpPr txBox="1"/>
          <p:nvPr/>
        </p:nvSpPr>
        <p:spPr>
          <a:xfrm>
            <a:off x="10561320" y="7571231"/>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Producción supervisada</a:t>
            </a:r>
            <a:endParaRPr/>
          </a:p>
        </p:txBody>
      </p:sp>
      <p:sp>
        <p:nvSpPr>
          <p:cNvPr id="1967" name="Google Shape;1967;p31"/>
          <p:cNvSpPr txBox="1"/>
          <p:nvPr/>
        </p:nvSpPr>
        <p:spPr>
          <a:xfrm>
            <a:off x="10561320" y="80010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Canario · presupuesto de error</a:t>
            </a:r>
            <a:endParaRPr/>
          </a:p>
        </p:txBody>
      </p:sp>
      <p:sp>
        <p:nvSpPr>
          <p:cNvPr id="196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30</a:t>
            </a:r>
          </a:p>
        </p:txBody>
      </p:sp>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deco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4" name="Google Shape;1974;hc7cc306779174be_4_957"/>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Pruebas: del código al terreno</a:t>
            </a:r>
            <a:endParaRPr sz="1400"/>
          </a:p>
        </p:txBody>
      </p:sp>
      <p:sp>
        <p:nvSpPr>
          <p:cNvPr id="1975" name="!!deco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6" name="!!deco3"/>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977" name="!!deco4"/>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8" name="!!deco5"/>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9" name="Google Shape;1979;hc7cc306779174be_4_957"/>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980" name="Google Shape;1980;hc7cc306779174be_4_957"/>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12 tipos de prueba · todas terminan en un número o en una firma</a:t>
            </a:r>
            <a:endParaRPr sz="1400"/>
          </a:p>
        </p:txBody>
      </p:sp>
      <p:sp>
        <p:nvSpPr>
          <p:cNvPr id="1981" name="Google Shape;1981;hc7cc306779174be_4_957"/>
          <p:cNvSpPr/>
          <p:nvPr/>
        </p:nvSpPr>
        <p:spPr>
          <a:xfrm>
            <a:off x="914400" y="3246120"/>
            <a:ext cx="3154800" cy="567000"/>
          </a:xfrm>
          <a:prstGeom prst="roundRect">
            <a:avLst>
              <a:gd fmla="val 2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Desarrollo</a:t>
            </a:r>
            <a:endParaRPr sz="1400"/>
          </a:p>
        </p:txBody>
      </p:sp>
      <p:sp>
        <p:nvSpPr>
          <p:cNvPr id="1982" name="Google Shape;1982;hc7cc306779174be_4_957"/>
          <p:cNvSpPr/>
          <p:nvPr/>
        </p:nvSpPr>
        <p:spPr>
          <a:xfrm>
            <a:off x="914400"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Unitarias y componente</a:t>
            </a:r>
            <a:endParaRPr sz="1400"/>
          </a:p>
        </p:txBody>
      </p:sp>
      <p:sp>
        <p:nvSpPr>
          <p:cNvPr id="1983" name="Google Shape;1983;hc7cc306779174be_4_957"/>
          <p:cNvSpPr/>
          <p:nvPr/>
        </p:nvSpPr>
        <p:spPr>
          <a:xfrm>
            <a:off x="914400"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Contratos de API</a:t>
            </a:r>
            <a:endParaRPr sz="1400"/>
          </a:p>
        </p:txBody>
      </p:sp>
      <p:cxnSp>
        <p:nvCxnSpPr>
          <p:cNvPr id="1984" name="Google Shape;1984;hc7cc306779174be_4_957"/>
          <p:cNvCxnSpPr/>
          <p:nvPr/>
        </p:nvCxnSpPr>
        <p:spPr>
          <a:xfrm>
            <a:off x="4069080"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85" name="Google Shape;1985;hc7cc306779174be_4_957"/>
          <p:cNvSpPr/>
          <p:nvPr/>
        </p:nvSpPr>
        <p:spPr>
          <a:xfrm>
            <a:off x="4242816" y="3246120"/>
            <a:ext cx="3154800" cy="567000"/>
          </a:xfrm>
          <a:prstGeom prst="roundRect">
            <a:avLst>
              <a:gd fmla="val 2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QA</a:t>
            </a:r>
            <a:endParaRPr sz="1400"/>
          </a:p>
        </p:txBody>
      </p:sp>
      <p:sp>
        <p:nvSpPr>
          <p:cNvPr id="1986" name="Google Shape;1986;hc7cc306779174be_4_957"/>
          <p:cNvSpPr/>
          <p:nvPr/>
        </p:nvSpPr>
        <p:spPr>
          <a:xfrm>
            <a:off x="4242816"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Integración de 15 flujos</a:t>
            </a:r>
            <a:endParaRPr sz="1400"/>
          </a:p>
        </p:txBody>
      </p:sp>
      <p:sp>
        <p:nvSpPr>
          <p:cNvPr id="1987" name="Google Shape;1987;hc7cc306779174be_4_957"/>
          <p:cNvSpPr/>
          <p:nvPr/>
        </p:nvSpPr>
        <p:spPr>
          <a:xfrm>
            <a:off x="4242816"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Sistema y regresión</a:t>
            </a:r>
            <a:endParaRPr sz="1400"/>
          </a:p>
        </p:txBody>
      </p:sp>
      <p:sp>
        <p:nvSpPr>
          <p:cNvPr id="1988" name="Google Shape;1988;hc7cc306779174be_4_957"/>
          <p:cNvSpPr/>
          <p:nvPr/>
        </p:nvSpPr>
        <p:spPr>
          <a:xfrm>
            <a:off x="4242816"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DAST y accesibilidad</a:t>
            </a:r>
            <a:endParaRPr sz="1400"/>
          </a:p>
        </p:txBody>
      </p:sp>
      <p:cxnSp>
        <p:nvCxnSpPr>
          <p:cNvPr id="1989" name="Google Shape;1989;hc7cc306779174be_4_957"/>
          <p:cNvCxnSpPr/>
          <p:nvPr/>
        </p:nvCxnSpPr>
        <p:spPr>
          <a:xfrm>
            <a:off x="7397496"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0" name="Google Shape;1990;hc7cc306779174be_4_957"/>
          <p:cNvSpPr/>
          <p:nvPr/>
        </p:nvSpPr>
        <p:spPr>
          <a:xfrm>
            <a:off x="7571232" y="3246120"/>
            <a:ext cx="3154800" cy="567000"/>
          </a:xfrm>
          <a:prstGeom prst="roundRect">
            <a:avLst>
              <a:gd fmla="val 2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Preproducción</a:t>
            </a:r>
            <a:endParaRPr sz="1400"/>
          </a:p>
        </p:txBody>
      </p:sp>
      <p:sp>
        <p:nvSpPr>
          <p:cNvPr id="1991" name="Google Shape;1991;hc7cc306779174be_4_957"/>
          <p:cNvSpPr/>
          <p:nvPr/>
        </p:nvSpPr>
        <p:spPr>
          <a:xfrm>
            <a:off x="7571232"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Aceptación de usuario</a:t>
            </a:r>
            <a:endParaRPr sz="1400"/>
          </a:p>
        </p:txBody>
      </p:sp>
      <p:sp>
        <p:nvSpPr>
          <p:cNvPr id="1992" name="Google Shape;1992;hc7cc306779174be_4_957"/>
          <p:cNvSpPr/>
          <p:nvPr/>
        </p:nvSpPr>
        <p:spPr>
          <a:xfrm>
            <a:off x="7571232"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Carga 1,5× y estrés</a:t>
            </a:r>
            <a:endParaRPr sz="1400"/>
          </a:p>
        </p:txBody>
      </p:sp>
      <p:sp>
        <p:nvSpPr>
          <p:cNvPr id="1993" name="Google Shape;1993;hc7cc306779174be_4_957"/>
          <p:cNvSpPr/>
          <p:nvPr/>
        </p:nvSpPr>
        <p:spPr>
          <a:xfrm>
            <a:off x="7571232"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Resiliencia: sitios 24 h</a:t>
            </a:r>
            <a:endParaRPr sz="1400"/>
          </a:p>
        </p:txBody>
      </p:sp>
      <p:sp>
        <p:nvSpPr>
          <p:cNvPr id="1994" name="Google Shape;1994;hc7cc306779174be_4_957"/>
          <p:cNvSpPr/>
          <p:nvPr/>
        </p:nvSpPr>
        <p:spPr>
          <a:xfrm>
            <a:off x="7571232" y="585215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Migración y despliegue</a:t>
            </a:r>
            <a:endParaRPr sz="1400"/>
          </a:p>
        </p:txBody>
      </p:sp>
      <p:sp>
        <p:nvSpPr>
          <p:cNvPr id="1995" name="Google Shape;1995;hc7cc306779174be_4_957"/>
          <p:cNvSpPr/>
          <p:nvPr/>
        </p:nvSpPr>
        <p:spPr>
          <a:xfrm>
            <a:off x="7571232" y="649224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Intrusión por un tercero</a:t>
            </a:r>
            <a:endParaRPr sz="1400"/>
          </a:p>
        </p:txBody>
      </p:sp>
      <p:cxnSp>
        <p:nvCxnSpPr>
          <p:cNvPr id="1996" name="Google Shape;1996;hc7cc306779174be_4_957"/>
          <p:cNvCxnSpPr/>
          <p:nvPr/>
        </p:nvCxnSpPr>
        <p:spPr>
          <a:xfrm>
            <a:off x="10725912"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7" name="Google Shape;1997;hc7cc306779174be_4_957"/>
          <p:cNvSpPr/>
          <p:nvPr/>
        </p:nvSpPr>
        <p:spPr>
          <a:xfrm>
            <a:off x="10899648" y="3246120"/>
            <a:ext cx="3154800" cy="567000"/>
          </a:xfrm>
          <a:prstGeom prst="roundRect">
            <a:avLst>
              <a:gd fmla="val 2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Terreno</a:t>
            </a:r>
            <a:endParaRPr sz="1400"/>
          </a:p>
        </p:txBody>
      </p:sp>
      <p:sp>
        <p:nvSpPr>
          <p:cNvPr id="1998" name="Google Shape;1998;hc7cc306779174be_4_957"/>
          <p:cNvSpPr/>
          <p:nvPr/>
        </p:nvSpPr>
        <p:spPr>
          <a:xfrm>
            <a:off x="10899648"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14 h sin señal</a:t>
            </a:r>
            <a:endParaRPr sz="1400"/>
          </a:p>
        </p:txBody>
      </p:sp>
      <p:sp>
        <p:nvSpPr>
          <p:cNvPr id="1999" name="Google Shape;1999;hc7cc306779174be_4_957"/>
          <p:cNvSpPr/>
          <p:nvPr/>
        </p:nvSpPr>
        <p:spPr>
          <a:xfrm>
            <a:off x="10899648"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−22 °C con guantes</a:t>
            </a:r>
            <a:endParaRPr sz="1400"/>
          </a:p>
        </p:txBody>
      </p:sp>
      <p:sp>
        <p:nvSpPr>
          <p:cNvPr id="2000" name="Google Shape;2000;hc7cc306779174be_4_957"/>
          <p:cNvSpPr/>
          <p:nvPr/>
        </p:nvSpPr>
        <p:spPr>
          <a:xfrm>
            <a:off x="10899648"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Lluvia · &gt; 34 °C · una mano</a:t>
            </a:r>
            <a:endParaRPr sz="1400"/>
          </a:p>
        </p:txBody>
      </p:sp>
      <p:cxnSp>
        <p:nvCxnSpPr>
          <p:cNvPr id="2001" name="Google Shape;2001;hc7cc306779174be_4_957"/>
          <p:cNvCxnSpPr/>
          <p:nvPr/>
        </p:nvCxnSpPr>
        <p:spPr>
          <a:xfrm>
            <a:off x="14054328"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2002" name="Google Shape;2002;hc7cc306779174be_4_957"/>
          <p:cNvSpPr/>
          <p:nvPr/>
        </p:nvSpPr>
        <p:spPr>
          <a:xfrm>
            <a:off x="14228064" y="3246120"/>
            <a:ext cx="3154800" cy="567000"/>
          </a:xfrm>
          <a:prstGeom prst="roundRect">
            <a:avLst>
              <a:gd fmla="val 20000" name="adj"/>
            </a:avLst>
          </a:prstGeom>
          <a:solidFill>
            <a:srgbClr val="B84A0F"/>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Producción</a:t>
            </a:r>
            <a:endParaRPr sz="1400"/>
          </a:p>
        </p:txBody>
      </p:sp>
      <p:sp>
        <p:nvSpPr>
          <p:cNvPr id="2003" name="Google Shape;2003;hc7cc306779174be_4_957"/>
          <p:cNvSpPr/>
          <p:nvPr/>
        </p:nvSpPr>
        <p:spPr>
          <a:xfrm>
            <a:off x="14228064"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Recuperación: RTO ≤ 4 h</a:t>
            </a:r>
            <a:endParaRPr sz="1400"/>
          </a:p>
        </p:txBody>
      </p:sp>
      <p:sp>
        <p:nvSpPr>
          <p:cNvPr id="2004" name="Google Shape;2004;hc7cc306779174be_4_957"/>
          <p:cNvSpPr/>
          <p:nvPr/>
        </p:nvSpPr>
        <p:spPr>
          <a:xfrm>
            <a:off x="14228064"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Marcha blanca: indicadores diarios</a:t>
            </a:r>
            <a:endParaRPr sz="1400"/>
          </a:p>
        </p:txBody>
      </p:sp>
      <p:sp>
        <p:nvSpPr>
          <p:cNvPr id="2005" name="Google Shape;2005;hc7cc306779174be_4_957"/>
          <p:cNvSpPr/>
          <p:nvPr/>
        </p:nvSpPr>
        <p:spPr>
          <a:xfrm>
            <a:off x="91440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1.316 casos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80 % automatizados</a:t>
            </a:r>
            <a:endParaRPr sz="1400"/>
          </a:p>
        </p:txBody>
      </p:sp>
      <p:sp>
        <p:nvSpPr>
          <p:cNvPr id="2006" name="Google Shape;2006;hc7cc306779174be_4_957"/>
          <p:cNvSpPr/>
          <p:nvPr/>
        </p:nvSpPr>
        <p:spPr>
          <a:xfrm>
            <a:off x="507492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21,99 TPS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carga = 1,5 × peak de septiembre</a:t>
            </a:r>
            <a:endParaRPr sz="1400"/>
          </a:p>
        </p:txBody>
      </p:sp>
      <p:sp>
        <p:nvSpPr>
          <p:cNvPr id="2007" name="Google Shape;2007;hc7cc306779174be_4_957"/>
          <p:cNvSpPr/>
          <p:nvPr/>
        </p:nvSpPr>
        <p:spPr>
          <a:xfrm>
            <a:off x="923544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4,4 h</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regresión completa, en una noche</a:t>
            </a:r>
            <a:endParaRPr sz="1400"/>
          </a:p>
        </p:txBody>
      </p:sp>
      <p:sp>
        <p:nvSpPr>
          <p:cNvPr id="2008" name="Google Shape;2008;hc7cc306779174be_4_957"/>
          <p:cNvSpPr/>
          <p:nvPr/>
        </p:nvSpPr>
        <p:spPr>
          <a:xfrm>
            <a:off x="13395959"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0 datos reales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en pruebas sin anonimizar</a:t>
            </a:r>
            <a:endParaRPr sz="1400"/>
          </a:p>
        </p:txBody>
      </p:sp>
      <p:sp>
        <p:nvSpPr>
          <p:cNvPr id="200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31</a:t>
            </a:r>
          </a:p>
        </p:txBody>
      </p:sp>
    </p:spTree>
  </p:cSld>
  <p:clrMapOvr>
    <a:masterClrMapping/>
  </p:clrMapOvr>
  <p:transition spd="med">
    <p:push dir="l"/>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3" name="Shape 2013"/>
        <p:cNvGrpSpPr/>
        <p:nvPr/>
      </p:nvGrpSpPr>
      <p:grpSpPr>
        <a:xfrm>
          <a:off x="0" y="0"/>
          <a:ext cx="0" cy="0"/>
          <a:chOff x="0" y="0"/>
          <a:chExt cx="0" cy="0"/>
        </a:xfrm>
      </p:grpSpPr>
      <p:sp>
        <p:nvSpPr>
          <p:cNvPr id="2014" name="!!deco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15" name="!!deco2"/>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16" name="!!deco3"/>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2017" name="!!deco4"/>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018" name="Google Shape;2018;hc7cc306779174be_4_1072"/>
          <p:cNvSpPr txBox="1"/>
          <p:nvPr/>
        </p:nvSpPr>
        <p:spPr>
          <a:xfrm>
            <a:off x="1431044" y="1908274"/>
            <a:ext cx="8336400" cy="2847900"/>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8000">
                <a:solidFill>
                  <a:srgbClr val="111111"/>
                </a:solidFill>
                <a:latin typeface="Inter SemiBold"/>
                <a:ea typeface="Inter SemiBold"/>
                <a:cs typeface="Inter SemiBold"/>
                <a:sym typeface="Inter SemiBold"/>
              </a:rPr>
              <a:t>Trazabilidad y mejora</a:t>
            </a:r>
            <a:endParaRPr sz="1400"/>
          </a:p>
        </p:txBody>
      </p:sp>
      <p:sp>
        <p:nvSpPr>
          <p:cNvPr id="2019" name="Google Shape;2019;hc7cc306779174be_4_1072"/>
          <p:cNvSpPr txBox="1"/>
          <p:nvPr/>
        </p:nvSpPr>
        <p:spPr>
          <a:xfrm>
            <a:off x="9418320" y="457200"/>
            <a:ext cx="8138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DE EXTREMO A EXTREMO · EJEMPLO: RETIRO EN &lt; 2 H</a:t>
            </a:r>
            <a:endParaRPr sz="1400"/>
          </a:p>
        </p:txBody>
      </p:sp>
      <p:sp>
        <p:nvSpPr>
          <p:cNvPr id="2020" name="Google Shape;2020;hc7cc306779174be_4_1072"/>
          <p:cNvSpPr/>
          <p:nvPr/>
        </p:nvSpPr>
        <p:spPr>
          <a:xfrm>
            <a:off x="9418320" y="86868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Origen</a:t>
            </a:r>
            <a:endParaRPr sz="1400"/>
          </a:p>
        </p:txBody>
      </p:sp>
      <p:sp>
        <p:nvSpPr>
          <p:cNvPr id="2021" name="Google Shape;2021;hc7cc306779174be_4_1072"/>
          <p:cNvSpPr/>
          <p:nvPr/>
        </p:nvSpPr>
        <p:spPr>
          <a:xfrm>
            <a:off x="11932920" y="86868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Retiro sanitario en &lt; 2 h</a:t>
            </a:r>
            <a:endParaRPr sz="1400"/>
          </a:p>
        </p:txBody>
      </p:sp>
      <p:cxnSp>
        <p:nvCxnSpPr>
          <p:cNvPr id="2022" name="Google Shape;2022;hc7cc306779174be_4_1072"/>
          <p:cNvCxnSpPr/>
          <p:nvPr/>
        </p:nvCxnSpPr>
        <p:spPr>
          <a:xfrm>
            <a:off x="10607040" y="161848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3" name="Google Shape;2023;hc7cc306779174be_4_1072"/>
          <p:cNvSpPr/>
          <p:nvPr/>
        </p:nvSpPr>
        <p:spPr>
          <a:xfrm>
            <a:off x="9418320" y="185623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Requisito</a:t>
            </a:r>
            <a:endParaRPr sz="1400"/>
          </a:p>
        </p:txBody>
      </p:sp>
      <p:sp>
        <p:nvSpPr>
          <p:cNvPr id="2024" name="Google Shape;2024;hc7cc306779174be_4_1072"/>
          <p:cNvSpPr/>
          <p:nvPr/>
        </p:nvSpPr>
        <p:spPr>
          <a:xfrm>
            <a:off x="11932920" y="185623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RF-09.01 trazabilidad</a:t>
            </a:r>
            <a:endParaRPr sz="1400"/>
          </a:p>
        </p:txBody>
      </p:sp>
      <p:cxnSp>
        <p:nvCxnSpPr>
          <p:cNvPr id="2025" name="Google Shape;2025;hc7cc306779174be_4_1072"/>
          <p:cNvCxnSpPr/>
          <p:nvPr/>
        </p:nvCxnSpPr>
        <p:spPr>
          <a:xfrm>
            <a:off x="10607040" y="260604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6" name="Google Shape;2026;hc7cc306779174be_4_1072"/>
          <p:cNvSpPr/>
          <p:nvPr/>
        </p:nvSpPr>
        <p:spPr>
          <a:xfrm>
            <a:off x="9418320" y="2843784"/>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Componente</a:t>
            </a:r>
            <a:endParaRPr sz="1400"/>
          </a:p>
        </p:txBody>
      </p:sp>
      <p:sp>
        <p:nvSpPr>
          <p:cNvPr id="2027" name="Google Shape;2027;hc7cc306779174be_4_1072"/>
          <p:cNvSpPr/>
          <p:nvPr/>
        </p:nvSpPr>
        <p:spPr>
          <a:xfrm>
            <a:off x="11932920" y="284378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M9 Calidad y trazabilidad</a:t>
            </a:r>
            <a:endParaRPr sz="1400"/>
          </a:p>
        </p:txBody>
      </p:sp>
      <p:cxnSp>
        <p:nvCxnSpPr>
          <p:cNvPr id="2028" name="Google Shape;2028;hc7cc306779174be_4_1072"/>
          <p:cNvCxnSpPr/>
          <p:nvPr/>
        </p:nvCxnSpPr>
        <p:spPr>
          <a:xfrm>
            <a:off x="10607040" y="3593592"/>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9" name="Google Shape;2029;hc7cc306779174be_4_1072"/>
          <p:cNvSpPr/>
          <p:nvPr/>
        </p:nvSpPr>
        <p:spPr>
          <a:xfrm>
            <a:off x="9418320" y="3831336"/>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Paquete EDT</a:t>
            </a:r>
            <a:endParaRPr sz="1400"/>
          </a:p>
        </p:txBody>
      </p:sp>
      <p:sp>
        <p:nvSpPr>
          <p:cNvPr id="2030" name="Google Shape;2030;hc7cc306779174be_4_1072"/>
          <p:cNvSpPr/>
          <p:nvPr/>
        </p:nvSpPr>
        <p:spPr>
          <a:xfrm>
            <a:off x="11932920" y="3831336"/>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3.4.4 Cadena de frío y retiro</a:t>
            </a:r>
            <a:endParaRPr sz="1400"/>
          </a:p>
        </p:txBody>
      </p:sp>
      <p:cxnSp>
        <p:nvCxnSpPr>
          <p:cNvPr id="2031" name="Google Shape;2031;hc7cc306779174be_4_1072"/>
          <p:cNvCxnSpPr/>
          <p:nvPr/>
        </p:nvCxnSpPr>
        <p:spPr>
          <a:xfrm>
            <a:off x="10607040" y="4581144"/>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2" name="Google Shape;2032;hc7cc306779174be_4_1072"/>
          <p:cNvSpPr/>
          <p:nvPr/>
        </p:nvSpPr>
        <p:spPr>
          <a:xfrm>
            <a:off x="9418320" y="4818888"/>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Prueba</a:t>
            </a:r>
            <a:endParaRPr sz="1400"/>
          </a:p>
        </p:txBody>
      </p:sp>
      <p:sp>
        <p:nvSpPr>
          <p:cNvPr id="2033" name="Google Shape;2033;hc7cc306779174be_4_1072"/>
          <p:cNvSpPr/>
          <p:nvPr/>
        </p:nvSpPr>
        <p:spPr>
          <a:xfrm>
            <a:off x="11932920" y="4818888"/>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Simulacro de retiro</a:t>
            </a:r>
            <a:endParaRPr sz="1400"/>
          </a:p>
        </p:txBody>
      </p:sp>
      <p:cxnSp>
        <p:nvCxnSpPr>
          <p:cNvPr id="2034" name="Google Shape;2034;hc7cc306779174be_4_1072"/>
          <p:cNvCxnSpPr/>
          <p:nvPr/>
        </p:nvCxnSpPr>
        <p:spPr>
          <a:xfrm>
            <a:off x="10607040" y="5568696"/>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5" name="Google Shape;2035;hc7cc306779174be_4_1072"/>
          <p:cNvSpPr/>
          <p:nvPr/>
        </p:nvSpPr>
        <p:spPr>
          <a:xfrm>
            <a:off x="9418320" y="580644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Código</a:t>
            </a:r>
            <a:endParaRPr sz="1400"/>
          </a:p>
        </p:txBody>
      </p:sp>
      <p:sp>
        <p:nvSpPr>
          <p:cNvPr id="2036" name="Google Shape;2036;hc7cc306779174be_4_1072"/>
          <p:cNvSpPr/>
          <p:nvPr/>
        </p:nvSpPr>
        <p:spPr>
          <a:xfrm>
            <a:off x="11932920" y="580644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Fusión con el ID del requisito</a:t>
            </a:r>
            <a:endParaRPr sz="1400"/>
          </a:p>
        </p:txBody>
      </p:sp>
      <p:cxnSp>
        <p:nvCxnSpPr>
          <p:cNvPr id="2037" name="Google Shape;2037;hc7cc306779174be_4_1072"/>
          <p:cNvCxnSpPr/>
          <p:nvPr/>
        </p:nvCxnSpPr>
        <p:spPr>
          <a:xfrm>
            <a:off x="10607040" y="655624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8" name="Google Shape;2038;hc7cc306779174be_4_1072"/>
          <p:cNvSpPr/>
          <p:nvPr/>
        </p:nvSpPr>
        <p:spPr>
          <a:xfrm>
            <a:off x="9418320" y="679399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Despliegue</a:t>
            </a:r>
            <a:endParaRPr sz="1400"/>
          </a:p>
        </p:txBody>
      </p:sp>
      <p:sp>
        <p:nvSpPr>
          <p:cNvPr id="2039" name="Google Shape;2039;hc7cc306779174be_4_1072"/>
          <p:cNvSpPr/>
          <p:nvPr/>
        </p:nvSpPr>
        <p:spPr>
          <a:xfrm>
            <a:off x="11932920" y="679399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Digest de la imagen firmada</a:t>
            </a:r>
            <a:endParaRPr sz="1400"/>
          </a:p>
        </p:txBody>
      </p:sp>
      <p:cxnSp>
        <p:nvCxnSpPr>
          <p:cNvPr id="2040" name="Google Shape;2040;hc7cc306779174be_4_1072"/>
          <p:cNvCxnSpPr/>
          <p:nvPr/>
        </p:nvCxnSpPr>
        <p:spPr>
          <a:xfrm>
            <a:off x="10607040" y="754380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41" name="Google Shape;2041;hc7cc306779174be_4_1072"/>
          <p:cNvSpPr/>
          <p:nvPr/>
        </p:nvSpPr>
        <p:spPr>
          <a:xfrm>
            <a:off x="9418320" y="7781544"/>
            <a:ext cx="2377200" cy="750000"/>
          </a:xfrm>
          <a:prstGeom prst="roundRect">
            <a:avLst>
              <a:gd fmla="val 2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Aceptación</a:t>
            </a:r>
            <a:endParaRPr sz="1400"/>
          </a:p>
        </p:txBody>
      </p:sp>
      <p:sp>
        <p:nvSpPr>
          <p:cNvPr id="2042" name="Google Shape;2042;hc7cc306779174be_4_1072"/>
          <p:cNvSpPr/>
          <p:nvPr/>
        </p:nvSpPr>
        <p:spPr>
          <a:xfrm>
            <a:off x="11932920" y="778154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Acta del H7</a:t>
            </a:r>
            <a:endParaRPr sz="1400"/>
          </a:p>
        </p:txBody>
      </p:sp>
      <p:sp>
        <p:nvSpPr>
          <p:cNvPr id="2043" name="Google Shape;2043;hc7cc306779174be_4_1072"/>
          <p:cNvSpPr txBox="1"/>
          <p:nvPr/>
        </p:nvSpPr>
        <p:spPr>
          <a:xfrm>
            <a:off x="1435608" y="4572000"/>
            <a:ext cx="7589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MEJORA CONTINUA · PDCA</a:t>
            </a:r>
            <a:endParaRPr sz="1400"/>
          </a:p>
        </p:txBody>
      </p:sp>
      <p:sp>
        <p:nvSpPr>
          <p:cNvPr id="2044" name="Google Shape;2044;hc7cc306779174be_4_1072"/>
          <p:cNvSpPr/>
          <p:nvPr/>
        </p:nvSpPr>
        <p:spPr>
          <a:xfrm>
            <a:off x="1435608" y="4937760"/>
            <a:ext cx="2011800" cy="960000"/>
          </a:xfrm>
          <a:prstGeom prst="roundRect">
            <a:avLst>
              <a:gd fmla="val 12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Planificar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causa raíz y dueño</a:t>
            </a:r>
            <a:endParaRPr sz="1400"/>
          </a:p>
        </p:txBody>
      </p:sp>
      <p:sp>
        <p:nvSpPr>
          <p:cNvPr id="2045" name="Google Shape;2045;hc7cc306779174be_4_1072"/>
          <p:cNvSpPr/>
          <p:nvPr/>
        </p:nvSpPr>
        <p:spPr>
          <a:xfrm>
            <a:off x="3584448" y="493776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Hacer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corregir proceso</a:t>
            </a:r>
            <a:endParaRPr sz="1400"/>
          </a:p>
        </p:txBody>
      </p:sp>
      <p:sp>
        <p:nvSpPr>
          <p:cNvPr id="2046" name="Google Shape;2046;hc7cc306779174be_4_1072"/>
          <p:cNvSpPr/>
          <p:nvPr/>
        </p:nvSpPr>
        <p:spPr>
          <a:xfrm>
            <a:off x="1435608" y="603504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Actuar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cerrar o escalar</a:t>
            </a:r>
            <a:endParaRPr sz="1400"/>
          </a:p>
        </p:txBody>
      </p:sp>
      <p:sp>
        <p:nvSpPr>
          <p:cNvPr id="2047" name="Google Shape;2047;hc7cc306779174be_4_1072"/>
          <p:cNvSpPr/>
          <p:nvPr/>
        </p:nvSpPr>
        <p:spPr>
          <a:xfrm>
            <a:off x="3584448" y="6035040"/>
            <a:ext cx="2011800" cy="960000"/>
          </a:xfrm>
          <a:prstGeom prst="roundRect">
            <a:avLst>
              <a:gd fmla="val 12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Verificar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mismo criterio</a:t>
            </a:r>
            <a:endParaRPr sz="1400"/>
          </a:p>
        </p:txBody>
      </p:sp>
      <p:sp>
        <p:nvSpPr>
          <p:cNvPr id="2048" name="Google Shape;2048;hc7cc306779174be_4_1072"/>
          <p:cNvSpPr txBox="1"/>
          <p:nvPr/>
        </p:nvSpPr>
        <p:spPr>
          <a:xfrm>
            <a:off x="1435608" y="7086600"/>
            <a:ext cx="42060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Diagramas de control · Pareto · causa raíz</a:t>
            </a:r>
            <a:endParaRPr sz="1400"/>
          </a:p>
        </p:txBody>
      </p:sp>
      <p:sp>
        <p:nvSpPr>
          <p:cNvPr id="2049" name="Google Shape;2049;hc7cc306779174be_4_1072"/>
          <p:cNvSpPr txBox="1"/>
          <p:nvPr/>
        </p:nvSpPr>
        <p:spPr>
          <a:xfrm>
            <a:off x="5943600" y="4572000"/>
            <a:ext cx="310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COSTO DE LA CALIDAD</a:t>
            </a:r>
            <a:endParaRPr sz="1400"/>
          </a:p>
        </p:txBody>
      </p:sp>
      <p:sp>
        <p:nvSpPr>
          <p:cNvPr id="2050" name="Google Shape;2050;hc7cc306779174be_4_1072"/>
          <p:cNvSpPr txBox="1"/>
          <p:nvPr/>
        </p:nvSpPr>
        <p:spPr>
          <a:xfrm>
            <a:off x="5943600" y="4937760"/>
            <a:ext cx="3109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E8641B"/>
                </a:solidFill>
                <a:latin typeface="Inter SemiBold"/>
                <a:ea typeface="Inter SemiBold"/>
                <a:cs typeface="Inter SemiBold"/>
                <a:sym typeface="Inter SemiBold"/>
              </a:rPr>
              <a:t>11.136 HH</a:t>
            </a:r>
            <a:endParaRPr sz="1400"/>
          </a:p>
        </p:txBody>
      </p:sp>
      <p:sp>
        <p:nvSpPr>
          <p:cNvPr id="2051" name="Google Shape;2051;hc7cc306779174be_4_1072"/>
          <p:cNvSpPr txBox="1"/>
          <p:nvPr/>
        </p:nvSpPr>
        <p:spPr>
          <a:xfrm>
            <a:off x="5943600" y="553212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5,1 % del total</a:t>
            </a:r>
            <a:endParaRPr sz="140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29A5E"/>
                </a:solidFill>
                <a:latin typeface="Inter"/>
                <a:ea typeface="Inter"/>
                <a:cs typeface="Inter"/>
                <a:sym typeface="Inter"/>
              </a:rPr>
              <a:t>■ </a:t>
            </a:r>
            <a:r>
              <a:rPr b="0" lang="en-US" sz="1600">
                <a:solidFill>
                  <a:srgbClr val="3C3C3C"/>
                </a:solidFill>
                <a:latin typeface="Inter"/>
                <a:ea typeface="Inter"/>
                <a:cs typeface="Inter"/>
                <a:sym typeface="Inter"/>
              </a:rPr>
              <a:t>Prevención 37,9 %</a:t>
            </a:r>
            <a:endParaRPr sz="1400"/>
          </a:p>
        </p:txBody>
      </p:sp>
      <p:sp>
        <p:nvSpPr>
          <p:cNvPr id="2055" name="Google Shape;2055;hc7cc306779174be_4_1072"/>
          <p:cNvSpPr txBox="1"/>
          <p:nvPr/>
        </p:nvSpPr>
        <p:spPr>
          <a:xfrm>
            <a:off x="5943600" y="694944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111111"/>
                </a:solidFill>
                <a:latin typeface="Inter"/>
                <a:ea typeface="Inter"/>
                <a:cs typeface="Inter"/>
                <a:sym typeface="Inter"/>
              </a:rPr>
              <a:t>■ </a:t>
            </a:r>
            <a:r>
              <a:rPr b="0" lang="en-US" sz="1600">
                <a:solidFill>
                  <a:srgbClr val="3C3C3C"/>
                </a:solidFill>
                <a:latin typeface="Inter"/>
                <a:ea typeface="Inter"/>
                <a:cs typeface="Inter"/>
                <a:sym typeface="Inter"/>
              </a:rPr>
              <a:t>Evaluación 62,1 %</a:t>
            </a:r>
            <a:endParaRPr sz="1400"/>
          </a:p>
        </p:txBody>
      </p:sp>
      <p:sp>
        <p:nvSpPr>
          <p:cNvPr id="20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32</a:t>
            </a:r>
          </a:p>
        </p:txBody>
      </p:sp>
    </p:spTree>
  </p:cSld>
  <p:clrMapOvr>
    <a:masterClrMapping/>
  </p:clrMapOvr>
  <p:transition spd="med">
    <p:zoom/>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deco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63" name="Google Shape;2063;p32"/>
          <p:cNvSpPr txBox="1"/>
          <p:nvPr/>
        </p:nvSpPr>
        <p:spPr>
          <a:xfrm>
            <a:off x="1028700" y="5318360"/>
            <a:ext cx="8326675" cy="2579594"/>
          </a:xfrm>
          <a:prstGeom prst="rect">
            <a:avLst/>
          </a:prstGeom>
          <a:noFill/>
          <a:ln>
            <a:noFill/>
          </a:ln>
        </p:spPr>
        <p:txBody>
          <a:bodyPr anchorCtr="0" anchor="t" bIns="0" lIns="0" spcFirstLastPara="1" rIns="0" wrap="square" tIns="0">
            <a:spAutoFit/>
          </a:bodyPr>
          <a:lstStyle/>
          <a:p>
            <a:pPr indent="0" lvl="0" marL="0" marR="0" rtl="0" algn="l">
              <a:lnSpc>
                <a:spcPct val="131255"/>
              </a:lnSpc>
              <a:spcBef>
                <a:spcPts val="0"/>
              </a:spcBef>
              <a:spcAft>
                <a:spcPts val="0"/>
              </a:spcAft>
              <a:buNone/>
            </a:pPr>
            <a:r>
              <a:rPr b="1" lang="en-US" sz="7333">
                <a:solidFill>
                  <a:srgbClr val="111111"/>
                </a:solidFill>
                <a:latin typeface="Inter SemiBold"/>
                <a:ea typeface="Inter SemiBold"/>
                <a:cs typeface="Inter SemiBold"/>
                <a:sym typeface="Inter SemiBold"/>
              </a:rPr>
              <a:t>5 innovaciones</a:t>
            </a:r>
            <a:endParaRPr/>
          </a:p>
        </p:txBody>
      </p:sp>
      <p:sp>
        <p:nvSpPr>
          <p:cNvPr id="2064" name="!!deco2"/>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2065" name="!!deco3"/>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6" name="!!deco4"/>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7" name="Google Shape;2067;p32"/>
          <p:cNvSpPr txBox="1"/>
          <p:nvPr/>
        </p:nvSpPr>
        <p:spPr>
          <a:xfrm>
            <a:off x="543274" y="8926358"/>
            <a:ext cx="1572710"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a:p>
        </p:txBody>
      </p:sp>
      <p:sp>
        <p:nvSpPr>
          <p:cNvPr id="2068" name="Google Shape;2068;p32"/>
          <p:cNvSpPr txBox="1"/>
          <p:nvPr/>
        </p:nvSpPr>
        <p:spPr>
          <a:xfrm>
            <a:off x="1024128" y="6720840"/>
            <a:ext cx="8686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606060"/>
                </a:solidFill>
                <a:latin typeface="Inter"/>
                <a:ea typeface="Inter"/>
                <a:cs typeface="Inter"/>
                <a:sym typeface="Inter"/>
              </a:rPr>
              <a:t>Sin hardware nuevo · TRL 2 → 4 → 6</a:t>
            </a:r>
            <a:endParaRPr/>
          </a:p>
        </p:txBody>
      </p:sp>
      <p:sp>
        <p:nvSpPr>
          <p:cNvPr id="2069" name="Google Shape;2069;p32"/>
          <p:cNvSpPr txBox="1"/>
          <p:nvPr/>
        </p:nvSpPr>
        <p:spPr>
          <a:xfrm>
            <a:off x="10058400" y="8686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01</a:t>
            </a:r>
            <a:endParaRPr/>
          </a:p>
        </p:txBody>
      </p:sp>
      <p:sp>
        <p:nvSpPr>
          <p:cNvPr id="2070" name="Google Shape;2070;p32"/>
          <p:cNvSpPr txBox="1"/>
          <p:nvPr/>
        </p:nvSpPr>
        <p:spPr>
          <a:xfrm>
            <a:off x="11430000" y="8686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PRODUCTO</a:t>
            </a:r>
            <a:endParaRPr/>
          </a:p>
        </p:txBody>
      </p:sp>
      <p:sp>
        <p:nvSpPr>
          <p:cNvPr id="2071" name="Google Shape;2071;p32"/>
          <p:cNvSpPr txBox="1"/>
          <p:nvPr/>
        </p:nvSpPr>
        <p:spPr>
          <a:xfrm>
            <a:off x="11430000" y="1188719"/>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Vencimiento posentrega</a:t>
            </a:r>
            <a:endParaRPr/>
          </a:p>
        </p:txBody>
      </p:sp>
      <p:sp>
        <p:nvSpPr>
          <p:cNvPr id="2072" name="Google Shape;2072;p32"/>
          <p:cNvSpPr txBox="1"/>
          <p:nvPr/>
        </p:nvSpPr>
        <p:spPr>
          <a:xfrm>
            <a:off x="11430000" y="16916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−25 % de vencido</a:t>
            </a:r>
            <a:endParaRPr/>
          </a:p>
        </p:txBody>
      </p:sp>
      <p:sp>
        <p:nvSpPr>
          <p:cNvPr id="2073" name="Google Shape;2073;p32"/>
          <p:cNvSpPr txBox="1"/>
          <p:nvPr/>
        </p:nvSpPr>
        <p:spPr>
          <a:xfrm>
            <a:off x="10058400" y="24688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02</a:t>
            </a:r>
            <a:endParaRPr/>
          </a:p>
        </p:txBody>
      </p:sp>
      <p:sp>
        <p:nvSpPr>
          <p:cNvPr id="2074" name="Google Shape;2074;p32"/>
          <p:cNvSpPr txBox="1"/>
          <p:nvPr/>
        </p:nvSpPr>
        <p:spPr>
          <a:xfrm>
            <a:off x="11430000" y="24688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PROCESO</a:t>
            </a:r>
            <a:endParaRPr/>
          </a:p>
        </p:txBody>
      </p:sp>
      <p:sp>
        <p:nvSpPr>
          <p:cNvPr id="2075" name="Google Shape;2075;p32"/>
          <p:cNvSpPr txBox="1"/>
          <p:nvPr/>
        </p:nvSpPr>
        <p:spPr>
          <a:xfrm>
            <a:off x="11430000" y="27889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Reproducción de incidentes</a:t>
            </a:r>
            <a:endParaRPr/>
          </a:p>
        </p:txBody>
      </p:sp>
      <p:sp>
        <p:nvSpPr>
          <p:cNvPr id="2076" name="Google Shape;2076;p32"/>
          <p:cNvSpPr txBox="1"/>
          <p:nvPr/>
        </p:nvSpPr>
        <p:spPr>
          <a:xfrm>
            <a:off x="11430000" y="32918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−30 % horas de diagnóstico</a:t>
            </a:r>
            <a:endParaRPr/>
          </a:p>
        </p:txBody>
      </p:sp>
      <p:sp>
        <p:nvSpPr>
          <p:cNvPr id="2077" name="Google Shape;2077;p32"/>
          <p:cNvSpPr txBox="1"/>
          <p:nvPr/>
        </p:nvSpPr>
        <p:spPr>
          <a:xfrm>
            <a:off x="10058400" y="40690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03</a:t>
            </a:r>
            <a:endParaRPr/>
          </a:p>
        </p:txBody>
      </p:sp>
      <p:sp>
        <p:nvSpPr>
          <p:cNvPr id="2078" name="Google Shape;2078;p32"/>
          <p:cNvSpPr txBox="1"/>
          <p:nvPr/>
        </p:nvSpPr>
        <p:spPr>
          <a:xfrm>
            <a:off x="11430000" y="40690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TECNOLÓGICA</a:t>
            </a:r>
            <a:endParaRPr/>
          </a:p>
        </p:txBody>
      </p:sp>
      <p:sp>
        <p:nvSpPr>
          <p:cNvPr id="2079" name="Google Shape;2079;p32"/>
          <p:cNvSpPr txBox="1"/>
          <p:nvPr/>
        </p:nvSpPr>
        <p:spPr>
          <a:xfrm>
            <a:off x="11430000" y="43891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Vida útil por historia térmica</a:t>
            </a:r>
            <a:endParaRPr/>
          </a:p>
        </p:txBody>
      </p:sp>
      <p:sp>
        <p:nvSpPr>
          <p:cNvPr id="2080" name="Google Shape;2080;p32"/>
          <p:cNvSpPr txBox="1"/>
          <p:nvPr/>
        </p:nvSpPr>
        <p:spPr>
          <a:xfrm>
            <a:off x="11430000" y="4892040"/>
            <a:ext cx="62179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±15 % en ≥80 % de los lotes</a:t>
            </a:r>
            <a:endParaRPr b="0" sz="1700">
              <a:solidFill>
                <a:srgbClr val="606060"/>
              </a:solidFill>
              <a:latin typeface="Inter"/>
              <a:ea typeface="Inter"/>
              <a:cs typeface="Inter"/>
              <a:sym typeface="Inter"/>
            </a:endParaRPr>
          </a:p>
        </p:txBody>
      </p:sp>
      <p:sp>
        <p:nvSpPr>
          <p:cNvPr id="2081" name="Google Shape;2081;p32"/>
          <p:cNvSpPr txBox="1"/>
          <p:nvPr/>
        </p:nvSpPr>
        <p:spPr>
          <a:xfrm>
            <a:off x="10058400" y="56692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04</a:t>
            </a:r>
            <a:endParaRPr/>
          </a:p>
        </p:txBody>
      </p:sp>
      <p:sp>
        <p:nvSpPr>
          <p:cNvPr id="2082" name="Google Shape;2082;p32"/>
          <p:cNvSpPr txBox="1"/>
          <p:nvPr/>
        </p:nvSpPr>
        <p:spPr>
          <a:xfrm>
            <a:off x="11430000" y="56692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MODELO DE NEGOCIO</a:t>
            </a:r>
            <a:endParaRPr/>
          </a:p>
        </p:txBody>
      </p:sp>
      <p:sp>
        <p:nvSpPr>
          <p:cNvPr id="2083" name="Google Shape;2083;p32"/>
          <p:cNvSpPr txBox="1"/>
          <p:nvPr/>
        </p:nvSpPr>
        <p:spPr>
          <a:xfrm>
            <a:off x="11430000" y="59893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Pago ligado al costo de servir</a:t>
            </a:r>
            <a:endParaRPr/>
          </a:p>
        </p:txBody>
      </p:sp>
      <p:sp>
        <p:nvSpPr>
          <p:cNvPr id="2084" name="Google Shape;2084;p32"/>
          <p:cNvSpPr txBox="1"/>
          <p:nvPr/>
        </p:nvSpPr>
        <p:spPr>
          <a:xfrm>
            <a:off x="11430000" y="64922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≥5 % menos costo, OTIF ≥95 %</a:t>
            </a:r>
            <a:endParaRPr/>
          </a:p>
        </p:txBody>
      </p:sp>
      <p:sp>
        <p:nvSpPr>
          <p:cNvPr id="2085" name="Google Shape;2085;p32"/>
          <p:cNvSpPr txBox="1"/>
          <p:nvPr/>
        </p:nvSpPr>
        <p:spPr>
          <a:xfrm>
            <a:off x="10058400" y="72694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05</a:t>
            </a:r>
            <a:endParaRPr/>
          </a:p>
        </p:txBody>
      </p:sp>
      <p:sp>
        <p:nvSpPr>
          <p:cNvPr id="2086" name="Google Shape;2086;p32"/>
          <p:cNvSpPr txBox="1"/>
          <p:nvPr/>
        </p:nvSpPr>
        <p:spPr>
          <a:xfrm>
            <a:off x="11430000" y="72694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IMPACTO SOCIAL</a:t>
            </a:r>
            <a:endParaRPr/>
          </a:p>
        </p:txBody>
      </p:sp>
      <p:sp>
        <p:nvSpPr>
          <p:cNvPr id="2087" name="Google Shape;2087;p32"/>
          <p:cNvSpPr txBox="1"/>
          <p:nvPr/>
        </p:nvSpPr>
        <p:spPr>
          <a:xfrm>
            <a:off x="11430000" y="75895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Hoja del almacenero</a:t>
            </a:r>
            <a:endParaRPr/>
          </a:p>
        </p:txBody>
      </p:sp>
      <p:sp>
        <p:nvSpPr>
          <p:cNvPr id="2088" name="Google Shape;2088;p32"/>
          <p:cNvSpPr txBox="1"/>
          <p:nvPr/>
        </p:nvSpPr>
        <p:spPr>
          <a:xfrm>
            <a:off x="11430000" y="80924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Sin internet: pantalla o impresa</a:t>
            </a:r>
            <a:endParaRPr/>
          </a:p>
        </p:txBody>
      </p:sp>
      <p:sp>
        <p:nvSpPr>
          <p:cNvPr id="208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33</a:t>
            </a:r>
          </a:p>
        </p:txBody>
      </p:sp>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deco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2096" name="Google Shape;2096;p33"/>
          <p:cNvSpPr txBox="1"/>
          <p:nvPr/>
        </p:nvSpPr>
        <p:spPr>
          <a:xfrm>
            <a:off x="1231420" y="4072951"/>
            <a:ext cx="7960220" cy="1632652"/>
          </a:xfrm>
          <a:prstGeom prst="rect">
            <a:avLst/>
          </a:prstGeom>
          <a:noFill/>
          <a:ln>
            <a:noFill/>
          </a:ln>
        </p:spPr>
        <p:txBody>
          <a:bodyPr anchorCtr="0" anchor="t" bIns="0" lIns="0" spcFirstLastPara="1" rIns="0" wrap="square" tIns="0">
            <a:spAutoFit/>
          </a:bodyPr>
          <a:lstStyle/>
          <a:p>
            <a:pPr indent="0" lvl="0" marL="0" marR="0" rtl="0" algn="l">
              <a:lnSpc>
                <a:spcPct val="131254"/>
              </a:lnSpc>
              <a:spcBef>
                <a:spcPts val="0"/>
              </a:spcBef>
              <a:spcAft>
                <a:spcPts val="0"/>
              </a:spcAft>
              <a:buNone/>
            </a:pPr>
            <a:r>
              <a:rPr b="1" lang="en-US" sz="8786">
                <a:solidFill>
                  <a:srgbClr val="111111"/>
                </a:solidFill>
                <a:latin typeface="Inter SemiBold"/>
                <a:ea typeface="Inter SemiBold"/>
                <a:cs typeface="Inter SemiBold"/>
                <a:sym typeface="Inter SemiBold"/>
              </a:rPr>
              <a:t>El Equipo</a:t>
            </a:r>
            <a:endParaRPr/>
          </a:p>
        </p:txBody>
      </p:sp>
      <p:sp>
        <p:nvSpPr>
          <p:cNvPr id="2097" name="!!deco2"/>
          <p:cNvSpPr/>
          <p:nvPr/>
        </p:nvSpPr>
        <p:spPr>
          <a:xfrm rot="10800000">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98" name="!!deco3"/>
          <p:cNvSpPr/>
          <p:nvPr/>
        </p:nvSpPr>
        <p:spPr>
          <a:xfrm rot="10800000">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99" name="!!deco4"/>
          <p:cNvSpPr/>
          <p:nvPr/>
        </p:nvSpPr>
        <p:spPr>
          <a:xfrm flipH="1" rot="9727523">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100" name="Google Shape;2100;p33"/>
          <p:cNvSpPr txBox="1"/>
          <p:nvPr/>
        </p:nvSpPr>
        <p:spPr>
          <a:xfrm>
            <a:off x="1234440" y="5760720"/>
            <a:ext cx="77724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8 personas · 10 roles</a:t>
            </a:r>
            <a:endParaRPr/>
          </a:p>
        </p:txBody>
      </p:sp>
      <p:sp>
        <p:nvSpPr>
          <p:cNvPr id="2101" name="Google Shape;2101;p33"/>
          <p:cNvSpPr txBox="1"/>
          <p:nvPr/>
        </p:nvSpPr>
        <p:spPr>
          <a:xfrm>
            <a:off x="1234440" y="6400800"/>
            <a:ext cx="7772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000">
                <a:solidFill>
                  <a:srgbClr val="606060"/>
                </a:solidFill>
                <a:latin typeface="Inter"/>
                <a:ea typeface="Inter"/>
                <a:cs typeface="Inter"/>
                <a:sym typeface="Inter"/>
              </a:rPr>
              <a:t>7 líderes reportan al Jefe de Proyecto</a:t>
            </a:r>
            <a:endParaRPr/>
          </a:p>
        </p:txBody>
      </p:sp>
      <p:sp>
        <p:nvSpPr>
          <p:cNvPr id="2102" name="Google Shape;2102;p33"/>
          <p:cNvSpPr/>
          <p:nvPr/>
        </p:nvSpPr>
        <p:spPr>
          <a:xfrm>
            <a:off x="9509760" y="914400"/>
            <a:ext cx="7863840" cy="1463040"/>
          </a:xfrm>
          <a:prstGeom prst="roundRect">
            <a:avLst>
              <a:gd fmla="val 1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2200">
                <a:solidFill>
                  <a:srgbClr val="FFFFFF"/>
                </a:solidFill>
                <a:latin typeface="Inter SemiBold"/>
                <a:ea typeface="Inter SemiBold"/>
                <a:cs typeface="Inter SemiBold"/>
                <a:sym typeface="Inter SemiBold"/>
              </a:rPr>
              <a:t>AA</a:t>
            </a:r>
            <a:endParaRPr/>
          </a:p>
        </p:txBody>
      </p:sp>
      <p:sp>
        <p:nvSpPr>
          <p:cNvPr id="2104" name="Google Shape;2104;p33"/>
          <p:cNvSpPr txBox="1"/>
          <p:nvPr/>
        </p:nvSpPr>
        <p:spPr>
          <a:xfrm>
            <a:off x="10972800" y="1143000"/>
            <a:ext cx="6217920"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FFFFFF"/>
                </a:solidFill>
                <a:latin typeface="Inter SemiBold"/>
                <a:ea typeface="Inter SemiBold"/>
                <a:cs typeface="Inter SemiBold"/>
                <a:sym typeface="Inter SemiBold"/>
              </a:rPr>
              <a:t>Alex Aravena</a:t>
            </a:r>
            <a:endParaRPr/>
          </a:p>
        </p:txBody>
      </p:sp>
      <p:sp>
        <p:nvSpPr>
          <p:cNvPr id="2105" name="Google Shape;2105;p33"/>
          <p:cNvSpPr txBox="1"/>
          <p:nvPr/>
        </p:nvSpPr>
        <p:spPr>
          <a:xfrm>
            <a:off x="10972800" y="169164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C7C7C7"/>
                </a:solidFill>
                <a:latin typeface="Inter"/>
                <a:ea typeface="Inter"/>
                <a:cs typeface="Inter"/>
                <a:sym typeface="Inter"/>
              </a:rPr>
              <a:t>Jefe de Proyecto</a:t>
            </a:r>
            <a:endParaRPr/>
          </a:p>
        </p:txBody>
      </p:sp>
      <p:sp>
        <p:nvSpPr>
          <p:cNvPr id="2106" name="Google Shape;2106;p33"/>
          <p:cNvSpPr/>
          <p:nvPr/>
        </p:nvSpPr>
        <p:spPr>
          <a:xfrm>
            <a:off x="950976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BT</a:t>
            </a:r>
            <a:endParaRPr/>
          </a:p>
        </p:txBody>
      </p:sp>
      <p:sp>
        <p:nvSpPr>
          <p:cNvPr id="2108" name="Google Shape;2108;p33"/>
          <p:cNvSpPr txBox="1"/>
          <p:nvPr/>
        </p:nvSpPr>
        <p:spPr>
          <a:xfrm>
            <a:off x="1069848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Bastián Trejo</a:t>
            </a:r>
            <a:endParaRPr/>
          </a:p>
        </p:txBody>
      </p:sp>
      <p:sp>
        <p:nvSpPr>
          <p:cNvPr id="2109" name="Google Shape;2109;p33"/>
          <p:cNvSpPr txBox="1"/>
          <p:nvPr/>
        </p:nvSpPr>
        <p:spPr>
          <a:xfrm>
            <a:off x="1069848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Arquitectura e Integración</a:t>
            </a:r>
            <a:endParaRPr/>
          </a:p>
        </p:txBody>
      </p:sp>
      <p:sp>
        <p:nvSpPr>
          <p:cNvPr id="2110" name="Google Shape;2110;p33"/>
          <p:cNvSpPr/>
          <p:nvPr/>
        </p:nvSpPr>
        <p:spPr>
          <a:xfrm>
            <a:off x="1357884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ÁC</a:t>
            </a:r>
            <a:endParaRPr/>
          </a:p>
        </p:txBody>
      </p:sp>
      <p:sp>
        <p:nvSpPr>
          <p:cNvPr id="2112" name="Google Shape;2112;p33"/>
          <p:cNvSpPr txBox="1"/>
          <p:nvPr/>
        </p:nvSpPr>
        <p:spPr>
          <a:xfrm>
            <a:off x="1476756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Álvaro Catalán</a:t>
            </a:r>
            <a:endParaRPr/>
          </a:p>
        </p:txBody>
      </p:sp>
      <p:sp>
        <p:nvSpPr>
          <p:cNvPr id="2113" name="Google Shape;2113;p33"/>
          <p:cNvSpPr txBox="1"/>
          <p:nvPr/>
        </p:nvSpPr>
        <p:spPr>
          <a:xfrm>
            <a:off x="1476756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Seguridad</a:t>
            </a:r>
            <a:endParaRPr/>
          </a:p>
        </p:txBody>
      </p:sp>
      <p:sp>
        <p:nvSpPr>
          <p:cNvPr id="2114" name="Google Shape;2114;p33"/>
          <p:cNvSpPr/>
          <p:nvPr/>
        </p:nvSpPr>
        <p:spPr>
          <a:xfrm>
            <a:off x="950976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LC</a:t>
            </a:r>
            <a:endParaRPr/>
          </a:p>
        </p:txBody>
      </p:sp>
      <p:sp>
        <p:nvSpPr>
          <p:cNvPr id="2116" name="Google Shape;2116;p33"/>
          <p:cNvSpPr txBox="1"/>
          <p:nvPr/>
        </p:nvSpPr>
        <p:spPr>
          <a:xfrm>
            <a:off x="1069848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Leandro Chamorro</a:t>
            </a:r>
            <a:endParaRPr/>
          </a:p>
        </p:txBody>
      </p:sp>
      <p:sp>
        <p:nvSpPr>
          <p:cNvPr id="2117" name="Google Shape;2117;p33"/>
          <p:cNvSpPr txBox="1"/>
          <p:nvPr/>
        </p:nvSpPr>
        <p:spPr>
          <a:xfrm>
            <a:off x="1069848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Datos</a:t>
            </a:r>
            <a:endParaRPr/>
          </a:p>
        </p:txBody>
      </p:sp>
      <p:sp>
        <p:nvSpPr>
          <p:cNvPr id="2118" name="Google Shape;2118;p33"/>
          <p:cNvSpPr/>
          <p:nvPr/>
        </p:nvSpPr>
        <p:spPr>
          <a:xfrm>
            <a:off x="1357884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TP</a:t>
            </a:r>
            <a:endParaRPr/>
          </a:p>
        </p:txBody>
      </p:sp>
      <p:sp>
        <p:nvSpPr>
          <p:cNvPr id="2120" name="Google Shape;2120;p33"/>
          <p:cNvSpPr txBox="1"/>
          <p:nvPr/>
        </p:nvSpPr>
        <p:spPr>
          <a:xfrm>
            <a:off x="1476756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Tomás Pérez</a:t>
            </a:r>
            <a:endParaRPr/>
          </a:p>
        </p:txBody>
      </p:sp>
      <p:sp>
        <p:nvSpPr>
          <p:cNvPr id="2121" name="Google Shape;2121;p33"/>
          <p:cNvSpPr txBox="1"/>
          <p:nvPr/>
        </p:nvSpPr>
        <p:spPr>
          <a:xfrm>
            <a:off x="1476756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Desarrollo</a:t>
            </a:r>
            <a:endParaRPr/>
          </a:p>
        </p:txBody>
      </p:sp>
      <p:sp>
        <p:nvSpPr>
          <p:cNvPr id="2122" name="Google Shape;2122;p33"/>
          <p:cNvSpPr/>
          <p:nvPr/>
        </p:nvSpPr>
        <p:spPr>
          <a:xfrm>
            <a:off x="950976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MM</a:t>
            </a:r>
            <a:endParaRPr/>
          </a:p>
        </p:txBody>
      </p:sp>
      <p:sp>
        <p:nvSpPr>
          <p:cNvPr id="2124" name="Google Shape;2124;p33"/>
          <p:cNvSpPr txBox="1"/>
          <p:nvPr/>
        </p:nvSpPr>
        <p:spPr>
          <a:xfrm>
            <a:off x="1069848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Maximiliano Miño</a:t>
            </a:r>
            <a:endParaRPr/>
          </a:p>
        </p:txBody>
      </p:sp>
      <p:sp>
        <p:nvSpPr>
          <p:cNvPr id="2125" name="Google Shape;2125;p33"/>
          <p:cNvSpPr txBox="1"/>
          <p:nvPr/>
        </p:nvSpPr>
        <p:spPr>
          <a:xfrm>
            <a:off x="1069848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Calidad y Pruebas</a:t>
            </a:r>
            <a:endParaRPr/>
          </a:p>
        </p:txBody>
      </p:sp>
      <p:sp>
        <p:nvSpPr>
          <p:cNvPr id="2126" name="Google Shape;2126;p33"/>
          <p:cNvSpPr/>
          <p:nvPr/>
        </p:nvSpPr>
        <p:spPr>
          <a:xfrm>
            <a:off x="1357884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GC</a:t>
            </a:r>
            <a:endParaRPr/>
          </a:p>
        </p:txBody>
      </p:sp>
      <p:sp>
        <p:nvSpPr>
          <p:cNvPr id="2128" name="Google Shape;2128;p33"/>
          <p:cNvSpPr txBox="1"/>
          <p:nvPr/>
        </p:nvSpPr>
        <p:spPr>
          <a:xfrm>
            <a:off x="1476756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Guillermo Castillo</a:t>
            </a:r>
            <a:endParaRPr/>
          </a:p>
        </p:txBody>
      </p:sp>
      <p:sp>
        <p:nvSpPr>
          <p:cNvPr id="2129" name="Google Shape;2129;p33"/>
          <p:cNvSpPr txBox="1"/>
          <p:nvPr/>
        </p:nvSpPr>
        <p:spPr>
          <a:xfrm>
            <a:off x="1476756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Operación / SRE</a:t>
            </a:r>
            <a:endParaRPr/>
          </a:p>
        </p:txBody>
      </p:sp>
      <p:sp>
        <p:nvSpPr>
          <p:cNvPr id="2130" name="Google Shape;2130;p33"/>
          <p:cNvSpPr/>
          <p:nvPr/>
        </p:nvSpPr>
        <p:spPr>
          <a:xfrm>
            <a:off x="9509760" y="736092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PH</a:t>
            </a:r>
            <a:endParaRPr/>
          </a:p>
        </p:txBody>
      </p:sp>
      <p:sp>
        <p:nvSpPr>
          <p:cNvPr id="2132" name="Google Shape;2132;p33"/>
          <p:cNvSpPr txBox="1"/>
          <p:nvPr/>
        </p:nvSpPr>
        <p:spPr>
          <a:xfrm>
            <a:off x="10698480" y="758952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Patricio Henríquez</a:t>
            </a:r>
            <a:endParaRPr/>
          </a:p>
        </p:txBody>
      </p:sp>
      <p:sp>
        <p:nvSpPr>
          <p:cNvPr id="2133" name="Google Shape;2133;p33"/>
          <p:cNvSpPr txBox="1"/>
          <p:nvPr/>
        </p:nvSpPr>
        <p:spPr>
          <a:xfrm>
            <a:off x="10698480" y="804672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Funcional e Implantación</a:t>
            </a:r>
            <a:endParaRPr/>
          </a:p>
        </p:txBody>
      </p:sp>
      <p:sp>
        <p:nvSpPr>
          <p:cNvPr id="2134" name="Google Shape;2134;p33"/>
          <p:cNvSpPr/>
          <p:nvPr/>
        </p:nvSpPr>
        <p:spPr>
          <a:xfrm>
            <a:off x="13578840" y="7360920"/>
            <a:ext cx="3794760" cy="132588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69</a:t>
            </a:r>
            <a:endParaRPr/>
          </a:p>
        </p:txBody>
      </p:sp>
      <p:sp>
        <p:nvSpPr>
          <p:cNvPr id="2136" name="Google Shape;2136;p33"/>
          <p:cNvSpPr txBox="1"/>
          <p:nvPr/>
        </p:nvSpPr>
        <p:spPr>
          <a:xfrm>
            <a:off x="14859000" y="7777639"/>
            <a:ext cx="2468880" cy="49244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personas equivalentes en el peak (mes 15)</a:t>
            </a:r>
            <a:endParaRPr b="0" sz="1600">
              <a:solidFill>
                <a:srgbClr val="3C3C3C"/>
              </a:solidFill>
              <a:latin typeface="Inter"/>
              <a:ea typeface="Inter"/>
              <a:cs typeface="Inter"/>
              <a:sym typeface="Inter"/>
            </a:endParaRPr>
          </a:p>
        </p:txBody>
      </p:sp>
      <p:sp>
        <p:nvSpPr>
          <p:cNvPr id="21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34</a:t>
            </a: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deco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4" name="!!deco2"/>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5" name="!!deco3"/>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6" name="!!deco4"/>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7" name="!!deco5"/>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8" name="!!deco6"/>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9" name="!!deco7"/>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151"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52" name="!!reloj"/>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15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35</a:t>
            </a:r>
          </a:p>
        </p:txBody>
      </p:sp>
    </p:spTree>
  </p:cSld>
  <p:clrMapOvr>
    <a:masterClrMapping/>
  </p:clrMapOvr>
  <p:transition spd="med" advTm="1500">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deco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0" name="!!deco2"/>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1" name="!!deco3"/>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2" name="!!deco4"/>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contacto@lafrox.cl</a:t>
            </a:r>
            <a:endParaRPr/>
          </a:p>
        </p:txBody>
      </p:sp>
      <p:sp>
        <p:nvSpPr>
          <p:cNvPr id="2164" name="!!deco5"/>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7"/>
                </a:ext>
              </a:extLst>
            </a:blip>
            <a:stretch>
              <a:fillRect t="-800" b="-8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5" name="!!deco6"/>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Av. Brasil 2241, Valparaíso</a:t>
            </a:r>
            <a:endParaRPr/>
          </a:p>
        </p:txBody>
      </p:sp>
      <p:sp>
        <p:nvSpPr>
          <p:cNvPr id="2167" name="Google Shape;2167;p35"/>
          <p:cNvSpPr txBox="1"/>
          <p:nvPr/>
        </p:nvSpPr>
        <p:spPr>
          <a:xfrm>
            <a:off x="10736647" y="7329375"/>
            <a:ext cx="2823062" cy="30014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lafrox.github.io</a:t>
            </a:r>
            <a:endParaRPr/>
          </a:p>
        </p:txBody>
      </p:sp>
      <p:sp>
        <p:nvSpPr>
          <p:cNvPr id="2168" name="!!deco7"/>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+56 32 250 4100</a:t>
            </a:r>
            <a:endParaRPr/>
          </a:p>
        </p:txBody>
      </p:sp>
      <p:sp>
        <p:nvSpPr>
          <p:cNvPr id="2170" name="!!deco8"/>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1" name="!!deco9"/>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2" name="!!deco10"/>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3" name="!!deco11"/>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sp>
        <p:nvSpPr>
          <p:cNvPr id="2175" name="Google Shape;2175;p35"/>
          <p:cNvSpPr txBox="1"/>
          <p:nvPr/>
        </p:nvSpPr>
        <p:spPr>
          <a:xfrm>
            <a:off x="2743200" y="8850630"/>
            <a:ext cx="12801600" cy="407670"/>
          </a:xfrm>
          <a:prstGeom prst="rect">
            <a:avLst/>
          </a:prstGeom>
          <a:noFill/>
          <a:ln>
            <a:noFill/>
          </a:ln>
        </p:spPr>
        <p:txBody>
          <a:bodyPr anchorCtr="0" anchor="t" bIns="0" lIns="0" spcFirstLastPara="1" rIns="0" wrap="square" tIns="0">
            <a:spAutoFit/>
          </a:bodyPr>
          <a:lstStyle/>
          <a:p>
            <a:pPr indent="0" lvl="0" marL="0" marR="0" rtl="0" algn="ctr">
              <a:lnSpc>
                <a:spcPct val="104937"/>
              </a:lnSpc>
              <a:spcBef>
                <a:spcPts val="0"/>
              </a:spcBef>
              <a:spcAft>
                <a:spcPts val="0"/>
              </a:spcAft>
              <a:buNone/>
            </a:pPr>
            <a:r>
              <a:rPr lang="en-US" sz="1600">
                <a:solidFill>
                  <a:srgbClr val="FFFFFF"/>
                </a:solidFill>
                <a:latin typeface="Inter"/>
                <a:ea typeface="Inter"/>
                <a:cs typeface="Inter"/>
                <a:sym typeface="Inter"/>
              </a:rPr>
              <a:t>Sistema Integral de Gestión Logística Puelche · LafroX SpA</a:t>
            </a:r>
            <a:endParaRPr/>
          </a:p>
        </p:txBody>
      </p:sp>
      <p:pic>
        <p:nvPicPr>
          <p:cNvPr descr="Isotipo LafroX" id="2176"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6000">
                <a:solidFill>
                  <a:srgbClr val="FFFFFF"/>
                </a:solidFill>
                <a:latin typeface="Inter Light"/>
                <a:ea typeface="Inter Light"/>
                <a:cs typeface="Inter Light"/>
                <a:sym typeface="Inter Light"/>
              </a:rPr>
              <a:t>De 9 días a</a:t>
            </a:r>
            <a:endParaRPr/>
          </a:p>
        </p:txBody>
      </p:sp>
      <p:sp>
        <p:nvSpPr>
          <p:cNvPr id="2178" name="!!reloj"/>
          <p:cNvSpPr txBox="1"/>
          <p:nvPr/>
        </p:nvSpPr>
        <p:spPr>
          <a:xfrm>
            <a:off x="1828800" y="2514600"/>
            <a:ext cx="14630400" cy="30175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9000">
                <a:solidFill>
                  <a:srgbClr val="E8641B"/>
                </a:solidFill>
                <a:latin typeface="Inter SemiBold"/>
                <a:ea typeface="Inter SemiBold"/>
                <a:cs typeface="Inter SemiBold"/>
                <a:sym typeface="Inter SemiBold"/>
              </a:rPr>
              <a:t>&lt; 2 horas</a:t>
            </a:r>
            <a:endParaRPr/>
          </a:p>
        </p:txBody>
      </p:sp>
      <p:sp>
        <p:nvSpPr>
          <p:cNvPr id="2179" name="Google Shape;2179;p35"/>
          <p:cNvSpPr txBox="1"/>
          <p:nvPr/>
        </p:nvSpPr>
        <p:spPr>
          <a:xfrm>
            <a:off x="1828800" y="5669280"/>
            <a:ext cx="1463040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400">
                <a:solidFill>
                  <a:srgbClr val="FFFFFF"/>
                </a:solidFill>
                <a:latin typeface="Inter Light"/>
                <a:ea typeface="Inter Light"/>
                <a:cs typeface="Inter Light"/>
                <a:sym typeface="Inter Light"/>
              </a:rPr>
              <a:t>para identificar a los clientes afectados</a:t>
            </a:r>
            <a:endParaRPr/>
          </a:p>
        </p:txBody>
      </p:sp>
      <p:sp>
        <p:nvSpPr>
          <p:cNvPr id="21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35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