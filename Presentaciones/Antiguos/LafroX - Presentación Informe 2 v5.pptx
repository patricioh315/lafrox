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svg" ContentType="image/svg+xml"/>
  <Override PartName="/ppt/media/image12.svg" ContentType="image/svg+xml"/>
  <Override PartName="/ppt/media/image13.svg" ContentType="image/svg+xml"/>
  <Override PartName="/ppt/media/image17.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3.svg" ContentType="image/svg+xml"/>
  <Override PartName="/ppt/media/image4.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6" r:id="rId2"/>
    <p:sldId id="265" r:id="rId3"/>
    <p:sldId id="257" r:id="rId4"/>
    <p:sldId id="262" r:id="rId5"/>
    <p:sldId id="260" r:id="rId6"/>
    <p:sldId id="258" r:id="rId7"/>
    <p:sldId id="288" r:id="rId8"/>
    <p:sldId id="263" r:id="rId9"/>
    <p:sldId id="289" r:id="rId10"/>
    <p:sldId id="290" r:id="rId11"/>
    <p:sldId id="259"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91" r:id="rId42"/>
    <p:sldId id="285" r:id="rId32"/>
    <p:sldId id="292" r:id="rId43"/>
    <p:sldId id="293" r:id="rId44"/>
    <p:sldId id="261" r:id="rId33"/>
    <p:sldId id="264" r:id="rId34"/>
    <p:sldId id="286" r:id="rId35"/>
    <p:sldId id="287" r:id="rId36"/>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2.xml"/><Relationship Id="rId33" Type="http://schemas.openxmlformats.org/officeDocument/2006/relationships/slide" Target="slides/slide35.xml"/><Relationship Id="rId34" Type="http://schemas.openxmlformats.org/officeDocument/2006/relationships/slide" Target="slides/slide36.xml"/><Relationship Id="rId35" Type="http://schemas.openxmlformats.org/officeDocument/2006/relationships/slide" Target="slides/slide37.xml"/><Relationship Id="rId36" Type="http://schemas.openxmlformats.org/officeDocument/2006/relationships/slide" Target="slides/slide38.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slide" Target="slides/slide31.xml"/><Relationship Id="rId43" Type="http://schemas.openxmlformats.org/officeDocument/2006/relationships/slide" Target="slides/slide33.xml"/><Relationship Id="rId44"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800" b="1">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1590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Buenos días. Somos LafroX SpA y presentamos nuestra Propuesta Técnica para la Licitación TFEP-01/2026 de Distribuidora Puelche: el Sistema Integral de Gestión Logística Puelche.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Marzo de 2026: un retiro sanitario. Puelche tardó nueve días en saber a qué clientes había llegado el producto. 4.800 kilos retirados y el proveedor de lácteos —6 % de las ventas— suspendió a Puelche por seis meses. Recuerden: nueve días. (Fuente: SD2)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Tres problemas que parecen distintos: habilitación sanitaria comprometida </a:t>
            </a:r>
            <a:r>
              <a:rPr lang="es-MX"/>
              <a:t>(41 % de recepciones sin lote en el producto del retiro)</a:t>
            </a:r>
            <a:r>
              <a:t>, servicio que pierde competitividad (OTIF 82,4 %, 4,2 % de reentregas) y un costo de servir calculado con un prorrateo de 2016 ($4,2 M/mes en diferencias de rendición). La misma causa: el dato no se registra donde ocurre. (SD2)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números con que nos van a medir: OTIF de 82,4 % a sobre 95 %; reentregas de 4,2 % a menos de 1 %; </a:t>
            </a:r>
            <a:r>
              <a:rPr lang="es-MX"/>
              <a:t>ninguna recepción sin lote en los productos que lo requieren</a:t>
            </a:r>
            <a:r>
              <a:t>; merma de 1,7 % a 1 %; rendición cuadrada el mismo día; y el retiro, de nueve días a menos de dos horas. (SD2, Tabla 2.1)</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Ya resolvimos este problema a mayor escala: LogiNacional opera 420 camiones y 22.000 entregas diarias; Puelche, 96 camiones y unas 1.400. Somos 124 especialistas, con NOC 24×7 y </a:t>
            </a:r>
            <a:r>
              <a:rPr lang="es-MX"/>
              <a:t>certificaciones ISO 9001, 27001 y 20000-1, y evaluación CMMI-DEV nivel 3. (SD1 y Formulario T-6)</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Dos etapas. La Etapa 1 captura el dato donde nace —preventa, recepción con lote, bodega FEFO, rutas, frío, entrega y efectivo— y entra a producción en el mes 16. La Etapa 2 lo explota —portal, canal moderno EDI y costo de servir— en el mes 21. El ERP sigue siendo el emisor tributario. (SD3)</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s-MX"/>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mapa del sistema: siete interfaces, doce módulos agrupados por frente </a:t>
            </a:r>
            <a:r>
              <a:rPr lang="es-MX"/>
              <a:t>y los tres sistemas externos: ERP, Transbank y geolocalización; las cadenas se integran por EDI en la Etapa 2.</a:t>
            </a:r>
            <a:r>
              <a:t> Solo el canal moderno (M11) espera a la Etapa 2. El dato fluye de recepción a inventario, preparación y reparto. El ERP es el único emisor tributario y se accede vía una capa anticorrupción (ACL); M10 consolida OTIF y costo de servir. (SD3 Fig. 3.4–3.8, SD4 Anexo 4-F)</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s-MX"/>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s-MX"/>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Arquitectura híbrida: núcleo en AWS São Paulo (2 zonas) con recuperación en Virginia; cómputo local en cada CD y cross-docking. Sin enlace, la bodega opera 24 h y la preventa y el reparto 14 h sin señal; al volver todo se reconcilia sin duplicados (UUID). </a:t>
            </a:r>
            <a:r>
              <a:rPr lang="es-MX"/>
              <a:t>En los CD, tres caminos: fibra, LTE y Starlink; en los cross-docking, Starlink con respaldo LTE.</a:t>
            </a:r>
            <a:r>
              <a:t> RTO 4 h, RPO 15 min. Monolito modular en Laravel para que el equipo de TI de Puelche (4 personas) lo sostenga. (SD4, SD5)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dato tiene una sola fuente que puede escribirlo. El lote se sigue de punta a punta con EPCIS 2.0: recepción, lote con historia térmica, unidad, ruta y entrega con evidencia. La decisión sanitaria la toma Calidad. </a:t>
            </a:r>
            <a:r>
              <a:rPr lang="es-MX"/>
              <a:t>Migramos unos 16 GB de origen (32 GB estimados en destino) con cero diferencias sin explicar</a:t>
            </a:r>
            <a:r>
              <a:t>, en la ventana 22:00–06:00. (SD5)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EDT ordena el trabajo en nueve fases, 49 cuentas de control y 222 paquetes. Las fases 1 a 4 se ejecutan una vez por etapa. Recorramos cada fase. (T-14 Tabla 7.1, T-15 Tabla 7.3)</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Inicio: nueve cuentas de gestión —alcance, planificación, interesados, calidad, riesgos, reversibilidad, gobierno y cumplimiento—. Se ejecuta una vez por etapa. (T-14 §7.2)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Elaboración: arquitectura, seguridad, diseño de la sala técnica, validación, continuidad y experiencia de usuario. </a:t>
            </a:r>
            <a:r>
              <a:rPr lang="es-MX"/>
              <a:t>Cierra con el H2 en el mes 4 y, en la Etapa 2, con el H8 en el mes 14.</a:t>
            </a:r>
            <a:r>
              <a:t> (T-14 §7.2)</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Construcción: la fase más grande, 79 paquetes. Ambientes, nube, base compartida, módulos de cada etapa, integraciones, migración, pruebas, innovaciones y documentación. (T-14 §7.2)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Transición: plan de implantación y las dos marchas blancas con su paso a producción (H7 mes 16 y H12 mes 21). (T-14 §7.2)</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Adquisiciones: hardware, nube y licencias, enlaces y acuerdos con terceros. El cliente compra el equipo de terreno; LafroX lo especifica. (T-14 §7.2)</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Infraestructura y sitios: sala técnica de Talca, cableado, racks, seguridad física, equipos de campo y configuración de los sitios, meses 3 a 12. (T-14 §7.2)</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Capacitación y gestión del cambio: capacitación por rol, </a:t>
            </a:r>
            <a:r>
              <a:rPr lang="es-MX"/>
              <a:t>gestión del cambio con las cadenas y los transportistas</a:t>
            </a:r>
            <a:r>
              <a:t>, y certificación de usuarios. (T-14 §7.2)</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Operación y soporte: 36 meses de servicio, 129.879 HH. Operación, mantenimiento fuera de congelamientos, innovaciones, informes y transferencia. (T-14 §7.2)</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cierre de la implementación y salida ordenada al término del contrato, con el plan de reversibilidad (meses 54–56). (T-14 §7.2)</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Dos niveles: tres bloques contractuales —Etapa 1, Etapa 2 y Operación, solapados en los meses 13–15 y 19–20— y ocho frentes con un responsable nominado cada uno. (T-14 Tabla 7.52, T-15 Tabla 7.1)</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(Transición automática.)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Gantt mes a mes. En gris, los congelamientos de septiembre y diciembre. La fila de Calidad muestra las certificaciones de cada etapa en los meses 9–10 y 16–17, siempre fuera de un congelamiento, y la restauración mensual de respaldos desde el mes 13, cuando hay datos reales. Migración en los meses 7 a 12; H7 en el mes 16 y H12 en el 21, cada uno con su reversión. Abajo, los riesgos en su mes estimado. (T-14, T-15, T-18, SD9 Fig. 9.9 y Tablas 9.11–9.12, SD8 Anexo 8.B)</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esfuerzo sube con la construcción de la Etapa 1, baja hacia la certificación y vuelve a subir cuando se solapan la marcha blanca E1 y el desarrollo E2: máximo de 8.106 HH en el mes 15, </a:t>
            </a:r>
            <a:r>
              <a:rPr lang="es-CL"/>
              <a:t>con 69 personas equivalentes</a:t>
            </a:r>
            <a:r>
              <a:t>. Desde el mes 21 la operación se estabiliza entre 3.200 y 3.900 HH. Total: 217.543 HH. (T-15 Tablas 7.5 y 7.6)</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s-MX"/>
              <a:t>Seis de los diez riesgos de mayor exposición</a:t>
            </a:r>
            <a:r>
              <a:t>, con el color de su rama. Todos con respuesta de mitigación, responsable y disparador. Ej.: el retiro sin trazabilidad (R-012) se ataca con un retiro simulado de punta a punta: probabilidad de 35 % a 10 % objetivo. Contingencia de 2.058 HH más 1.600 HH de reserva de gestión. (SD8 Tabla 8.4, T-16, Anexo 8.B)</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Siete puertas, de G0 a G6, ordenadas por costo: G0 a G2 corren en minutos sobre cada cambio; G5 dos veces en el contrato. En G2 bloquean las métricas de código: cobertura ≥ 70 % de negocio y 80 % global, complejidad ≤ 10, acoplamiento ≤ 20 clases y duplicación ≤ 3 %. Nadie puede levantar un bloqueo: se corrige o no se avanza, y el Líder de Calidad puede vetar. La aceptación exige las seis condiciones copulativas del Art. 17.3. (SD9 Fig. 9.3, Tablas 9.4 y 9.7, SD7)</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dirige Alex Aravena, Jefe de Proyecto e interlocutor único. Siete líderes cubren arquitectura e integración, seguridad, datos, desarrollo, calidad, operación e implantación: ocho personas para los diez roles mínimos. </a:t>
            </a:r>
            <a:r>
              <a:rPr lang="es-MX"/>
              <a:t>Peak de 69 personas equivalentes. (SD1 Tabla 1.6; SD7 T-15)</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(Transición automática.)</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nueve días a menos de dos horas: el dato capturado donde ocurre, trazable de punta a punta, aun sin señal. Gracias; quedamos atentos a sus preguntas.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svg"/><Relationship Id="rId5" Type="http://schemas.openxmlformats.org/officeDocument/2006/relationships/image" Target="../media/image3.svg"/><Relationship Id="rId6" Type="http://schemas.openxmlformats.org/officeDocument/2006/relationships/image" Target="../media/image4.sv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eg"/><Relationship Id="rId4" Type="http://schemas.openxmlformats.org/officeDocument/2006/relationships/image" Target="../media/image6.svg"/><Relationship Id="rId5" Type="http://schemas.openxmlformats.org/officeDocument/2006/relationships/image" Target="../media/image3.svg"/><Relationship Id="rId6" Type="http://schemas.openxmlformats.org/officeDocument/2006/relationships/image" Target="../media/image2.sv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svg"/><Relationship Id="rId7"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svg"/><Relationship Id="rId4" Type="http://schemas.openxmlformats.org/officeDocument/2006/relationships/image" Target="../media/image11.sv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svg"/><Relationship Id="rId4" Type="http://schemas.openxmlformats.org/officeDocument/2006/relationships/image" Target="../media/image12.svg"/><Relationship Id="rId5" Type="http://schemas.openxmlformats.org/officeDocument/2006/relationships/image" Target="../media/image1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sv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sv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sv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svg"/><Relationship Id="rId4" Type="http://schemas.openxmlformats.org/officeDocument/2006/relationships/image" Target="../media/image21.svg"/><Relationship Id="rId5" Type="http://schemas.openxmlformats.org/officeDocument/2006/relationships/image" Target="../media/image7.svg"/><Relationship Id="rId6" Type="http://schemas.openxmlformats.org/officeDocument/2006/relationships/image" Target="../media/image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svg"/><Relationship Id="rId7"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7.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7.svg"/><Relationship Id="rId4" Type="http://schemas.openxmlformats.org/officeDocument/2006/relationships/image" Target="../media/image11.svg"/><Relationship Id="rId5" Type="http://schemas.openxmlformats.org/officeDocument/2006/relationships/image" Target="../media/image10.png"/><Relationship Id="rId6" Type="http://schemas.openxmlformats.org/officeDocument/2006/relationships/chart" Target="../charts/char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0.svg"/><Relationship Id="rId4" Type="http://schemas.openxmlformats.org/officeDocument/2006/relationships/image" Target="../media/image21.svg"/><Relationship Id="rId5" Type="http://schemas.openxmlformats.org/officeDocument/2006/relationships/image" Target="../media/image7.svg"/><Relationship Id="rId6" Type="http://schemas.openxmlformats.org/officeDocument/2006/relationships/image" Target="../media/image3.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7.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7.svg"/><Relationship Id="rId4" Type="http://schemas.openxmlformats.org/officeDocument/2006/relationships/image" Target="../media/image11.svg"/><Relationship Id="rId5"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0.svg"/><Relationship Id="rId4" Type="http://schemas.openxmlformats.org/officeDocument/2006/relationships/image" Target="../media/image21.svg"/><Relationship Id="rId5" Type="http://schemas.openxmlformats.org/officeDocument/2006/relationships/image" Target="../media/image7.svg"/><Relationship Id="rId6" Type="http://schemas.openxmlformats.org/officeDocument/2006/relationships/image" Target="../media/image3.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0.svg"/><Relationship Id="rId4" Type="http://schemas.openxmlformats.org/officeDocument/2006/relationships/image" Target="../media/image21.svg"/><Relationship Id="rId5" Type="http://schemas.openxmlformats.org/officeDocument/2006/relationships/image" Target="../media/image7.svg"/><Relationship Id="rId6" Type="http://schemas.openxmlformats.org/officeDocument/2006/relationships/image" Target="../media/image3.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2.svg"/><Relationship Id="rId4" Type="http://schemas.openxmlformats.org/officeDocument/2006/relationships/image" Target="../media/image7.svg"/><Relationship Id="rId5" Type="http://schemas.openxmlformats.org/officeDocument/2006/relationships/image" Target="../media/image8.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7.svg"/><Relationship Id="rId4" Type="http://schemas.openxmlformats.org/officeDocument/2006/relationships/image" Target="../media/image23.svg"/><Relationship Id="rId5" Type="http://schemas.openxmlformats.org/officeDocument/2006/relationships/image" Target="../media/image24.svg"/><Relationship Id="rId6" Type="http://schemas.openxmlformats.org/officeDocument/2006/relationships/image" Target="../media/image12.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jpeg"/><Relationship Id="rId4" Type="http://schemas.openxmlformats.org/officeDocument/2006/relationships/image" Target="../media/image6.svg"/><Relationship Id="rId5" Type="http://schemas.openxmlformats.org/officeDocument/2006/relationships/image" Target="../media/image3.svg"/><Relationship Id="rId6" Type="http://schemas.openxmlformats.org/officeDocument/2006/relationships/image" Target="../media/image2.svg"/><Relationship Id="rId7"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jpeg"/><Relationship Id="rId4" Type="http://schemas.openxmlformats.org/officeDocument/2006/relationships/image" Target="../media/image6.svg"/><Relationship Id="rId5" Type="http://schemas.openxmlformats.org/officeDocument/2006/relationships/image" Target="../media/image25.svg"/><Relationship Id="rId6" Type="http://schemas.openxmlformats.org/officeDocument/2006/relationships/image" Target="../media/image26.svg"/><Relationship Id="rId7" Type="http://schemas.openxmlformats.org/officeDocument/2006/relationships/image" Target="../media/image27.svg"/><Relationship Id="rId8" Type="http://schemas.openxmlformats.org/officeDocument/2006/relationships/image" Target="../media/image28.svg"/><Relationship Id="rId9" Type="http://schemas.openxmlformats.org/officeDocument/2006/relationships/image" Target="../media/image3.svg"/><Relationship Id="rId10" Type="http://schemas.openxmlformats.org/officeDocument/2006/relationships/image" Target="../media/image2.svg"/><Relationship Id="rId1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3"/>
            <a:stretch>
              <a:fillRect b="-18444"/>
            </a:stretch>
          </a:blipFill>
        </p:spPr>
        <p:txBody>
          <a:bodyPr/>
          <a:lstStyle/>
          <a:p>
            <a:endParaRPr/>
          </a:p>
        </p:txBody>
      </p:sp>
      <p:sp>
        <p:nvSpPr>
          <p:cNvPr id="3" name="Freeform 3"/>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4" name="Freeform 4"/>
          <p:cNvSpPr/>
          <p:nvPr/>
        </p:nvSpPr>
        <p:spPr>
          <a:xfrm flipV="1">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5" name="Freeform 5"/>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6" name="Freeform 6"/>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7" name="TextBox 7"/>
          <p:cNvSpPr txBox="1"/>
          <p:nvPr/>
        </p:nvSpPr>
        <p:spPr>
          <a:xfrm>
            <a:off x="1428123" y="2520990"/>
            <a:ext cx="12946574" cy="1939598"/>
          </a:xfrm>
          <a:prstGeom prst="rect">
            <a:avLst/>
          </a:prstGeom>
        </p:spPr>
        <p:txBody>
          <a:bodyPr lIns="0" tIns="0" rIns="0" bIns="0" rtlCol="0" anchor="t">
            <a:spAutoFit/>
          </a:bodyPr>
          <a:lstStyle/>
          <a:p>
            <a:pPr algn="l">
              <a:lnSpc>
                <a:spcPts val="14970"/>
              </a:lnSpc>
            </a:pPr>
            <a:r>
              <a:rPr lang="en-US" sz="10693">
                <a:solidFill>
                  <a:srgbClr val="FFFFFF"/>
                </a:solidFill>
                <a:latin typeface="Inter"/>
                <a:ea typeface="Inter"/>
                <a:cs typeface="Inter"/>
                <a:sym typeface="Inter"/>
              </a:rPr>
              <a:t>Propuesta</a:t>
            </a:r>
          </a:p>
        </p:txBody>
      </p:sp>
      <p:sp>
        <p:nvSpPr>
          <p:cNvPr id="8" name="TextBox 8"/>
          <p:cNvSpPr txBox="1"/>
          <p:nvPr/>
        </p:nvSpPr>
        <p:spPr>
          <a:xfrm>
            <a:off x="1428123" y="3820932"/>
            <a:ext cx="12950077" cy="2374011"/>
          </a:xfrm>
          <a:prstGeom prst="rect">
            <a:avLst/>
          </a:prstGeom>
        </p:spPr>
        <p:txBody>
          <a:bodyPr lIns="0" tIns="0" rIns="0" bIns="0" rtlCol="0" anchor="t">
            <a:spAutoFit/>
          </a:bodyPr>
          <a:lstStyle/>
          <a:p>
            <a:pPr algn="l">
              <a:lnSpc>
                <a:spcPts val="18366"/>
              </a:lnSpc>
            </a:pPr>
            <a:r>
              <a:rPr lang="en-US" sz="10494" b="1">
                <a:solidFill>
                  <a:srgbClr val="FFFFFF"/>
                </a:solidFill>
                <a:latin typeface="Inter SemiBold"/>
                <a:ea typeface="Inter SemiBold"/>
                <a:cs typeface="Inter SemiBold"/>
                <a:sym typeface="Inter SemiBold"/>
              </a:rPr>
              <a:t>Técnica</a:t>
            </a:r>
          </a:p>
        </p:txBody>
      </p:sp>
      <p:sp>
        <p:nvSpPr>
          <p:cNvPr id="9" name="TextBox 9"/>
          <p:cNvSpPr txBox="1"/>
          <p:nvPr/>
        </p:nvSpPr>
        <p:spPr>
          <a:xfrm>
            <a:off x="1428123" y="6162459"/>
            <a:ext cx="8734851" cy="1097280"/>
          </a:xfrm>
          <a:prstGeom prst="rect">
            <a:avLst/>
          </a:prstGeom>
        </p:spPr>
        <p:txBody>
          <a:bodyPr lIns="0" tIns="0" rIns="0" bIns="0" rtlCol="0" anchor="t">
            <a:spAutoFit/>
          </a:bodyPr>
          <a:lstStyle/>
          <a:p>
            <a:pPr algn="l">
              <a:lnSpc>
                <a:spcPts val="2665"/>
              </a:lnSpc>
            </a:pPr>
            <a:r>
              <a:rPr lang="en-US" sz="2200">
                <a:solidFill>
                  <a:srgbClr val="FFFFFF"/>
                </a:solidFill>
                <a:latin typeface="Inter"/>
                <a:ea typeface="Inter"/>
                <a:cs typeface="Inter"/>
                <a:sym typeface="Inter"/>
              </a:rPr>
              <a:t>Sistema Integral de Gestión Logística Puelche</a:t>
            </a:r>
          </a:p>
          <a:p>
            <a:pPr algn="l">
              <a:lnSpc>
                <a:spcPts val="2665"/>
              </a:lnSpc>
            </a:pPr>
            <a:r>
              <a:rPr lang="en-US" sz="2200">
                <a:solidFill>
                  <a:srgbClr val="FFFFFF"/>
                </a:solidFill>
                <a:latin typeface="Inter"/>
                <a:ea typeface="Inter"/>
                <a:cs typeface="Inter"/>
                <a:sym typeface="Inter"/>
              </a:rPr>
              <a:t>Licitación TFEP-01/2026 · Distribuidora Puelche S.A.</a:t>
            </a:r>
          </a:p>
        </p:txBody>
      </p:sp>
      <p:sp>
        <p:nvSpPr>
          <p:cNvPr id="10" name="TextBox 10"/>
          <p:cNvSpPr txBox="1"/>
          <p:nvPr/>
        </p:nvSpPr>
        <p:spPr>
          <a:xfrm>
            <a:off x="1475324" y="8961120"/>
            <a:ext cx="4041891" cy="301365"/>
          </a:xfrm>
          <a:prstGeom prst="rect">
            <a:avLst/>
          </a:prstGeom>
        </p:spPr>
        <p:txBody>
          <a:bodyPr lIns="0" tIns="0" rIns="0" bIns="0" rtlCol="0" anchor="t">
            <a:spAutoFit/>
          </a:bodyPr>
          <a:lstStyle/>
          <a:p>
            <a:pPr algn="just">
              <a:lnSpc>
                <a:spcPts val="2520"/>
              </a:lnSpc>
            </a:pPr>
            <a:r>
              <a:rPr lang="en-US" sz="1800">
                <a:solidFill>
                  <a:srgbClr val="FFFFFF"/>
                </a:solidFill>
                <a:latin typeface="Inter"/>
                <a:ea typeface="Inter"/>
                <a:cs typeface="Inter"/>
                <a:sym typeface="Inter"/>
              </a:rPr>
              <a:t>lafrox.github.io</a:t>
            </a:r>
          </a:p>
        </p:txBody>
      </p:sp>
      <p:sp>
        <p:nvSpPr>
          <p:cNvPr id="11" name="!!brand"/>
          <p:cNvSpPr txBox="1"/>
          <p:nvPr/>
        </p:nvSpPr>
        <p:spPr>
          <a:xfrm>
            <a:off x="2188556" y="1000125"/>
            <a:ext cx="3328659" cy="297180"/>
          </a:xfrm>
          <a:prstGeom prst="rect">
            <a:avLst/>
          </a:prstGeom>
        </p:spPr>
        <p:txBody>
          <a:bodyPr lIns="0" tIns="0" rIns="0" bIns="0" rtlCol="0" anchor="t">
            <a:spAutoFit/>
          </a:bodyPr>
          <a:lstStyle/>
          <a:p>
            <a:pPr algn="just">
              <a:lnSpc>
                <a:spcPts val="2520"/>
              </a:lnSpc>
            </a:pPr>
            <a:r>
              <a:rPr lang="en-US" sz="1800" b="1">
                <a:solidFill>
                  <a:srgbClr val="FFFFFF"/>
                </a:solidFill>
                <a:latin typeface="Inter SemiBold"/>
                <a:ea typeface="Inter SemiBold"/>
                <a:cs typeface="Inter SemiBold"/>
                <a:sym typeface="Inter SemiBold"/>
              </a:rPr>
              <a:t>LafroX SpA</a:t>
            </a:r>
          </a:p>
        </p:txBody>
      </p:sp>
      <p:sp>
        <p:nvSpPr>
          <p:cNvPr id="12" name="TextBox 12"/>
          <p:cNvSpPr txBox="1"/>
          <p:nvPr/>
        </p:nvSpPr>
        <p:spPr>
          <a:xfrm>
            <a:off x="12763761" y="8961120"/>
            <a:ext cx="4041891" cy="297180"/>
          </a:xfrm>
          <a:prstGeom prst="rect">
            <a:avLst/>
          </a:prstGeom>
        </p:spPr>
        <p:txBody>
          <a:bodyPr lIns="0" tIns="0" rIns="0" bIns="0" rtlCol="0" anchor="t">
            <a:spAutoFit/>
          </a:bodyPr>
          <a:lstStyle/>
          <a:p>
            <a:pPr algn="r">
              <a:lnSpc>
                <a:spcPts val="2520"/>
              </a:lnSpc>
            </a:pPr>
            <a:r>
              <a:rPr lang="en-US" sz="1800">
                <a:solidFill>
                  <a:srgbClr val="FFFFFF"/>
                </a:solidFill>
                <a:latin typeface="Inter"/>
                <a:ea typeface="Inter"/>
                <a:cs typeface="Inter"/>
                <a:sym typeface="Inter"/>
              </a:rPr>
              <a:t>Siguiente</a:t>
            </a:r>
          </a:p>
        </p:txBody>
      </p:sp>
      <p:pic>
        <p:nvPicPr>
          <p:cNvPr id="13" name="!!logo" descr="Isotipo LafroX"/>
          <p:cNvPicPr>
            <a:picLocks noChangeAspect="1"/>
          </p:cNvPicPr>
          <p:nvPr/>
        </p:nvPicPr>
        <p:blipFill>
          <a:blip r:embed="rId7"/>
          <a:stretch>
            <a:fillRect/>
          </a:stretch>
        </p:blipFill>
        <p:spPr>
          <a:xfrm>
            <a:off x="1472184" y="850392"/>
            <a:ext cx="551723" cy="566928"/>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3"/>
            <a:stretch>
              <a:fillRect b="-18444"/>
            </a:stretch>
          </a:blipFill>
        </p:spPr>
        <p:txBody>
          <a:bodyPr/>
          <a:lstStyle/>
          <a:p>
            <a:endParaRPr/>
          </a:p>
        </p:txBody>
      </p:sp>
      <p:sp>
        <p:nvSpPr>
          <p:cNvPr id="5" name="Freeform 5"/>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6" name="Freeform 6"/>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5" name="Freeform 15"/>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6" name="Freeform 16"/>
          <p:cNvSpPr/>
          <p:nvPr/>
        </p:nvSpPr>
        <p:spPr>
          <a:xfrm flipV="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7" name="Freeform 17"/>
          <p:cNvSpPr/>
          <p:nvPr/>
        </p:nvSpPr>
        <p:spPr>
          <a:xfrm flipV="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8" name="Freeform 18"/>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9" name="!!brand"/>
          <p:cNvSpPr txBox="1"/>
          <p:nvPr/>
        </p:nvSpPr>
        <p:spPr>
          <a:xfrm>
            <a:off x="7123055" y="987552"/>
            <a:ext cx="4041891" cy="339725"/>
          </a:xfrm>
          <a:prstGeom prst="rect">
            <a:avLst/>
          </a:prstGeom>
        </p:spPr>
        <p:txBody>
          <a:bodyPr lIns="0" tIns="0" rIns="0" bIns="0" rtlCol="0" anchor="t">
            <a:spAutoFit/>
          </a:bodyPr>
          <a:lstStyle/>
          <a:p>
            <a:pPr algn="ctr">
              <a:lnSpc>
                <a:spcPts val="2799"/>
              </a:lnSpc>
            </a:pPr>
            <a:r>
              <a:rPr lang="en-US" sz="1999" b="1">
                <a:solidFill>
                  <a:srgbClr val="FFFFFF"/>
                </a:solidFill>
                <a:latin typeface="Inter SemiBold"/>
                <a:ea typeface="Inter SemiBold"/>
                <a:cs typeface="Inter SemiBold"/>
                <a:sym typeface="Inter SemiBold"/>
              </a:rPr>
              <a:t>LafroX SpA</a:t>
            </a:r>
          </a:p>
        </p:txBody>
      </p:sp>
      <p:pic>
        <p:nvPicPr>
          <p:cNvPr id="21" name="!!logo" descr="Isotipo LafroX"/>
          <p:cNvPicPr>
            <a:picLocks noChangeAspect="1"/>
          </p:cNvPicPr>
          <p:nvPr/>
        </p:nvPicPr>
        <p:blipFill>
          <a:blip r:embed="rId7"/>
          <a:stretch>
            <a:fillRect/>
          </a:stretch>
        </p:blipFill>
        <p:spPr>
          <a:xfrm>
            <a:off x="8814816" y="228600"/>
            <a:ext cx="658508" cy="676656"/>
          </a:xfrm>
          <a:prstGeom prst="rect">
            <a:avLst/>
          </a:prstGeom>
        </p:spPr>
      </p:pic>
      <p:sp>
        <p:nvSpPr>
          <p:cNvPr id="22" name="TextBox 21"/>
          <p:cNvSpPr txBox="1"/>
          <p:nvPr/>
        </p:nvSpPr>
        <p:spPr>
          <a:xfrm>
            <a:off x="1828800" y="1828800"/>
            <a:ext cx="14630400" cy="457200"/>
          </a:xfrm>
          <a:prstGeom prst="rect">
            <a:avLst/>
          </a:prstGeom>
          <a:noFill/>
        </p:spPr>
        <p:txBody>
          <a:bodyPr wrap="square" lIns="0" tIns="0" rIns="0" bIns="0" anchor="t">
            <a:spAutoFit/>
          </a:bodyPr>
          <a:lstStyle/>
          <a:p>
            <a:pPr algn="ctr"/>
            <a:r>
              <a:rPr sz="2400" b="1">
                <a:solidFill>
                  <a:srgbClr val="F29A5E"/>
                </a:solidFill>
                <a:latin typeface="Inter SemiBold"/>
              </a:rPr>
              <a:t>MARZO 2026 · RETIRO SANITARIO</a:t>
            </a:r>
          </a:p>
        </p:txBody>
      </p:sp>
      <p:sp>
        <p:nvSpPr>
          <p:cNvPr id="23" name="!!reloj"/>
          <p:cNvSpPr txBox="1"/>
          <p:nvPr/>
        </p:nvSpPr>
        <p:spPr>
          <a:xfrm>
            <a:off x="1828800" y="2377440"/>
            <a:ext cx="14630400" cy="3566160"/>
          </a:xfrm>
          <a:prstGeom prst="rect">
            <a:avLst/>
          </a:prstGeom>
          <a:noFill/>
        </p:spPr>
        <p:txBody>
          <a:bodyPr wrap="square" lIns="0" tIns="0" rIns="0" bIns="0" anchor="ctr">
            <a:spAutoFit/>
          </a:bodyPr>
          <a:lstStyle/>
          <a:p>
            <a:pPr algn="ctr"/>
            <a:r>
              <a:rPr sz="23000" b="1">
                <a:solidFill>
                  <a:srgbClr val="FFFFFF"/>
                </a:solidFill>
                <a:latin typeface="Inter SemiBold"/>
              </a:rPr>
              <a:t>9 días</a:t>
            </a:r>
          </a:p>
        </p:txBody>
      </p:sp>
      <p:sp>
        <p:nvSpPr>
          <p:cNvPr id="24" name="TextBox 23"/>
          <p:cNvSpPr txBox="1"/>
          <p:nvPr/>
        </p:nvSpPr>
        <p:spPr>
          <a:xfrm>
            <a:off x="1828800" y="5943600"/>
            <a:ext cx="14630400" cy="640080"/>
          </a:xfrm>
          <a:prstGeom prst="rect">
            <a:avLst/>
          </a:prstGeom>
          <a:noFill/>
        </p:spPr>
        <p:txBody>
          <a:bodyPr wrap="square" lIns="0" tIns="0" rIns="0" bIns="0" anchor="t">
            <a:spAutoFit/>
          </a:bodyPr>
          <a:lstStyle/>
          <a:p>
            <a:pPr algn="ctr"/>
            <a:r>
              <a:rPr sz="3400" b="0">
                <a:solidFill>
                  <a:srgbClr val="FFFFFF"/>
                </a:solidFill>
                <a:latin typeface="Inter Light"/>
              </a:rPr>
              <a:t>para identificar a los clientes afectados</a:t>
            </a:r>
          </a:p>
        </p:txBody>
      </p:sp>
      <p:sp>
        <p:nvSpPr>
          <p:cNvPr id="25" name="TextBox 24"/>
          <p:cNvSpPr txBox="1"/>
          <p:nvPr/>
        </p:nvSpPr>
        <p:spPr>
          <a:xfrm>
            <a:off x="3108960" y="7178040"/>
            <a:ext cx="3840480" cy="640080"/>
          </a:xfrm>
          <a:prstGeom prst="rect">
            <a:avLst/>
          </a:prstGeom>
          <a:noFill/>
        </p:spPr>
        <p:txBody>
          <a:bodyPr wrap="square" lIns="0" tIns="0" rIns="0" bIns="0" anchor="t">
            <a:spAutoFit/>
          </a:bodyPr>
          <a:lstStyle/>
          <a:p>
            <a:pPr algn="ctr"/>
            <a:r>
              <a:rPr sz="4400" b="1">
                <a:solidFill>
                  <a:srgbClr val="F29A5E"/>
                </a:solidFill>
                <a:latin typeface="Inter SemiBold"/>
              </a:rPr>
              <a:t>4.800 kg</a:t>
            </a:r>
          </a:p>
        </p:txBody>
      </p:sp>
      <p:sp>
        <p:nvSpPr>
          <p:cNvPr id="26" name="TextBox 25"/>
          <p:cNvSpPr txBox="1"/>
          <p:nvPr/>
        </p:nvSpPr>
        <p:spPr>
          <a:xfrm>
            <a:off x="3108960" y="7909560"/>
            <a:ext cx="3840480" cy="457200"/>
          </a:xfrm>
          <a:prstGeom prst="rect">
            <a:avLst/>
          </a:prstGeom>
          <a:noFill/>
        </p:spPr>
        <p:txBody>
          <a:bodyPr wrap="square" lIns="0" tIns="0" rIns="0" bIns="0" anchor="t">
            <a:spAutoFit/>
          </a:bodyPr>
          <a:lstStyle/>
          <a:p>
            <a:pPr algn="ctr"/>
            <a:r>
              <a:rPr sz="2000" b="0">
                <a:solidFill>
                  <a:srgbClr val="FFFFFF"/>
                </a:solidFill>
                <a:latin typeface="Inter"/>
              </a:rPr>
              <a:t>retirados</a:t>
            </a:r>
          </a:p>
        </p:txBody>
      </p:sp>
      <p:sp>
        <p:nvSpPr>
          <p:cNvPr id="27" name="TextBox 26"/>
          <p:cNvSpPr txBox="1"/>
          <p:nvPr/>
        </p:nvSpPr>
        <p:spPr>
          <a:xfrm>
            <a:off x="7315200" y="7178040"/>
            <a:ext cx="3840480" cy="640080"/>
          </a:xfrm>
          <a:prstGeom prst="rect">
            <a:avLst/>
          </a:prstGeom>
          <a:noFill/>
        </p:spPr>
        <p:txBody>
          <a:bodyPr wrap="square" lIns="0" tIns="0" rIns="0" bIns="0" anchor="t">
            <a:spAutoFit/>
          </a:bodyPr>
          <a:lstStyle/>
          <a:p>
            <a:pPr algn="ctr"/>
            <a:r>
              <a:rPr sz="4400" b="1">
                <a:solidFill>
                  <a:srgbClr val="F29A5E"/>
                </a:solidFill>
                <a:latin typeface="Inter SemiBold"/>
              </a:rPr>
              <a:t>6 meses</a:t>
            </a:r>
          </a:p>
        </p:txBody>
      </p:sp>
      <p:sp>
        <p:nvSpPr>
          <p:cNvPr id="28" name="TextBox 27"/>
          <p:cNvSpPr txBox="1"/>
          <p:nvPr/>
        </p:nvSpPr>
        <p:spPr>
          <a:xfrm>
            <a:off x="7315200" y="7909560"/>
            <a:ext cx="3840480" cy="457200"/>
          </a:xfrm>
          <a:prstGeom prst="rect">
            <a:avLst/>
          </a:prstGeom>
          <a:noFill/>
        </p:spPr>
        <p:txBody>
          <a:bodyPr wrap="square" lIns="0" tIns="0" rIns="0" bIns="0" anchor="t">
            <a:spAutoFit/>
          </a:bodyPr>
          <a:lstStyle/>
          <a:p>
            <a:pPr algn="ctr"/>
            <a:r>
              <a:rPr sz="2000" b="0">
                <a:solidFill>
                  <a:srgbClr val="FFFFFF"/>
                </a:solidFill>
                <a:latin typeface="Inter"/>
              </a:rPr>
              <a:t>de suspensión del proveedor</a:t>
            </a:r>
          </a:p>
        </p:txBody>
      </p:sp>
      <p:sp>
        <p:nvSpPr>
          <p:cNvPr id="29" name="TextBox 28"/>
          <p:cNvSpPr txBox="1"/>
          <p:nvPr/>
        </p:nvSpPr>
        <p:spPr>
          <a:xfrm>
            <a:off x="11521440" y="7178040"/>
            <a:ext cx="3840480" cy="640080"/>
          </a:xfrm>
          <a:prstGeom prst="rect">
            <a:avLst/>
          </a:prstGeom>
          <a:noFill/>
        </p:spPr>
        <p:txBody>
          <a:bodyPr wrap="square" lIns="0" tIns="0" rIns="0" bIns="0" anchor="t">
            <a:spAutoFit/>
          </a:bodyPr>
          <a:lstStyle/>
          <a:p>
            <a:pPr algn="ctr"/>
            <a:r>
              <a:rPr sz="4400" b="1">
                <a:solidFill>
                  <a:srgbClr val="F29A5E"/>
                </a:solidFill>
                <a:latin typeface="Inter SemiBold"/>
              </a:rPr>
              <a:t>6 %</a:t>
            </a:r>
          </a:p>
        </p:txBody>
      </p:sp>
      <p:sp>
        <p:nvSpPr>
          <p:cNvPr id="30" name="TextBox 29"/>
          <p:cNvSpPr txBox="1"/>
          <p:nvPr/>
        </p:nvSpPr>
        <p:spPr>
          <a:xfrm>
            <a:off x="11521440" y="7909560"/>
            <a:ext cx="3840480" cy="457200"/>
          </a:xfrm>
          <a:prstGeom prst="rect">
            <a:avLst/>
          </a:prstGeom>
          <a:noFill/>
        </p:spPr>
        <p:txBody>
          <a:bodyPr wrap="square" lIns="0" tIns="0" rIns="0" bIns="0" anchor="t">
            <a:spAutoFit/>
          </a:bodyPr>
          <a:lstStyle/>
          <a:p>
            <a:pPr algn="ctr"/>
            <a:r>
              <a:rPr sz="2000" b="0">
                <a:solidFill>
                  <a:srgbClr val="FFFFFF"/>
                </a:solidFill>
                <a:latin typeface="Inter"/>
              </a:rPr>
              <a:t>de las ventas en riesgo</a:t>
            </a:r>
          </a:p>
        </p:txBody>
      </p:sp>
      <p:sp>
        <p:nvSpPr>
          <p:cNvPr id="31"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FFFFFF"/>
                </a:solidFill>
                <a:latin typeface="Inter SemiBold"/>
              </a:rPr>
              <a:t>01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3" name="Freeform 3"/>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a:p>
        </p:txBody>
      </p:sp>
      <p:sp>
        <p:nvSpPr>
          <p:cNvPr id="4" name="Freeform 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5" name="Freeform 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6" name="Freeform 6"/>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7" name="TextBox 7"/>
          <p:cNvSpPr txBox="1"/>
          <p:nvPr/>
        </p:nvSpPr>
        <p:spPr>
          <a:xfrm>
            <a:off x="1475324" y="1600200"/>
            <a:ext cx="7668676" cy="1371600"/>
          </a:xfrm>
          <a:prstGeom prst="rect">
            <a:avLst/>
          </a:prstGeom>
        </p:spPr>
        <p:txBody>
          <a:bodyPr lIns="0" tIns="0" rIns="0" bIns="0" rtlCol="0" anchor="t">
            <a:spAutoFit/>
          </a:bodyPr>
          <a:lstStyle/>
          <a:p>
            <a:pPr algn="l">
              <a:lnSpc>
                <a:spcPts val="10651"/>
              </a:lnSpc>
            </a:pPr>
            <a:r>
              <a:rPr lang="en-US" sz="8115" b="1">
                <a:solidFill>
                  <a:srgbClr val="111111"/>
                </a:solidFill>
                <a:latin typeface="Inter SemiBold"/>
                <a:ea typeface="Inter SemiBold"/>
                <a:cs typeface="Inter SemiBold"/>
                <a:sym typeface="Inter SemiBold"/>
              </a:rPr>
              <a:t>Problemática</a:t>
            </a:r>
          </a:p>
        </p:txBody>
      </p:sp>
      <p:sp>
        <p:nvSpPr>
          <p:cNvPr id="10" name="TextBox 10"/>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11" name="!!brand"/>
          <p:cNvSpPr txBox="1"/>
          <p:nvPr/>
        </p:nvSpPr>
        <p:spPr>
          <a:xfrm>
            <a:off x="2188556" y="1000125"/>
            <a:ext cx="3328659" cy="297180"/>
          </a:xfrm>
          <a:prstGeom prst="rect">
            <a:avLst/>
          </a:prstGeom>
        </p:spPr>
        <p:txBody>
          <a:bodyPr lIns="0" tIns="0" rIns="0" bIns="0" rtlCol="0" anchor="t">
            <a:spAutoFit/>
          </a:bodyPr>
          <a:lstStyle/>
          <a:p>
            <a:pPr algn="just">
              <a:lnSpc>
                <a:spcPts val="2520"/>
              </a:lnSpc>
            </a:pPr>
            <a:r>
              <a:rPr lang="en-US" sz="1800" b="1">
                <a:solidFill>
                  <a:srgbClr val="000000"/>
                </a:solidFill>
                <a:latin typeface="Inter SemiBold"/>
                <a:ea typeface="Inter SemiBold"/>
                <a:cs typeface="Inter SemiBold"/>
                <a:sym typeface="Inter SemiBold"/>
              </a:rPr>
              <a:t>LafroX SpA</a:t>
            </a:r>
          </a:p>
        </p:txBody>
      </p:sp>
      <p:pic>
        <p:nvPicPr>
          <p:cNvPr id="12" name="!!logo" descr="Isotipo LafroX"/>
          <p:cNvPicPr>
            <a:picLocks noChangeAspect="1"/>
          </p:cNvPicPr>
          <p:nvPr/>
        </p:nvPicPr>
        <p:blipFill>
          <a:blip r:embed="rId7"/>
          <a:stretch>
            <a:fillRect/>
          </a:stretch>
        </p:blipFill>
        <p:spPr>
          <a:xfrm>
            <a:off x="1472184" y="850392"/>
            <a:ext cx="551723" cy="566928"/>
          </a:xfrm>
          <a:prstGeom prst="rect">
            <a:avLst/>
          </a:prstGeom>
        </p:spPr>
      </p:pic>
      <p:sp>
        <p:nvSpPr>
          <p:cNvPr id="13" name="TextBox 12"/>
          <p:cNvSpPr txBox="1"/>
          <p:nvPr/>
        </p:nvSpPr>
        <p:spPr>
          <a:xfrm>
            <a:off x="1472184" y="3063240"/>
            <a:ext cx="7498079" cy="914400"/>
          </a:xfrm>
          <a:prstGeom prst="rect">
            <a:avLst/>
          </a:prstGeom>
          <a:noFill/>
        </p:spPr>
        <p:txBody>
          <a:bodyPr wrap="square" lIns="0" tIns="0" rIns="0" bIns="0" anchor="t">
            <a:spAutoFit/>
          </a:bodyPr>
          <a:lstStyle/>
          <a:p>
            <a:pPr algn="l"/>
            <a:r>
              <a:rPr sz="3000" b="0">
                <a:solidFill>
                  <a:srgbClr val="606060"/>
                </a:solidFill>
                <a:latin typeface="Inter"/>
              </a:rPr>
              <a:t>Tres problemas, una sola causa</a:t>
            </a:r>
          </a:p>
        </p:txBody>
      </p:sp>
      <p:sp>
        <p:nvSpPr>
          <p:cNvPr id="14" name="Rounded Rectangle 13"/>
          <p:cNvSpPr/>
          <p:nvPr/>
        </p:nvSpPr>
        <p:spPr>
          <a:xfrm>
            <a:off x="1472184" y="4434840"/>
            <a:ext cx="7315200" cy="210312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l"/>
            <a:r>
              <a:rPr sz="1800" b="1">
                <a:solidFill>
                  <a:srgbClr val="F29A5E"/>
                </a:solidFill>
                <a:latin typeface="Inter SemiBold"/>
              </a:rPr>
              <a:t>CAUSA RAÍZ</a:t>
            </a:r>
          </a:p>
          <a:p>
            <a:pPr algn="l"/>
            <a:r>
              <a:rPr sz="3000" b="1">
                <a:solidFill>
                  <a:srgbClr val="FFFFFF"/>
                </a:solidFill>
                <a:latin typeface="Inter SemiBold"/>
              </a:rPr>
              <a:t>El dato no se registra donde ocurre el hecho.</a:t>
            </a:r>
          </a:p>
        </p:txBody>
      </p:sp>
      <p:sp>
        <p:nvSpPr>
          <p:cNvPr id="15" name="Rounded Rectangle 14"/>
          <p:cNvSpPr/>
          <p:nvPr/>
        </p:nvSpPr>
        <p:spPr>
          <a:xfrm>
            <a:off x="9509760" y="1417320"/>
            <a:ext cx="6400800" cy="1828800"/>
          </a:xfrm>
          <a:prstGeom prst="roundRect">
            <a:avLst>
              <a:gd name="adj" fmla="val 8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6" name="TextBox 15"/>
          <p:cNvSpPr txBox="1"/>
          <p:nvPr/>
        </p:nvSpPr>
        <p:spPr>
          <a:xfrm>
            <a:off x="9829800" y="1691640"/>
            <a:ext cx="3291840" cy="365760"/>
          </a:xfrm>
          <a:prstGeom prst="rect">
            <a:avLst/>
          </a:prstGeom>
          <a:noFill/>
        </p:spPr>
        <p:txBody>
          <a:bodyPr wrap="square" lIns="0" tIns="0" rIns="0" bIns="0" anchor="t">
            <a:spAutoFit/>
          </a:bodyPr>
          <a:lstStyle/>
          <a:p>
            <a:pPr algn="l"/>
            <a:r>
              <a:rPr sz="1800" b="1">
                <a:solidFill>
                  <a:srgbClr val="E8641B"/>
                </a:solidFill>
                <a:latin typeface="Inter SemiBold"/>
              </a:rPr>
              <a:t>01</a:t>
            </a:r>
          </a:p>
        </p:txBody>
      </p:sp>
      <p:sp>
        <p:nvSpPr>
          <p:cNvPr id="17" name="TextBox 16"/>
          <p:cNvSpPr txBox="1"/>
          <p:nvPr/>
        </p:nvSpPr>
        <p:spPr>
          <a:xfrm>
            <a:off x="9829800" y="2103120"/>
            <a:ext cx="3291840" cy="914400"/>
          </a:xfrm>
          <a:prstGeom prst="rect">
            <a:avLst/>
          </a:prstGeom>
          <a:noFill/>
        </p:spPr>
        <p:txBody>
          <a:bodyPr wrap="square" lIns="0" tIns="0" rIns="0" bIns="0" anchor="t">
            <a:spAutoFit/>
          </a:bodyPr>
          <a:lstStyle/>
          <a:p>
            <a:pPr algn="l"/>
            <a:r>
              <a:rPr sz="2200" b="1">
                <a:solidFill>
                  <a:srgbClr val="111111"/>
                </a:solidFill>
                <a:latin typeface="Inter SemiBold"/>
              </a:rPr>
              <a:t>Habilitación sanitaria en riesgo</a:t>
            </a:r>
          </a:p>
        </p:txBody>
      </p:sp>
      <p:sp>
        <p:nvSpPr>
          <p:cNvPr id="18" name="TextBox 17"/>
          <p:cNvSpPr txBox="1"/>
          <p:nvPr/>
        </p:nvSpPr>
        <p:spPr>
          <a:xfrm>
            <a:off x="13167360" y="1737360"/>
            <a:ext cx="2468880" cy="320040"/>
          </a:xfrm>
          <a:prstGeom prst="rect">
            <a:avLst/>
          </a:prstGeom>
          <a:noFill/>
        </p:spPr>
        <p:txBody>
          <a:bodyPr wrap="square" lIns="0" tIns="0" rIns="0" bIns="0" anchor="t">
            <a:spAutoFit/>
          </a:bodyPr>
          <a:lstStyle/>
          <a:p>
            <a:pPr algn="r"/>
            <a:r>
              <a:rPr sz="1600" b="0">
                <a:solidFill>
                  <a:srgbClr val="9A9A9A"/>
                </a:solidFill>
                <a:latin typeface="Inter"/>
              </a:rPr>
              <a:t>retiro</a:t>
            </a:r>
          </a:p>
        </p:txBody>
      </p:sp>
      <p:sp>
        <p:nvSpPr>
          <p:cNvPr id="19" name="!!reloj"/>
          <p:cNvSpPr txBox="1"/>
          <p:nvPr/>
        </p:nvSpPr>
        <p:spPr>
          <a:xfrm>
            <a:off x="12801600" y="2103120"/>
            <a:ext cx="2834640" cy="822960"/>
          </a:xfrm>
          <a:prstGeom prst="rect">
            <a:avLst/>
          </a:prstGeom>
          <a:noFill/>
        </p:spPr>
        <p:txBody>
          <a:bodyPr wrap="square" lIns="0" tIns="0" rIns="0" bIns="0" anchor="t">
            <a:spAutoFit/>
          </a:bodyPr>
          <a:lstStyle/>
          <a:p>
            <a:pPr algn="r"/>
            <a:r>
              <a:rPr sz="4400" b="1">
                <a:solidFill>
                  <a:srgbClr val="E8641B"/>
                </a:solidFill>
                <a:latin typeface="Inter SemiBold"/>
              </a:rPr>
              <a:t>9 días</a:t>
            </a:r>
          </a:p>
        </p:txBody>
      </p:sp>
      <p:cxnSp>
        <p:nvCxnSpPr>
          <p:cNvPr id="20" name="Connector 19"/>
          <p:cNvCxnSpPr/>
          <p:nvPr/>
        </p:nvCxnSpPr>
        <p:spPr>
          <a:xfrm flipV="1">
            <a:off x="8787384" y="2331720"/>
            <a:ext cx="722376" cy="315468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09760" y="3566160"/>
            <a:ext cx="6400800" cy="1828800"/>
          </a:xfrm>
          <a:prstGeom prst="roundRect">
            <a:avLst>
              <a:gd name="adj" fmla="val 8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22" name="TextBox 21"/>
          <p:cNvSpPr txBox="1"/>
          <p:nvPr/>
        </p:nvSpPr>
        <p:spPr>
          <a:xfrm>
            <a:off x="9829800" y="3840480"/>
            <a:ext cx="3291840" cy="365760"/>
          </a:xfrm>
          <a:prstGeom prst="rect">
            <a:avLst/>
          </a:prstGeom>
          <a:noFill/>
        </p:spPr>
        <p:txBody>
          <a:bodyPr wrap="square" lIns="0" tIns="0" rIns="0" bIns="0" anchor="t">
            <a:spAutoFit/>
          </a:bodyPr>
          <a:lstStyle/>
          <a:p>
            <a:pPr algn="l"/>
            <a:r>
              <a:rPr sz="1800" b="1">
                <a:solidFill>
                  <a:srgbClr val="E8641B"/>
                </a:solidFill>
                <a:latin typeface="Inter SemiBold"/>
              </a:rPr>
              <a:t>02</a:t>
            </a:r>
          </a:p>
        </p:txBody>
      </p:sp>
      <p:sp>
        <p:nvSpPr>
          <p:cNvPr id="23" name="TextBox 22"/>
          <p:cNvSpPr txBox="1"/>
          <p:nvPr/>
        </p:nvSpPr>
        <p:spPr>
          <a:xfrm>
            <a:off x="9829800" y="4251960"/>
            <a:ext cx="3291840" cy="914400"/>
          </a:xfrm>
          <a:prstGeom prst="rect">
            <a:avLst/>
          </a:prstGeom>
          <a:noFill/>
        </p:spPr>
        <p:txBody>
          <a:bodyPr wrap="square" lIns="0" tIns="0" rIns="0" bIns="0" anchor="t">
            <a:spAutoFit/>
          </a:bodyPr>
          <a:lstStyle/>
          <a:p>
            <a:pPr algn="l"/>
            <a:r>
              <a:rPr sz="2200" b="1">
                <a:solidFill>
                  <a:srgbClr val="111111"/>
                </a:solidFill>
                <a:latin typeface="Inter SemiBold"/>
              </a:rPr>
              <a:t>Servicio que pierde competitividad</a:t>
            </a:r>
          </a:p>
        </p:txBody>
      </p:sp>
      <p:sp>
        <p:nvSpPr>
          <p:cNvPr id="24" name="TextBox 23"/>
          <p:cNvSpPr txBox="1"/>
          <p:nvPr/>
        </p:nvSpPr>
        <p:spPr>
          <a:xfrm>
            <a:off x="13167360" y="3886200"/>
            <a:ext cx="2468880" cy="320040"/>
          </a:xfrm>
          <a:prstGeom prst="rect">
            <a:avLst/>
          </a:prstGeom>
          <a:noFill/>
        </p:spPr>
        <p:txBody>
          <a:bodyPr wrap="square" lIns="0" tIns="0" rIns="0" bIns="0" anchor="t">
            <a:spAutoFit/>
          </a:bodyPr>
          <a:lstStyle/>
          <a:p>
            <a:pPr algn="r"/>
            <a:r>
              <a:rPr sz="1600" b="0">
                <a:solidFill>
                  <a:srgbClr val="9A9A9A"/>
                </a:solidFill>
                <a:latin typeface="Inter"/>
              </a:rPr>
              <a:t>OTIF</a:t>
            </a:r>
          </a:p>
        </p:txBody>
      </p:sp>
      <p:sp>
        <p:nvSpPr>
          <p:cNvPr id="25" name="!!otif"/>
          <p:cNvSpPr txBox="1"/>
          <p:nvPr/>
        </p:nvSpPr>
        <p:spPr>
          <a:xfrm>
            <a:off x="12801600" y="4251960"/>
            <a:ext cx="2834640" cy="822960"/>
          </a:xfrm>
          <a:prstGeom prst="rect">
            <a:avLst/>
          </a:prstGeom>
          <a:noFill/>
        </p:spPr>
        <p:txBody>
          <a:bodyPr wrap="square" lIns="0" tIns="0" rIns="0" bIns="0" anchor="t">
            <a:spAutoFit/>
          </a:bodyPr>
          <a:lstStyle/>
          <a:p>
            <a:pPr algn="r"/>
            <a:r>
              <a:rPr sz="4400" b="1">
                <a:solidFill>
                  <a:srgbClr val="E8641B"/>
                </a:solidFill>
                <a:latin typeface="Inter SemiBold"/>
              </a:rPr>
              <a:t>82,4 %</a:t>
            </a:r>
          </a:p>
        </p:txBody>
      </p:sp>
      <p:cxnSp>
        <p:nvCxnSpPr>
          <p:cNvPr id="26" name="Connector 25"/>
          <p:cNvCxnSpPr/>
          <p:nvPr/>
        </p:nvCxnSpPr>
        <p:spPr>
          <a:xfrm flipV="1">
            <a:off x="8787384" y="4480560"/>
            <a:ext cx="722376" cy="100584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09760" y="5715000"/>
            <a:ext cx="6400800" cy="1828800"/>
          </a:xfrm>
          <a:prstGeom prst="roundRect">
            <a:avLst>
              <a:gd name="adj" fmla="val 8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28" name="TextBox 27"/>
          <p:cNvSpPr txBox="1"/>
          <p:nvPr/>
        </p:nvSpPr>
        <p:spPr>
          <a:xfrm>
            <a:off x="9829800" y="5989320"/>
            <a:ext cx="3291840" cy="365760"/>
          </a:xfrm>
          <a:prstGeom prst="rect">
            <a:avLst/>
          </a:prstGeom>
          <a:noFill/>
        </p:spPr>
        <p:txBody>
          <a:bodyPr wrap="square" lIns="0" tIns="0" rIns="0" bIns="0" anchor="t">
            <a:spAutoFit/>
          </a:bodyPr>
          <a:lstStyle/>
          <a:p>
            <a:pPr algn="l"/>
            <a:r>
              <a:rPr sz="1800" b="1">
                <a:solidFill>
                  <a:srgbClr val="E8641B"/>
                </a:solidFill>
                <a:latin typeface="Inter SemiBold"/>
              </a:rPr>
              <a:t>03</a:t>
            </a:r>
          </a:p>
        </p:txBody>
      </p:sp>
      <p:sp>
        <p:nvSpPr>
          <p:cNvPr id="29" name="TextBox 28"/>
          <p:cNvSpPr txBox="1"/>
          <p:nvPr/>
        </p:nvSpPr>
        <p:spPr>
          <a:xfrm>
            <a:off x="9829800" y="6400800"/>
            <a:ext cx="3291840" cy="914400"/>
          </a:xfrm>
          <a:prstGeom prst="rect">
            <a:avLst/>
          </a:prstGeom>
          <a:noFill/>
        </p:spPr>
        <p:txBody>
          <a:bodyPr wrap="square" lIns="0" tIns="0" rIns="0" bIns="0" anchor="t">
            <a:spAutoFit/>
          </a:bodyPr>
          <a:lstStyle/>
          <a:p>
            <a:pPr algn="l"/>
            <a:r>
              <a:rPr sz="2200" b="1">
                <a:solidFill>
                  <a:srgbClr val="111111"/>
                </a:solidFill>
                <a:latin typeface="Inter SemiBold"/>
              </a:rPr>
              <a:t>Costo de servir desconocido</a:t>
            </a:r>
          </a:p>
        </p:txBody>
      </p:sp>
      <p:sp>
        <p:nvSpPr>
          <p:cNvPr id="30" name="TextBox 29"/>
          <p:cNvSpPr txBox="1"/>
          <p:nvPr/>
        </p:nvSpPr>
        <p:spPr>
          <a:xfrm>
            <a:off x="13167360" y="6035040"/>
            <a:ext cx="2468880" cy="320040"/>
          </a:xfrm>
          <a:prstGeom prst="rect">
            <a:avLst/>
          </a:prstGeom>
          <a:noFill/>
        </p:spPr>
        <p:txBody>
          <a:bodyPr wrap="square" lIns="0" tIns="0" rIns="0" bIns="0" anchor="t">
            <a:spAutoFit/>
          </a:bodyPr>
          <a:lstStyle/>
          <a:p>
            <a:pPr algn="r"/>
            <a:r>
              <a:rPr sz="1600" b="0">
                <a:solidFill>
                  <a:srgbClr val="9A9A9A"/>
                </a:solidFill>
                <a:latin typeface="Inter"/>
              </a:rPr>
              <a:t>prorrateo de</a:t>
            </a:r>
          </a:p>
        </p:txBody>
      </p:sp>
      <p:sp>
        <p:nvSpPr>
          <p:cNvPr id="31" name="!!costo"/>
          <p:cNvSpPr txBox="1"/>
          <p:nvPr/>
        </p:nvSpPr>
        <p:spPr>
          <a:xfrm>
            <a:off x="12801600" y="6400800"/>
            <a:ext cx="2834640" cy="822960"/>
          </a:xfrm>
          <a:prstGeom prst="rect">
            <a:avLst/>
          </a:prstGeom>
          <a:noFill/>
        </p:spPr>
        <p:txBody>
          <a:bodyPr wrap="square" lIns="0" tIns="0" rIns="0" bIns="0" anchor="t">
            <a:spAutoFit/>
          </a:bodyPr>
          <a:lstStyle/>
          <a:p>
            <a:pPr algn="r"/>
            <a:r>
              <a:rPr sz="4400" b="1">
                <a:solidFill>
                  <a:srgbClr val="E8641B"/>
                </a:solidFill>
                <a:latin typeface="Inter SemiBold"/>
              </a:rPr>
              <a:t>2016</a:t>
            </a:r>
          </a:p>
        </p:txBody>
      </p:sp>
      <p:cxnSp>
        <p:nvCxnSpPr>
          <p:cNvPr id="32" name="Connector 31"/>
          <p:cNvCxnSpPr/>
          <p:nvPr/>
        </p:nvCxnSpPr>
        <p:spPr>
          <a:xfrm>
            <a:off x="8787384" y="5486400"/>
            <a:ext cx="722376" cy="114300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02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03838" y="1280160"/>
            <a:ext cx="6643896" cy="2579594"/>
          </a:xfrm>
          <a:prstGeom prst="rect">
            <a:avLst/>
          </a:prstGeom>
        </p:spPr>
        <p:txBody>
          <a:bodyPr lIns="0" tIns="0" rIns="0" bIns="0" rtlCol="0" anchor="t">
            <a:spAutoFit/>
          </a:bodyPr>
          <a:lstStyle/>
          <a:p>
            <a:pPr algn="l">
              <a:lnSpc>
                <a:spcPts val="9625"/>
              </a:lnSpc>
            </a:pPr>
            <a:r>
              <a:rPr lang="en-US" sz="7333" b="1">
                <a:solidFill>
                  <a:srgbClr val="111111"/>
                </a:solidFill>
                <a:latin typeface="Inter SemiBold"/>
                <a:ea typeface="Inter SemiBold"/>
                <a:cs typeface="Inter SemiBold"/>
                <a:sym typeface="Inter SemiBold"/>
              </a:rPr>
              <a:t>Datos Clave</a:t>
            </a:r>
          </a:p>
        </p:txBody>
      </p:sp>
      <p:sp>
        <p:nvSpPr>
          <p:cNvPr id="11" name="Freeform 1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2" name="TextBox 11"/>
          <p:cNvSpPr txBox="1"/>
          <p:nvPr/>
        </p:nvSpPr>
        <p:spPr>
          <a:xfrm>
            <a:off x="1499616" y="3931920"/>
            <a:ext cx="5852160" cy="731520"/>
          </a:xfrm>
          <a:prstGeom prst="rect">
            <a:avLst/>
          </a:prstGeom>
          <a:noFill/>
        </p:spPr>
        <p:txBody>
          <a:bodyPr wrap="square" lIns="0" tIns="0" rIns="0" bIns="0" anchor="t">
            <a:spAutoFit/>
          </a:bodyPr>
          <a:lstStyle/>
          <a:p>
            <a:pPr algn="l"/>
            <a:r>
              <a:rPr sz="3600" b="1">
                <a:solidFill>
                  <a:srgbClr val="606060"/>
                </a:solidFill>
                <a:latin typeface="Inter SemiBold"/>
              </a:rPr>
              <a:t>Hoy → meta</a:t>
            </a:r>
          </a:p>
        </p:txBody>
      </p:sp>
      <p:sp>
        <p:nvSpPr>
          <p:cNvPr id="13" name="Rounded Rectangle 12"/>
          <p:cNvSpPr/>
          <p:nvPr/>
        </p:nvSpPr>
        <p:spPr>
          <a:xfrm>
            <a:off x="7680960" y="1097280"/>
            <a:ext cx="3017520" cy="3749039"/>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4" name="TextBox 13"/>
          <p:cNvSpPr txBox="1"/>
          <p:nvPr/>
        </p:nvSpPr>
        <p:spPr>
          <a:xfrm>
            <a:off x="7955280" y="1371600"/>
            <a:ext cx="2468880" cy="822960"/>
          </a:xfrm>
          <a:prstGeom prst="rect">
            <a:avLst/>
          </a:prstGeom>
          <a:noFill/>
        </p:spPr>
        <p:txBody>
          <a:bodyPr wrap="square" lIns="0" tIns="0" rIns="0" bIns="0" anchor="t">
            <a:spAutoFit/>
          </a:bodyPr>
          <a:lstStyle/>
          <a:p>
            <a:pPr algn="l"/>
            <a:r>
              <a:rPr sz="1900" b="1">
                <a:solidFill>
                  <a:srgbClr val="3C3C3C"/>
                </a:solidFill>
                <a:latin typeface="Inter SemiBold"/>
              </a:rPr>
              <a:t>Retiro sanitario</a:t>
            </a:r>
          </a:p>
        </p:txBody>
      </p:sp>
      <p:sp>
        <p:nvSpPr>
          <p:cNvPr id="15" name="TextBox 14"/>
          <p:cNvSpPr txBox="1"/>
          <p:nvPr/>
        </p:nvSpPr>
        <p:spPr>
          <a:xfrm>
            <a:off x="7955280" y="2286000"/>
            <a:ext cx="2468880" cy="274320"/>
          </a:xfrm>
          <a:prstGeom prst="rect">
            <a:avLst/>
          </a:prstGeom>
          <a:noFill/>
        </p:spPr>
        <p:txBody>
          <a:bodyPr wrap="square" lIns="0" tIns="0" rIns="0" bIns="0" anchor="t">
            <a:spAutoFit/>
          </a:bodyPr>
          <a:lstStyle/>
          <a:p>
            <a:pPr algn="l"/>
            <a:r>
              <a:rPr sz="1400" b="1">
                <a:solidFill>
                  <a:srgbClr val="9A9A9A"/>
                </a:solidFill>
                <a:latin typeface="Inter SemiBold"/>
              </a:rPr>
              <a:t>HOY</a:t>
            </a:r>
          </a:p>
        </p:txBody>
      </p:sp>
      <p:sp>
        <p:nvSpPr>
          <p:cNvPr id="16" name="!!reloj"/>
          <p:cNvSpPr txBox="1"/>
          <p:nvPr/>
        </p:nvSpPr>
        <p:spPr>
          <a:xfrm>
            <a:off x="7955280" y="2578608"/>
            <a:ext cx="2468880" cy="548640"/>
          </a:xfrm>
          <a:prstGeom prst="rect">
            <a:avLst/>
          </a:prstGeom>
          <a:noFill/>
        </p:spPr>
        <p:txBody>
          <a:bodyPr wrap="square" lIns="0" tIns="0" rIns="0" bIns="0" anchor="t">
            <a:spAutoFit/>
          </a:bodyPr>
          <a:lstStyle/>
          <a:p>
            <a:pPr algn="l"/>
            <a:r>
              <a:rPr sz="3000" b="0">
                <a:solidFill>
                  <a:srgbClr val="606060"/>
                </a:solidFill>
                <a:latin typeface="Inter"/>
              </a:rPr>
              <a:t>9 días</a:t>
            </a:r>
          </a:p>
        </p:txBody>
      </p:sp>
      <p:cxnSp>
        <p:nvCxnSpPr>
          <p:cNvPr id="17" name="Connector 16"/>
          <p:cNvCxnSpPr/>
          <p:nvPr/>
        </p:nvCxnSpPr>
        <p:spPr>
          <a:xfrm>
            <a:off x="7955280" y="3337560"/>
            <a:ext cx="2468880" cy="0"/>
          </a:xfrm>
          <a:prstGeom prst="line">
            <a:avLst/>
          </a:prstGeom>
          <a:ln w="12700">
            <a:solidFill>
              <a:srgbClr val="C7C7C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955280" y="3493008"/>
            <a:ext cx="2468880" cy="274320"/>
          </a:xfrm>
          <a:prstGeom prst="rect">
            <a:avLst/>
          </a:prstGeom>
          <a:noFill/>
        </p:spPr>
        <p:txBody>
          <a:bodyPr wrap="square" lIns="0" tIns="0" rIns="0" bIns="0" anchor="t">
            <a:spAutoFit/>
          </a:bodyPr>
          <a:lstStyle/>
          <a:p>
            <a:pPr algn="l"/>
            <a:r>
              <a:rPr sz="1400" b="1">
                <a:solidFill>
                  <a:srgbClr val="E8641B"/>
                </a:solidFill>
                <a:latin typeface="Inter SemiBold"/>
              </a:rPr>
              <a:t>META</a:t>
            </a:r>
          </a:p>
        </p:txBody>
      </p:sp>
      <p:sp>
        <p:nvSpPr>
          <p:cNvPr id="19" name="TextBox 18"/>
          <p:cNvSpPr txBox="1"/>
          <p:nvPr/>
        </p:nvSpPr>
        <p:spPr>
          <a:xfrm>
            <a:off x="7955280" y="3794760"/>
            <a:ext cx="2468880" cy="731520"/>
          </a:xfrm>
          <a:prstGeom prst="rect">
            <a:avLst/>
          </a:prstGeom>
          <a:noFill/>
        </p:spPr>
        <p:txBody>
          <a:bodyPr wrap="square" lIns="0" tIns="0" rIns="0" bIns="0" anchor="t">
            <a:spAutoFit/>
          </a:bodyPr>
          <a:lstStyle/>
          <a:p>
            <a:pPr algn="l"/>
            <a:r>
              <a:rPr sz="4200" b="1">
                <a:solidFill>
                  <a:srgbClr val="E8641B"/>
                </a:solidFill>
                <a:latin typeface="Inter SemiBold"/>
              </a:rPr>
              <a:t>&lt; 2 h</a:t>
            </a:r>
          </a:p>
        </p:txBody>
      </p:sp>
      <p:sp>
        <p:nvSpPr>
          <p:cNvPr id="20" name="Rounded Rectangle 19"/>
          <p:cNvSpPr/>
          <p:nvPr/>
        </p:nvSpPr>
        <p:spPr>
          <a:xfrm>
            <a:off x="10972800" y="1097280"/>
            <a:ext cx="3017520" cy="3749039"/>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21" name="TextBox 20"/>
          <p:cNvSpPr txBox="1"/>
          <p:nvPr/>
        </p:nvSpPr>
        <p:spPr>
          <a:xfrm>
            <a:off x="11247120" y="1371600"/>
            <a:ext cx="2468880" cy="822960"/>
          </a:xfrm>
          <a:prstGeom prst="rect">
            <a:avLst/>
          </a:prstGeom>
          <a:noFill/>
        </p:spPr>
        <p:txBody>
          <a:bodyPr wrap="square" lIns="0" tIns="0" rIns="0" bIns="0" anchor="t">
            <a:spAutoFit/>
          </a:bodyPr>
          <a:lstStyle/>
          <a:p>
            <a:pPr algn="l"/>
            <a:r>
              <a:rPr sz="1900" b="1">
                <a:solidFill>
                  <a:srgbClr val="3C3C3C"/>
                </a:solidFill>
                <a:latin typeface="Inter SemiBold"/>
              </a:rPr>
              <a:t>OTIF</a:t>
            </a:r>
          </a:p>
        </p:txBody>
      </p:sp>
      <p:sp>
        <p:nvSpPr>
          <p:cNvPr id="22" name="TextBox 21"/>
          <p:cNvSpPr txBox="1"/>
          <p:nvPr/>
        </p:nvSpPr>
        <p:spPr>
          <a:xfrm>
            <a:off x="11247120" y="2286000"/>
            <a:ext cx="2468880" cy="274320"/>
          </a:xfrm>
          <a:prstGeom prst="rect">
            <a:avLst/>
          </a:prstGeom>
          <a:noFill/>
        </p:spPr>
        <p:txBody>
          <a:bodyPr wrap="square" lIns="0" tIns="0" rIns="0" bIns="0" anchor="t">
            <a:spAutoFit/>
          </a:bodyPr>
          <a:lstStyle/>
          <a:p>
            <a:pPr algn="l"/>
            <a:r>
              <a:rPr sz="1400" b="1">
                <a:solidFill>
                  <a:srgbClr val="9A9A9A"/>
                </a:solidFill>
                <a:latin typeface="Inter SemiBold"/>
              </a:rPr>
              <a:t>HOY</a:t>
            </a:r>
          </a:p>
        </p:txBody>
      </p:sp>
      <p:sp>
        <p:nvSpPr>
          <p:cNvPr id="23" name="!!otif"/>
          <p:cNvSpPr txBox="1"/>
          <p:nvPr/>
        </p:nvSpPr>
        <p:spPr>
          <a:xfrm>
            <a:off x="11247120" y="2578608"/>
            <a:ext cx="2468880" cy="548640"/>
          </a:xfrm>
          <a:prstGeom prst="rect">
            <a:avLst/>
          </a:prstGeom>
          <a:noFill/>
        </p:spPr>
        <p:txBody>
          <a:bodyPr wrap="square" lIns="0" tIns="0" rIns="0" bIns="0" anchor="t">
            <a:spAutoFit/>
          </a:bodyPr>
          <a:lstStyle/>
          <a:p>
            <a:pPr algn="l"/>
            <a:r>
              <a:rPr sz="3000" b="0">
                <a:solidFill>
                  <a:srgbClr val="606060"/>
                </a:solidFill>
                <a:latin typeface="Inter"/>
              </a:rPr>
              <a:t>82,4 %</a:t>
            </a:r>
          </a:p>
        </p:txBody>
      </p:sp>
      <p:cxnSp>
        <p:nvCxnSpPr>
          <p:cNvPr id="24" name="Connector 23"/>
          <p:cNvCxnSpPr/>
          <p:nvPr/>
        </p:nvCxnSpPr>
        <p:spPr>
          <a:xfrm>
            <a:off x="11247120" y="3337560"/>
            <a:ext cx="2468880" cy="0"/>
          </a:xfrm>
          <a:prstGeom prst="line">
            <a:avLst/>
          </a:prstGeom>
          <a:ln w="12700">
            <a:solidFill>
              <a:srgbClr val="C7C7C7"/>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247120" y="3493008"/>
            <a:ext cx="2468880" cy="274320"/>
          </a:xfrm>
          <a:prstGeom prst="rect">
            <a:avLst/>
          </a:prstGeom>
          <a:noFill/>
        </p:spPr>
        <p:txBody>
          <a:bodyPr wrap="square" lIns="0" tIns="0" rIns="0" bIns="0" anchor="t">
            <a:spAutoFit/>
          </a:bodyPr>
          <a:lstStyle/>
          <a:p>
            <a:pPr algn="l"/>
            <a:r>
              <a:rPr sz="1400" b="1">
                <a:solidFill>
                  <a:srgbClr val="E8641B"/>
                </a:solidFill>
                <a:latin typeface="Inter SemiBold"/>
              </a:rPr>
              <a:t>META</a:t>
            </a:r>
          </a:p>
        </p:txBody>
      </p:sp>
      <p:sp>
        <p:nvSpPr>
          <p:cNvPr id="26" name="TextBox 25"/>
          <p:cNvSpPr txBox="1"/>
          <p:nvPr/>
        </p:nvSpPr>
        <p:spPr>
          <a:xfrm>
            <a:off x="11247120" y="3794760"/>
            <a:ext cx="2468880" cy="731520"/>
          </a:xfrm>
          <a:prstGeom prst="rect">
            <a:avLst/>
          </a:prstGeom>
          <a:noFill/>
        </p:spPr>
        <p:txBody>
          <a:bodyPr wrap="square" lIns="0" tIns="0" rIns="0" bIns="0" anchor="t">
            <a:spAutoFit/>
          </a:bodyPr>
          <a:lstStyle/>
          <a:p>
            <a:pPr algn="l"/>
            <a:r>
              <a:rPr sz="4200" b="1">
                <a:solidFill>
                  <a:srgbClr val="E8641B"/>
                </a:solidFill>
                <a:latin typeface="Inter SemiBold"/>
              </a:rPr>
              <a:t>&gt; 95 %</a:t>
            </a:r>
          </a:p>
        </p:txBody>
      </p:sp>
      <p:sp>
        <p:nvSpPr>
          <p:cNvPr id="27" name="Rounded Rectangle 26"/>
          <p:cNvSpPr/>
          <p:nvPr/>
        </p:nvSpPr>
        <p:spPr>
          <a:xfrm>
            <a:off x="14264640" y="1097280"/>
            <a:ext cx="3017520" cy="3749039"/>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28" name="TextBox 27"/>
          <p:cNvSpPr txBox="1"/>
          <p:nvPr/>
        </p:nvSpPr>
        <p:spPr>
          <a:xfrm>
            <a:off x="14538960" y="1371600"/>
            <a:ext cx="2468880" cy="292388"/>
          </a:xfrm>
          <a:prstGeom prst="rect">
            <a:avLst/>
          </a:prstGeom>
          <a:noFill/>
        </p:spPr>
        <p:txBody>
          <a:bodyPr wrap="square" lIns="0" tIns="0" rIns="0" bIns="0" anchor="t">
            <a:spAutoFit/>
          </a:bodyPr>
          <a:lstStyle/>
          <a:p>
            <a:pPr algn="l"/>
            <a:r>
              <a:rPr lang="es-MX" sz="1900" b="1">
                <a:solidFill>
                  <a:srgbClr val="3C3C3C"/>
                </a:solidFill>
                <a:latin typeface="Inter SemiBold"/>
              </a:rPr>
              <a:t>Sin lote (prod. retirado)</a:t>
            </a:r>
            <a:endParaRPr sz="1900" b="1">
              <a:solidFill>
                <a:srgbClr val="3C3C3C"/>
              </a:solidFill>
              <a:latin typeface="Inter SemiBold"/>
            </a:endParaRPr>
          </a:p>
        </p:txBody>
      </p:sp>
      <p:sp>
        <p:nvSpPr>
          <p:cNvPr id="29" name="TextBox 28"/>
          <p:cNvSpPr txBox="1"/>
          <p:nvPr/>
        </p:nvSpPr>
        <p:spPr>
          <a:xfrm>
            <a:off x="14538960" y="2286000"/>
            <a:ext cx="2468880" cy="274320"/>
          </a:xfrm>
          <a:prstGeom prst="rect">
            <a:avLst/>
          </a:prstGeom>
          <a:noFill/>
        </p:spPr>
        <p:txBody>
          <a:bodyPr wrap="square" lIns="0" tIns="0" rIns="0" bIns="0" anchor="t">
            <a:spAutoFit/>
          </a:bodyPr>
          <a:lstStyle/>
          <a:p>
            <a:pPr algn="l"/>
            <a:r>
              <a:rPr sz="1400" b="1">
                <a:solidFill>
                  <a:srgbClr val="9A9A9A"/>
                </a:solidFill>
                <a:latin typeface="Inter SemiBold"/>
              </a:rPr>
              <a:t>HOY</a:t>
            </a:r>
          </a:p>
        </p:txBody>
      </p:sp>
      <p:sp>
        <p:nvSpPr>
          <p:cNvPr id="30" name="TextBox 29"/>
          <p:cNvSpPr txBox="1"/>
          <p:nvPr/>
        </p:nvSpPr>
        <p:spPr>
          <a:xfrm>
            <a:off x="14538960" y="2578608"/>
            <a:ext cx="2468880" cy="548640"/>
          </a:xfrm>
          <a:prstGeom prst="rect">
            <a:avLst/>
          </a:prstGeom>
          <a:noFill/>
        </p:spPr>
        <p:txBody>
          <a:bodyPr wrap="square" lIns="0" tIns="0" rIns="0" bIns="0" anchor="t">
            <a:spAutoFit/>
          </a:bodyPr>
          <a:lstStyle/>
          <a:p>
            <a:pPr algn="l"/>
            <a:r>
              <a:rPr sz="3000" b="0">
                <a:solidFill>
                  <a:srgbClr val="606060"/>
                </a:solidFill>
                <a:latin typeface="Inter"/>
              </a:rPr>
              <a:t>41 %</a:t>
            </a:r>
          </a:p>
        </p:txBody>
      </p:sp>
      <p:cxnSp>
        <p:nvCxnSpPr>
          <p:cNvPr id="31" name="Connector 30"/>
          <p:cNvCxnSpPr/>
          <p:nvPr/>
        </p:nvCxnSpPr>
        <p:spPr>
          <a:xfrm>
            <a:off x="14538960" y="3337560"/>
            <a:ext cx="2468880" cy="0"/>
          </a:xfrm>
          <a:prstGeom prst="line">
            <a:avLst/>
          </a:prstGeom>
          <a:ln w="12700">
            <a:solidFill>
              <a:srgbClr val="C7C7C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4538960" y="3493008"/>
            <a:ext cx="2468880" cy="274320"/>
          </a:xfrm>
          <a:prstGeom prst="rect">
            <a:avLst/>
          </a:prstGeom>
          <a:noFill/>
        </p:spPr>
        <p:txBody>
          <a:bodyPr wrap="square" lIns="0" tIns="0" rIns="0" bIns="0" anchor="t">
            <a:spAutoFit/>
          </a:bodyPr>
          <a:lstStyle/>
          <a:p>
            <a:pPr algn="l"/>
            <a:r>
              <a:rPr sz="1400" b="1">
                <a:solidFill>
                  <a:srgbClr val="E8641B"/>
                </a:solidFill>
                <a:latin typeface="Inter SemiBold"/>
              </a:rPr>
              <a:t>META</a:t>
            </a:r>
          </a:p>
        </p:txBody>
      </p:sp>
      <p:sp>
        <p:nvSpPr>
          <p:cNvPr id="33" name="TextBox 32"/>
          <p:cNvSpPr txBox="1"/>
          <p:nvPr/>
        </p:nvSpPr>
        <p:spPr>
          <a:xfrm>
            <a:off x="14538960" y="3794760"/>
            <a:ext cx="2468880" cy="731520"/>
          </a:xfrm>
          <a:prstGeom prst="rect">
            <a:avLst/>
          </a:prstGeom>
          <a:noFill/>
        </p:spPr>
        <p:txBody>
          <a:bodyPr wrap="square" lIns="0" tIns="0" rIns="0" bIns="0" anchor="t">
            <a:spAutoFit/>
          </a:bodyPr>
          <a:lstStyle/>
          <a:p>
            <a:pPr algn="l"/>
            <a:r>
              <a:rPr sz="4200" b="1">
                <a:solidFill>
                  <a:srgbClr val="E8641B"/>
                </a:solidFill>
                <a:latin typeface="Inter SemiBold"/>
              </a:rPr>
              <a:t>0 %</a:t>
            </a:r>
          </a:p>
        </p:txBody>
      </p:sp>
      <p:sp>
        <p:nvSpPr>
          <p:cNvPr id="34" name="Rounded Rectangle 33"/>
          <p:cNvSpPr/>
          <p:nvPr/>
        </p:nvSpPr>
        <p:spPr>
          <a:xfrm>
            <a:off x="7680960" y="5120640"/>
            <a:ext cx="3017520" cy="3749039"/>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5" name="TextBox 34"/>
          <p:cNvSpPr txBox="1"/>
          <p:nvPr/>
        </p:nvSpPr>
        <p:spPr>
          <a:xfrm>
            <a:off x="7955280" y="5394960"/>
            <a:ext cx="2468880" cy="822960"/>
          </a:xfrm>
          <a:prstGeom prst="rect">
            <a:avLst/>
          </a:prstGeom>
          <a:noFill/>
        </p:spPr>
        <p:txBody>
          <a:bodyPr wrap="square" lIns="0" tIns="0" rIns="0" bIns="0" anchor="t">
            <a:spAutoFit/>
          </a:bodyPr>
          <a:lstStyle/>
          <a:p>
            <a:pPr algn="l"/>
            <a:r>
              <a:rPr sz="1900" b="1">
                <a:solidFill>
                  <a:srgbClr val="3C3C3C"/>
                </a:solidFill>
                <a:latin typeface="Inter SemiBold"/>
              </a:rPr>
              <a:t>Reentregas</a:t>
            </a:r>
          </a:p>
        </p:txBody>
      </p:sp>
      <p:sp>
        <p:nvSpPr>
          <p:cNvPr id="36" name="TextBox 35"/>
          <p:cNvSpPr txBox="1"/>
          <p:nvPr/>
        </p:nvSpPr>
        <p:spPr>
          <a:xfrm>
            <a:off x="7955280" y="6309360"/>
            <a:ext cx="2468880" cy="274320"/>
          </a:xfrm>
          <a:prstGeom prst="rect">
            <a:avLst/>
          </a:prstGeom>
          <a:noFill/>
        </p:spPr>
        <p:txBody>
          <a:bodyPr wrap="square" lIns="0" tIns="0" rIns="0" bIns="0" anchor="t">
            <a:spAutoFit/>
          </a:bodyPr>
          <a:lstStyle/>
          <a:p>
            <a:pPr algn="l"/>
            <a:r>
              <a:rPr sz="1400" b="1">
                <a:solidFill>
                  <a:srgbClr val="9A9A9A"/>
                </a:solidFill>
                <a:latin typeface="Inter SemiBold"/>
              </a:rPr>
              <a:t>HOY</a:t>
            </a:r>
          </a:p>
        </p:txBody>
      </p:sp>
      <p:sp>
        <p:nvSpPr>
          <p:cNvPr id="37" name="TextBox 36"/>
          <p:cNvSpPr txBox="1"/>
          <p:nvPr/>
        </p:nvSpPr>
        <p:spPr>
          <a:xfrm>
            <a:off x="7955280" y="6601968"/>
            <a:ext cx="2468880" cy="548640"/>
          </a:xfrm>
          <a:prstGeom prst="rect">
            <a:avLst/>
          </a:prstGeom>
          <a:noFill/>
        </p:spPr>
        <p:txBody>
          <a:bodyPr wrap="square" lIns="0" tIns="0" rIns="0" bIns="0" anchor="t">
            <a:spAutoFit/>
          </a:bodyPr>
          <a:lstStyle/>
          <a:p>
            <a:pPr algn="l"/>
            <a:r>
              <a:rPr sz="3000" b="0">
                <a:solidFill>
                  <a:srgbClr val="606060"/>
                </a:solidFill>
                <a:latin typeface="Inter"/>
              </a:rPr>
              <a:t>4,2 %</a:t>
            </a:r>
          </a:p>
        </p:txBody>
      </p:sp>
      <p:cxnSp>
        <p:nvCxnSpPr>
          <p:cNvPr id="38" name="Connector 37"/>
          <p:cNvCxnSpPr/>
          <p:nvPr/>
        </p:nvCxnSpPr>
        <p:spPr>
          <a:xfrm>
            <a:off x="7955280" y="7360920"/>
            <a:ext cx="2468880" cy="0"/>
          </a:xfrm>
          <a:prstGeom prst="line">
            <a:avLst/>
          </a:prstGeom>
          <a:ln w="12700">
            <a:solidFill>
              <a:srgbClr val="C7C7C7"/>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955280" y="7516368"/>
            <a:ext cx="2468880" cy="274320"/>
          </a:xfrm>
          <a:prstGeom prst="rect">
            <a:avLst/>
          </a:prstGeom>
          <a:noFill/>
        </p:spPr>
        <p:txBody>
          <a:bodyPr wrap="square" lIns="0" tIns="0" rIns="0" bIns="0" anchor="t">
            <a:spAutoFit/>
          </a:bodyPr>
          <a:lstStyle/>
          <a:p>
            <a:pPr algn="l"/>
            <a:r>
              <a:rPr sz="1400" b="1">
                <a:solidFill>
                  <a:srgbClr val="E8641B"/>
                </a:solidFill>
                <a:latin typeface="Inter SemiBold"/>
              </a:rPr>
              <a:t>META</a:t>
            </a:r>
          </a:p>
        </p:txBody>
      </p:sp>
      <p:sp>
        <p:nvSpPr>
          <p:cNvPr id="40" name="TextBox 39"/>
          <p:cNvSpPr txBox="1"/>
          <p:nvPr/>
        </p:nvSpPr>
        <p:spPr>
          <a:xfrm>
            <a:off x="7955280" y="7818120"/>
            <a:ext cx="2468880" cy="731520"/>
          </a:xfrm>
          <a:prstGeom prst="rect">
            <a:avLst/>
          </a:prstGeom>
          <a:noFill/>
        </p:spPr>
        <p:txBody>
          <a:bodyPr wrap="square" lIns="0" tIns="0" rIns="0" bIns="0" anchor="t">
            <a:spAutoFit/>
          </a:bodyPr>
          <a:lstStyle/>
          <a:p>
            <a:pPr algn="l"/>
            <a:r>
              <a:rPr sz="4200" b="1">
                <a:solidFill>
                  <a:srgbClr val="E8641B"/>
                </a:solidFill>
                <a:latin typeface="Inter SemiBold"/>
              </a:rPr>
              <a:t>&lt; 1 %</a:t>
            </a:r>
          </a:p>
        </p:txBody>
      </p:sp>
      <p:sp>
        <p:nvSpPr>
          <p:cNvPr id="41" name="Rounded Rectangle 40"/>
          <p:cNvSpPr/>
          <p:nvPr/>
        </p:nvSpPr>
        <p:spPr>
          <a:xfrm>
            <a:off x="10972800" y="5120640"/>
            <a:ext cx="3017520" cy="3749039"/>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42" name="TextBox 41"/>
          <p:cNvSpPr txBox="1"/>
          <p:nvPr/>
        </p:nvSpPr>
        <p:spPr>
          <a:xfrm>
            <a:off x="11247120" y="5394960"/>
            <a:ext cx="2468880" cy="822960"/>
          </a:xfrm>
          <a:prstGeom prst="rect">
            <a:avLst/>
          </a:prstGeom>
          <a:noFill/>
        </p:spPr>
        <p:txBody>
          <a:bodyPr wrap="square" lIns="0" tIns="0" rIns="0" bIns="0" anchor="t">
            <a:spAutoFit/>
          </a:bodyPr>
          <a:lstStyle/>
          <a:p>
            <a:pPr algn="l"/>
            <a:r>
              <a:rPr sz="1900" b="1">
                <a:solidFill>
                  <a:srgbClr val="3C3C3C"/>
                </a:solidFill>
                <a:latin typeface="Inter SemiBold"/>
              </a:rPr>
              <a:t>Merma por vencimiento</a:t>
            </a:r>
          </a:p>
        </p:txBody>
      </p:sp>
      <p:sp>
        <p:nvSpPr>
          <p:cNvPr id="43" name="TextBox 42"/>
          <p:cNvSpPr txBox="1"/>
          <p:nvPr/>
        </p:nvSpPr>
        <p:spPr>
          <a:xfrm>
            <a:off x="11247120" y="6309360"/>
            <a:ext cx="2468880" cy="274320"/>
          </a:xfrm>
          <a:prstGeom prst="rect">
            <a:avLst/>
          </a:prstGeom>
          <a:noFill/>
        </p:spPr>
        <p:txBody>
          <a:bodyPr wrap="square" lIns="0" tIns="0" rIns="0" bIns="0" anchor="t">
            <a:spAutoFit/>
          </a:bodyPr>
          <a:lstStyle/>
          <a:p>
            <a:pPr algn="l"/>
            <a:r>
              <a:rPr sz="1400" b="1">
                <a:solidFill>
                  <a:srgbClr val="9A9A9A"/>
                </a:solidFill>
                <a:latin typeface="Inter SemiBold"/>
              </a:rPr>
              <a:t>HOY</a:t>
            </a:r>
          </a:p>
        </p:txBody>
      </p:sp>
      <p:sp>
        <p:nvSpPr>
          <p:cNvPr id="44" name="TextBox 43"/>
          <p:cNvSpPr txBox="1"/>
          <p:nvPr/>
        </p:nvSpPr>
        <p:spPr>
          <a:xfrm>
            <a:off x="11247120" y="6601968"/>
            <a:ext cx="2468880" cy="548640"/>
          </a:xfrm>
          <a:prstGeom prst="rect">
            <a:avLst/>
          </a:prstGeom>
          <a:noFill/>
        </p:spPr>
        <p:txBody>
          <a:bodyPr wrap="square" lIns="0" tIns="0" rIns="0" bIns="0" anchor="t">
            <a:spAutoFit/>
          </a:bodyPr>
          <a:lstStyle/>
          <a:p>
            <a:pPr algn="l"/>
            <a:r>
              <a:rPr sz="3000" b="0">
                <a:solidFill>
                  <a:srgbClr val="606060"/>
                </a:solidFill>
                <a:latin typeface="Inter"/>
              </a:rPr>
              <a:t>1,7 %</a:t>
            </a:r>
          </a:p>
        </p:txBody>
      </p:sp>
      <p:cxnSp>
        <p:nvCxnSpPr>
          <p:cNvPr id="45" name="Connector 44"/>
          <p:cNvCxnSpPr/>
          <p:nvPr/>
        </p:nvCxnSpPr>
        <p:spPr>
          <a:xfrm>
            <a:off x="11247120" y="7360920"/>
            <a:ext cx="2468880" cy="0"/>
          </a:xfrm>
          <a:prstGeom prst="line">
            <a:avLst/>
          </a:prstGeom>
          <a:ln w="12700">
            <a:solidFill>
              <a:srgbClr val="C7C7C7"/>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247120" y="7516368"/>
            <a:ext cx="2468880" cy="274320"/>
          </a:xfrm>
          <a:prstGeom prst="rect">
            <a:avLst/>
          </a:prstGeom>
          <a:noFill/>
        </p:spPr>
        <p:txBody>
          <a:bodyPr wrap="square" lIns="0" tIns="0" rIns="0" bIns="0" anchor="t">
            <a:spAutoFit/>
          </a:bodyPr>
          <a:lstStyle/>
          <a:p>
            <a:pPr algn="l"/>
            <a:r>
              <a:rPr sz="1400" b="1">
                <a:solidFill>
                  <a:srgbClr val="E8641B"/>
                </a:solidFill>
                <a:latin typeface="Inter SemiBold"/>
              </a:rPr>
              <a:t>META</a:t>
            </a:r>
          </a:p>
        </p:txBody>
      </p:sp>
      <p:sp>
        <p:nvSpPr>
          <p:cNvPr id="47" name="TextBox 46"/>
          <p:cNvSpPr txBox="1"/>
          <p:nvPr/>
        </p:nvSpPr>
        <p:spPr>
          <a:xfrm>
            <a:off x="11247120" y="7818120"/>
            <a:ext cx="2468880" cy="731520"/>
          </a:xfrm>
          <a:prstGeom prst="rect">
            <a:avLst/>
          </a:prstGeom>
          <a:noFill/>
        </p:spPr>
        <p:txBody>
          <a:bodyPr wrap="square" lIns="0" tIns="0" rIns="0" bIns="0" anchor="t">
            <a:spAutoFit/>
          </a:bodyPr>
          <a:lstStyle/>
          <a:p>
            <a:pPr algn="l"/>
            <a:r>
              <a:rPr sz="3000" b="1">
                <a:solidFill>
                  <a:srgbClr val="E8641B"/>
                </a:solidFill>
                <a:latin typeface="Inter SemiBold"/>
              </a:rPr>
              <a:t>≤ 1,0 %</a:t>
            </a:r>
          </a:p>
        </p:txBody>
      </p:sp>
      <p:sp>
        <p:nvSpPr>
          <p:cNvPr id="48" name="Rounded Rectangle 47"/>
          <p:cNvSpPr/>
          <p:nvPr/>
        </p:nvSpPr>
        <p:spPr>
          <a:xfrm>
            <a:off x="14264640" y="5120640"/>
            <a:ext cx="3017520" cy="3749039"/>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49" name="TextBox 48"/>
          <p:cNvSpPr txBox="1"/>
          <p:nvPr/>
        </p:nvSpPr>
        <p:spPr>
          <a:xfrm>
            <a:off x="14538960" y="5394960"/>
            <a:ext cx="2468880" cy="822960"/>
          </a:xfrm>
          <a:prstGeom prst="rect">
            <a:avLst/>
          </a:prstGeom>
          <a:noFill/>
        </p:spPr>
        <p:txBody>
          <a:bodyPr wrap="square" lIns="0" tIns="0" rIns="0" bIns="0" anchor="t">
            <a:spAutoFit/>
          </a:bodyPr>
          <a:lstStyle/>
          <a:p>
            <a:pPr algn="l"/>
            <a:r>
              <a:rPr sz="1900" b="1">
                <a:solidFill>
                  <a:srgbClr val="3C3C3C"/>
                </a:solidFill>
                <a:latin typeface="Inter SemiBold"/>
              </a:rPr>
              <a:t>Diferencias de rendición</a:t>
            </a:r>
          </a:p>
        </p:txBody>
      </p:sp>
      <p:sp>
        <p:nvSpPr>
          <p:cNvPr id="50" name="TextBox 49"/>
          <p:cNvSpPr txBox="1"/>
          <p:nvPr/>
        </p:nvSpPr>
        <p:spPr>
          <a:xfrm>
            <a:off x="14538960" y="6309360"/>
            <a:ext cx="2468880" cy="274320"/>
          </a:xfrm>
          <a:prstGeom prst="rect">
            <a:avLst/>
          </a:prstGeom>
          <a:noFill/>
        </p:spPr>
        <p:txBody>
          <a:bodyPr wrap="square" lIns="0" tIns="0" rIns="0" bIns="0" anchor="t">
            <a:spAutoFit/>
          </a:bodyPr>
          <a:lstStyle/>
          <a:p>
            <a:pPr algn="l"/>
            <a:r>
              <a:rPr sz="1400" b="1">
                <a:solidFill>
                  <a:srgbClr val="9A9A9A"/>
                </a:solidFill>
                <a:latin typeface="Inter SemiBold"/>
              </a:rPr>
              <a:t>HOY</a:t>
            </a:r>
          </a:p>
        </p:txBody>
      </p:sp>
      <p:sp>
        <p:nvSpPr>
          <p:cNvPr id="51" name="TextBox 50"/>
          <p:cNvSpPr txBox="1"/>
          <p:nvPr/>
        </p:nvSpPr>
        <p:spPr>
          <a:xfrm>
            <a:off x="14538960" y="6601968"/>
            <a:ext cx="2468880" cy="548640"/>
          </a:xfrm>
          <a:prstGeom prst="rect">
            <a:avLst/>
          </a:prstGeom>
          <a:noFill/>
        </p:spPr>
        <p:txBody>
          <a:bodyPr wrap="square" lIns="0" tIns="0" rIns="0" bIns="0" anchor="t">
            <a:spAutoFit/>
          </a:bodyPr>
          <a:lstStyle/>
          <a:p>
            <a:pPr algn="l"/>
            <a:r>
              <a:rPr sz="2400" b="0">
                <a:solidFill>
                  <a:srgbClr val="606060"/>
                </a:solidFill>
                <a:latin typeface="Inter"/>
              </a:rPr>
              <a:t>$4,2 M/mes</a:t>
            </a:r>
          </a:p>
        </p:txBody>
      </p:sp>
      <p:cxnSp>
        <p:nvCxnSpPr>
          <p:cNvPr id="52" name="Connector 51"/>
          <p:cNvCxnSpPr/>
          <p:nvPr/>
        </p:nvCxnSpPr>
        <p:spPr>
          <a:xfrm>
            <a:off x="14538960" y="7360920"/>
            <a:ext cx="2468880" cy="0"/>
          </a:xfrm>
          <a:prstGeom prst="line">
            <a:avLst/>
          </a:prstGeom>
          <a:ln w="12700">
            <a:solidFill>
              <a:srgbClr val="C7C7C7"/>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4538960" y="7516368"/>
            <a:ext cx="2468880" cy="274320"/>
          </a:xfrm>
          <a:prstGeom prst="rect">
            <a:avLst/>
          </a:prstGeom>
          <a:noFill/>
        </p:spPr>
        <p:txBody>
          <a:bodyPr wrap="square" lIns="0" tIns="0" rIns="0" bIns="0" anchor="t">
            <a:spAutoFit/>
          </a:bodyPr>
          <a:lstStyle/>
          <a:p>
            <a:pPr algn="l"/>
            <a:r>
              <a:rPr sz="1400" b="1">
                <a:solidFill>
                  <a:srgbClr val="E8641B"/>
                </a:solidFill>
                <a:latin typeface="Inter SemiBold"/>
              </a:rPr>
              <a:t>META</a:t>
            </a:r>
          </a:p>
        </p:txBody>
      </p:sp>
      <p:sp>
        <p:nvSpPr>
          <p:cNvPr id="54" name="TextBox 53"/>
          <p:cNvSpPr txBox="1"/>
          <p:nvPr/>
        </p:nvSpPr>
        <p:spPr>
          <a:xfrm>
            <a:off x="14538960" y="7818120"/>
            <a:ext cx="2468880" cy="731520"/>
          </a:xfrm>
          <a:prstGeom prst="rect">
            <a:avLst/>
          </a:prstGeom>
          <a:noFill/>
        </p:spPr>
        <p:txBody>
          <a:bodyPr wrap="square" lIns="0" tIns="0" rIns="0" bIns="0" anchor="t">
            <a:spAutoFit/>
          </a:bodyPr>
          <a:lstStyle/>
          <a:p>
            <a:pPr algn="l"/>
            <a:r>
              <a:rPr sz="3000" b="1">
                <a:solidFill>
                  <a:srgbClr val="E8641B"/>
                </a:solidFill>
                <a:latin typeface="Inter SemiBold"/>
              </a:rPr>
              <a:t>Mismo día</a:t>
            </a:r>
          </a:p>
        </p:txBody>
      </p:sp>
      <p:sp>
        <p:nvSpPr>
          <p:cNvPr id="5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03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8" name="TextBox 8"/>
          <p:cNvSpPr txBox="1"/>
          <p:nvPr/>
        </p:nvSpPr>
        <p:spPr>
          <a:xfrm>
            <a:off x="9389512" y="1280160"/>
            <a:ext cx="5486400" cy="2377440"/>
          </a:xfrm>
          <a:prstGeom prst="rect">
            <a:avLst/>
          </a:prstGeom>
        </p:spPr>
        <p:txBody>
          <a:bodyPr lIns="0" tIns="0" rIns="0" bIns="0" rtlCol="0" anchor="t">
            <a:spAutoFit/>
          </a:bodyPr>
          <a:lstStyle/>
          <a:p>
            <a:pPr algn="l">
              <a:lnSpc>
                <a:spcPct val="90000"/>
              </a:lnSpc>
            </a:pPr>
            <a:r>
              <a:rPr lang="en-US" sz="6400" b="1">
                <a:solidFill>
                  <a:srgbClr val="111111"/>
                </a:solidFill>
                <a:latin typeface="Inter SemiBold"/>
                <a:ea typeface="Inter SemiBold"/>
                <a:cs typeface="Inter SemiBold"/>
                <a:sym typeface="Inter SemiBold"/>
              </a:rPr>
              <a:t>Quiénes somos</a:t>
            </a:r>
          </a:p>
        </p:txBody>
      </p:sp>
      <p:sp>
        <p:nvSpPr>
          <p:cNvPr id="11" name="!!brand"/>
          <p:cNvSpPr txBox="1"/>
          <p:nvPr/>
        </p:nvSpPr>
        <p:spPr>
          <a:xfrm>
            <a:off x="13217409" y="1000125"/>
            <a:ext cx="3328659" cy="297180"/>
          </a:xfrm>
          <a:prstGeom prst="rect">
            <a:avLst/>
          </a:prstGeom>
        </p:spPr>
        <p:txBody>
          <a:bodyPr lIns="0" tIns="0" rIns="0" bIns="0" rtlCol="0" anchor="t">
            <a:spAutoFit/>
          </a:bodyPr>
          <a:lstStyle/>
          <a:p>
            <a:pPr algn="r">
              <a:lnSpc>
                <a:spcPts val="2520"/>
              </a:lnSpc>
            </a:pPr>
            <a:r>
              <a:rPr lang="en-US" sz="1800" b="1">
                <a:solidFill>
                  <a:srgbClr val="000000"/>
                </a:solidFill>
                <a:latin typeface="Inter SemiBold"/>
                <a:ea typeface="Inter SemiBold"/>
                <a:cs typeface="Inter SemiBold"/>
                <a:sym typeface="Inter SemiBold"/>
              </a:rPr>
              <a:t>LafroX SpA</a:t>
            </a:r>
          </a:p>
        </p:txBody>
      </p:sp>
      <p:pic>
        <p:nvPicPr>
          <p:cNvPr id="12" name="!!logo" descr="Isotipo LafroX"/>
          <p:cNvPicPr>
            <a:picLocks noChangeAspect="1"/>
          </p:cNvPicPr>
          <p:nvPr/>
        </p:nvPicPr>
        <p:blipFill>
          <a:blip r:embed="rId5"/>
          <a:stretch>
            <a:fillRect/>
          </a:stretch>
        </p:blipFill>
        <p:spPr>
          <a:xfrm>
            <a:off x="16706088" y="850392"/>
            <a:ext cx="551723" cy="566928"/>
          </a:xfrm>
          <a:prstGeom prst="rect">
            <a:avLst/>
          </a:prstGeom>
        </p:spPr>
      </p:pic>
      <p:sp>
        <p:nvSpPr>
          <p:cNvPr id="13" name="TextBox 12"/>
          <p:cNvSpPr txBox="1"/>
          <p:nvPr/>
        </p:nvSpPr>
        <p:spPr>
          <a:xfrm>
            <a:off x="9390888" y="4114800"/>
            <a:ext cx="1737360" cy="731520"/>
          </a:xfrm>
          <a:prstGeom prst="rect">
            <a:avLst/>
          </a:prstGeom>
          <a:noFill/>
        </p:spPr>
        <p:txBody>
          <a:bodyPr wrap="square" lIns="0" tIns="0" rIns="0" bIns="0" anchor="t">
            <a:spAutoFit/>
          </a:bodyPr>
          <a:lstStyle/>
          <a:p>
            <a:pPr algn="l"/>
            <a:r>
              <a:rPr sz="4400" b="1">
                <a:solidFill>
                  <a:srgbClr val="E8641B"/>
                </a:solidFill>
                <a:latin typeface="Inter SemiBold"/>
              </a:rPr>
              <a:t>124</a:t>
            </a:r>
          </a:p>
        </p:txBody>
      </p:sp>
      <p:sp>
        <p:nvSpPr>
          <p:cNvPr id="14" name="TextBox 13"/>
          <p:cNvSpPr txBox="1"/>
          <p:nvPr/>
        </p:nvSpPr>
        <p:spPr>
          <a:xfrm>
            <a:off x="11201400" y="4187952"/>
            <a:ext cx="3474720" cy="1188720"/>
          </a:xfrm>
          <a:prstGeom prst="rect">
            <a:avLst/>
          </a:prstGeom>
          <a:noFill/>
        </p:spPr>
        <p:txBody>
          <a:bodyPr wrap="square" lIns="0" tIns="0" rIns="0" bIns="0" anchor="t">
            <a:spAutoFit/>
          </a:bodyPr>
          <a:lstStyle/>
          <a:p>
            <a:pPr algn="l"/>
            <a:r>
              <a:rPr sz="1800" b="0">
                <a:solidFill>
                  <a:srgbClr val="3C3C3C"/>
                </a:solidFill>
                <a:latin typeface="Inter"/>
              </a:rPr>
              <a:t>especialistas desde 2012</a:t>
            </a:r>
          </a:p>
        </p:txBody>
      </p:sp>
      <p:sp>
        <p:nvSpPr>
          <p:cNvPr id="15" name="TextBox 14"/>
          <p:cNvSpPr txBox="1"/>
          <p:nvPr/>
        </p:nvSpPr>
        <p:spPr>
          <a:xfrm>
            <a:off x="9390888" y="5486400"/>
            <a:ext cx="1737360" cy="731520"/>
          </a:xfrm>
          <a:prstGeom prst="rect">
            <a:avLst/>
          </a:prstGeom>
          <a:noFill/>
        </p:spPr>
        <p:txBody>
          <a:bodyPr wrap="square" lIns="0" tIns="0" rIns="0" bIns="0" anchor="t">
            <a:spAutoFit/>
          </a:bodyPr>
          <a:lstStyle/>
          <a:p>
            <a:pPr algn="l"/>
            <a:r>
              <a:rPr sz="4400" b="1">
                <a:solidFill>
                  <a:srgbClr val="E8641B"/>
                </a:solidFill>
                <a:latin typeface="Inter SemiBold"/>
              </a:rPr>
              <a:t>24×7</a:t>
            </a:r>
          </a:p>
        </p:txBody>
      </p:sp>
      <p:sp>
        <p:nvSpPr>
          <p:cNvPr id="16" name="TextBox 15"/>
          <p:cNvSpPr txBox="1"/>
          <p:nvPr/>
        </p:nvSpPr>
        <p:spPr>
          <a:xfrm>
            <a:off x="11201400" y="5559552"/>
            <a:ext cx="3474720" cy="1188720"/>
          </a:xfrm>
          <a:prstGeom prst="rect">
            <a:avLst/>
          </a:prstGeom>
          <a:noFill/>
        </p:spPr>
        <p:txBody>
          <a:bodyPr wrap="square" lIns="0" tIns="0" rIns="0" bIns="0" anchor="t">
            <a:spAutoFit/>
          </a:bodyPr>
          <a:lstStyle/>
          <a:p>
            <a:pPr algn="l"/>
            <a:r>
              <a:rPr sz="1800" b="0">
                <a:solidFill>
                  <a:srgbClr val="3C3C3C"/>
                </a:solidFill>
                <a:latin typeface="Inter"/>
              </a:rPr>
              <a:t>NOC, SOC y Mesa de Servicios</a:t>
            </a:r>
          </a:p>
        </p:txBody>
      </p:sp>
      <p:sp>
        <p:nvSpPr>
          <p:cNvPr id="17" name="TextBox 16"/>
          <p:cNvSpPr txBox="1"/>
          <p:nvPr/>
        </p:nvSpPr>
        <p:spPr>
          <a:xfrm>
            <a:off x="9390888" y="6858000"/>
            <a:ext cx="1737360" cy="731520"/>
          </a:xfrm>
          <a:prstGeom prst="rect">
            <a:avLst/>
          </a:prstGeom>
          <a:noFill/>
        </p:spPr>
        <p:txBody>
          <a:bodyPr wrap="square" lIns="0" tIns="0" rIns="0" bIns="0" anchor="t">
            <a:spAutoFit/>
          </a:bodyPr>
          <a:lstStyle/>
          <a:p>
            <a:pPr algn="l"/>
            <a:r>
              <a:rPr sz="4400" b="1">
                <a:solidFill>
                  <a:srgbClr val="E8641B"/>
                </a:solidFill>
                <a:latin typeface="Inter SemiBold"/>
              </a:rPr>
              <a:t>4</a:t>
            </a:r>
          </a:p>
        </p:txBody>
      </p:sp>
      <p:sp>
        <p:nvSpPr>
          <p:cNvPr id="18" name="TextBox 17"/>
          <p:cNvSpPr txBox="1"/>
          <p:nvPr/>
        </p:nvSpPr>
        <p:spPr>
          <a:xfrm>
            <a:off x="11201400" y="6931152"/>
            <a:ext cx="3474720" cy="553998"/>
          </a:xfrm>
          <a:prstGeom prst="rect">
            <a:avLst/>
          </a:prstGeom>
          <a:noFill/>
        </p:spPr>
        <p:txBody>
          <a:bodyPr wrap="square" lIns="0" tIns="0" rIns="0" bIns="0" anchor="t">
            <a:spAutoFit/>
          </a:bodyPr>
          <a:lstStyle/>
          <a:p>
            <a:pPr algn="l"/>
            <a:r>
              <a:rPr lang="es-CL" sz="1800" b="0">
                <a:solidFill>
                  <a:srgbClr val="3C3C3C"/>
                </a:solidFill>
                <a:latin typeface="Inter"/>
              </a:rPr>
              <a:t>credenciales: ISO 9001</a:t>
            </a:r>
            <a:r>
              <a:rPr sz="1800" b="0">
                <a:solidFill>
                  <a:srgbClr val="3C3C3C"/>
                </a:solidFill>
                <a:latin typeface="Inter"/>
              </a:rPr>
              <a:t> · 27001 · 20000-1 · CMMI N3</a:t>
            </a:r>
          </a:p>
        </p:txBody>
      </p:sp>
      <p:sp>
        <p:nvSpPr>
          <p:cNvPr id="19" name="TextBox 18"/>
          <p:cNvSpPr txBox="1"/>
          <p:nvPr/>
        </p:nvSpPr>
        <p:spPr>
          <a:xfrm>
            <a:off x="914400" y="1463040"/>
            <a:ext cx="7863840" cy="548640"/>
          </a:xfrm>
          <a:prstGeom prst="rect">
            <a:avLst/>
          </a:prstGeom>
          <a:noFill/>
        </p:spPr>
        <p:txBody>
          <a:bodyPr wrap="square" lIns="0" tIns="0" rIns="0" bIns="0" anchor="t">
            <a:spAutoFit/>
          </a:bodyPr>
          <a:lstStyle/>
          <a:p>
            <a:pPr algn="l"/>
            <a:r>
              <a:rPr sz="3000" b="1">
                <a:solidFill>
                  <a:srgbClr val="111111"/>
                </a:solidFill>
                <a:latin typeface="Inter SemiBold"/>
              </a:rPr>
              <a:t>Ya operamos a mayor escala</a:t>
            </a:r>
          </a:p>
        </p:txBody>
      </p:sp>
      <p:sp>
        <p:nvSpPr>
          <p:cNvPr id="20" name="TextBox 19"/>
          <p:cNvSpPr txBox="1"/>
          <p:nvPr/>
        </p:nvSpPr>
        <p:spPr>
          <a:xfrm>
            <a:off x="914400" y="2103120"/>
            <a:ext cx="7863840" cy="457200"/>
          </a:xfrm>
          <a:prstGeom prst="rect">
            <a:avLst/>
          </a:prstGeom>
          <a:noFill/>
        </p:spPr>
        <p:txBody>
          <a:bodyPr wrap="square" lIns="0" tIns="0" rIns="0" bIns="0" anchor="t">
            <a:spAutoFit/>
          </a:bodyPr>
          <a:lstStyle/>
          <a:p>
            <a:pPr algn="l"/>
            <a:r>
              <a:rPr sz="1800" b="0">
                <a:solidFill>
                  <a:srgbClr val="606060"/>
                </a:solidFill>
                <a:latin typeface="Inter"/>
              </a:rPr>
              <a:t>Puelche vs. nuestros proyectos de referencia</a:t>
            </a:r>
          </a:p>
        </p:txBody>
      </p:sp>
      <p:sp>
        <p:nvSpPr>
          <p:cNvPr id="21" name="TextBox 20"/>
          <p:cNvSpPr txBox="1"/>
          <p:nvPr/>
        </p:nvSpPr>
        <p:spPr>
          <a:xfrm>
            <a:off x="914400" y="3108960"/>
            <a:ext cx="7315200" cy="411480"/>
          </a:xfrm>
          <a:prstGeom prst="rect">
            <a:avLst/>
          </a:prstGeom>
          <a:noFill/>
        </p:spPr>
        <p:txBody>
          <a:bodyPr wrap="square" lIns="0" tIns="0" rIns="0" bIns="0" anchor="t">
            <a:spAutoFit/>
          </a:bodyPr>
          <a:lstStyle/>
          <a:p>
            <a:pPr algn="l"/>
            <a:r>
              <a:rPr sz="2000" b="1">
                <a:solidFill>
                  <a:srgbClr val="111111"/>
                </a:solidFill>
                <a:latin typeface="Inter SemiBold"/>
              </a:rPr>
              <a:t>Camiones</a:t>
            </a:r>
          </a:p>
        </p:txBody>
      </p:sp>
      <p:sp>
        <p:nvSpPr>
          <p:cNvPr id="22" name="Rounded Rectangle 21"/>
          <p:cNvSpPr/>
          <p:nvPr/>
        </p:nvSpPr>
        <p:spPr>
          <a:xfrm>
            <a:off x="914400" y="3611880"/>
            <a:ext cx="7315200" cy="502920"/>
          </a:xfrm>
          <a:prstGeom prst="roundRect">
            <a:avLst>
              <a:gd name="adj" fmla="val 50000"/>
            </a:avLst>
          </a:prstGeom>
          <a:solidFill>
            <a:srgbClr val="C7C7C7"/>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r"/>
            <a:r>
              <a:rPr sz="1600" b="0">
                <a:solidFill>
                  <a:srgbClr val="111111"/>
                </a:solidFill>
                <a:latin typeface="Inter"/>
              </a:rPr>
              <a:t>420 · LogiNacional</a:t>
            </a:r>
          </a:p>
        </p:txBody>
      </p:sp>
      <p:sp>
        <p:nvSpPr>
          <p:cNvPr id="23" name="Rounded Rectangle 22"/>
          <p:cNvSpPr/>
          <p:nvPr/>
        </p:nvSpPr>
        <p:spPr>
          <a:xfrm>
            <a:off x="914400" y="4206240"/>
            <a:ext cx="1672045" cy="50292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24" name="TextBox 23"/>
          <p:cNvSpPr txBox="1"/>
          <p:nvPr/>
        </p:nvSpPr>
        <p:spPr>
          <a:xfrm>
            <a:off x="2723605" y="4206240"/>
            <a:ext cx="3200400" cy="502920"/>
          </a:xfrm>
          <a:prstGeom prst="rect">
            <a:avLst/>
          </a:prstGeom>
          <a:noFill/>
        </p:spPr>
        <p:txBody>
          <a:bodyPr wrap="square" lIns="0" tIns="0" rIns="0" bIns="0" anchor="ctr">
            <a:spAutoFit/>
          </a:bodyPr>
          <a:lstStyle/>
          <a:p>
            <a:pPr algn="l"/>
            <a:r>
              <a:rPr sz="1600" b="1">
                <a:solidFill>
                  <a:srgbClr val="E8641B"/>
                </a:solidFill>
                <a:latin typeface="Inter SemiBold"/>
              </a:rPr>
              <a:t>96 · Puelche</a:t>
            </a:r>
          </a:p>
        </p:txBody>
      </p:sp>
      <p:sp>
        <p:nvSpPr>
          <p:cNvPr id="25" name="TextBox 24"/>
          <p:cNvSpPr txBox="1"/>
          <p:nvPr/>
        </p:nvSpPr>
        <p:spPr>
          <a:xfrm>
            <a:off x="914400" y="4983479"/>
            <a:ext cx="7315200" cy="411480"/>
          </a:xfrm>
          <a:prstGeom prst="rect">
            <a:avLst/>
          </a:prstGeom>
          <a:noFill/>
        </p:spPr>
        <p:txBody>
          <a:bodyPr wrap="square" lIns="0" tIns="0" rIns="0" bIns="0" anchor="t">
            <a:spAutoFit/>
          </a:bodyPr>
          <a:lstStyle/>
          <a:p>
            <a:pPr algn="l"/>
            <a:r>
              <a:rPr sz="2000" b="1">
                <a:solidFill>
                  <a:srgbClr val="111111"/>
                </a:solidFill>
                <a:latin typeface="Inter SemiBold"/>
              </a:rPr>
              <a:t>Entregas diarias</a:t>
            </a:r>
          </a:p>
        </p:txBody>
      </p:sp>
      <p:sp>
        <p:nvSpPr>
          <p:cNvPr id="26" name="Rounded Rectangle 25"/>
          <p:cNvSpPr/>
          <p:nvPr/>
        </p:nvSpPr>
        <p:spPr>
          <a:xfrm>
            <a:off x="914400" y="5486399"/>
            <a:ext cx="7315200" cy="502920"/>
          </a:xfrm>
          <a:prstGeom prst="roundRect">
            <a:avLst>
              <a:gd name="adj" fmla="val 50000"/>
            </a:avLst>
          </a:prstGeom>
          <a:solidFill>
            <a:srgbClr val="C7C7C7"/>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r"/>
            <a:r>
              <a:rPr sz="1600" b="0">
                <a:solidFill>
                  <a:srgbClr val="111111"/>
                </a:solidFill>
                <a:latin typeface="Inter"/>
              </a:rPr>
              <a:t>22.000 · LogiNacional</a:t>
            </a:r>
          </a:p>
        </p:txBody>
      </p:sp>
      <p:sp>
        <p:nvSpPr>
          <p:cNvPr id="27" name="Rounded Rectangle 26"/>
          <p:cNvSpPr/>
          <p:nvPr/>
        </p:nvSpPr>
        <p:spPr>
          <a:xfrm>
            <a:off x="914400" y="6080759"/>
            <a:ext cx="465512" cy="50292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28" name="TextBox 27"/>
          <p:cNvSpPr txBox="1"/>
          <p:nvPr/>
        </p:nvSpPr>
        <p:spPr>
          <a:xfrm>
            <a:off x="1517072" y="6080759"/>
            <a:ext cx="3200400" cy="502920"/>
          </a:xfrm>
          <a:prstGeom prst="rect">
            <a:avLst/>
          </a:prstGeom>
          <a:noFill/>
        </p:spPr>
        <p:txBody>
          <a:bodyPr wrap="square" lIns="0" tIns="0" rIns="0" bIns="0" anchor="ctr">
            <a:spAutoFit/>
          </a:bodyPr>
          <a:lstStyle/>
          <a:p>
            <a:pPr algn="l"/>
            <a:r>
              <a:rPr sz="1600" b="1">
                <a:solidFill>
                  <a:srgbClr val="E8641B"/>
                </a:solidFill>
                <a:latin typeface="Inter SemiBold"/>
              </a:rPr>
              <a:t>≈1.400 · Puelche</a:t>
            </a:r>
          </a:p>
        </p:txBody>
      </p:sp>
      <p:sp>
        <p:nvSpPr>
          <p:cNvPr id="29" name="TextBox 28"/>
          <p:cNvSpPr txBox="1"/>
          <p:nvPr/>
        </p:nvSpPr>
        <p:spPr>
          <a:xfrm>
            <a:off x="914400" y="6858000"/>
            <a:ext cx="7315200" cy="411480"/>
          </a:xfrm>
          <a:prstGeom prst="rect">
            <a:avLst/>
          </a:prstGeom>
          <a:noFill/>
        </p:spPr>
        <p:txBody>
          <a:bodyPr wrap="square" lIns="0" tIns="0" rIns="0" bIns="0" anchor="t">
            <a:spAutoFit/>
          </a:bodyPr>
          <a:lstStyle/>
          <a:p>
            <a:pPr algn="l"/>
            <a:r>
              <a:rPr sz="2000" b="1">
                <a:solidFill>
                  <a:srgbClr val="111111"/>
                </a:solidFill>
                <a:latin typeface="Inter SemiBold"/>
              </a:rPr>
              <a:t>Preventistas</a:t>
            </a:r>
          </a:p>
        </p:txBody>
      </p:sp>
      <p:sp>
        <p:nvSpPr>
          <p:cNvPr id="30" name="Rounded Rectangle 29"/>
          <p:cNvSpPr/>
          <p:nvPr/>
        </p:nvSpPr>
        <p:spPr>
          <a:xfrm>
            <a:off x="914400" y="7360920"/>
            <a:ext cx="7315200" cy="502920"/>
          </a:xfrm>
          <a:prstGeom prst="roundRect">
            <a:avLst>
              <a:gd name="adj" fmla="val 50000"/>
            </a:avLst>
          </a:prstGeom>
          <a:solidFill>
            <a:srgbClr val="C7C7C7"/>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r"/>
            <a:r>
              <a:rPr sz="1600" b="0">
                <a:solidFill>
                  <a:srgbClr val="111111"/>
                </a:solidFill>
                <a:latin typeface="Inter"/>
              </a:rPr>
              <a:t>280 · Lácteos del Sur</a:t>
            </a:r>
          </a:p>
        </p:txBody>
      </p:sp>
      <p:sp>
        <p:nvSpPr>
          <p:cNvPr id="31" name="Rounded Rectangle 30"/>
          <p:cNvSpPr/>
          <p:nvPr/>
        </p:nvSpPr>
        <p:spPr>
          <a:xfrm>
            <a:off x="914400" y="7955279"/>
            <a:ext cx="1619794" cy="50292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2" name="TextBox 31"/>
          <p:cNvSpPr txBox="1"/>
          <p:nvPr/>
        </p:nvSpPr>
        <p:spPr>
          <a:xfrm>
            <a:off x="2671354" y="7955279"/>
            <a:ext cx="3200400" cy="502920"/>
          </a:xfrm>
          <a:prstGeom prst="rect">
            <a:avLst/>
          </a:prstGeom>
          <a:noFill/>
        </p:spPr>
        <p:txBody>
          <a:bodyPr wrap="square" lIns="0" tIns="0" rIns="0" bIns="0" anchor="ctr">
            <a:spAutoFit/>
          </a:bodyPr>
          <a:lstStyle/>
          <a:p>
            <a:pPr algn="l"/>
            <a:r>
              <a:rPr sz="1600" b="1">
                <a:solidFill>
                  <a:srgbClr val="E8641B"/>
                </a:solidFill>
                <a:latin typeface="Inter SemiBold"/>
              </a:rPr>
              <a:t>62 · Puelche</a:t>
            </a:r>
          </a:p>
        </p:txBody>
      </p:sp>
      <p:sp>
        <p:nvSpPr>
          <p:cNvPr id="33"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FFFFFF"/>
                </a:solidFill>
                <a:latin typeface="Inter SemiBold"/>
              </a:rPr>
              <a:t>04</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25509" y="-8090895"/>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792402" y="798726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p:cNvSpPr/>
          <p:nvPr/>
        </p:nvSpPr>
        <p:spPr>
          <a:xfrm flipH="1">
            <a:off x="15965602" y="798726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1028700" y="1619980"/>
            <a:ext cx="5153525" cy="5344669"/>
            <a:chOff x="0" y="0"/>
            <a:chExt cx="1357307" cy="1407650"/>
          </a:xfrm>
        </p:grpSpPr>
        <p:sp>
          <p:nvSpPr>
            <p:cNvPr id="6" name="Freeform 6"/>
            <p:cNvSpPr/>
            <p:nvPr/>
          </p:nvSpPr>
          <p:spPr>
            <a:xfrm>
              <a:off x="0" y="0"/>
              <a:ext cx="1357307" cy="1407650"/>
            </a:xfrm>
            <a:custGeom>
              <a:avLst/>
              <a:gdLst/>
              <a:ahLst/>
              <a:cxnLst/>
              <a:rect l="l" t="t" r="r" b="b"/>
              <a:pathLst>
                <a:path w="1357307" h="1407650">
                  <a:moveTo>
                    <a:pt x="61593" y="0"/>
                  </a:moveTo>
                  <a:lnTo>
                    <a:pt x="1295714" y="0"/>
                  </a:lnTo>
                  <a:cubicBezTo>
                    <a:pt x="1329731" y="0"/>
                    <a:pt x="1357307" y="27576"/>
                    <a:pt x="1357307" y="61593"/>
                  </a:cubicBezTo>
                  <a:lnTo>
                    <a:pt x="1357307" y="1346057"/>
                  </a:lnTo>
                  <a:cubicBezTo>
                    <a:pt x="1357307" y="1362392"/>
                    <a:pt x="1350818" y="1378059"/>
                    <a:pt x="1339267" y="1389610"/>
                  </a:cubicBezTo>
                  <a:cubicBezTo>
                    <a:pt x="1327716" y="1401160"/>
                    <a:pt x="1312050" y="1407650"/>
                    <a:pt x="1295714" y="1407650"/>
                  </a:cubicBezTo>
                  <a:lnTo>
                    <a:pt x="61593" y="1407650"/>
                  </a:lnTo>
                  <a:cubicBezTo>
                    <a:pt x="45257" y="1407650"/>
                    <a:pt x="29591" y="1401160"/>
                    <a:pt x="18040" y="1389610"/>
                  </a:cubicBezTo>
                  <a:cubicBezTo>
                    <a:pt x="6489" y="1378059"/>
                    <a:pt x="0" y="1362392"/>
                    <a:pt x="0" y="1346057"/>
                  </a:cubicBezTo>
                  <a:lnTo>
                    <a:pt x="0" y="61593"/>
                  </a:lnTo>
                  <a:cubicBezTo>
                    <a:pt x="0" y="45257"/>
                    <a:pt x="6489" y="29591"/>
                    <a:pt x="18040" y="18040"/>
                  </a:cubicBezTo>
                  <a:cubicBezTo>
                    <a:pt x="29591" y="6489"/>
                    <a:pt x="45257" y="0"/>
                    <a:pt x="61593" y="0"/>
                  </a:cubicBezTo>
                  <a:close/>
                </a:path>
              </a:pathLst>
            </a:custGeom>
            <a:ln w="114300" cap="rnd">
              <a:solidFill>
                <a:srgbClr val="141414"/>
              </a:solidFill>
              <a:prstDash val="solid"/>
              <a:round/>
            </a:ln>
          </p:spPr>
        </p:sp>
        <p:sp>
          <p:nvSpPr>
            <p:cNvPr id="7" name="TextBox 7"/>
            <p:cNvSpPr txBox="1"/>
            <p:nvPr/>
          </p:nvSpPr>
          <p:spPr>
            <a:xfrm>
              <a:off x="0" y="-47625"/>
              <a:ext cx="1357307" cy="1455275"/>
            </a:xfrm>
            <a:prstGeom prst="rect">
              <a:avLst/>
            </a:prstGeom>
          </p:spPr>
          <p:txBody>
            <a:bodyPr lIns="50800" tIns="50800" rIns="50800" bIns="50800" rtlCol="0" anchor="ctr"/>
            <a:lstStyle/>
            <a:p>
              <a:pPr algn="ctr">
                <a:lnSpc>
                  <a:spcPts val="3499"/>
                </a:lnSpc>
              </a:pPr>
              <a:endParaRPr/>
            </a:p>
          </p:txBody>
        </p:sp>
      </p:grpSp>
      <p:sp>
        <p:nvSpPr>
          <p:cNvPr id="8" name="TextBox 8"/>
          <p:cNvSpPr txBox="1"/>
          <p:nvPr/>
        </p:nvSpPr>
        <p:spPr>
          <a:xfrm>
            <a:off x="5370156" y="7182945"/>
            <a:ext cx="7547688" cy="2075355"/>
          </a:xfrm>
          <a:prstGeom prst="rect">
            <a:avLst/>
          </a:prstGeom>
        </p:spPr>
        <p:txBody>
          <a:bodyPr lIns="0" tIns="0" rIns="0" bIns="0" rtlCol="0" anchor="t">
            <a:spAutoFit/>
          </a:bodyPr>
          <a:lstStyle/>
          <a:p>
            <a:pPr algn="ctr">
              <a:lnSpc>
                <a:spcPts val="14639"/>
              </a:lnSpc>
            </a:pPr>
            <a:r>
              <a:rPr lang="en-US" sz="11153" b="1">
                <a:solidFill>
                  <a:srgbClr val="111111"/>
                </a:solidFill>
                <a:latin typeface="Inter SemiBold"/>
                <a:ea typeface="Inter SemiBold"/>
                <a:cs typeface="Inter SemiBold"/>
                <a:sym typeface="Inter SemiBold"/>
              </a:rPr>
              <a:t>Alcance</a:t>
            </a:r>
          </a:p>
        </p:txBody>
      </p:sp>
      <p:grpSp>
        <p:nvGrpSpPr>
          <p:cNvPr id="9" name="Group 9"/>
          <p:cNvGrpSpPr/>
          <p:nvPr/>
        </p:nvGrpSpPr>
        <p:grpSpPr>
          <a:xfrm>
            <a:off x="12105775" y="1619980"/>
            <a:ext cx="5153525" cy="5344669"/>
            <a:chOff x="0" y="0"/>
            <a:chExt cx="1357307" cy="1407650"/>
          </a:xfrm>
        </p:grpSpPr>
        <p:sp>
          <p:nvSpPr>
            <p:cNvPr id="10" name="Freeform 10"/>
            <p:cNvSpPr/>
            <p:nvPr/>
          </p:nvSpPr>
          <p:spPr>
            <a:xfrm>
              <a:off x="0" y="0"/>
              <a:ext cx="1357307" cy="1407650"/>
            </a:xfrm>
            <a:custGeom>
              <a:avLst/>
              <a:gdLst/>
              <a:ahLst/>
              <a:cxnLst/>
              <a:rect l="l" t="t" r="r" b="b"/>
              <a:pathLst>
                <a:path w="1357307" h="1407650">
                  <a:moveTo>
                    <a:pt x="61593" y="0"/>
                  </a:moveTo>
                  <a:lnTo>
                    <a:pt x="1295714" y="0"/>
                  </a:lnTo>
                  <a:cubicBezTo>
                    <a:pt x="1329731" y="0"/>
                    <a:pt x="1357307" y="27576"/>
                    <a:pt x="1357307" y="61593"/>
                  </a:cubicBezTo>
                  <a:lnTo>
                    <a:pt x="1357307" y="1346057"/>
                  </a:lnTo>
                  <a:cubicBezTo>
                    <a:pt x="1357307" y="1362392"/>
                    <a:pt x="1350818" y="1378059"/>
                    <a:pt x="1339267" y="1389610"/>
                  </a:cubicBezTo>
                  <a:cubicBezTo>
                    <a:pt x="1327716" y="1401160"/>
                    <a:pt x="1312050" y="1407650"/>
                    <a:pt x="1295714" y="1407650"/>
                  </a:cubicBezTo>
                  <a:lnTo>
                    <a:pt x="61593" y="1407650"/>
                  </a:lnTo>
                  <a:cubicBezTo>
                    <a:pt x="45257" y="1407650"/>
                    <a:pt x="29591" y="1401160"/>
                    <a:pt x="18040" y="1389610"/>
                  </a:cubicBezTo>
                  <a:cubicBezTo>
                    <a:pt x="6489" y="1378059"/>
                    <a:pt x="0" y="1362392"/>
                    <a:pt x="0" y="1346057"/>
                  </a:cubicBezTo>
                  <a:lnTo>
                    <a:pt x="0" y="61593"/>
                  </a:lnTo>
                  <a:cubicBezTo>
                    <a:pt x="0" y="45257"/>
                    <a:pt x="6489" y="29591"/>
                    <a:pt x="18040" y="18040"/>
                  </a:cubicBezTo>
                  <a:cubicBezTo>
                    <a:pt x="29591" y="6489"/>
                    <a:pt x="45257" y="0"/>
                    <a:pt x="61593" y="0"/>
                  </a:cubicBezTo>
                  <a:close/>
                </a:path>
              </a:pathLst>
            </a:custGeom>
            <a:ln w="114300" cap="rnd">
              <a:solidFill>
                <a:srgbClr val="E8641B"/>
              </a:solidFill>
              <a:prstDash val="solid"/>
              <a:round/>
            </a:ln>
          </p:spPr>
        </p:sp>
        <p:sp>
          <p:nvSpPr>
            <p:cNvPr id="11" name="TextBox 11"/>
            <p:cNvSpPr txBox="1"/>
            <p:nvPr/>
          </p:nvSpPr>
          <p:spPr>
            <a:xfrm>
              <a:off x="0" y="-47625"/>
              <a:ext cx="1357307" cy="1455275"/>
            </a:xfrm>
            <a:prstGeom prst="rect">
              <a:avLst/>
            </a:prstGeom>
          </p:spPr>
          <p:txBody>
            <a:bodyPr lIns="50800" tIns="50800" rIns="50800" bIns="50800" rtlCol="0" anchor="ctr"/>
            <a:lstStyle/>
            <a:p>
              <a:pPr algn="ctr">
                <a:lnSpc>
                  <a:spcPts val="3499"/>
                </a:lnSpc>
              </a:pPr>
              <a:endParaRPr/>
            </a:p>
          </p:txBody>
        </p:sp>
      </p:grpSp>
      <p:sp>
        <p:nvSpPr>
          <p:cNvPr id="12" name="TextBox 12"/>
          <p:cNvSpPr txBox="1"/>
          <p:nvPr/>
        </p:nvSpPr>
        <p:spPr>
          <a:xfrm>
            <a:off x="7001050" y="2894964"/>
            <a:ext cx="4285901" cy="3253353"/>
          </a:xfrm>
          <a:prstGeom prst="rect">
            <a:avLst/>
          </a:prstGeom>
        </p:spPr>
        <p:txBody>
          <a:bodyPr lIns="0" tIns="0" rIns="0" bIns="0" rtlCol="0" anchor="t">
            <a:spAutoFit/>
          </a:bodyPr>
          <a:lstStyle/>
          <a:p>
            <a:pPr algn="l">
              <a:lnSpc>
                <a:spcPts val="2856"/>
              </a:lnSpc>
            </a:pPr>
            <a:r>
              <a:rPr lang="en-US" sz="2800" b="1">
                <a:solidFill>
                  <a:srgbClr val="E8641B"/>
                </a:solidFill>
                <a:latin typeface="Inter SemiBold"/>
                <a:ea typeface="Inter"/>
                <a:cs typeface="Inter"/>
                <a:sym typeface="Inter"/>
              </a:rPr>
              <a:t>Capturar → Explotar</a:t>
            </a:r>
          </a:p>
          <a:p>
            <a:pPr algn="l">
              <a:lnSpc>
                <a:spcPts val="2856"/>
              </a:lnSpc>
            </a:pPr>
            <a:r>
              <a:rPr lang="en-US" sz="2000">
                <a:solidFill>
                  <a:srgbClr val="000000"/>
                </a:solidFill>
                <a:latin typeface="Inter"/>
                <a:ea typeface="Inter"/>
                <a:cs typeface="Inter"/>
                <a:sym typeface="Inter"/>
              </a:rPr>
              <a:t>El ERP sigue emitiendo</a:t>
            </a:r>
          </a:p>
          <a:p>
            <a:pPr algn="l">
              <a:lnSpc>
                <a:spcPts val="2856"/>
              </a:lnSpc>
            </a:pPr>
            <a:r>
              <a:rPr lang="en-US" sz="2000">
                <a:solidFill>
                  <a:srgbClr val="000000"/>
                </a:solidFill>
                <a:latin typeface="Inter"/>
                <a:ea typeface="Inter"/>
                <a:cs typeface="Inter"/>
                <a:sym typeface="Inter"/>
              </a:rPr>
              <a:t>los documentos tributarios</a:t>
            </a:r>
          </a:p>
        </p:txBody>
      </p:sp>
      <p:sp>
        <p:nvSpPr>
          <p:cNvPr id="13" name="TextBox 13"/>
          <p:cNvSpPr txBox="1"/>
          <p:nvPr/>
        </p:nvSpPr>
        <p:spPr>
          <a:xfrm>
            <a:off x="1983067" y="2460411"/>
            <a:ext cx="3244790" cy="705730"/>
          </a:xfrm>
          <a:prstGeom prst="rect">
            <a:avLst/>
          </a:prstGeom>
        </p:spPr>
        <p:txBody>
          <a:bodyPr lIns="0" tIns="0" rIns="0" bIns="0" rtlCol="0" anchor="t">
            <a:spAutoFit/>
          </a:bodyPr>
          <a:lstStyle/>
          <a:p>
            <a:pPr algn="ctr">
              <a:lnSpc>
                <a:spcPts val="4997"/>
              </a:lnSpc>
            </a:pPr>
            <a:r>
              <a:rPr lang="en-US" sz="3807" b="1">
                <a:solidFill>
                  <a:srgbClr val="111111"/>
                </a:solidFill>
                <a:latin typeface="Inter SemiBold"/>
                <a:ea typeface="Inter SemiBold"/>
                <a:cs typeface="Inter SemiBold"/>
                <a:sym typeface="Inter SemiBold"/>
              </a:rPr>
              <a:t>Etapa 1</a:t>
            </a:r>
          </a:p>
        </p:txBody>
      </p:sp>
      <p:sp>
        <p:nvSpPr>
          <p:cNvPr id="14" name="TextBox 14"/>
          <p:cNvSpPr txBox="1"/>
          <p:nvPr/>
        </p:nvSpPr>
        <p:spPr>
          <a:xfrm>
            <a:off x="13060143" y="2460411"/>
            <a:ext cx="3244790" cy="705730"/>
          </a:xfrm>
          <a:prstGeom prst="rect">
            <a:avLst/>
          </a:prstGeom>
        </p:spPr>
        <p:txBody>
          <a:bodyPr lIns="0" tIns="0" rIns="0" bIns="0" rtlCol="0" anchor="t">
            <a:spAutoFit/>
          </a:bodyPr>
          <a:lstStyle/>
          <a:p>
            <a:pPr algn="ctr">
              <a:lnSpc>
                <a:spcPts val="4997"/>
              </a:lnSpc>
            </a:pPr>
            <a:r>
              <a:rPr lang="en-US" sz="3807" b="1">
                <a:solidFill>
                  <a:srgbClr val="111111"/>
                </a:solidFill>
                <a:latin typeface="Inter SemiBold"/>
                <a:ea typeface="Inter SemiBold"/>
                <a:cs typeface="Inter SemiBold"/>
                <a:sym typeface="Inter SemiBold"/>
              </a:rPr>
              <a:t>Etapa 2</a:t>
            </a:r>
          </a:p>
        </p:txBody>
      </p:sp>
      <p:sp>
        <p:nvSpPr>
          <p:cNvPr id="15" name="TextBox 15"/>
          <p:cNvSpPr txBox="1"/>
          <p:nvPr/>
        </p:nvSpPr>
        <p:spPr>
          <a:xfrm>
            <a:off x="1651640" y="3875794"/>
            <a:ext cx="3907644" cy="2529453"/>
          </a:xfrm>
          <a:prstGeom prst="rect">
            <a:avLst/>
          </a:prstGeom>
        </p:spPr>
        <p:txBody>
          <a:bodyPr lIns="0" tIns="0" rIns="0" bIns="0" rtlCol="0" anchor="t">
            <a:spAutoFit/>
          </a:bodyPr>
          <a:lstStyle/>
          <a:p>
            <a:pPr algn="l">
              <a:lnSpc>
                <a:spcPts val="2856"/>
              </a:lnSpc>
            </a:pPr>
            <a:r>
              <a:rPr lang="en-US" sz="2000">
                <a:solidFill>
                  <a:srgbClr val="000000"/>
                </a:solidFill>
                <a:latin typeface="Inter"/>
                <a:ea typeface="Inter"/>
                <a:cs typeface="Inter"/>
                <a:sym typeface="Inter"/>
              </a:rPr>
              <a:t>Preventa</a:t>
            </a:r>
          </a:p>
          <a:p>
            <a:pPr algn="l">
              <a:lnSpc>
                <a:spcPts val="2856"/>
              </a:lnSpc>
            </a:pPr>
            <a:r>
              <a:rPr lang="en-US" sz="2000">
                <a:solidFill>
                  <a:srgbClr val="000000"/>
                </a:solidFill>
                <a:latin typeface="Inter"/>
                <a:ea typeface="Inter"/>
                <a:cs typeface="Inter"/>
                <a:sym typeface="Inter"/>
              </a:rPr>
              <a:t>Recepción con lote</a:t>
            </a:r>
          </a:p>
          <a:p>
            <a:pPr algn="l">
              <a:lnSpc>
                <a:spcPts val="2856"/>
              </a:lnSpc>
            </a:pPr>
            <a:r>
              <a:rPr lang="en-US" sz="2000">
                <a:solidFill>
                  <a:srgbClr val="000000"/>
                </a:solidFill>
                <a:latin typeface="Inter"/>
                <a:ea typeface="Inter"/>
                <a:cs typeface="Inter"/>
                <a:sym typeface="Inter"/>
              </a:rPr>
              <a:t>Bodega FEFO y rutas</a:t>
            </a:r>
          </a:p>
          <a:p>
            <a:pPr algn="l">
              <a:lnSpc>
                <a:spcPts val="2856"/>
              </a:lnSpc>
            </a:pPr>
            <a:r>
              <a:rPr lang="en-US" sz="2000">
                <a:solidFill>
                  <a:srgbClr val="000000"/>
                </a:solidFill>
                <a:latin typeface="Inter"/>
                <a:ea typeface="Inter"/>
                <a:cs typeface="Inter"/>
                <a:sym typeface="Inter"/>
              </a:rPr>
              <a:t>Frío, entrega y efectivo</a:t>
            </a:r>
          </a:p>
          <a:p>
            <a:pPr algn="l">
              <a:lnSpc>
                <a:spcPts val="2856"/>
              </a:lnSpc>
            </a:pPr>
            <a:r>
              <a:rPr lang="en-US" sz="2000" b="1">
                <a:solidFill>
                  <a:srgbClr val="E8641B"/>
                </a:solidFill>
                <a:latin typeface="Inter SemiBold"/>
                <a:ea typeface="Inter"/>
                <a:cs typeface="Inter"/>
                <a:sym typeface="Inter"/>
              </a:rPr>
              <a:t>Producción: mes 16</a:t>
            </a:r>
          </a:p>
        </p:txBody>
      </p:sp>
      <p:sp>
        <p:nvSpPr>
          <p:cNvPr id="16" name="TextBox 16"/>
          <p:cNvSpPr txBox="1"/>
          <p:nvPr/>
        </p:nvSpPr>
        <p:spPr>
          <a:xfrm>
            <a:off x="12728715" y="3875794"/>
            <a:ext cx="3907644" cy="2529453"/>
          </a:xfrm>
          <a:prstGeom prst="rect">
            <a:avLst/>
          </a:prstGeom>
        </p:spPr>
        <p:txBody>
          <a:bodyPr lIns="0" tIns="0" rIns="0" bIns="0" rtlCol="0" anchor="t">
            <a:spAutoFit/>
          </a:bodyPr>
          <a:lstStyle/>
          <a:p>
            <a:pPr algn="l">
              <a:lnSpc>
                <a:spcPts val="2856"/>
              </a:lnSpc>
            </a:pPr>
            <a:r>
              <a:rPr lang="en-US" sz="2000">
                <a:solidFill>
                  <a:srgbClr val="000000"/>
                </a:solidFill>
                <a:latin typeface="Inter"/>
                <a:ea typeface="Inter"/>
                <a:cs typeface="Inter"/>
                <a:sym typeface="Inter"/>
              </a:rPr>
              <a:t>Portal de clientes</a:t>
            </a:r>
          </a:p>
          <a:p>
            <a:pPr algn="l">
              <a:lnSpc>
                <a:spcPts val="2856"/>
              </a:lnSpc>
            </a:pPr>
            <a:r>
              <a:rPr lang="en-US" sz="2000">
                <a:solidFill>
                  <a:srgbClr val="000000"/>
                </a:solidFill>
                <a:latin typeface="Inter"/>
                <a:ea typeface="Inter"/>
                <a:cs typeface="Inter"/>
                <a:sym typeface="Inter"/>
              </a:rPr>
              <a:t>Canal moderno (EDI)</a:t>
            </a:r>
          </a:p>
          <a:p>
            <a:pPr algn="l">
              <a:lnSpc>
                <a:spcPts val="2856"/>
              </a:lnSpc>
            </a:pPr>
            <a:r>
              <a:rPr lang="en-US" sz="2000">
                <a:solidFill>
                  <a:srgbClr val="000000"/>
                </a:solidFill>
                <a:latin typeface="Inter"/>
                <a:ea typeface="Inter"/>
                <a:cs typeface="Inter"/>
                <a:sym typeface="Inter"/>
              </a:rPr>
              <a:t>Costo de servir</a:t>
            </a:r>
          </a:p>
          <a:p>
            <a:pPr algn="l">
              <a:lnSpc>
                <a:spcPts val="2856"/>
              </a:lnSpc>
            </a:pPr>
            <a:r>
              <a:rPr lang="en-US" sz="2000" b="1">
                <a:solidFill>
                  <a:srgbClr val="E8641B"/>
                </a:solidFill>
                <a:latin typeface="Inter SemiBold"/>
                <a:ea typeface="Inter"/>
                <a:cs typeface="Inter"/>
                <a:sym typeface="Inter"/>
              </a:rPr>
              <a:t>Producción: mes 21</a:t>
            </a:r>
          </a:p>
        </p:txBody>
      </p:sp>
      <p:sp>
        <p:nvSpPr>
          <p:cNvPr id="17" name="Freeform 17"/>
          <p:cNvSpPr/>
          <p:nvPr/>
        </p:nvSpPr>
        <p:spPr>
          <a:xfrm flipH="1">
            <a:off x="2322398" y="798726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5"/>
                </a:ext>
              </a:extLst>
            </a:blip>
            <a:stretch>
              <a:fillRect/>
            </a:stretch>
          </a:blipFill>
        </p:spPr>
      </p:sp>
      <p:sp>
        <p:nvSpPr>
          <p:cNvPr id="18" name="Freeform 18"/>
          <p:cNvSpPr/>
          <p:nvPr/>
        </p:nvSpPr>
        <p:spPr>
          <a:xfrm>
            <a:off x="11850802" y="798726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111111"/>
                </a:solidFill>
                <a:latin typeface="Inter SemiBold"/>
              </a:rPr>
              <a:t>05</a:t>
            </a:r>
          </a:p>
        </p:txBody>
      </p:sp>
    </p:spTree>
  </p:cSld>
  <p:clrMapOvr>
    <a:masterClrMapping/>
  </p:clrMapOvr>
  <p:transition spd="med">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9"/>
          <p:cNvSpPr txBox="1"/>
          <p:nvPr/>
        </p:nvSpPr>
        <p:spPr>
          <a:xfrm>
            <a:off x="2286000" y="1226844"/>
            <a:ext cx="13716000" cy="1192699"/>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Esquema de solución</a:t>
            </a:r>
          </a:p>
        </p:txBody>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308161"/>
          </a:xfrm>
          <a:prstGeom prst="rect">
            <a:avLst/>
          </a:prstGeom>
        </p:spPr>
        <p:txBody>
          <a:bodyPr lIns="0" tIns="0" rIns="0" bIns="0" rtlCol="0" anchor="t">
            <a:spAutoFit/>
          </a:bodyPr>
          <a:lstStyle/>
          <a:p>
            <a:pPr algn="ctr">
              <a:lnSpc>
                <a:spcPts val="2520"/>
              </a:lnSpc>
            </a:pPr>
            <a:r>
              <a:rPr lang="es-MX" sz="2000">
                <a:solidFill>
                  <a:srgbClr val="000000"/>
                </a:solidFill>
                <a:latin typeface="Inter"/>
                <a:ea typeface="Inter"/>
                <a:cs typeface="Inter"/>
                <a:sym typeface="Inter"/>
              </a:rPr>
              <a:t>Subdocumento 3 · ciclo logístico, trazabilidad del lote y continuidad sin conexión</a:t>
            </a:r>
            <a:endParaRPr lang="en-US" sz="2000">
              <a:solidFill>
                <a:srgbClr val="000000"/>
              </a:solidFill>
              <a:latin typeface="Inter"/>
              <a:ea typeface="Inter"/>
              <a:cs typeface="Inter"/>
              <a:sym typeface="Inter"/>
            </a:endParaRPr>
          </a:p>
        </p:txBody>
      </p:sp>
      <p:sp>
        <p:nvSpPr>
          <p:cNvPr id="60" name="Rounded Rectangle 59"/>
          <p:cNvSpPr/>
          <p:nvPr/>
        </p:nvSpPr>
        <p:spPr>
          <a:xfrm>
            <a:off x="731520" y="3246120"/>
            <a:ext cx="5394960" cy="5577840"/>
          </a:xfrm>
          <a:prstGeom prst="roundRect">
            <a:avLst>
              <a:gd name="adj" fmla="val 2051"/>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1" name="TextBox 60"/>
          <p:cNvSpPr txBox="1"/>
          <p:nvPr/>
        </p:nvSpPr>
        <p:spPr>
          <a:xfrm>
            <a:off x="868680" y="3355848"/>
            <a:ext cx="5120640" cy="230832"/>
          </a:xfrm>
          <a:prstGeom prst="rect">
            <a:avLst/>
          </a:prstGeom>
          <a:noFill/>
        </p:spPr>
        <p:txBody>
          <a:bodyPr wrap="square" lIns="0" tIns="0" rIns="0" bIns="0" anchor="t">
            <a:spAutoFit/>
          </a:bodyPr>
          <a:lstStyle/>
          <a:p>
            <a:pPr algn="l"/>
            <a:r>
              <a:rPr lang="es-MX" sz="1500" b="1">
                <a:solidFill>
                  <a:srgbClr val="E8641B"/>
                </a:solidFill>
                <a:latin typeface="Inter SemiBold"/>
              </a:rPr>
              <a:t>Figura 3.1</a:t>
            </a:r>
            <a:r>
              <a:rPr lang="es-MX" sz="1500" b="1">
                <a:solidFill>
                  <a:srgbClr val="111111"/>
                </a:solidFill>
                <a:latin typeface="Inter SemiBold"/>
              </a:rPr>
              <a:t> · Ciclo logístico de la solución</a:t>
            </a:r>
            <a:endParaRPr sz="1500" b="1">
              <a:solidFill>
                <a:srgbClr val="111111"/>
              </a:solidFill>
              <a:latin typeface="Inter SemiBold"/>
            </a:endParaRPr>
          </a:p>
        </p:txBody>
      </p:sp>
      <p:pic>
        <p:nvPicPr>
          <p:cNvPr id="3" name="Imagen 2" descr="Figura 3.1. Ciclo logístico de la solución (Subdocumento 3)">
            <a:extLst>
              <a:ext uri="{FF2B5EF4-FFF2-40B4-BE49-F238E27FC236}">
                <a16:creationId xmlns:a16="http://schemas.microsoft.com/office/drawing/2014/main" id="{D72B3F25-5A7A-C400-CB14-B1094A8AD9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4400" y="4125982"/>
            <a:ext cx="5029200" cy="4275316"/>
          </a:xfrm>
          <a:prstGeom prst="rect">
            <a:avLst/>
          </a:prstGeom>
        </p:spPr>
      </p:pic>
      <p:sp>
        <p:nvSpPr>
          <p:cNvPr id="4" name="Rounded Rectangle 59">
            <a:extLst>
              <a:ext uri="{FF2B5EF4-FFF2-40B4-BE49-F238E27FC236}">
                <a16:creationId xmlns:a16="http://schemas.microsoft.com/office/drawing/2014/main" id="{787044DC-A86F-E15B-8BAC-1D67D1983847}"/>
              </a:ext>
            </a:extLst>
          </p:cNvPr>
          <p:cNvSpPr/>
          <p:nvPr/>
        </p:nvSpPr>
        <p:spPr>
          <a:xfrm>
            <a:off x="6446520" y="3246120"/>
            <a:ext cx="5394960" cy="5577840"/>
          </a:xfrm>
          <a:prstGeom prst="roundRect">
            <a:avLst>
              <a:gd name="adj" fmla="val 2051"/>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 name="TextBox 60">
            <a:extLst>
              <a:ext uri="{FF2B5EF4-FFF2-40B4-BE49-F238E27FC236}">
                <a16:creationId xmlns:a16="http://schemas.microsoft.com/office/drawing/2014/main" id="{074CA3D9-ED57-33D3-EACA-F6D0A464873A}"/>
              </a:ext>
            </a:extLst>
          </p:cNvPr>
          <p:cNvSpPr txBox="1"/>
          <p:nvPr/>
        </p:nvSpPr>
        <p:spPr>
          <a:xfrm>
            <a:off x="6583680" y="3355848"/>
            <a:ext cx="5120640" cy="230832"/>
          </a:xfrm>
          <a:prstGeom prst="rect">
            <a:avLst/>
          </a:prstGeom>
          <a:noFill/>
        </p:spPr>
        <p:txBody>
          <a:bodyPr wrap="square" lIns="0" tIns="0" rIns="0" bIns="0" anchor="t">
            <a:spAutoFit/>
          </a:bodyPr>
          <a:lstStyle/>
          <a:p>
            <a:pPr algn="l"/>
            <a:r>
              <a:rPr lang="es-MX" sz="1500" b="1">
                <a:solidFill>
                  <a:srgbClr val="E8641B"/>
                </a:solidFill>
                <a:latin typeface="Inter SemiBold"/>
              </a:rPr>
              <a:t>Figura 3.2</a:t>
            </a:r>
            <a:r>
              <a:rPr lang="es-MX" sz="1500" b="1">
                <a:solidFill>
                  <a:srgbClr val="111111"/>
                </a:solidFill>
                <a:latin typeface="Inter SemiBold"/>
              </a:rPr>
              <a:t> · Trazabilidad y cadena de frío</a:t>
            </a:r>
            <a:endParaRPr sz="1500" b="1">
              <a:solidFill>
                <a:srgbClr val="111111"/>
              </a:solidFill>
              <a:latin typeface="Inter SemiBold"/>
            </a:endParaRPr>
          </a:p>
        </p:txBody>
      </p:sp>
      <p:pic>
        <p:nvPicPr>
          <p:cNvPr id="7" name="Imagen 6" descr="Figura 3.2. Trazabilidad y cadena de frío (Subdocumento 3)">
            <a:extLst>
              <a:ext uri="{FF2B5EF4-FFF2-40B4-BE49-F238E27FC236}">
                <a16:creationId xmlns:a16="http://schemas.microsoft.com/office/drawing/2014/main" id="{80A3D5D0-F4CA-94AF-28AD-942CA781A51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29400" y="4037973"/>
            <a:ext cx="5029200" cy="4451335"/>
          </a:xfrm>
          <a:prstGeom prst="rect">
            <a:avLst/>
          </a:prstGeom>
        </p:spPr>
      </p:pic>
      <p:sp>
        <p:nvSpPr>
          <p:cNvPr id="8" name="Rounded Rectangle 59">
            <a:extLst>
              <a:ext uri="{FF2B5EF4-FFF2-40B4-BE49-F238E27FC236}">
                <a16:creationId xmlns:a16="http://schemas.microsoft.com/office/drawing/2014/main" id="{E5F0E500-C855-DECC-6BFC-71A2AE57B23F}"/>
              </a:ext>
            </a:extLst>
          </p:cNvPr>
          <p:cNvSpPr/>
          <p:nvPr/>
        </p:nvSpPr>
        <p:spPr>
          <a:xfrm>
            <a:off x="12161520" y="3246120"/>
            <a:ext cx="5394960" cy="5577840"/>
          </a:xfrm>
          <a:prstGeom prst="roundRect">
            <a:avLst>
              <a:gd name="adj" fmla="val 2051"/>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 name="TextBox 60">
            <a:extLst>
              <a:ext uri="{FF2B5EF4-FFF2-40B4-BE49-F238E27FC236}">
                <a16:creationId xmlns:a16="http://schemas.microsoft.com/office/drawing/2014/main" id="{ABE91C2D-E5B7-0671-1030-F6F0E08974C1}"/>
              </a:ext>
            </a:extLst>
          </p:cNvPr>
          <p:cNvSpPr txBox="1"/>
          <p:nvPr/>
        </p:nvSpPr>
        <p:spPr>
          <a:xfrm>
            <a:off x="12298680" y="3355848"/>
            <a:ext cx="5120640" cy="230832"/>
          </a:xfrm>
          <a:prstGeom prst="rect">
            <a:avLst/>
          </a:prstGeom>
          <a:noFill/>
        </p:spPr>
        <p:txBody>
          <a:bodyPr wrap="square" lIns="0" tIns="0" rIns="0" bIns="0" anchor="t">
            <a:spAutoFit/>
          </a:bodyPr>
          <a:lstStyle/>
          <a:p>
            <a:pPr algn="l"/>
            <a:r>
              <a:rPr lang="es-MX" sz="1500" b="1">
                <a:solidFill>
                  <a:srgbClr val="E8641B"/>
                </a:solidFill>
                <a:latin typeface="Inter SemiBold"/>
              </a:rPr>
              <a:t>Figura 3.3</a:t>
            </a:r>
            <a:r>
              <a:rPr lang="es-MX" sz="1500" b="1">
                <a:solidFill>
                  <a:srgbClr val="111111"/>
                </a:solidFill>
                <a:latin typeface="Inter SemiBold"/>
              </a:rPr>
              <a:t> · Continuidad durante cortes</a:t>
            </a:r>
            <a:endParaRPr sz="1500" b="1">
              <a:solidFill>
                <a:srgbClr val="111111"/>
              </a:solidFill>
              <a:latin typeface="Inter SemiBold"/>
            </a:endParaRPr>
          </a:p>
        </p:txBody>
      </p:sp>
      <p:pic>
        <p:nvPicPr>
          <p:cNvPr id="11" name="Imagen 10" descr="Figura 3.3. Continuidad durante cortes (Subdocumento 3)">
            <a:extLst>
              <a:ext uri="{FF2B5EF4-FFF2-40B4-BE49-F238E27FC236}">
                <a16:creationId xmlns:a16="http://schemas.microsoft.com/office/drawing/2014/main" id="{E85E8279-F015-96A5-C1B9-455E8CCC433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344400" y="5587163"/>
            <a:ext cx="5029200" cy="1352954"/>
          </a:xfrm>
          <a:prstGeom prst="rect">
            <a:avLst/>
          </a:prstGeom>
        </p:spPr>
      </p:pic>
      <p:sp>
        <p:nvSpPr>
          <p:cNvPr id="62"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06</a:t>
            </a:r>
          </a:p>
        </p:txBody>
      </p:sp>
    </p:spTree>
    <p:extLst>
      <p:ext uri="{BB962C8B-B14F-4D97-AF65-F5344CB8AC3E}">
        <p14:creationId xmlns:p14="http://schemas.microsoft.com/office/powerpoint/2010/main" val="2372939904"/>
      </p:ext>
    </p:extLst>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Mapa de módulos</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Interfaces → módulos → sistemas externos · la etiqueta indica la etapa de producción</a:t>
            </a:r>
          </a:p>
        </p:txBody>
      </p:sp>
      <p:sp>
        <p:nvSpPr>
          <p:cNvPr id="51" name="TextBox 50"/>
          <p:cNvSpPr txBox="1"/>
          <p:nvPr/>
        </p:nvSpPr>
        <p:spPr>
          <a:xfrm>
            <a:off x="548640" y="3246120"/>
            <a:ext cx="2468880" cy="274320"/>
          </a:xfrm>
          <a:prstGeom prst="rect">
            <a:avLst/>
          </a:prstGeom>
          <a:noFill/>
        </p:spPr>
        <p:txBody>
          <a:bodyPr wrap="square" lIns="0" tIns="0" rIns="0" bIns="0" anchor="t">
            <a:spAutoFit/>
          </a:bodyPr>
          <a:lstStyle/>
          <a:p>
            <a:pPr algn="l"/>
            <a:r>
              <a:rPr sz="1400" b="1">
                <a:solidFill>
                  <a:srgbClr val="E8641B"/>
                </a:solidFill>
                <a:latin typeface="Inter SemiBold"/>
              </a:rPr>
              <a:t>INTERFACES</a:t>
            </a:r>
          </a:p>
        </p:txBody>
      </p:sp>
      <p:sp>
        <p:nvSpPr>
          <p:cNvPr id="52" name="Rounded Rectangle 51"/>
          <p:cNvSpPr/>
          <p:nvPr/>
        </p:nvSpPr>
        <p:spPr>
          <a:xfrm>
            <a:off x="548640" y="3611880"/>
            <a:ext cx="2423160" cy="512064"/>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11111"/>
                </a:solidFill>
                <a:latin typeface="Inter SemiBold"/>
              </a:rPr>
              <a:t>App Preventa</a:t>
            </a:r>
          </a:p>
        </p:txBody>
      </p:sp>
      <p:sp>
        <p:nvSpPr>
          <p:cNvPr id="53" name="Rounded Rectangle 52"/>
          <p:cNvSpPr/>
          <p:nvPr/>
        </p:nvSpPr>
        <p:spPr>
          <a:xfrm>
            <a:off x="548640" y="4233672"/>
            <a:ext cx="2423160" cy="512064"/>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11111"/>
                </a:solidFill>
                <a:latin typeface="Inter SemiBold"/>
              </a:rPr>
              <a:t>App Reparto</a:t>
            </a:r>
          </a:p>
        </p:txBody>
      </p:sp>
      <p:sp>
        <p:nvSpPr>
          <p:cNvPr id="54" name="Rounded Rectangle 53"/>
          <p:cNvSpPr/>
          <p:nvPr/>
        </p:nvSpPr>
        <p:spPr>
          <a:xfrm>
            <a:off x="548640" y="4855464"/>
            <a:ext cx="2423160" cy="512064"/>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11111"/>
                </a:solidFill>
                <a:latin typeface="Inter SemiBold"/>
              </a:rPr>
              <a:t>App Bodega</a:t>
            </a:r>
          </a:p>
        </p:txBody>
      </p:sp>
      <p:sp>
        <p:nvSpPr>
          <p:cNvPr id="55" name="Rounded Rectangle 54"/>
          <p:cNvSpPr/>
          <p:nvPr/>
        </p:nvSpPr>
        <p:spPr>
          <a:xfrm>
            <a:off x="548640" y="5477256"/>
            <a:ext cx="2423160" cy="512064"/>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11111"/>
                </a:solidFill>
                <a:latin typeface="Inter SemiBold"/>
              </a:rPr>
              <a:t>Portal Clientes</a:t>
            </a:r>
          </a:p>
        </p:txBody>
      </p:sp>
      <p:sp>
        <p:nvSpPr>
          <p:cNvPr id="56" name="Rounded Rectangle 55"/>
          <p:cNvSpPr/>
          <p:nvPr/>
        </p:nvSpPr>
        <p:spPr>
          <a:xfrm>
            <a:off x="548640" y="6099048"/>
            <a:ext cx="2423160" cy="512064"/>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11111"/>
                </a:solidFill>
                <a:latin typeface="Inter SemiBold"/>
              </a:rPr>
              <a:t>Portal Transportistas</a:t>
            </a:r>
          </a:p>
        </p:txBody>
      </p:sp>
      <p:sp>
        <p:nvSpPr>
          <p:cNvPr id="57" name="Rounded Rectangle 56"/>
          <p:cNvSpPr/>
          <p:nvPr/>
        </p:nvSpPr>
        <p:spPr>
          <a:xfrm>
            <a:off x="548640" y="6720840"/>
            <a:ext cx="2423160" cy="512064"/>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11111"/>
                </a:solidFill>
                <a:latin typeface="Inter SemiBold"/>
              </a:rPr>
              <a:t>Portal Proveedores</a:t>
            </a:r>
          </a:p>
        </p:txBody>
      </p:sp>
      <p:sp>
        <p:nvSpPr>
          <p:cNvPr id="58" name="Rounded Rectangle 57"/>
          <p:cNvSpPr/>
          <p:nvPr/>
        </p:nvSpPr>
        <p:spPr>
          <a:xfrm>
            <a:off x="548640" y="7342632"/>
            <a:ext cx="2423160" cy="512064"/>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111111"/>
                </a:solidFill>
                <a:latin typeface="Inter SemiBold"/>
              </a:rPr>
              <a:t>Consolas</a:t>
            </a:r>
          </a:p>
        </p:txBody>
      </p:sp>
      <p:cxnSp>
        <p:nvCxnSpPr>
          <p:cNvPr id="59" name="Connector 58"/>
          <p:cNvCxnSpPr/>
          <p:nvPr/>
        </p:nvCxnSpPr>
        <p:spPr>
          <a:xfrm>
            <a:off x="3017520" y="5760720"/>
            <a:ext cx="228600"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3291840" y="3246120"/>
            <a:ext cx="7589520" cy="2212848"/>
          </a:xfrm>
          <a:prstGeom prst="roundRect">
            <a:avLst>
              <a:gd name="adj" fmla="val 5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1" name="TextBox 60"/>
          <p:cNvSpPr txBox="1"/>
          <p:nvPr/>
        </p:nvSpPr>
        <p:spPr>
          <a:xfrm>
            <a:off x="3429000" y="3319272"/>
            <a:ext cx="7315200" cy="320040"/>
          </a:xfrm>
          <a:prstGeom prst="rect">
            <a:avLst/>
          </a:prstGeom>
          <a:noFill/>
        </p:spPr>
        <p:txBody>
          <a:bodyPr wrap="square" lIns="0" tIns="0" rIns="0" bIns="0" anchor="t">
            <a:spAutoFit/>
          </a:bodyPr>
          <a:lstStyle/>
          <a:p>
            <a:pPr algn="l"/>
            <a:r>
              <a:rPr sz="1500" b="1">
                <a:solidFill>
                  <a:srgbClr val="3C3C3C"/>
                </a:solidFill>
                <a:latin typeface="Inter SemiBold"/>
              </a:rPr>
              <a:t>Bodega y calidad</a:t>
            </a:r>
          </a:p>
        </p:txBody>
      </p:sp>
      <p:sp>
        <p:nvSpPr>
          <p:cNvPr id="62" name="Rounded Rectangle 61"/>
          <p:cNvSpPr/>
          <p:nvPr/>
        </p:nvSpPr>
        <p:spPr>
          <a:xfrm>
            <a:off x="3429000" y="3685031"/>
            <a:ext cx="1371600" cy="162763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3" name="TextBox 62"/>
          <p:cNvSpPr txBox="1"/>
          <p:nvPr/>
        </p:nvSpPr>
        <p:spPr>
          <a:xfrm>
            <a:off x="3520440" y="3758183"/>
            <a:ext cx="1188720" cy="274320"/>
          </a:xfrm>
          <a:prstGeom prst="rect">
            <a:avLst/>
          </a:prstGeom>
          <a:noFill/>
        </p:spPr>
        <p:txBody>
          <a:bodyPr wrap="square" lIns="0" tIns="0" rIns="0" bIns="0" anchor="t">
            <a:spAutoFit/>
          </a:bodyPr>
          <a:lstStyle/>
          <a:p>
            <a:pPr algn="l"/>
            <a:r>
              <a:rPr sz="1500" b="1">
                <a:solidFill>
                  <a:srgbClr val="E8641B"/>
                </a:solidFill>
                <a:latin typeface="Inter SemiBold"/>
              </a:rPr>
              <a:t>M1</a:t>
            </a:r>
          </a:p>
        </p:txBody>
      </p:sp>
      <p:sp>
        <p:nvSpPr>
          <p:cNvPr id="64" name="TextBox 63"/>
          <p:cNvSpPr txBox="1"/>
          <p:nvPr/>
        </p:nvSpPr>
        <p:spPr>
          <a:xfrm>
            <a:off x="3520440" y="4050791"/>
            <a:ext cx="1188720" cy="822960"/>
          </a:xfrm>
          <a:prstGeom prst="rect">
            <a:avLst/>
          </a:prstGeom>
          <a:noFill/>
        </p:spPr>
        <p:txBody>
          <a:bodyPr wrap="square" lIns="0" tIns="0" rIns="0" bIns="0" anchor="t">
            <a:spAutoFit/>
          </a:bodyPr>
          <a:lstStyle/>
          <a:p>
            <a:pPr algn="l"/>
            <a:r>
              <a:rPr sz="1400" b="1">
                <a:solidFill>
                  <a:srgbClr val="111111"/>
                </a:solidFill>
                <a:latin typeface="Inter SemiBold"/>
              </a:rPr>
              <a:t>Recepción</a:t>
            </a:r>
          </a:p>
        </p:txBody>
      </p:sp>
      <p:sp>
        <p:nvSpPr>
          <p:cNvPr id="65" name="Rounded Rectangle 64"/>
          <p:cNvSpPr/>
          <p:nvPr/>
        </p:nvSpPr>
        <p:spPr>
          <a:xfrm>
            <a:off x="3520440" y="4928616"/>
            <a:ext cx="1188720" cy="292608"/>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1</a:t>
            </a:r>
          </a:p>
        </p:txBody>
      </p:sp>
      <p:sp>
        <p:nvSpPr>
          <p:cNvPr id="66" name="Rounded Rectangle 65"/>
          <p:cNvSpPr/>
          <p:nvPr/>
        </p:nvSpPr>
        <p:spPr>
          <a:xfrm>
            <a:off x="4910328" y="3685031"/>
            <a:ext cx="1371600" cy="162763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7" name="TextBox 66"/>
          <p:cNvSpPr txBox="1"/>
          <p:nvPr/>
        </p:nvSpPr>
        <p:spPr>
          <a:xfrm>
            <a:off x="5001768" y="3758183"/>
            <a:ext cx="1188720" cy="274320"/>
          </a:xfrm>
          <a:prstGeom prst="rect">
            <a:avLst/>
          </a:prstGeom>
          <a:noFill/>
        </p:spPr>
        <p:txBody>
          <a:bodyPr wrap="square" lIns="0" tIns="0" rIns="0" bIns="0" anchor="t">
            <a:spAutoFit/>
          </a:bodyPr>
          <a:lstStyle/>
          <a:p>
            <a:pPr algn="l"/>
            <a:r>
              <a:rPr sz="1500" b="1">
                <a:solidFill>
                  <a:srgbClr val="E8641B"/>
                </a:solidFill>
                <a:latin typeface="Inter SemiBold"/>
              </a:rPr>
              <a:t>M2</a:t>
            </a:r>
          </a:p>
        </p:txBody>
      </p:sp>
      <p:sp>
        <p:nvSpPr>
          <p:cNvPr id="68" name="TextBox 67"/>
          <p:cNvSpPr txBox="1"/>
          <p:nvPr/>
        </p:nvSpPr>
        <p:spPr>
          <a:xfrm>
            <a:off x="5001768" y="4050791"/>
            <a:ext cx="1188720" cy="822960"/>
          </a:xfrm>
          <a:prstGeom prst="rect">
            <a:avLst/>
          </a:prstGeom>
          <a:noFill/>
        </p:spPr>
        <p:txBody>
          <a:bodyPr wrap="square" lIns="0" tIns="0" rIns="0" bIns="0" anchor="t">
            <a:spAutoFit/>
          </a:bodyPr>
          <a:lstStyle/>
          <a:p>
            <a:pPr algn="l"/>
            <a:r>
              <a:rPr sz="1400" b="1">
                <a:solidFill>
                  <a:srgbClr val="111111"/>
                </a:solidFill>
                <a:latin typeface="Inter SemiBold"/>
              </a:rPr>
              <a:t>Inventario</a:t>
            </a:r>
          </a:p>
        </p:txBody>
      </p:sp>
      <p:sp>
        <p:nvSpPr>
          <p:cNvPr id="69" name="Rounded Rectangle 68"/>
          <p:cNvSpPr/>
          <p:nvPr/>
        </p:nvSpPr>
        <p:spPr>
          <a:xfrm>
            <a:off x="5001768" y="4928616"/>
            <a:ext cx="1188720" cy="292608"/>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1</a:t>
            </a:r>
          </a:p>
        </p:txBody>
      </p:sp>
      <p:sp>
        <p:nvSpPr>
          <p:cNvPr id="70" name="Rounded Rectangle 69"/>
          <p:cNvSpPr/>
          <p:nvPr/>
        </p:nvSpPr>
        <p:spPr>
          <a:xfrm>
            <a:off x="6391656" y="3685031"/>
            <a:ext cx="1371600" cy="162763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1" name="TextBox 70"/>
          <p:cNvSpPr txBox="1"/>
          <p:nvPr/>
        </p:nvSpPr>
        <p:spPr>
          <a:xfrm>
            <a:off x="6483096" y="3758183"/>
            <a:ext cx="1188720" cy="274320"/>
          </a:xfrm>
          <a:prstGeom prst="rect">
            <a:avLst/>
          </a:prstGeom>
          <a:noFill/>
        </p:spPr>
        <p:txBody>
          <a:bodyPr wrap="square" lIns="0" tIns="0" rIns="0" bIns="0" anchor="t">
            <a:spAutoFit/>
          </a:bodyPr>
          <a:lstStyle/>
          <a:p>
            <a:pPr algn="l"/>
            <a:r>
              <a:rPr sz="1500" b="1">
                <a:solidFill>
                  <a:srgbClr val="E8641B"/>
                </a:solidFill>
                <a:latin typeface="Inter SemiBold"/>
              </a:rPr>
              <a:t>M5</a:t>
            </a:r>
          </a:p>
        </p:txBody>
      </p:sp>
      <p:sp>
        <p:nvSpPr>
          <p:cNvPr id="72" name="TextBox 71"/>
          <p:cNvSpPr txBox="1"/>
          <p:nvPr/>
        </p:nvSpPr>
        <p:spPr>
          <a:xfrm>
            <a:off x="6483096" y="4050791"/>
            <a:ext cx="1188720" cy="822960"/>
          </a:xfrm>
          <a:prstGeom prst="rect">
            <a:avLst/>
          </a:prstGeom>
          <a:noFill/>
        </p:spPr>
        <p:txBody>
          <a:bodyPr wrap="square" lIns="0" tIns="0" rIns="0" bIns="0" anchor="t">
            <a:spAutoFit/>
          </a:bodyPr>
          <a:lstStyle/>
          <a:p>
            <a:pPr algn="l"/>
            <a:r>
              <a:rPr sz="1400" b="1">
                <a:solidFill>
                  <a:srgbClr val="111111"/>
                </a:solidFill>
                <a:latin typeface="Inter SemiBold"/>
              </a:rPr>
              <a:t>Preparación</a:t>
            </a:r>
          </a:p>
        </p:txBody>
      </p:sp>
      <p:sp>
        <p:nvSpPr>
          <p:cNvPr id="73" name="Rounded Rectangle 72"/>
          <p:cNvSpPr/>
          <p:nvPr/>
        </p:nvSpPr>
        <p:spPr>
          <a:xfrm>
            <a:off x="6483096" y="4928616"/>
            <a:ext cx="1188720" cy="292608"/>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1</a:t>
            </a:r>
          </a:p>
        </p:txBody>
      </p:sp>
      <p:sp>
        <p:nvSpPr>
          <p:cNvPr id="74" name="Rounded Rectangle 73"/>
          <p:cNvSpPr/>
          <p:nvPr/>
        </p:nvSpPr>
        <p:spPr>
          <a:xfrm>
            <a:off x="7872983" y="3685031"/>
            <a:ext cx="1371600" cy="1627632"/>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5" name="TextBox 74"/>
          <p:cNvSpPr txBox="1"/>
          <p:nvPr/>
        </p:nvSpPr>
        <p:spPr>
          <a:xfrm>
            <a:off x="7964423" y="3758183"/>
            <a:ext cx="1188720" cy="274320"/>
          </a:xfrm>
          <a:prstGeom prst="rect">
            <a:avLst/>
          </a:prstGeom>
          <a:noFill/>
        </p:spPr>
        <p:txBody>
          <a:bodyPr wrap="square" lIns="0" tIns="0" rIns="0" bIns="0" anchor="t">
            <a:spAutoFit/>
          </a:bodyPr>
          <a:lstStyle/>
          <a:p>
            <a:pPr algn="l"/>
            <a:r>
              <a:rPr sz="1500" b="1">
                <a:solidFill>
                  <a:srgbClr val="FFFFFF"/>
                </a:solidFill>
                <a:latin typeface="Inter SemiBold"/>
              </a:rPr>
              <a:t>M9</a:t>
            </a:r>
          </a:p>
        </p:txBody>
      </p:sp>
      <p:sp>
        <p:nvSpPr>
          <p:cNvPr id="76" name="TextBox 75"/>
          <p:cNvSpPr txBox="1"/>
          <p:nvPr/>
        </p:nvSpPr>
        <p:spPr>
          <a:xfrm>
            <a:off x="7964423" y="4050791"/>
            <a:ext cx="1188720" cy="822960"/>
          </a:xfrm>
          <a:prstGeom prst="rect">
            <a:avLst/>
          </a:prstGeom>
          <a:noFill/>
        </p:spPr>
        <p:txBody>
          <a:bodyPr wrap="square" lIns="0" tIns="0" rIns="0" bIns="0" anchor="t">
            <a:spAutoFit/>
          </a:bodyPr>
          <a:lstStyle/>
          <a:p>
            <a:pPr algn="l"/>
            <a:r>
              <a:rPr sz="1400" b="1">
                <a:solidFill>
                  <a:srgbClr val="FFFFFF"/>
                </a:solidFill>
                <a:latin typeface="Inter SemiBold"/>
              </a:rPr>
              <a:t>Calidad y trazabilidad</a:t>
            </a:r>
          </a:p>
        </p:txBody>
      </p:sp>
      <p:sp>
        <p:nvSpPr>
          <p:cNvPr id="77" name="Rounded Rectangle 76"/>
          <p:cNvSpPr/>
          <p:nvPr/>
        </p:nvSpPr>
        <p:spPr>
          <a:xfrm>
            <a:off x="7964423" y="4928616"/>
            <a:ext cx="1188720" cy="292608"/>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1</a:t>
            </a:r>
          </a:p>
        </p:txBody>
      </p:sp>
      <p:sp>
        <p:nvSpPr>
          <p:cNvPr id="78" name="Rounded Rectangle 77"/>
          <p:cNvSpPr/>
          <p:nvPr/>
        </p:nvSpPr>
        <p:spPr>
          <a:xfrm>
            <a:off x="9354312" y="3685031"/>
            <a:ext cx="1371600" cy="162763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9" name="TextBox 78"/>
          <p:cNvSpPr txBox="1"/>
          <p:nvPr/>
        </p:nvSpPr>
        <p:spPr>
          <a:xfrm>
            <a:off x="9445752" y="3758183"/>
            <a:ext cx="1188720" cy="274320"/>
          </a:xfrm>
          <a:prstGeom prst="rect">
            <a:avLst/>
          </a:prstGeom>
          <a:noFill/>
        </p:spPr>
        <p:txBody>
          <a:bodyPr wrap="square" lIns="0" tIns="0" rIns="0" bIns="0" anchor="t">
            <a:spAutoFit/>
          </a:bodyPr>
          <a:lstStyle/>
          <a:p>
            <a:pPr algn="l"/>
            <a:r>
              <a:rPr sz="1500" b="1">
                <a:solidFill>
                  <a:srgbClr val="E8641B"/>
                </a:solidFill>
                <a:latin typeface="Inter SemiBold"/>
              </a:rPr>
              <a:t>M12</a:t>
            </a:r>
          </a:p>
        </p:txBody>
      </p:sp>
      <p:sp>
        <p:nvSpPr>
          <p:cNvPr id="80" name="TextBox 79"/>
          <p:cNvSpPr txBox="1"/>
          <p:nvPr/>
        </p:nvSpPr>
        <p:spPr>
          <a:xfrm>
            <a:off x="9445752" y="4050791"/>
            <a:ext cx="1188720" cy="822960"/>
          </a:xfrm>
          <a:prstGeom prst="rect">
            <a:avLst/>
          </a:prstGeom>
          <a:noFill/>
        </p:spPr>
        <p:txBody>
          <a:bodyPr wrap="square" lIns="0" tIns="0" rIns="0" bIns="0" anchor="t">
            <a:spAutoFit/>
          </a:bodyPr>
          <a:lstStyle/>
          <a:p>
            <a:pPr algn="l"/>
            <a:r>
              <a:rPr sz="1400" b="1">
                <a:solidFill>
                  <a:srgbClr val="111111"/>
                </a:solidFill>
                <a:latin typeface="Inter SemiBold"/>
              </a:rPr>
              <a:t>Telemetría</a:t>
            </a:r>
          </a:p>
        </p:txBody>
      </p:sp>
      <p:sp>
        <p:nvSpPr>
          <p:cNvPr id="81" name="Rounded Rectangle 80"/>
          <p:cNvSpPr/>
          <p:nvPr/>
        </p:nvSpPr>
        <p:spPr>
          <a:xfrm>
            <a:off x="9445752" y="4928616"/>
            <a:ext cx="1188720" cy="292608"/>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1</a:t>
            </a:r>
          </a:p>
        </p:txBody>
      </p:sp>
      <p:sp>
        <p:nvSpPr>
          <p:cNvPr id="82" name="Rounded Rectangle 81"/>
          <p:cNvSpPr/>
          <p:nvPr/>
        </p:nvSpPr>
        <p:spPr>
          <a:xfrm>
            <a:off x="11064240" y="3246120"/>
            <a:ext cx="3200400" cy="2212848"/>
          </a:xfrm>
          <a:prstGeom prst="roundRect">
            <a:avLst>
              <a:gd name="adj" fmla="val 5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3" name="TextBox 82"/>
          <p:cNvSpPr txBox="1"/>
          <p:nvPr/>
        </p:nvSpPr>
        <p:spPr>
          <a:xfrm>
            <a:off x="11201400" y="3319272"/>
            <a:ext cx="2926080" cy="320040"/>
          </a:xfrm>
          <a:prstGeom prst="rect">
            <a:avLst/>
          </a:prstGeom>
          <a:noFill/>
        </p:spPr>
        <p:txBody>
          <a:bodyPr wrap="square" lIns="0" tIns="0" rIns="0" bIns="0" anchor="t">
            <a:spAutoFit/>
          </a:bodyPr>
          <a:lstStyle/>
          <a:p>
            <a:pPr algn="l"/>
            <a:r>
              <a:rPr sz="1500" b="1">
                <a:solidFill>
                  <a:srgbClr val="3C3C3C"/>
                </a:solidFill>
                <a:latin typeface="Inter SemiBold"/>
              </a:rPr>
              <a:t>Canal moderno</a:t>
            </a:r>
          </a:p>
        </p:txBody>
      </p:sp>
      <p:sp>
        <p:nvSpPr>
          <p:cNvPr id="84" name="Rounded Rectangle 83"/>
          <p:cNvSpPr/>
          <p:nvPr/>
        </p:nvSpPr>
        <p:spPr>
          <a:xfrm>
            <a:off x="11201400" y="3685031"/>
            <a:ext cx="1371600" cy="162763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5" name="TextBox 84"/>
          <p:cNvSpPr txBox="1"/>
          <p:nvPr/>
        </p:nvSpPr>
        <p:spPr>
          <a:xfrm>
            <a:off x="11292840" y="3758183"/>
            <a:ext cx="1188720" cy="274320"/>
          </a:xfrm>
          <a:prstGeom prst="rect">
            <a:avLst/>
          </a:prstGeom>
          <a:noFill/>
        </p:spPr>
        <p:txBody>
          <a:bodyPr wrap="square" lIns="0" tIns="0" rIns="0" bIns="0" anchor="t">
            <a:spAutoFit/>
          </a:bodyPr>
          <a:lstStyle/>
          <a:p>
            <a:pPr algn="l"/>
            <a:r>
              <a:rPr sz="1500" b="1">
                <a:solidFill>
                  <a:srgbClr val="E8641B"/>
                </a:solidFill>
                <a:latin typeface="Inter SemiBold"/>
              </a:rPr>
              <a:t>M11</a:t>
            </a:r>
          </a:p>
        </p:txBody>
      </p:sp>
      <p:sp>
        <p:nvSpPr>
          <p:cNvPr id="86" name="TextBox 85"/>
          <p:cNvSpPr txBox="1"/>
          <p:nvPr/>
        </p:nvSpPr>
        <p:spPr>
          <a:xfrm>
            <a:off x="11292840" y="4050791"/>
            <a:ext cx="1188720" cy="822960"/>
          </a:xfrm>
          <a:prstGeom prst="rect">
            <a:avLst/>
          </a:prstGeom>
          <a:noFill/>
        </p:spPr>
        <p:txBody>
          <a:bodyPr wrap="square" lIns="0" tIns="0" rIns="0" bIns="0" anchor="t">
            <a:spAutoFit/>
          </a:bodyPr>
          <a:lstStyle/>
          <a:p>
            <a:pPr algn="l"/>
            <a:r>
              <a:rPr sz="1400" b="1">
                <a:solidFill>
                  <a:srgbClr val="111111"/>
                </a:solidFill>
                <a:latin typeface="Inter SemiBold"/>
              </a:rPr>
              <a:t>EDI</a:t>
            </a:r>
          </a:p>
        </p:txBody>
      </p:sp>
      <p:sp>
        <p:nvSpPr>
          <p:cNvPr id="87" name="Rounded Rectangle 86"/>
          <p:cNvSpPr/>
          <p:nvPr/>
        </p:nvSpPr>
        <p:spPr>
          <a:xfrm>
            <a:off x="11292840" y="4928616"/>
            <a:ext cx="1188720" cy="29260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2</a:t>
            </a:r>
          </a:p>
        </p:txBody>
      </p:sp>
      <p:sp>
        <p:nvSpPr>
          <p:cNvPr id="88" name="TextBox 87"/>
          <p:cNvSpPr txBox="1"/>
          <p:nvPr/>
        </p:nvSpPr>
        <p:spPr>
          <a:xfrm>
            <a:off x="12682728" y="3749039"/>
            <a:ext cx="1444751" cy="1572768"/>
          </a:xfrm>
          <a:prstGeom prst="rect">
            <a:avLst/>
          </a:prstGeom>
          <a:noFill/>
        </p:spPr>
        <p:txBody>
          <a:bodyPr wrap="square" lIns="0" tIns="0" rIns="0" bIns="0" anchor="t">
            <a:spAutoFit/>
          </a:bodyPr>
          <a:lstStyle/>
          <a:p>
            <a:pPr algn="l"/>
            <a:r>
              <a:rPr sz="1400" b="0">
                <a:solidFill>
                  <a:srgbClr val="606060"/>
                </a:solidFill>
                <a:latin typeface="Inter"/>
              </a:rPr>
              <a:t>Pedido electrónico → M3</a:t>
            </a:r>
          </a:p>
        </p:txBody>
      </p:sp>
      <p:sp>
        <p:nvSpPr>
          <p:cNvPr id="89" name="Rounded Rectangle 88"/>
          <p:cNvSpPr/>
          <p:nvPr/>
        </p:nvSpPr>
        <p:spPr>
          <a:xfrm>
            <a:off x="3291840" y="5596128"/>
            <a:ext cx="6126480" cy="2212848"/>
          </a:xfrm>
          <a:prstGeom prst="roundRect">
            <a:avLst>
              <a:gd name="adj" fmla="val 5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0" name="TextBox 89"/>
          <p:cNvSpPr txBox="1"/>
          <p:nvPr/>
        </p:nvSpPr>
        <p:spPr>
          <a:xfrm>
            <a:off x="3429000" y="5669280"/>
            <a:ext cx="5852160" cy="320040"/>
          </a:xfrm>
          <a:prstGeom prst="rect">
            <a:avLst/>
          </a:prstGeom>
          <a:noFill/>
        </p:spPr>
        <p:txBody>
          <a:bodyPr wrap="square" lIns="0" tIns="0" rIns="0" bIns="0" anchor="t">
            <a:spAutoFit/>
          </a:bodyPr>
          <a:lstStyle/>
          <a:p>
            <a:pPr algn="l"/>
            <a:r>
              <a:rPr sz="1500" b="1">
                <a:solidFill>
                  <a:srgbClr val="3C3C3C"/>
                </a:solidFill>
                <a:latin typeface="Inter SemiBold"/>
              </a:rPr>
              <a:t>Preventa, rutas y reparto</a:t>
            </a:r>
          </a:p>
        </p:txBody>
      </p:sp>
      <p:sp>
        <p:nvSpPr>
          <p:cNvPr id="91" name="Rounded Rectangle 90"/>
          <p:cNvSpPr/>
          <p:nvPr/>
        </p:nvSpPr>
        <p:spPr>
          <a:xfrm>
            <a:off x="3429000" y="6035040"/>
            <a:ext cx="1371600" cy="162763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2" name="TextBox 91"/>
          <p:cNvSpPr txBox="1"/>
          <p:nvPr/>
        </p:nvSpPr>
        <p:spPr>
          <a:xfrm>
            <a:off x="3520440" y="6108192"/>
            <a:ext cx="1188720" cy="274320"/>
          </a:xfrm>
          <a:prstGeom prst="rect">
            <a:avLst/>
          </a:prstGeom>
          <a:noFill/>
        </p:spPr>
        <p:txBody>
          <a:bodyPr wrap="square" lIns="0" tIns="0" rIns="0" bIns="0" anchor="t">
            <a:spAutoFit/>
          </a:bodyPr>
          <a:lstStyle/>
          <a:p>
            <a:pPr algn="l"/>
            <a:r>
              <a:rPr sz="1500" b="1">
                <a:solidFill>
                  <a:srgbClr val="E8641B"/>
                </a:solidFill>
                <a:latin typeface="Inter SemiBold"/>
              </a:rPr>
              <a:t>M3</a:t>
            </a:r>
          </a:p>
        </p:txBody>
      </p:sp>
      <p:sp>
        <p:nvSpPr>
          <p:cNvPr id="93" name="TextBox 92"/>
          <p:cNvSpPr txBox="1"/>
          <p:nvPr/>
        </p:nvSpPr>
        <p:spPr>
          <a:xfrm>
            <a:off x="3520440" y="6400800"/>
            <a:ext cx="1188720" cy="822960"/>
          </a:xfrm>
          <a:prstGeom prst="rect">
            <a:avLst/>
          </a:prstGeom>
          <a:noFill/>
        </p:spPr>
        <p:txBody>
          <a:bodyPr wrap="square" lIns="0" tIns="0" rIns="0" bIns="0" anchor="t">
            <a:spAutoFit/>
          </a:bodyPr>
          <a:lstStyle/>
          <a:p>
            <a:pPr algn="l"/>
            <a:r>
              <a:rPr sz="1400" b="1">
                <a:solidFill>
                  <a:srgbClr val="111111"/>
                </a:solidFill>
                <a:latin typeface="Inter SemiBold"/>
              </a:rPr>
              <a:t>Preventa</a:t>
            </a:r>
          </a:p>
        </p:txBody>
      </p:sp>
      <p:sp>
        <p:nvSpPr>
          <p:cNvPr id="94" name="Rounded Rectangle 93"/>
          <p:cNvSpPr/>
          <p:nvPr/>
        </p:nvSpPr>
        <p:spPr>
          <a:xfrm>
            <a:off x="3520440" y="7278624"/>
            <a:ext cx="1188720" cy="292608"/>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1</a:t>
            </a:r>
          </a:p>
        </p:txBody>
      </p:sp>
      <p:sp>
        <p:nvSpPr>
          <p:cNvPr id="95" name="Rounded Rectangle 94"/>
          <p:cNvSpPr/>
          <p:nvPr/>
        </p:nvSpPr>
        <p:spPr>
          <a:xfrm>
            <a:off x="4910328" y="6035040"/>
            <a:ext cx="1371600" cy="162763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6" name="TextBox 95"/>
          <p:cNvSpPr txBox="1"/>
          <p:nvPr/>
        </p:nvSpPr>
        <p:spPr>
          <a:xfrm>
            <a:off x="5001768" y="6108192"/>
            <a:ext cx="1188720" cy="274320"/>
          </a:xfrm>
          <a:prstGeom prst="rect">
            <a:avLst/>
          </a:prstGeom>
          <a:noFill/>
        </p:spPr>
        <p:txBody>
          <a:bodyPr wrap="square" lIns="0" tIns="0" rIns="0" bIns="0" anchor="t">
            <a:spAutoFit/>
          </a:bodyPr>
          <a:lstStyle/>
          <a:p>
            <a:pPr algn="l"/>
            <a:r>
              <a:rPr sz="1500" b="1">
                <a:solidFill>
                  <a:srgbClr val="E8641B"/>
                </a:solidFill>
                <a:latin typeface="Inter SemiBold"/>
              </a:rPr>
              <a:t>M4</a:t>
            </a:r>
          </a:p>
        </p:txBody>
      </p:sp>
      <p:sp>
        <p:nvSpPr>
          <p:cNvPr id="97" name="TextBox 96"/>
          <p:cNvSpPr txBox="1"/>
          <p:nvPr/>
        </p:nvSpPr>
        <p:spPr>
          <a:xfrm>
            <a:off x="5001768" y="6400800"/>
            <a:ext cx="1188720" cy="822960"/>
          </a:xfrm>
          <a:prstGeom prst="rect">
            <a:avLst/>
          </a:prstGeom>
          <a:noFill/>
        </p:spPr>
        <p:txBody>
          <a:bodyPr wrap="square" lIns="0" tIns="0" rIns="0" bIns="0" anchor="t">
            <a:spAutoFit/>
          </a:bodyPr>
          <a:lstStyle/>
          <a:p>
            <a:pPr algn="l"/>
            <a:r>
              <a:rPr sz="1400" b="1">
                <a:solidFill>
                  <a:srgbClr val="111111"/>
                </a:solidFill>
                <a:latin typeface="Inter SemiBold"/>
              </a:rPr>
              <a:t>Rutas + GIS</a:t>
            </a:r>
          </a:p>
        </p:txBody>
      </p:sp>
      <p:sp>
        <p:nvSpPr>
          <p:cNvPr id="98" name="Rounded Rectangle 97"/>
          <p:cNvSpPr/>
          <p:nvPr/>
        </p:nvSpPr>
        <p:spPr>
          <a:xfrm>
            <a:off x="5001768" y="7278624"/>
            <a:ext cx="1188720" cy="292608"/>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1</a:t>
            </a:r>
          </a:p>
        </p:txBody>
      </p:sp>
      <p:sp>
        <p:nvSpPr>
          <p:cNvPr id="99" name="Rounded Rectangle 98"/>
          <p:cNvSpPr/>
          <p:nvPr/>
        </p:nvSpPr>
        <p:spPr>
          <a:xfrm>
            <a:off x="6391656" y="6035040"/>
            <a:ext cx="1371600" cy="162763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0" name="TextBox 99"/>
          <p:cNvSpPr txBox="1"/>
          <p:nvPr/>
        </p:nvSpPr>
        <p:spPr>
          <a:xfrm>
            <a:off x="6483096" y="6108192"/>
            <a:ext cx="1188720" cy="274320"/>
          </a:xfrm>
          <a:prstGeom prst="rect">
            <a:avLst/>
          </a:prstGeom>
          <a:noFill/>
        </p:spPr>
        <p:txBody>
          <a:bodyPr wrap="square" lIns="0" tIns="0" rIns="0" bIns="0" anchor="t">
            <a:spAutoFit/>
          </a:bodyPr>
          <a:lstStyle/>
          <a:p>
            <a:pPr algn="l"/>
            <a:r>
              <a:rPr sz="1500" b="1">
                <a:solidFill>
                  <a:srgbClr val="E8641B"/>
                </a:solidFill>
                <a:latin typeface="Inter SemiBold"/>
              </a:rPr>
              <a:t>M6</a:t>
            </a:r>
          </a:p>
        </p:txBody>
      </p:sp>
      <p:sp>
        <p:nvSpPr>
          <p:cNvPr id="101" name="TextBox 100"/>
          <p:cNvSpPr txBox="1"/>
          <p:nvPr/>
        </p:nvSpPr>
        <p:spPr>
          <a:xfrm>
            <a:off x="6483096" y="6400800"/>
            <a:ext cx="1188720" cy="822960"/>
          </a:xfrm>
          <a:prstGeom prst="rect">
            <a:avLst/>
          </a:prstGeom>
          <a:noFill/>
        </p:spPr>
        <p:txBody>
          <a:bodyPr wrap="square" lIns="0" tIns="0" rIns="0" bIns="0" anchor="t">
            <a:spAutoFit/>
          </a:bodyPr>
          <a:lstStyle/>
          <a:p>
            <a:pPr algn="l"/>
            <a:r>
              <a:rPr sz="1400" b="1">
                <a:solidFill>
                  <a:srgbClr val="111111"/>
                </a:solidFill>
                <a:latin typeface="Inter SemiBold"/>
              </a:rPr>
              <a:t>Reparto</a:t>
            </a:r>
          </a:p>
        </p:txBody>
      </p:sp>
      <p:sp>
        <p:nvSpPr>
          <p:cNvPr id="102" name="Rounded Rectangle 101"/>
          <p:cNvSpPr/>
          <p:nvPr/>
        </p:nvSpPr>
        <p:spPr>
          <a:xfrm>
            <a:off x="6483096" y="7278624"/>
            <a:ext cx="1188720" cy="292608"/>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1</a:t>
            </a:r>
          </a:p>
        </p:txBody>
      </p:sp>
      <p:sp>
        <p:nvSpPr>
          <p:cNvPr id="103" name="Rounded Rectangle 102"/>
          <p:cNvSpPr/>
          <p:nvPr/>
        </p:nvSpPr>
        <p:spPr>
          <a:xfrm>
            <a:off x="7872983" y="6035040"/>
            <a:ext cx="1371600" cy="162763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4" name="TextBox 103"/>
          <p:cNvSpPr txBox="1"/>
          <p:nvPr/>
        </p:nvSpPr>
        <p:spPr>
          <a:xfrm>
            <a:off x="7964423" y="6108192"/>
            <a:ext cx="1188720" cy="274320"/>
          </a:xfrm>
          <a:prstGeom prst="rect">
            <a:avLst/>
          </a:prstGeom>
          <a:noFill/>
        </p:spPr>
        <p:txBody>
          <a:bodyPr wrap="square" lIns="0" tIns="0" rIns="0" bIns="0" anchor="t">
            <a:spAutoFit/>
          </a:bodyPr>
          <a:lstStyle/>
          <a:p>
            <a:pPr algn="l"/>
            <a:r>
              <a:rPr sz="1500" b="1">
                <a:solidFill>
                  <a:srgbClr val="E8641B"/>
                </a:solidFill>
                <a:latin typeface="Inter SemiBold"/>
              </a:rPr>
              <a:t>M8</a:t>
            </a:r>
          </a:p>
        </p:txBody>
      </p:sp>
      <p:sp>
        <p:nvSpPr>
          <p:cNvPr id="105" name="TextBox 104"/>
          <p:cNvSpPr txBox="1"/>
          <p:nvPr/>
        </p:nvSpPr>
        <p:spPr>
          <a:xfrm>
            <a:off x="7964423" y="6400800"/>
            <a:ext cx="1188720" cy="822960"/>
          </a:xfrm>
          <a:prstGeom prst="rect">
            <a:avLst/>
          </a:prstGeom>
          <a:noFill/>
        </p:spPr>
        <p:txBody>
          <a:bodyPr wrap="square" lIns="0" tIns="0" rIns="0" bIns="0" anchor="t">
            <a:spAutoFit/>
          </a:bodyPr>
          <a:lstStyle/>
          <a:p>
            <a:pPr algn="l"/>
            <a:r>
              <a:rPr sz="1400" b="1">
                <a:solidFill>
                  <a:srgbClr val="111111"/>
                </a:solidFill>
                <a:latin typeface="Inter SemiBold"/>
              </a:rPr>
              <a:t>Devoluciones y envases</a:t>
            </a:r>
          </a:p>
        </p:txBody>
      </p:sp>
      <p:sp>
        <p:nvSpPr>
          <p:cNvPr id="106" name="Rounded Rectangle 105"/>
          <p:cNvSpPr/>
          <p:nvPr/>
        </p:nvSpPr>
        <p:spPr>
          <a:xfrm>
            <a:off x="7964423" y="7278624"/>
            <a:ext cx="1188720" cy="292608"/>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1</a:t>
            </a:r>
          </a:p>
        </p:txBody>
      </p:sp>
      <p:sp>
        <p:nvSpPr>
          <p:cNvPr id="107" name="Rounded Rectangle 106"/>
          <p:cNvSpPr/>
          <p:nvPr/>
        </p:nvSpPr>
        <p:spPr>
          <a:xfrm>
            <a:off x="9601200" y="5596128"/>
            <a:ext cx="4663440" cy="2212848"/>
          </a:xfrm>
          <a:prstGeom prst="roundRect">
            <a:avLst>
              <a:gd name="adj" fmla="val 5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8" name="TextBox 107"/>
          <p:cNvSpPr txBox="1"/>
          <p:nvPr/>
        </p:nvSpPr>
        <p:spPr>
          <a:xfrm>
            <a:off x="9738360" y="5669280"/>
            <a:ext cx="4389120" cy="320040"/>
          </a:xfrm>
          <a:prstGeom prst="rect">
            <a:avLst/>
          </a:prstGeom>
          <a:noFill/>
        </p:spPr>
        <p:txBody>
          <a:bodyPr wrap="square" lIns="0" tIns="0" rIns="0" bIns="0" anchor="t">
            <a:spAutoFit/>
          </a:bodyPr>
          <a:lstStyle/>
          <a:p>
            <a:pPr algn="l"/>
            <a:r>
              <a:rPr sz="1500" b="1">
                <a:solidFill>
                  <a:srgbClr val="3C3C3C"/>
                </a:solidFill>
                <a:latin typeface="Inter SemiBold"/>
              </a:rPr>
              <a:t>Datos y rendición</a:t>
            </a:r>
          </a:p>
        </p:txBody>
      </p:sp>
      <p:sp>
        <p:nvSpPr>
          <p:cNvPr id="109" name="Rounded Rectangle 108"/>
          <p:cNvSpPr/>
          <p:nvPr/>
        </p:nvSpPr>
        <p:spPr>
          <a:xfrm>
            <a:off x="9738360" y="6035040"/>
            <a:ext cx="1371600" cy="162763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10" name="TextBox 109"/>
          <p:cNvSpPr txBox="1"/>
          <p:nvPr/>
        </p:nvSpPr>
        <p:spPr>
          <a:xfrm>
            <a:off x="9829800" y="6108192"/>
            <a:ext cx="1188720" cy="274320"/>
          </a:xfrm>
          <a:prstGeom prst="rect">
            <a:avLst/>
          </a:prstGeom>
          <a:noFill/>
        </p:spPr>
        <p:txBody>
          <a:bodyPr wrap="square" lIns="0" tIns="0" rIns="0" bIns="0" anchor="t">
            <a:spAutoFit/>
          </a:bodyPr>
          <a:lstStyle/>
          <a:p>
            <a:pPr algn="l"/>
            <a:r>
              <a:rPr sz="1500" b="1">
                <a:solidFill>
                  <a:srgbClr val="E8641B"/>
                </a:solidFill>
                <a:latin typeface="Inter SemiBold"/>
              </a:rPr>
              <a:t>M7</a:t>
            </a:r>
          </a:p>
        </p:txBody>
      </p:sp>
      <p:sp>
        <p:nvSpPr>
          <p:cNvPr id="111" name="TextBox 110"/>
          <p:cNvSpPr txBox="1"/>
          <p:nvPr/>
        </p:nvSpPr>
        <p:spPr>
          <a:xfrm>
            <a:off x="9829800" y="6400800"/>
            <a:ext cx="1188720" cy="822960"/>
          </a:xfrm>
          <a:prstGeom prst="rect">
            <a:avLst/>
          </a:prstGeom>
          <a:noFill/>
        </p:spPr>
        <p:txBody>
          <a:bodyPr wrap="square" lIns="0" tIns="0" rIns="0" bIns="0" anchor="t">
            <a:spAutoFit/>
          </a:bodyPr>
          <a:lstStyle/>
          <a:p>
            <a:pPr algn="l"/>
            <a:r>
              <a:rPr sz="1400" b="1">
                <a:solidFill>
                  <a:srgbClr val="111111"/>
                </a:solidFill>
                <a:latin typeface="Inter SemiBold"/>
              </a:rPr>
              <a:t>Cobranza y rendición</a:t>
            </a:r>
          </a:p>
        </p:txBody>
      </p:sp>
      <p:sp>
        <p:nvSpPr>
          <p:cNvPr id="112" name="Rounded Rectangle 111"/>
          <p:cNvSpPr/>
          <p:nvPr/>
        </p:nvSpPr>
        <p:spPr>
          <a:xfrm>
            <a:off x="9829800" y="7278624"/>
            <a:ext cx="1188720" cy="292608"/>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1</a:t>
            </a:r>
          </a:p>
        </p:txBody>
      </p:sp>
      <p:sp>
        <p:nvSpPr>
          <p:cNvPr id="113" name="Rounded Rectangle 112"/>
          <p:cNvSpPr/>
          <p:nvPr/>
        </p:nvSpPr>
        <p:spPr>
          <a:xfrm>
            <a:off x="11219688" y="6035040"/>
            <a:ext cx="1371600" cy="1627632"/>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14" name="TextBox 113"/>
          <p:cNvSpPr txBox="1"/>
          <p:nvPr/>
        </p:nvSpPr>
        <p:spPr>
          <a:xfrm>
            <a:off x="11311128" y="6108192"/>
            <a:ext cx="1188720" cy="274320"/>
          </a:xfrm>
          <a:prstGeom prst="rect">
            <a:avLst/>
          </a:prstGeom>
          <a:noFill/>
        </p:spPr>
        <p:txBody>
          <a:bodyPr wrap="square" lIns="0" tIns="0" rIns="0" bIns="0" anchor="t">
            <a:spAutoFit/>
          </a:bodyPr>
          <a:lstStyle/>
          <a:p>
            <a:pPr algn="l"/>
            <a:r>
              <a:rPr sz="1500" b="1">
                <a:solidFill>
                  <a:srgbClr val="E8641B"/>
                </a:solidFill>
                <a:latin typeface="Inter SemiBold"/>
              </a:rPr>
              <a:t>M10</a:t>
            </a:r>
          </a:p>
        </p:txBody>
      </p:sp>
      <p:sp>
        <p:nvSpPr>
          <p:cNvPr id="115" name="TextBox 114"/>
          <p:cNvSpPr txBox="1"/>
          <p:nvPr/>
        </p:nvSpPr>
        <p:spPr>
          <a:xfrm>
            <a:off x="11311128" y="6400800"/>
            <a:ext cx="1188720" cy="822960"/>
          </a:xfrm>
          <a:prstGeom prst="rect">
            <a:avLst/>
          </a:prstGeom>
          <a:noFill/>
        </p:spPr>
        <p:txBody>
          <a:bodyPr wrap="square" lIns="0" tIns="0" rIns="0" bIns="0" anchor="t">
            <a:spAutoFit/>
          </a:bodyPr>
          <a:lstStyle/>
          <a:p>
            <a:pPr algn="l"/>
            <a:r>
              <a:rPr sz="1400" b="1">
                <a:solidFill>
                  <a:srgbClr val="111111"/>
                </a:solidFill>
                <a:latin typeface="Inter SemiBold"/>
              </a:rPr>
              <a:t>Analítica BI</a:t>
            </a:r>
          </a:p>
        </p:txBody>
      </p:sp>
      <p:sp>
        <p:nvSpPr>
          <p:cNvPr id="116" name="Rounded Rectangle 115"/>
          <p:cNvSpPr/>
          <p:nvPr/>
        </p:nvSpPr>
        <p:spPr>
          <a:xfrm>
            <a:off x="11311128" y="7278624"/>
            <a:ext cx="1188720" cy="292608"/>
          </a:xfrm>
          <a:prstGeom prst="roundRect">
            <a:avLst>
              <a:gd name="adj" fmla="val 5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Etapa 1 y 2</a:t>
            </a:r>
          </a:p>
        </p:txBody>
      </p:sp>
      <p:sp>
        <p:nvSpPr>
          <p:cNvPr id="117" name="TextBox 116"/>
          <p:cNvSpPr txBox="1"/>
          <p:nvPr/>
        </p:nvSpPr>
        <p:spPr>
          <a:xfrm>
            <a:off x="12701016" y="6099048"/>
            <a:ext cx="1426463" cy="1572768"/>
          </a:xfrm>
          <a:prstGeom prst="rect">
            <a:avLst/>
          </a:prstGeom>
          <a:noFill/>
        </p:spPr>
        <p:txBody>
          <a:bodyPr wrap="square" lIns="0" tIns="0" rIns="0" bIns="0" anchor="t">
            <a:spAutoFit/>
          </a:bodyPr>
          <a:lstStyle/>
          <a:p>
            <a:pPr algn="l"/>
            <a:r>
              <a:rPr sz="1400" b="0">
                <a:solidFill>
                  <a:srgbClr val="606060"/>
                </a:solidFill>
                <a:latin typeface="Inter"/>
              </a:rPr>
              <a:t>OTIF y costo de servir</a:t>
            </a:r>
          </a:p>
        </p:txBody>
      </p:sp>
      <p:cxnSp>
        <p:nvCxnSpPr>
          <p:cNvPr id="118" name="Connector 117"/>
          <p:cNvCxnSpPr/>
          <p:nvPr/>
        </p:nvCxnSpPr>
        <p:spPr>
          <a:xfrm>
            <a:off x="4800600" y="4462271"/>
            <a:ext cx="109728"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281928" y="4462271"/>
            <a:ext cx="109728"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4800600" y="6812279"/>
            <a:ext cx="109728"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6281928" y="6812279"/>
            <a:ext cx="109728"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7763256" y="6812279"/>
            <a:ext cx="109727"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7077456" y="5312664"/>
            <a:ext cx="0" cy="722376"/>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4" name="Rounded Rectangle 123"/>
          <p:cNvSpPr/>
          <p:nvPr/>
        </p:nvSpPr>
        <p:spPr>
          <a:xfrm>
            <a:off x="3291840" y="7973568"/>
            <a:ext cx="10972800" cy="621792"/>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500" b="1">
                <a:solidFill>
                  <a:srgbClr val="F29A5E"/>
                </a:solidFill>
                <a:latin typeface="Inter SemiBold"/>
              </a:rPr>
              <a:t>BASE COMÚN  </a:t>
            </a:r>
            <a:r>
              <a:rPr sz="1500" b="0">
                <a:solidFill>
                  <a:srgbClr val="FFFFFF"/>
                </a:solidFill>
                <a:latin typeface="Inter"/>
              </a:rPr>
              <a:t>identidad · integración · auditoría · sin conexión · observabilidad</a:t>
            </a:r>
          </a:p>
        </p:txBody>
      </p:sp>
      <p:sp>
        <p:nvSpPr>
          <p:cNvPr id="125" name="TextBox 124"/>
          <p:cNvSpPr txBox="1"/>
          <p:nvPr/>
        </p:nvSpPr>
        <p:spPr>
          <a:xfrm>
            <a:off x="14584680" y="3246120"/>
            <a:ext cx="3200400" cy="274320"/>
          </a:xfrm>
          <a:prstGeom prst="rect">
            <a:avLst/>
          </a:prstGeom>
          <a:noFill/>
        </p:spPr>
        <p:txBody>
          <a:bodyPr wrap="square" lIns="0" tIns="0" rIns="0" bIns="0" anchor="t">
            <a:spAutoFit/>
          </a:bodyPr>
          <a:lstStyle/>
          <a:p>
            <a:pPr algn="l"/>
            <a:r>
              <a:rPr sz="1400" b="1">
                <a:solidFill>
                  <a:srgbClr val="E8641B"/>
                </a:solidFill>
                <a:latin typeface="Inter SemiBold"/>
              </a:rPr>
              <a:t>SISTEMAS EXTERNOS</a:t>
            </a:r>
          </a:p>
        </p:txBody>
      </p:sp>
      <p:sp>
        <p:nvSpPr>
          <p:cNvPr id="126" name="Rounded Rectangle 125"/>
          <p:cNvSpPr/>
          <p:nvPr/>
        </p:nvSpPr>
        <p:spPr>
          <a:xfrm>
            <a:off x="14584680" y="3611880"/>
            <a:ext cx="3200400" cy="109728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r>
              <a:rPr sz="1700" b="1">
                <a:solidFill>
                  <a:srgbClr val="FFFFFF"/>
                </a:solidFill>
                <a:latin typeface="Inter SemiBold"/>
              </a:rPr>
              <a:t>ERP 2017</a:t>
            </a:r>
          </a:p>
          <a:p>
            <a:pPr algn="l"/>
            <a:r>
              <a:rPr sz="1400" b="0">
                <a:solidFill>
                  <a:srgbClr val="C7C7C7"/>
                </a:solidFill>
                <a:latin typeface="Inter"/>
              </a:rPr>
              <a:t>Único emisor tributario · vía ACL</a:t>
            </a:r>
          </a:p>
        </p:txBody>
      </p:sp>
      <p:cxnSp>
        <p:nvCxnSpPr>
          <p:cNvPr id="127" name="Connector 126"/>
          <p:cNvCxnSpPr/>
          <p:nvPr/>
        </p:nvCxnSpPr>
        <p:spPr>
          <a:xfrm>
            <a:off x="14282928" y="4160520"/>
            <a:ext cx="274320"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8" name="Rounded Rectangle 127"/>
          <p:cNvSpPr/>
          <p:nvPr/>
        </p:nvSpPr>
        <p:spPr>
          <a:xfrm>
            <a:off x="14584680" y="5943600"/>
            <a:ext cx="3200400" cy="960120"/>
          </a:xfrm>
          <a:prstGeom prst="roundRect">
            <a:avLst>
              <a:gd name="adj" fmla="val 8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r>
              <a:rPr lang="es-CL" sz="1700" b="1">
                <a:solidFill>
                  <a:srgbClr val="111111"/>
                </a:solidFill>
                <a:latin typeface="Inter SemiBold"/>
              </a:rPr>
              <a:t>Geolocalización</a:t>
            </a:r>
            <a:endParaRPr sz="1700" b="1">
              <a:solidFill>
                <a:srgbClr val="111111"/>
              </a:solidFill>
              <a:latin typeface="Inter SemiBold"/>
            </a:endParaRPr>
          </a:p>
          <a:p>
            <a:pPr algn="l"/>
            <a:r>
              <a:rPr lang="es-MX" sz="1400" b="0">
                <a:solidFill>
                  <a:srgbClr val="606060"/>
                </a:solidFill>
                <a:latin typeface="Inter"/>
              </a:rPr>
              <a:t>Mapas y posición para rutas</a:t>
            </a:r>
            <a:endParaRPr sz="1400" b="0">
              <a:solidFill>
                <a:srgbClr val="606060"/>
              </a:solidFill>
              <a:latin typeface="Inter"/>
            </a:endParaRPr>
          </a:p>
        </p:txBody>
      </p:sp>
      <p:cxnSp>
        <p:nvCxnSpPr>
          <p:cNvPr id="129" name="Connector 128"/>
          <p:cNvCxnSpPr/>
          <p:nvPr/>
        </p:nvCxnSpPr>
        <p:spPr>
          <a:xfrm>
            <a:off x="14282928" y="5326380"/>
            <a:ext cx="274320"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0" name="Rounded Rectangle 129"/>
          <p:cNvSpPr/>
          <p:nvPr/>
        </p:nvSpPr>
        <p:spPr>
          <a:xfrm>
            <a:off x="14584680" y="7635240"/>
            <a:ext cx="3200400" cy="960120"/>
          </a:xfrm>
          <a:prstGeom prst="roundRect">
            <a:avLst>
              <a:gd name="adj" fmla="val 8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r>
              <a:rPr sz="1700" b="1">
                <a:solidFill>
                  <a:srgbClr val="111111"/>
                </a:solidFill>
                <a:latin typeface="Inter SemiBold"/>
              </a:rPr>
              <a:t>Cadenas</a:t>
            </a:r>
          </a:p>
          <a:p>
            <a:pPr algn="l"/>
            <a:r>
              <a:rPr sz="1400" b="0">
                <a:solidFill>
                  <a:srgbClr val="606060"/>
                </a:solidFill>
                <a:latin typeface="Inter"/>
              </a:rPr>
              <a:t>EDI con el canal moderno</a:t>
            </a:r>
          </a:p>
        </p:txBody>
      </p:sp>
      <p:cxnSp>
        <p:nvCxnSpPr>
          <p:cNvPr id="131" name="Connector 130"/>
          <p:cNvCxnSpPr/>
          <p:nvPr/>
        </p:nvCxnSpPr>
        <p:spPr>
          <a:xfrm>
            <a:off x="14282928" y="6423660"/>
            <a:ext cx="274320"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 name="Rounded Rectangle 127">
            <a:extLst>
              <a:ext uri="{FF2B5EF4-FFF2-40B4-BE49-F238E27FC236}">
                <a16:creationId xmlns:a16="http://schemas.microsoft.com/office/drawing/2014/main" id="{83B7A63E-0EB2-6B53-B3C3-0413D294B947}"/>
              </a:ext>
            </a:extLst>
          </p:cNvPr>
          <p:cNvSpPr/>
          <p:nvPr/>
        </p:nvSpPr>
        <p:spPr>
          <a:xfrm>
            <a:off x="14584680" y="4846320"/>
            <a:ext cx="3200400" cy="960120"/>
          </a:xfrm>
          <a:prstGeom prst="roundRect">
            <a:avLst>
              <a:gd name="adj" fmla="val 8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r>
              <a:rPr lang="es-CL" sz="1700" b="1">
                <a:solidFill>
                  <a:srgbClr val="111111"/>
                </a:solidFill>
                <a:latin typeface="Inter SemiBold"/>
              </a:rPr>
              <a:t>Transbank</a:t>
            </a:r>
            <a:endParaRPr sz="1700" b="1">
              <a:solidFill>
                <a:srgbClr val="111111"/>
              </a:solidFill>
              <a:latin typeface="Inter SemiBold"/>
            </a:endParaRPr>
          </a:p>
          <a:p>
            <a:pPr algn="l"/>
            <a:r>
              <a:rPr lang="es-CL" sz="1400" b="0">
                <a:solidFill>
                  <a:srgbClr val="606060"/>
                </a:solidFill>
                <a:latin typeface="Inter"/>
              </a:rPr>
              <a:t>Pagos</a:t>
            </a:r>
            <a:endParaRPr sz="1400" b="0">
              <a:solidFill>
                <a:srgbClr val="606060"/>
              </a:solidFill>
              <a:latin typeface="Inter"/>
            </a:endParaRPr>
          </a:p>
        </p:txBody>
      </p:sp>
      <p:sp>
        <p:nvSpPr>
          <p:cNvPr id="3" name="TextBox 124">
            <a:extLst>
              <a:ext uri="{FF2B5EF4-FFF2-40B4-BE49-F238E27FC236}">
                <a16:creationId xmlns:a16="http://schemas.microsoft.com/office/drawing/2014/main" id="{BEF8B961-6C94-E561-576F-2789F9EC6507}"/>
              </a:ext>
            </a:extLst>
          </p:cNvPr>
          <p:cNvSpPr txBox="1"/>
          <p:nvPr/>
        </p:nvSpPr>
        <p:spPr>
          <a:xfrm>
            <a:off x="14584680" y="7315200"/>
            <a:ext cx="3200400" cy="215444"/>
          </a:xfrm>
          <a:prstGeom prst="rect">
            <a:avLst/>
          </a:prstGeom>
          <a:noFill/>
        </p:spPr>
        <p:txBody>
          <a:bodyPr wrap="square" lIns="0" tIns="0" rIns="0" bIns="0" anchor="t">
            <a:spAutoFit/>
          </a:bodyPr>
          <a:lstStyle/>
          <a:p>
            <a:pPr algn="l"/>
            <a:r>
              <a:rPr lang="es-CL" sz="1400" b="1">
                <a:solidFill>
                  <a:srgbClr val="E8641B"/>
                </a:solidFill>
                <a:latin typeface="Inter SemiBold"/>
              </a:rPr>
              <a:t>INTEGRACIÓN · ETAPA 2</a:t>
            </a:r>
            <a:endParaRPr sz="1400" b="1">
              <a:solidFill>
                <a:srgbClr val="E8641B"/>
              </a:solidFill>
              <a:latin typeface="Inter SemiBold"/>
            </a:endParaRPr>
          </a:p>
        </p:txBody>
      </p:sp>
      <p:sp>
        <p:nvSpPr>
          <p:cNvPr id="132"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07</a:t>
            </a:r>
          </a:p>
        </p:txBody>
      </p:sp>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9"/>
          <p:cNvSpPr txBox="1"/>
          <p:nvPr/>
        </p:nvSpPr>
        <p:spPr>
          <a:xfrm>
            <a:off x="2286000" y="1226844"/>
            <a:ext cx="13716000" cy="1192699"/>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Arquitectura lógica</a:t>
            </a:r>
          </a:p>
        </p:txBody>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308161"/>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Subdocumento 4 · Figura 1 · Vista general completa de la arquitectura lógica</a:t>
            </a:r>
          </a:p>
        </p:txBody>
      </p:sp>
      <p:sp>
        <p:nvSpPr>
          <p:cNvPr id="52" name="Rounded Rectangle 51"/>
          <p:cNvSpPr/>
          <p:nvPr/>
        </p:nvSpPr>
        <p:spPr>
          <a:xfrm>
            <a:off x="7406640" y="3246120"/>
            <a:ext cx="10149840" cy="621792"/>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45720" rtlCol="0" anchor="ctr"/>
          <a:lstStyle/>
          <a:p>
            <a:r>
              <a:rPr lang="es-MX" sz="1600" b="1">
                <a:solidFill>
                  <a:srgbClr val="E8641B"/>
                </a:solidFill>
                <a:latin typeface="Inter SemiBold"/>
              </a:rPr>
              <a:t>1   </a:t>
            </a:r>
            <a:r>
              <a:rPr lang="es-MX" sz="1600" b="1">
                <a:solidFill>
                  <a:srgbClr val="111111"/>
                </a:solidFill>
                <a:latin typeface="Inter SemiBold"/>
              </a:rPr>
              <a:t>Presentación</a:t>
            </a:r>
            <a:r>
              <a:rPr lang="es-MX" sz="1400" b="1">
                <a:solidFill>
                  <a:srgbClr val="606060"/>
                </a:solidFill>
                <a:latin typeface="Inter"/>
              </a:rPr>
              <a:t>  ·  captura y muestra la información</a:t>
            </a:r>
            <a:endParaRPr sz="1400" b="1">
              <a:solidFill>
                <a:srgbClr val="606060"/>
              </a:solidFill>
              <a:latin typeface="Inter"/>
            </a:endParaRPr>
          </a:p>
        </p:txBody>
      </p:sp>
      <p:pic>
        <p:nvPicPr>
          <p:cNvPr id="3" name="Imagen 2" descr="Figura 1. Vista general completa de la arquitectura lógica (Subdocumento 4)">
            <a:extLst>
              <a:ext uri="{FF2B5EF4-FFF2-40B4-BE49-F238E27FC236}">
                <a16:creationId xmlns:a16="http://schemas.microsoft.com/office/drawing/2014/main" id="{8B0E9AC3-2B04-16BA-E861-E6D251A9A6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5405" y="3200399"/>
            <a:ext cx="6161591" cy="5669281"/>
          </a:xfrm>
          <a:prstGeom prst="rect">
            <a:avLst/>
          </a:prstGeom>
        </p:spPr>
      </p:pic>
      <p:sp>
        <p:nvSpPr>
          <p:cNvPr id="4" name="Rounded Rectangle 51">
            <a:extLst>
              <a:ext uri="{FF2B5EF4-FFF2-40B4-BE49-F238E27FC236}">
                <a16:creationId xmlns:a16="http://schemas.microsoft.com/office/drawing/2014/main" id="{A071E6CE-3613-943D-AD6F-01EF6BB30A0A}"/>
              </a:ext>
            </a:extLst>
          </p:cNvPr>
          <p:cNvSpPr/>
          <p:nvPr/>
        </p:nvSpPr>
        <p:spPr>
          <a:xfrm>
            <a:off x="7406640" y="3945636"/>
            <a:ext cx="10149840" cy="621792"/>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45720" rtlCol="0" anchor="ctr"/>
          <a:lstStyle/>
          <a:p>
            <a:r>
              <a:rPr lang="es-MX" sz="1600" b="1">
                <a:solidFill>
                  <a:srgbClr val="E8641B"/>
                </a:solidFill>
                <a:latin typeface="Inter SemiBold"/>
              </a:rPr>
              <a:t>2   </a:t>
            </a:r>
            <a:r>
              <a:rPr lang="es-MX" sz="1600" b="1">
                <a:solidFill>
                  <a:srgbClr val="111111"/>
                </a:solidFill>
                <a:latin typeface="Inter SemiBold"/>
              </a:rPr>
              <a:t>Borde y exposición</a:t>
            </a:r>
            <a:r>
              <a:rPr lang="es-MX" sz="1400" b="1">
                <a:solidFill>
                  <a:srgbClr val="606060"/>
                </a:solidFill>
                <a:latin typeface="Inter"/>
              </a:rPr>
              <a:t>  ·  protege la entrada</a:t>
            </a:r>
            <a:endParaRPr sz="1400" b="1">
              <a:solidFill>
                <a:srgbClr val="606060"/>
              </a:solidFill>
              <a:latin typeface="Inter"/>
            </a:endParaRPr>
          </a:p>
        </p:txBody>
      </p:sp>
      <p:sp>
        <p:nvSpPr>
          <p:cNvPr id="5" name="Rounded Rectangle 51">
            <a:extLst>
              <a:ext uri="{FF2B5EF4-FFF2-40B4-BE49-F238E27FC236}">
                <a16:creationId xmlns:a16="http://schemas.microsoft.com/office/drawing/2014/main" id="{2DB65F97-E746-1BB1-07F5-75A66EC042FC}"/>
              </a:ext>
            </a:extLst>
          </p:cNvPr>
          <p:cNvSpPr/>
          <p:nvPr/>
        </p:nvSpPr>
        <p:spPr>
          <a:xfrm>
            <a:off x="7406640" y="4645152"/>
            <a:ext cx="10149840" cy="621792"/>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45720" rtlCol="0" anchor="ctr"/>
          <a:lstStyle/>
          <a:p>
            <a:r>
              <a:rPr lang="es-MX" sz="1600" b="1">
                <a:solidFill>
                  <a:srgbClr val="E8641B"/>
                </a:solidFill>
                <a:latin typeface="Inter SemiBold"/>
              </a:rPr>
              <a:t>3   </a:t>
            </a:r>
            <a:r>
              <a:rPr lang="es-MX" sz="1600" b="1">
                <a:solidFill>
                  <a:srgbClr val="111111"/>
                </a:solidFill>
                <a:latin typeface="Inter SemiBold"/>
              </a:rPr>
              <a:t>Puerta de enlace de servicios</a:t>
            </a:r>
            <a:r>
              <a:rPr lang="es-MX" sz="1400" b="1">
                <a:solidFill>
                  <a:srgbClr val="606060"/>
                </a:solidFill>
                <a:latin typeface="Inter"/>
              </a:rPr>
              <a:t>  ·  valida las solicitudes</a:t>
            </a:r>
            <a:endParaRPr sz="1400" b="1">
              <a:solidFill>
                <a:srgbClr val="606060"/>
              </a:solidFill>
              <a:latin typeface="Inter"/>
            </a:endParaRPr>
          </a:p>
        </p:txBody>
      </p:sp>
      <p:sp>
        <p:nvSpPr>
          <p:cNvPr id="6" name="Rounded Rectangle 51">
            <a:extLst>
              <a:ext uri="{FF2B5EF4-FFF2-40B4-BE49-F238E27FC236}">
                <a16:creationId xmlns:a16="http://schemas.microsoft.com/office/drawing/2014/main" id="{75EA3206-DAB6-427F-E838-EA0BB7349D6C}"/>
              </a:ext>
            </a:extLst>
          </p:cNvPr>
          <p:cNvSpPr/>
          <p:nvPr/>
        </p:nvSpPr>
        <p:spPr>
          <a:xfrm>
            <a:off x="7406640" y="5344668"/>
            <a:ext cx="10149840" cy="621792"/>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45720" rtlCol="0" anchor="ctr"/>
          <a:lstStyle/>
          <a:p>
            <a:r>
              <a:rPr lang="es-MX" sz="1600" b="1">
                <a:solidFill>
                  <a:srgbClr val="E8641B"/>
                </a:solidFill>
                <a:latin typeface="Inter SemiBold"/>
              </a:rPr>
              <a:t>4   </a:t>
            </a:r>
            <a:r>
              <a:rPr lang="es-MX" sz="1600" b="1">
                <a:solidFill>
                  <a:srgbClr val="111111"/>
                </a:solidFill>
                <a:latin typeface="Inter SemiBold"/>
              </a:rPr>
              <a:t>Lógica de negocio</a:t>
            </a:r>
            <a:r>
              <a:rPr lang="es-MX" sz="1400" b="1">
                <a:solidFill>
                  <a:srgbClr val="606060"/>
                </a:solidFill>
                <a:latin typeface="Inter"/>
              </a:rPr>
              <a:t>  ·  aplica las reglas de M1–M12 en Laravel</a:t>
            </a:r>
            <a:endParaRPr sz="1400" b="1">
              <a:solidFill>
                <a:srgbClr val="606060"/>
              </a:solidFill>
              <a:latin typeface="Inter"/>
            </a:endParaRPr>
          </a:p>
        </p:txBody>
      </p:sp>
      <p:sp>
        <p:nvSpPr>
          <p:cNvPr id="7" name="Rounded Rectangle 51">
            <a:extLst>
              <a:ext uri="{FF2B5EF4-FFF2-40B4-BE49-F238E27FC236}">
                <a16:creationId xmlns:a16="http://schemas.microsoft.com/office/drawing/2014/main" id="{F47F1314-6339-551E-D0E5-8B235187A62D}"/>
              </a:ext>
            </a:extLst>
          </p:cNvPr>
          <p:cNvSpPr/>
          <p:nvPr/>
        </p:nvSpPr>
        <p:spPr>
          <a:xfrm>
            <a:off x="7406640" y="6044184"/>
            <a:ext cx="10149840" cy="621792"/>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45720" rtlCol="0" anchor="ctr"/>
          <a:lstStyle/>
          <a:p>
            <a:r>
              <a:rPr lang="es-MX" sz="1600" b="1">
                <a:solidFill>
                  <a:srgbClr val="E8641B"/>
                </a:solidFill>
                <a:latin typeface="Inter SemiBold"/>
              </a:rPr>
              <a:t>5   </a:t>
            </a:r>
            <a:r>
              <a:rPr lang="es-MX" sz="1600" b="1">
                <a:solidFill>
                  <a:srgbClr val="111111"/>
                </a:solidFill>
                <a:latin typeface="Inter SemiBold"/>
              </a:rPr>
              <a:t>Integración y eventos</a:t>
            </a:r>
            <a:r>
              <a:rPr lang="es-MX" sz="1400" b="1">
                <a:solidFill>
                  <a:srgbClr val="606060"/>
                </a:solidFill>
                <a:latin typeface="Inter"/>
              </a:rPr>
              <a:t>  ·  conserva y distribuye eventos</a:t>
            </a:r>
            <a:endParaRPr sz="1400" b="1">
              <a:solidFill>
                <a:srgbClr val="606060"/>
              </a:solidFill>
              <a:latin typeface="Inter"/>
            </a:endParaRPr>
          </a:p>
        </p:txBody>
      </p:sp>
      <p:sp>
        <p:nvSpPr>
          <p:cNvPr id="8" name="Rounded Rectangle 51">
            <a:extLst>
              <a:ext uri="{FF2B5EF4-FFF2-40B4-BE49-F238E27FC236}">
                <a16:creationId xmlns:a16="http://schemas.microsoft.com/office/drawing/2014/main" id="{E75A937F-18E1-B13E-A6FD-85075ACECFB8}"/>
              </a:ext>
            </a:extLst>
          </p:cNvPr>
          <p:cNvSpPr/>
          <p:nvPr/>
        </p:nvSpPr>
        <p:spPr>
          <a:xfrm>
            <a:off x="7406640" y="6743700"/>
            <a:ext cx="10149840" cy="621792"/>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45720" rtlCol="0" anchor="ctr"/>
          <a:lstStyle/>
          <a:p>
            <a:r>
              <a:rPr lang="es-MX" sz="1600" b="1">
                <a:solidFill>
                  <a:srgbClr val="E8641B"/>
                </a:solidFill>
                <a:latin typeface="Inter SemiBold"/>
              </a:rPr>
              <a:t>6   </a:t>
            </a:r>
            <a:r>
              <a:rPr lang="es-MX" sz="1600" b="1">
                <a:solidFill>
                  <a:srgbClr val="111111"/>
                </a:solidFill>
                <a:latin typeface="Inter SemiBold"/>
              </a:rPr>
              <a:t>Acceso a datos</a:t>
            </a:r>
            <a:r>
              <a:rPr lang="es-MX" sz="1400" b="1">
                <a:solidFill>
                  <a:srgbClr val="606060"/>
                </a:solidFill>
                <a:latin typeface="Inter"/>
              </a:rPr>
              <a:t>  ·  administra la persistencia</a:t>
            </a:r>
            <a:endParaRPr sz="1400" b="1">
              <a:solidFill>
                <a:srgbClr val="606060"/>
              </a:solidFill>
              <a:latin typeface="Inter"/>
            </a:endParaRPr>
          </a:p>
        </p:txBody>
      </p:sp>
      <p:sp>
        <p:nvSpPr>
          <p:cNvPr id="9" name="Rounded Rectangle 51">
            <a:extLst>
              <a:ext uri="{FF2B5EF4-FFF2-40B4-BE49-F238E27FC236}">
                <a16:creationId xmlns:a16="http://schemas.microsoft.com/office/drawing/2014/main" id="{86F9CAAF-5FAF-A911-87AA-8358C9456C01}"/>
              </a:ext>
            </a:extLst>
          </p:cNvPr>
          <p:cNvSpPr/>
          <p:nvPr/>
        </p:nvSpPr>
        <p:spPr>
          <a:xfrm>
            <a:off x="7406640" y="7443216"/>
            <a:ext cx="10149840" cy="621792"/>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45720" rtlCol="0" anchor="ctr"/>
          <a:lstStyle/>
          <a:p>
            <a:r>
              <a:rPr lang="es-MX" sz="1600" b="1">
                <a:solidFill>
                  <a:srgbClr val="E8641B"/>
                </a:solidFill>
                <a:latin typeface="Inter SemiBold"/>
              </a:rPr>
              <a:t>7   </a:t>
            </a:r>
            <a:r>
              <a:rPr lang="es-MX" sz="1600" b="1">
                <a:solidFill>
                  <a:srgbClr val="111111"/>
                </a:solidFill>
                <a:latin typeface="Inter SemiBold"/>
              </a:rPr>
              <a:t>Seguridad</a:t>
            </a:r>
            <a:r>
              <a:rPr lang="es-MX" sz="1400" b="1">
                <a:solidFill>
                  <a:srgbClr val="606060"/>
                </a:solidFill>
                <a:latin typeface="Inter"/>
              </a:rPr>
              <a:t>  ·  transversal a todas las capas</a:t>
            </a:r>
            <a:endParaRPr sz="1400" b="1">
              <a:solidFill>
                <a:srgbClr val="606060"/>
              </a:solidFill>
              <a:latin typeface="Inter"/>
            </a:endParaRPr>
          </a:p>
        </p:txBody>
      </p:sp>
      <p:sp>
        <p:nvSpPr>
          <p:cNvPr id="10" name="Rounded Rectangle 51">
            <a:extLst>
              <a:ext uri="{FF2B5EF4-FFF2-40B4-BE49-F238E27FC236}">
                <a16:creationId xmlns:a16="http://schemas.microsoft.com/office/drawing/2014/main" id="{69302AE0-7C9B-12A3-5AEF-8D2AB7065835}"/>
              </a:ext>
            </a:extLst>
          </p:cNvPr>
          <p:cNvSpPr/>
          <p:nvPr/>
        </p:nvSpPr>
        <p:spPr>
          <a:xfrm>
            <a:off x="7406640" y="8142732"/>
            <a:ext cx="10149840" cy="621792"/>
          </a:xfrm>
          <a:prstGeom prst="roundRect">
            <a:avLst>
              <a:gd name="adj" fmla="val 5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45720" rtlCol="0" anchor="ctr"/>
          <a:lstStyle/>
          <a:p>
            <a:r>
              <a:rPr lang="es-MX" sz="1600" b="1">
                <a:solidFill>
                  <a:srgbClr val="E8641B"/>
                </a:solidFill>
                <a:latin typeface="Inter SemiBold"/>
              </a:rPr>
              <a:t>8   </a:t>
            </a:r>
            <a:r>
              <a:rPr lang="es-MX" sz="1600" b="1">
                <a:solidFill>
                  <a:srgbClr val="111111"/>
                </a:solidFill>
                <a:latin typeface="Inter SemiBold"/>
              </a:rPr>
              <a:t>Observabilidad</a:t>
            </a:r>
            <a:r>
              <a:rPr lang="es-MX" sz="1400" b="1">
                <a:solidFill>
                  <a:srgbClr val="606060"/>
                </a:solidFill>
                <a:latin typeface="Inter"/>
              </a:rPr>
              <a:t>  ·  transversal a todas las capas</a:t>
            </a:r>
            <a:endParaRPr sz="1400" b="1">
              <a:solidFill>
                <a:srgbClr val="606060"/>
              </a:solidFill>
              <a:latin typeface="Inter"/>
            </a:endParaRPr>
          </a:p>
        </p:txBody>
      </p:sp>
      <p:sp>
        <p:nvSpPr>
          <p:cNvPr id="53"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08</a:t>
            </a:r>
          </a:p>
        </p:txBody>
      </p:sp>
    </p:spTree>
    <p:extLst>
      <p:ext uri="{BB962C8B-B14F-4D97-AF65-F5344CB8AC3E}">
        <p14:creationId xmlns:p14="http://schemas.microsoft.com/office/powerpoint/2010/main" val="2891336835"/>
      </p:ext>
    </p:extLst>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9"/>
          <p:cNvSpPr txBox="1"/>
          <p:nvPr/>
        </p:nvSpPr>
        <p:spPr>
          <a:xfrm>
            <a:off x="2286000" y="1226844"/>
            <a:ext cx="13716000" cy="1192699"/>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Arquitectura física</a:t>
            </a:r>
          </a:p>
        </p:txBody>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308161"/>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Subdocumento 4 · Figura 14 · Vista general de la arquitectura física híbrida</a:t>
            </a:r>
          </a:p>
        </p:txBody>
      </p:sp>
      <p:pic>
        <p:nvPicPr>
          <p:cNvPr id="3" name="Imagen 2" descr="Figura 14. Vista general de la arquitectura física híbrida (Subdocumento 4)">
            <a:extLst>
              <a:ext uri="{FF2B5EF4-FFF2-40B4-BE49-F238E27FC236}">
                <a16:creationId xmlns:a16="http://schemas.microsoft.com/office/drawing/2014/main" id="{EF9446A1-10A4-C09C-7DF8-0CC532732B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58940" y="3200400"/>
            <a:ext cx="11370121" cy="5669280"/>
          </a:xfrm>
          <a:prstGeom prst="rect">
            <a:avLst/>
          </a:prstGeom>
        </p:spPr>
      </p:pic>
      <p:sp>
        <p:nvSpPr>
          <p:cNvPr id="51"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09</a:t>
            </a:r>
          </a:p>
        </p:txBody>
      </p:sp>
    </p:spTree>
    <p:extLst>
      <p:ext uri="{BB962C8B-B14F-4D97-AF65-F5344CB8AC3E}">
        <p14:creationId xmlns:p14="http://schemas.microsoft.com/office/powerpoint/2010/main" val="2701417709"/>
      </p:ext>
    </p:extLst>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p:spPr>
      </p:sp>
      <p:sp>
        <p:nvSpPr>
          <p:cNvPr id="10" name="Freeform 10"/>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431044" y="1908274"/>
            <a:ext cx="8336653" cy="2790501"/>
          </a:xfrm>
          <a:prstGeom prst="rect">
            <a:avLst/>
          </a:prstGeom>
        </p:spPr>
        <p:txBody>
          <a:bodyPr lIns="0" tIns="0" rIns="0" bIns="0" rtlCol="0" anchor="t">
            <a:spAutoFit/>
          </a:bodyPr>
          <a:lstStyle/>
          <a:p>
            <a:pPr algn="l">
              <a:lnSpc>
                <a:spcPts val="10404"/>
              </a:lnSpc>
            </a:pPr>
            <a:r>
              <a:rPr lang="en-US" sz="7926" b="1">
                <a:solidFill>
                  <a:srgbClr val="111111"/>
                </a:solidFill>
                <a:latin typeface="Inter SemiBold"/>
                <a:ea typeface="Inter SemiBold"/>
                <a:cs typeface="Inter SemiBold"/>
                <a:sym typeface="Inter SemiBold"/>
              </a:rPr>
              <a:t>Arquitectura híbrida</a:t>
            </a:r>
          </a:p>
        </p:txBody>
      </p:sp>
      <p:sp>
        <p:nvSpPr>
          <p:cNvPr id="12" name="TextBox 11"/>
          <p:cNvSpPr txBox="1"/>
          <p:nvPr/>
        </p:nvSpPr>
        <p:spPr>
          <a:xfrm>
            <a:off x="1435608" y="4846320"/>
            <a:ext cx="7589520" cy="1097280"/>
          </a:xfrm>
          <a:prstGeom prst="rect">
            <a:avLst/>
          </a:prstGeom>
          <a:noFill/>
        </p:spPr>
        <p:txBody>
          <a:bodyPr wrap="square" lIns="0" tIns="0" rIns="0" bIns="0" anchor="t">
            <a:spAutoFit/>
          </a:bodyPr>
          <a:lstStyle/>
          <a:p>
            <a:pPr algn="l"/>
            <a:r>
              <a:rPr sz="2600" b="0">
                <a:solidFill>
                  <a:srgbClr val="3C3C3C"/>
                </a:solidFill>
                <a:latin typeface="Inter"/>
              </a:rPr>
              <a:t>La nube coordina; la bodega no se detiene.</a:t>
            </a:r>
          </a:p>
        </p:txBody>
      </p:sp>
      <p:sp>
        <p:nvSpPr>
          <p:cNvPr id="13" name="Rounded Rectangle 12"/>
          <p:cNvSpPr/>
          <p:nvPr/>
        </p:nvSpPr>
        <p:spPr>
          <a:xfrm>
            <a:off x="1435608" y="6309360"/>
            <a:ext cx="237744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1">
                <a:solidFill>
                  <a:srgbClr val="FFFFFF"/>
                </a:solidFill>
                <a:latin typeface="Inter SemiBold"/>
              </a:rPr>
              <a:t>RTO ≤ 4 h</a:t>
            </a:r>
          </a:p>
        </p:txBody>
      </p:sp>
      <p:sp>
        <p:nvSpPr>
          <p:cNvPr id="14" name="Rounded Rectangle 13"/>
          <p:cNvSpPr/>
          <p:nvPr/>
        </p:nvSpPr>
        <p:spPr>
          <a:xfrm>
            <a:off x="4041648" y="6309360"/>
            <a:ext cx="237744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1">
                <a:solidFill>
                  <a:srgbClr val="FFFFFF"/>
                </a:solidFill>
                <a:latin typeface="Inter SemiBold"/>
              </a:rPr>
              <a:t>RPO ≤ 15 min</a:t>
            </a:r>
          </a:p>
        </p:txBody>
      </p:sp>
      <p:sp>
        <p:nvSpPr>
          <p:cNvPr id="15" name="Rounded Rectangle 14"/>
          <p:cNvSpPr/>
          <p:nvPr/>
        </p:nvSpPr>
        <p:spPr>
          <a:xfrm>
            <a:off x="6647688" y="6309360"/>
            <a:ext cx="237744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1">
                <a:solidFill>
                  <a:srgbClr val="FFFFFF"/>
                </a:solidFill>
                <a:latin typeface="Inter SemiBold"/>
              </a:rPr>
              <a:t>≥ 99,9 %</a:t>
            </a:r>
          </a:p>
        </p:txBody>
      </p:sp>
      <p:sp>
        <p:nvSpPr>
          <p:cNvPr id="16" name="Rounded Rectangle 15"/>
          <p:cNvSpPr/>
          <p:nvPr/>
        </p:nvSpPr>
        <p:spPr>
          <a:xfrm>
            <a:off x="1435608" y="7269480"/>
            <a:ext cx="3749039"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1">
                <a:solidFill>
                  <a:srgbClr val="FFFFFF"/>
                </a:solidFill>
                <a:latin typeface="Inter SemiBold"/>
              </a:rPr>
              <a:t>14 h sin señal en terreno</a:t>
            </a:r>
          </a:p>
        </p:txBody>
      </p:sp>
      <p:sp>
        <p:nvSpPr>
          <p:cNvPr id="17" name="Rounded Rectangle 16"/>
          <p:cNvSpPr/>
          <p:nvPr/>
        </p:nvSpPr>
        <p:spPr>
          <a:xfrm>
            <a:off x="5367528" y="7269480"/>
            <a:ext cx="3749039"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1">
                <a:solidFill>
                  <a:srgbClr val="FFFFFF"/>
                </a:solidFill>
                <a:latin typeface="Inter SemiBold"/>
              </a:rPr>
              <a:t>24 h sin enlace en el CD</a:t>
            </a:r>
          </a:p>
        </p:txBody>
      </p:sp>
      <p:sp>
        <p:nvSpPr>
          <p:cNvPr id="18" name="Rounded Rectangle 17"/>
          <p:cNvSpPr/>
          <p:nvPr/>
        </p:nvSpPr>
        <p:spPr>
          <a:xfrm>
            <a:off x="9509760" y="914400"/>
            <a:ext cx="5120640" cy="1463040"/>
          </a:xfrm>
          <a:prstGeom prst="roundRect">
            <a:avLst>
              <a:gd name="adj" fmla="val 1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2200" b="1">
                <a:solidFill>
                  <a:srgbClr val="FFFFFF"/>
                </a:solidFill>
                <a:latin typeface="Inter SemiBold"/>
              </a:rPr>
              <a:t>AWS São Paulo</a:t>
            </a:r>
          </a:p>
          <a:p>
            <a:pPr algn="l"/>
            <a:r>
              <a:rPr sz="1600" b="0">
                <a:solidFill>
                  <a:srgbClr val="FFFFFF"/>
                </a:solidFill>
                <a:latin typeface="Inter"/>
              </a:rPr>
              <a:t>Núcleo · 2 zonas de disponibilidad</a:t>
            </a:r>
          </a:p>
        </p:txBody>
      </p:sp>
      <p:sp>
        <p:nvSpPr>
          <p:cNvPr id="19" name="Rounded Rectangle 18"/>
          <p:cNvSpPr/>
          <p:nvPr/>
        </p:nvSpPr>
        <p:spPr>
          <a:xfrm>
            <a:off x="14859000" y="914400"/>
            <a:ext cx="2697480" cy="1463040"/>
          </a:xfrm>
          <a:prstGeom prst="roundRect">
            <a:avLst>
              <a:gd name="adj" fmla="val 10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800" b="1">
                <a:solidFill>
                  <a:srgbClr val="111111"/>
                </a:solidFill>
                <a:latin typeface="Inter SemiBold"/>
              </a:rPr>
              <a:t>DR Virginia</a:t>
            </a:r>
          </a:p>
          <a:p>
            <a:pPr algn="l"/>
            <a:r>
              <a:rPr sz="1500" b="0">
                <a:solidFill>
                  <a:srgbClr val="606060"/>
                </a:solidFill>
                <a:latin typeface="Inter"/>
              </a:rPr>
              <a:t>activo-pasivo</a:t>
            </a:r>
          </a:p>
        </p:txBody>
      </p:sp>
      <p:cxnSp>
        <p:nvCxnSpPr>
          <p:cNvPr id="20" name="Connector 19"/>
          <p:cNvCxnSpPr/>
          <p:nvPr/>
        </p:nvCxnSpPr>
        <p:spPr>
          <a:xfrm>
            <a:off x="10881360" y="2377440"/>
            <a:ext cx="0" cy="73152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692640" y="3108960"/>
            <a:ext cx="2377440" cy="731520"/>
          </a:xfrm>
          <a:prstGeom prst="roundRect">
            <a:avLst>
              <a:gd name="adj" fmla="val 50000"/>
            </a:avLst>
          </a:prstGeom>
          <a:solidFill>
            <a:srgbClr val="FFFFFF"/>
          </a:solidFill>
          <a:ln w="2540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1">
                <a:solidFill>
                  <a:srgbClr val="E8641B"/>
                </a:solidFill>
                <a:latin typeface="Inter SemiBold"/>
              </a:rPr>
              <a:t>Fibra</a:t>
            </a:r>
          </a:p>
        </p:txBody>
      </p:sp>
      <p:cxnSp>
        <p:nvCxnSpPr>
          <p:cNvPr id="22" name="Connector 21"/>
          <p:cNvCxnSpPr/>
          <p:nvPr/>
        </p:nvCxnSpPr>
        <p:spPr>
          <a:xfrm>
            <a:off x="10881360" y="3840480"/>
            <a:ext cx="0" cy="73152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533120" y="2377440"/>
            <a:ext cx="0" cy="73152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2344400" y="3108960"/>
            <a:ext cx="2377440" cy="731520"/>
          </a:xfrm>
          <a:prstGeom prst="roundRect">
            <a:avLst>
              <a:gd name="adj" fmla="val 50000"/>
            </a:avLst>
          </a:prstGeom>
          <a:solidFill>
            <a:srgbClr val="FFFFFF"/>
          </a:solidFill>
          <a:ln w="2540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1">
                <a:solidFill>
                  <a:srgbClr val="E8641B"/>
                </a:solidFill>
                <a:latin typeface="Inter SemiBold"/>
              </a:rPr>
              <a:t>LTE</a:t>
            </a:r>
          </a:p>
        </p:txBody>
      </p:sp>
      <p:cxnSp>
        <p:nvCxnSpPr>
          <p:cNvPr id="25" name="Connector 24"/>
          <p:cNvCxnSpPr/>
          <p:nvPr/>
        </p:nvCxnSpPr>
        <p:spPr>
          <a:xfrm>
            <a:off x="13533120" y="3840480"/>
            <a:ext cx="0" cy="73152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6184880" y="2377440"/>
            <a:ext cx="0" cy="73152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4996159" y="3108960"/>
            <a:ext cx="2377440" cy="731520"/>
          </a:xfrm>
          <a:prstGeom prst="roundRect">
            <a:avLst>
              <a:gd name="adj" fmla="val 50000"/>
            </a:avLst>
          </a:prstGeom>
          <a:solidFill>
            <a:srgbClr val="FFFFFF"/>
          </a:solidFill>
          <a:ln w="2540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800" b="1">
                <a:solidFill>
                  <a:srgbClr val="E8641B"/>
                </a:solidFill>
                <a:latin typeface="Inter SemiBold"/>
              </a:rPr>
              <a:t>Starlink</a:t>
            </a:r>
          </a:p>
        </p:txBody>
      </p:sp>
      <p:cxnSp>
        <p:nvCxnSpPr>
          <p:cNvPr id="28" name="Connector 27"/>
          <p:cNvCxnSpPr/>
          <p:nvPr/>
        </p:nvCxnSpPr>
        <p:spPr>
          <a:xfrm>
            <a:off x="16184880" y="3840480"/>
            <a:ext cx="0" cy="73152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509760" y="4572000"/>
            <a:ext cx="3886200" cy="14630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2000" b="1">
                <a:solidFill>
                  <a:srgbClr val="FFFFFF"/>
                </a:solidFill>
                <a:latin typeface="Inter SemiBold"/>
              </a:rPr>
              <a:t>CD Talca</a:t>
            </a:r>
          </a:p>
          <a:p>
            <a:pPr algn="l"/>
            <a:r>
              <a:rPr sz="1600" b="0">
                <a:solidFill>
                  <a:srgbClr val="C7C7C7"/>
                </a:solidFill>
                <a:latin typeface="Inter"/>
              </a:rPr>
              <a:t>Clúster de 3 nodos</a:t>
            </a:r>
          </a:p>
        </p:txBody>
      </p:sp>
      <p:sp>
        <p:nvSpPr>
          <p:cNvPr id="30" name="Rounded Rectangle 29"/>
          <p:cNvSpPr/>
          <p:nvPr/>
        </p:nvSpPr>
        <p:spPr>
          <a:xfrm>
            <a:off x="13670280" y="4572000"/>
            <a:ext cx="3886200" cy="14630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2000" b="1">
                <a:solidFill>
                  <a:srgbClr val="FFFFFF"/>
                </a:solidFill>
                <a:latin typeface="Inter SemiBold"/>
              </a:rPr>
              <a:t>CD Concepción</a:t>
            </a:r>
          </a:p>
          <a:p>
            <a:pPr algn="l"/>
            <a:r>
              <a:rPr sz="1600" b="0">
                <a:solidFill>
                  <a:srgbClr val="C7C7C7"/>
                </a:solidFill>
                <a:latin typeface="Inter"/>
              </a:rPr>
              <a:t>2 servidores</a:t>
            </a:r>
          </a:p>
        </p:txBody>
      </p:sp>
      <p:sp>
        <p:nvSpPr>
          <p:cNvPr id="31" name="Rounded Rectangle 30"/>
          <p:cNvSpPr/>
          <p:nvPr/>
        </p:nvSpPr>
        <p:spPr>
          <a:xfrm>
            <a:off x="9509760" y="6309360"/>
            <a:ext cx="2514600" cy="12344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r>
              <a:rPr sz="1700" b="1">
                <a:solidFill>
                  <a:srgbClr val="111111"/>
                </a:solidFill>
                <a:latin typeface="Inter SemiBold"/>
              </a:rPr>
              <a:t>XD Curicó</a:t>
            </a:r>
          </a:p>
          <a:p>
            <a:pPr algn="l"/>
            <a:r>
              <a:rPr sz="1500" b="0">
                <a:solidFill>
                  <a:srgbClr val="606060"/>
                </a:solidFill>
                <a:latin typeface="Inter"/>
              </a:rPr>
              <a:t>2 mini-PC</a:t>
            </a:r>
          </a:p>
        </p:txBody>
      </p:sp>
      <p:sp>
        <p:nvSpPr>
          <p:cNvPr id="32" name="Rounded Rectangle 31"/>
          <p:cNvSpPr/>
          <p:nvPr/>
        </p:nvSpPr>
        <p:spPr>
          <a:xfrm>
            <a:off x="12298680" y="6309360"/>
            <a:ext cx="2514600" cy="12344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r>
              <a:rPr sz="1700" b="1">
                <a:solidFill>
                  <a:srgbClr val="111111"/>
                </a:solidFill>
                <a:latin typeface="Inter SemiBold"/>
              </a:rPr>
              <a:t>XD Chillán</a:t>
            </a:r>
          </a:p>
          <a:p>
            <a:pPr algn="l"/>
            <a:r>
              <a:rPr sz="1500" b="0">
                <a:solidFill>
                  <a:srgbClr val="606060"/>
                </a:solidFill>
                <a:latin typeface="Inter"/>
              </a:rPr>
              <a:t>2 mini-PC</a:t>
            </a:r>
          </a:p>
        </p:txBody>
      </p:sp>
      <p:sp>
        <p:nvSpPr>
          <p:cNvPr id="33" name="Rounded Rectangle 32"/>
          <p:cNvSpPr/>
          <p:nvPr/>
        </p:nvSpPr>
        <p:spPr>
          <a:xfrm>
            <a:off x="15087600" y="6309360"/>
            <a:ext cx="2514600" cy="12344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r>
              <a:rPr sz="1700" b="1">
                <a:solidFill>
                  <a:srgbClr val="111111"/>
                </a:solidFill>
                <a:latin typeface="Inter SemiBold"/>
              </a:rPr>
              <a:t>XD Los Ángeles</a:t>
            </a:r>
          </a:p>
          <a:p>
            <a:pPr algn="l"/>
            <a:r>
              <a:rPr sz="1500" b="0">
                <a:solidFill>
                  <a:srgbClr val="606060"/>
                </a:solidFill>
                <a:latin typeface="Inter"/>
              </a:rPr>
              <a:t>2 mini-PC</a:t>
            </a:r>
          </a:p>
        </p:txBody>
      </p:sp>
      <p:sp>
        <p:nvSpPr>
          <p:cNvPr id="34" name="TextBox 33"/>
          <p:cNvSpPr txBox="1"/>
          <p:nvPr/>
        </p:nvSpPr>
        <p:spPr>
          <a:xfrm>
            <a:off x="9509760" y="7772400"/>
            <a:ext cx="8046720" cy="457200"/>
          </a:xfrm>
          <a:prstGeom prst="rect">
            <a:avLst/>
          </a:prstGeom>
          <a:noFill/>
        </p:spPr>
        <p:txBody>
          <a:bodyPr wrap="square" lIns="0" tIns="0" rIns="0" bIns="0" anchor="t">
            <a:spAutoFit/>
          </a:bodyPr>
          <a:lstStyle/>
          <a:p>
            <a:pPr algn="l"/>
            <a:r>
              <a:rPr sz="1800" b="0">
                <a:solidFill>
                  <a:srgbClr val="606060"/>
                </a:solidFill>
                <a:latin typeface="Inter"/>
              </a:rPr>
              <a:t>Monolito modular Laravel · 8 capas · 22 ADR</a:t>
            </a:r>
          </a:p>
        </p:txBody>
      </p:sp>
      <p:sp>
        <p:nvSpPr>
          <p:cNvPr id="3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10</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1131" y="5377797"/>
            <a:ext cx="19756744" cy="0"/>
          </a:xfrm>
          <a:prstGeom prst="line">
            <a:avLst/>
          </a:prstGeom>
          <a:ln w="76200" cap="flat">
            <a:solidFill>
              <a:srgbClr val="000000"/>
            </a:solidFill>
            <a:prstDash val="solid"/>
            <a:headEnd type="none" w="sm" len="sm"/>
            <a:tailEnd type="none" w="sm" len="sm"/>
          </a:ln>
        </p:spPr>
      </p:sp>
      <p:grpSp>
        <p:nvGrpSpPr>
          <p:cNvPr id="3" name="Group 3"/>
          <p:cNvGrpSpPr/>
          <p:nvPr/>
        </p:nvGrpSpPr>
        <p:grpSpPr>
          <a:xfrm>
            <a:off x="9046339" y="5230464"/>
            <a:ext cx="294667" cy="29466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6" name="Group 6"/>
          <p:cNvGrpSpPr/>
          <p:nvPr/>
        </p:nvGrpSpPr>
        <p:grpSpPr>
          <a:xfrm>
            <a:off x="5724391" y="5211414"/>
            <a:ext cx="294667" cy="29466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9" name="Group 9"/>
          <p:cNvGrpSpPr/>
          <p:nvPr/>
        </p:nvGrpSpPr>
        <p:grpSpPr>
          <a:xfrm>
            <a:off x="2402443" y="5192364"/>
            <a:ext cx="294667" cy="29466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12" name="Group 12"/>
          <p:cNvGrpSpPr/>
          <p:nvPr/>
        </p:nvGrpSpPr>
        <p:grpSpPr>
          <a:xfrm>
            <a:off x="12368287" y="5230464"/>
            <a:ext cx="294667" cy="29466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p:spPr>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15" name="Group 15"/>
          <p:cNvGrpSpPr/>
          <p:nvPr/>
        </p:nvGrpSpPr>
        <p:grpSpPr>
          <a:xfrm>
            <a:off x="15690235" y="5230464"/>
            <a:ext cx="294667" cy="29466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18" name="Group 18"/>
          <p:cNvGrpSpPr/>
          <p:nvPr/>
        </p:nvGrpSpPr>
        <p:grpSpPr>
          <a:xfrm>
            <a:off x="1189989" y="5829931"/>
            <a:ext cx="2719575" cy="2347765"/>
            <a:chOff x="0" y="0"/>
            <a:chExt cx="716267" cy="618341"/>
          </a:xfrm>
        </p:grpSpPr>
        <p:sp>
          <p:nvSpPr>
            <p:cNvPr id="19" name="Freeform 19"/>
            <p:cNvSpPr/>
            <p:nvPr/>
          </p:nvSpPr>
          <p:spPr>
            <a:xfrm>
              <a:off x="0" y="0"/>
              <a:ext cx="716267" cy="618341"/>
            </a:xfrm>
            <a:custGeom>
              <a:avLst/>
              <a:gdLst/>
              <a:ahLst/>
              <a:cxnLst/>
              <a:rect l="l" t="t" r="r" b="b"/>
              <a:pathLst>
                <a:path w="716267" h="618341">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ln w="38100" cap="rnd">
              <a:solidFill>
                <a:srgbClr val="141414"/>
              </a:solidFill>
              <a:prstDash val="solid"/>
              <a:round/>
            </a:ln>
          </p:spPr>
        </p:sp>
        <p:sp>
          <p:nvSpPr>
            <p:cNvPr id="20" name="TextBox 20"/>
            <p:cNvSpPr txBox="1"/>
            <p:nvPr/>
          </p:nvSpPr>
          <p:spPr>
            <a:xfrm>
              <a:off x="0" y="-47625"/>
              <a:ext cx="716267" cy="665966"/>
            </a:xfrm>
            <a:prstGeom prst="rect">
              <a:avLst/>
            </a:prstGeom>
          </p:spPr>
          <p:txBody>
            <a:bodyPr lIns="50800" tIns="50800" rIns="50800" bIns="50800" rtlCol="0" anchor="ctr"/>
            <a:lstStyle/>
            <a:p>
              <a:pPr algn="ctr">
                <a:lnSpc>
                  <a:spcPts val="3499"/>
                </a:lnSpc>
              </a:pPr>
              <a:endParaRPr/>
            </a:p>
          </p:txBody>
        </p:sp>
      </p:grpSp>
      <p:sp>
        <p:nvSpPr>
          <p:cNvPr id="21" name="TextBox 21"/>
          <p:cNvSpPr txBox="1"/>
          <p:nvPr/>
        </p:nvSpPr>
        <p:spPr>
          <a:xfrm>
            <a:off x="1328825" y="6148634"/>
            <a:ext cx="2421977" cy="1645285"/>
          </a:xfrm>
          <a:prstGeom prst="rect">
            <a:avLst/>
          </a:prstGeom>
        </p:spPr>
        <p:txBody>
          <a:bodyPr lIns="0" tIns="0" rIns="0" bIns="0" rtlCol="0" anchor="t">
            <a:spAutoFit/>
          </a:bodyPr>
          <a:lstStyle/>
          <a:p>
            <a:pPr algn="ctr">
              <a:lnSpc>
                <a:spcPts val="2239"/>
              </a:lnSpc>
            </a:pPr>
            <a:r>
              <a:rPr lang="en-US" sz="1900">
                <a:solidFill>
                  <a:srgbClr val="000000"/>
                </a:solidFill>
                <a:latin typeface="Inter"/>
                <a:ea typeface="Inter"/>
                <a:cs typeface="Inter"/>
                <a:sym typeface="Inter"/>
              </a:rPr>
              <a:t>Lote y vencimiento al ingresar</a:t>
            </a:r>
          </a:p>
        </p:txBody>
      </p:sp>
      <p:sp>
        <p:nvSpPr>
          <p:cNvPr id="22" name="TextBox 22"/>
          <p:cNvSpPr txBox="1"/>
          <p:nvPr/>
        </p:nvSpPr>
        <p:spPr>
          <a:xfrm>
            <a:off x="4655754" y="6148634"/>
            <a:ext cx="2421977" cy="1645285"/>
          </a:xfrm>
          <a:prstGeom prst="rect">
            <a:avLst/>
          </a:prstGeom>
        </p:spPr>
        <p:txBody>
          <a:bodyPr lIns="0" tIns="0" rIns="0" bIns="0" rtlCol="0" anchor="t">
            <a:spAutoFit/>
          </a:bodyPr>
          <a:lstStyle/>
          <a:p>
            <a:pPr algn="ctr">
              <a:lnSpc>
                <a:spcPts val="2239"/>
              </a:lnSpc>
            </a:pPr>
            <a:r>
              <a:rPr lang="en-US" sz="1900">
                <a:solidFill>
                  <a:srgbClr val="000000"/>
                </a:solidFill>
                <a:latin typeface="Inter"/>
                <a:ea typeface="Inter"/>
                <a:cs typeface="Inter"/>
                <a:sym typeface="Inter"/>
              </a:rPr>
              <a:t>Historia térmica; decide Calidad</a:t>
            </a:r>
          </a:p>
        </p:txBody>
      </p:sp>
      <p:sp>
        <p:nvSpPr>
          <p:cNvPr id="23" name="TextBox 23"/>
          <p:cNvSpPr txBox="1"/>
          <p:nvPr/>
        </p:nvSpPr>
        <p:spPr>
          <a:xfrm>
            <a:off x="7982684" y="6148634"/>
            <a:ext cx="2421977" cy="1645285"/>
          </a:xfrm>
          <a:prstGeom prst="rect">
            <a:avLst/>
          </a:prstGeom>
        </p:spPr>
        <p:txBody>
          <a:bodyPr lIns="0" tIns="0" rIns="0" bIns="0" rtlCol="0" anchor="t">
            <a:spAutoFit/>
          </a:bodyPr>
          <a:lstStyle/>
          <a:p>
            <a:pPr algn="ctr">
              <a:lnSpc>
                <a:spcPts val="2239"/>
              </a:lnSpc>
            </a:pPr>
            <a:r>
              <a:rPr lang="en-US" sz="1900">
                <a:solidFill>
                  <a:srgbClr val="000000"/>
                </a:solidFill>
                <a:latin typeface="Inter"/>
                <a:ea typeface="Inter"/>
                <a:cs typeface="Inter"/>
                <a:sym typeface="Inter"/>
              </a:rPr>
              <a:t>Pallet o canastillo con su lote</a:t>
            </a:r>
          </a:p>
        </p:txBody>
      </p:sp>
      <p:sp>
        <p:nvSpPr>
          <p:cNvPr id="24" name="TextBox 24"/>
          <p:cNvSpPr txBox="1"/>
          <p:nvPr/>
        </p:nvSpPr>
        <p:spPr>
          <a:xfrm>
            <a:off x="11304632" y="6166883"/>
            <a:ext cx="2421977" cy="1645285"/>
          </a:xfrm>
          <a:prstGeom prst="rect">
            <a:avLst/>
          </a:prstGeom>
        </p:spPr>
        <p:txBody>
          <a:bodyPr lIns="0" tIns="0" rIns="0" bIns="0" rtlCol="0" anchor="t">
            <a:spAutoFit/>
          </a:bodyPr>
          <a:lstStyle/>
          <a:p>
            <a:pPr algn="ctr">
              <a:lnSpc>
                <a:spcPts val="2239"/>
              </a:lnSpc>
            </a:pPr>
            <a:r>
              <a:rPr lang="en-US" sz="1900">
                <a:solidFill>
                  <a:srgbClr val="000000"/>
                </a:solidFill>
                <a:latin typeface="Inter"/>
                <a:ea typeface="Inter"/>
                <a:cs typeface="Inter"/>
                <a:sym typeface="Inter"/>
              </a:rPr>
              <a:t>Paradas y temperatura</a:t>
            </a:r>
          </a:p>
        </p:txBody>
      </p:sp>
      <p:sp>
        <p:nvSpPr>
          <p:cNvPr id="25" name="TextBox 25"/>
          <p:cNvSpPr txBox="1"/>
          <p:nvPr/>
        </p:nvSpPr>
        <p:spPr>
          <a:xfrm>
            <a:off x="14631484" y="6166883"/>
            <a:ext cx="2421977" cy="1645285"/>
          </a:xfrm>
          <a:prstGeom prst="rect">
            <a:avLst/>
          </a:prstGeom>
        </p:spPr>
        <p:txBody>
          <a:bodyPr lIns="0" tIns="0" rIns="0" bIns="0" rtlCol="0" anchor="t">
            <a:spAutoFit/>
          </a:bodyPr>
          <a:lstStyle/>
          <a:p>
            <a:pPr algn="ctr">
              <a:lnSpc>
                <a:spcPts val="2239"/>
              </a:lnSpc>
            </a:pPr>
            <a:r>
              <a:rPr lang="en-US" sz="1900">
                <a:solidFill>
                  <a:srgbClr val="000000"/>
                </a:solidFill>
                <a:latin typeface="Inter"/>
                <a:ea typeface="Inter"/>
                <a:cs typeface="Inter"/>
                <a:sym typeface="Inter"/>
              </a:rPr>
              <a:t>Firma, foto o QR</a:t>
            </a:r>
          </a:p>
        </p:txBody>
      </p:sp>
      <p:grpSp>
        <p:nvGrpSpPr>
          <p:cNvPr id="26" name="Group 26"/>
          <p:cNvGrpSpPr/>
          <p:nvPr/>
        </p:nvGrpSpPr>
        <p:grpSpPr>
          <a:xfrm>
            <a:off x="4511937" y="5811682"/>
            <a:ext cx="2719575" cy="2347765"/>
            <a:chOff x="0" y="0"/>
            <a:chExt cx="716267" cy="618341"/>
          </a:xfrm>
        </p:grpSpPr>
        <p:sp>
          <p:nvSpPr>
            <p:cNvPr id="27" name="Freeform 27"/>
            <p:cNvSpPr/>
            <p:nvPr/>
          </p:nvSpPr>
          <p:spPr>
            <a:xfrm>
              <a:off x="0" y="0"/>
              <a:ext cx="716267" cy="618341"/>
            </a:xfrm>
            <a:custGeom>
              <a:avLst/>
              <a:gdLst/>
              <a:ahLst/>
              <a:cxnLst/>
              <a:rect l="l" t="t" r="r" b="b"/>
              <a:pathLst>
                <a:path w="716267" h="618341">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ln w="38100" cap="rnd">
              <a:solidFill>
                <a:srgbClr val="141414"/>
              </a:solidFill>
              <a:prstDash val="solid"/>
              <a:round/>
            </a:ln>
          </p:spPr>
        </p:sp>
        <p:sp>
          <p:nvSpPr>
            <p:cNvPr id="28" name="TextBox 28"/>
            <p:cNvSpPr txBox="1"/>
            <p:nvPr/>
          </p:nvSpPr>
          <p:spPr>
            <a:xfrm>
              <a:off x="0" y="-47625"/>
              <a:ext cx="716267" cy="665966"/>
            </a:xfrm>
            <a:prstGeom prst="rect">
              <a:avLst/>
            </a:prstGeom>
          </p:spPr>
          <p:txBody>
            <a:bodyPr lIns="50800" tIns="50800" rIns="50800" bIns="50800" rtlCol="0" anchor="ctr"/>
            <a:lstStyle/>
            <a:p>
              <a:pPr algn="ctr">
                <a:lnSpc>
                  <a:spcPts val="3499"/>
                </a:lnSpc>
              </a:pPr>
              <a:endParaRPr/>
            </a:p>
          </p:txBody>
        </p:sp>
      </p:grpSp>
      <p:grpSp>
        <p:nvGrpSpPr>
          <p:cNvPr id="29" name="Group 29"/>
          <p:cNvGrpSpPr/>
          <p:nvPr/>
        </p:nvGrpSpPr>
        <p:grpSpPr>
          <a:xfrm>
            <a:off x="7833885" y="5793433"/>
            <a:ext cx="2719575" cy="2347765"/>
            <a:chOff x="0" y="0"/>
            <a:chExt cx="716267" cy="618341"/>
          </a:xfrm>
        </p:grpSpPr>
        <p:sp>
          <p:nvSpPr>
            <p:cNvPr id="30" name="Freeform 30"/>
            <p:cNvSpPr/>
            <p:nvPr/>
          </p:nvSpPr>
          <p:spPr>
            <a:xfrm>
              <a:off x="0" y="0"/>
              <a:ext cx="716267" cy="618341"/>
            </a:xfrm>
            <a:custGeom>
              <a:avLst/>
              <a:gdLst/>
              <a:ahLst/>
              <a:cxnLst/>
              <a:rect l="l" t="t" r="r" b="b"/>
              <a:pathLst>
                <a:path w="716267" h="618341">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ln w="38100" cap="rnd">
              <a:solidFill>
                <a:srgbClr val="141414"/>
              </a:solidFill>
              <a:prstDash val="solid"/>
              <a:round/>
            </a:ln>
          </p:spPr>
        </p:sp>
        <p:sp>
          <p:nvSpPr>
            <p:cNvPr id="31" name="TextBox 31"/>
            <p:cNvSpPr txBox="1"/>
            <p:nvPr/>
          </p:nvSpPr>
          <p:spPr>
            <a:xfrm>
              <a:off x="0" y="-47625"/>
              <a:ext cx="716267" cy="665966"/>
            </a:xfrm>
            <a:prstGeom prst="rect">
              <a:avLst/>
            </a:prstGeom>
          </p:spPr>
          <p:txBody>
            <a:bodyPr lIns="50800" tIns="50800" rIns="50800" bIns="50800" rtlCol="0" anchor="ctr"/>
            <a:lstStyle/>
            <a:p>
              <a:pPr algn="ctr">
                <a:lnSpc>
                  <a:spcPts val="3499"/>
                </a:lnSpc>
              </a:pPr>
              <a:endParaRPr/>
            </a:p>
          </p:txBody>
        </p:sp>
      </p:grpSp>
      <p:grpSp>
        <p:nvGrpSpPr>
          <p:cNvPr id="32" name="Group 32"/>
          <p:cNvGrpSpPr/>
          <p:nvPr/>
        </p:nvGrpSpPr>
        <p:grpSpPr>
          <a:xfrm>
            <a:off x="11155833" y="5775184"/>
            <a:ext cx="2719575" cy="2347765"/>
            <a:chOff x="0" y="0"/>
            <a:chExt cx="716267" cy="618341"/>
          </a:xfrm>
        </p:grpSpPr>
        <p:sp>
          <p:nvSpPr>
            <p:cNvPr id="33" name="Freeform 33"/>
            <p:cNvSpPr/>
            <p:nvPr/>
          </p:nvSpPr>
          <p:spPr>
            <a:xfrm>
              <a:off x="0" y="0"/>
              <a:ext cx="716267" cy="618341"/>
            </a:xfrm>
            <a:custGeom>
              <a:avLst/>
              <a:gdLst/>
              <a:ahLst/>
              <a:cxnLst/>
              <a:rect l="l" t="t" r="r" b="b"/>
              <a:pathLst>
                <a:path w="716267" h="618341">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ln w="38100" cap="rnd">
              <a:solidFill>
                <a:srgbClr val="141414"/>
              </a:solidFill>
              <a:prstDash val="solid"/>
              <a:round/>
            </a:ln>
          </p:spPr>
        </p:sp>
        <p:sp>
          <p:nvSpPr>
            <p:cNvPr id="34" name="TextBox 34"/>
            <p:cNvSpPr txBox="1"/>
            <p:nvPr/>
          </p:nvSpPr>
          <p:spPr>
            <a:xfrm>
              <a:off x="0" y="-47625"/>
              <a:ext cx="716267" cy="665966"/>
            </a:xfrm>
            <a:prstGeom prst="rect">
              <a:avLst/>
            </a:prstGeom>
          </p:spPr>
          <p:txBody>
            <a:bodyPr lIns="50800" tIns="50800" rIns="50800" bIns="50800" rtlCol="0" anchor="ctr"/>
            <a:lstStyle/>
            <a:p>
              <a:pPr algn="ctr">
                <a:lnSpc>
                  <a:spcPts val="3499"/>
                </a:lnSpc>
              </a:pPr>
              <a:endParaRPr/>
            </a:p>
          </p:txBody>
        </p:sp>
      </p:grpSp>
      <p:grpSp>
        <p:nvGrpSpPr>
          <p:cNvPr id="35" name="Group 35"/>
          <p:cNvGrpSpPr/>
          <p:nvPr/>
        </p:nvGrpSpPr>
        <p:grpSpPr>
          <a:xfrm>
            <a:off x="14477781" y="5756936"/>
            <a:ext cx="2719575" cy="2347765"/>
            <a:chOff x="0" y="0"/>
            <a:chExt cx="716267" cy="618341"/>
          </a:xfrm>
        </p:grpSpPr>
        <p:sp>
          <p:nvSpPr>
            <p:cNvPr id="36" name="Freeform 36"/>
            <p:cNvSpPr/>
            <p:nvPr/>
          </p:nvSpPr>
          <p:spPr>
            <a:xfrm>
              <a:off x="0" y="0"/>
              <a:ext cx="716267" cy="618341"/>
            </a:xfrm>
            <a:custGeom>
              <a:avLst/>
              <a:gdLst/>
              <a:ahLst/>
              <a:cxnLst/>
              <a:rect l="l" t="t" r="r" b="b"/>
              <a:pathLst>
                <a:path w="716267" h="618341">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ln w="38100" cap="rnd">
              <a:solidFill>
                <a:srgbClr val="141414"/>
              </a:solidFill>
              <a:prstDash val="solid"/>
              <a:round/>
            </a:ln>
          </p:spPr>
        </p:sp>
        <p:sp>
          <p:nvSpPr>
            <p:cNvPr id="37" name="TextBox 37"/>
            <p:cNvSpPr txBox="1"/>
            <p:nvPr/>
          </p:nvSpPr>
          <p:spPr>
            <a:xfrm>
              <a:off x="0" y="-47625"/>
              <a:ext cx="716267" cy="665966"/>
            </a:xfrm>
            <a:prstGeom prst="rect">
              <a:avLst/>
            </a:prstGeom>
          </p:spPr>
          <p:txBody>
            <a:bodyPr lIns="50800" tIns="50800" rIns="50800" bIns="50800" rtlCol="0" anchor="ctr"/>
            <a:lstStyle/>
            <a:p>
              <a:pPr algn="ctr">
                <a:lnSpc>
                  <a:spcPts val="3499"/>
                </a:lnSpc>
              </a:pPr>
              <a:endParaRPr/>
            </a:p>
          </p:txBody>
        </p:sp>
      </p:grpSp>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6000" b="1">
                <a:solidFill>
                  <a:srgbClr val="111111"/>
                </a:solidFill>
                <a:latin typeface="Inter SemiBold"/>
                <a:ea typeface="Inter SemiBold"/>
                <a:cs typeface="Inter SemiBold"/>
                <a:sym typeface="Inter SemiBold"/>
              </a:rPr>
              <a:t>Datos con una sola verdad</a:t>
            </a:r>
          </a:p>
        </p:txBody>
      </p:sp>
      <p:sp>
        <p:nvSpPr>
          <p:cNvPr id="40" name="TextBox 40"/>
          <p:cNvSpPr txBox="1"/>
          <p:nvPr/>
        </p:nvSpPr>
        <p:spPr>
          <a:xfrm>
            <a:off x="1338788" y="4251679"/>
            <a:ext cx="2421977" cy="602050"/>
          </a:xfrm>
          <a:prstGeom prst="rect">
            <a:avLst/>
          </a:prstGeom>
        </p:spPr>
        <p:txBody>
          <a:bodyPr lIns="0" tIns="0" rIns="0" bIns="0" rtlCol="0" anchor="t">
            <a:spAutoFit/>
          </a:bodyPr>
          <a:lstStyle/>
          <a:p>
            <a:pPr algn="ctr">
              <a:lnSpc>
                <a:spcPts val="4280"/>
              </a:lnSpc>
            </a:pPr>
            <a:r>
              <a:rPr lang="en-US" sz="2800" b="1">
                <a:solidFill>
                  <a:srgbClr val="111111"/>
                </a:solidFill>
                <a:latin typeface="Inter SemiBold"/>
                <a:ea typeface="Inter SemiBold"/>
                <a:cs typeface="Inter SemiBold"/>
                <a:sym typeface="Inter SemiBold"/>
              </a:rPr>
              <a:t>Recepción</a:t>
            </a:r>
          </a:p>
        </p:txBody>
      </p:sp>
      <p:sp>
        <p:nvSpPr>
          <p:cNvPr id="41" name="TextBox 41"/>
          <p:cNvSpPr txBox="1"/>
          <p:nvPr/>
        </p:nvSpPr>
        <p:spPr>
          <a:xfrm>
            <a:off x="4660736" y="4251679"/>
            <a:ext cx="2421977" cy="602050"/>
          </a:xfrm>
          <a:prstGeom prst="rect">
            <a:avLst/>
          </a:prstGeom>
        </p:spPr>
        <p:txBody>
          <a:bodyPr lIns="0" tIns="0" rIns="0" bIns="0" rtlCol="0" anchor="t">
            <a:spAutoFit/>
          </a:bodyPr>
          <a:lstStyle/>
          <a:p>
            <a:pPr algn="ctr">
              <a:lnSpc>
                <a:spcPts val="4280"/>
              </a:lnSpc>
            </a:pPr>
            <a:r>
              <a:rPr lang="en-US" sz="2800" b="1">
                <a:solidFill>
                  <a:srgbClr val="111111"/>
                </a:solidFill>
                <a:latin typeface="Inter SemiBold"/>
                <a:ea typeface="Inter SemiBold"/>
                <a:cs typeface="Inter SemiBold"/>
                <a:sym typeface="Inter SemiBold"/>
              </a:rPr>
              <a:t>Lote</a:t>
            </a:r>
          </a:p>
        </p:txBody>
      </p:sp>
      <p:sp>
        <p:nvSpPr>
          <p:cNvPr id="42" name="TextBox 42"/>
          <p:cNvSpPr txBox="1"/>
          <p:nvPr/>
        </p:nvSpPr>
        <p:spPr>
          <a:xfrm>
            <a:off x="7982684" y="4251679"/>
            <a:ext cx="2421977" cy="602050"/>
          </a:xfrm>
          <a:prstGeom prst="rect">
            <a:avLst/>
          </a:prstGeom>
        </p:spPr>
        <p:txBody>
          <a:bodyPr lIns="0" tIns="0" rIns="0" bIns="0" rtlCol="0" anchor="t">
            <a:spAutoFit/>
          </a:bodyPr>
          <a:lstStyle/>
          <a:p>
            <a:pPr algn="ctr">
              <a:lnSpc>
                <a:spcPts val="4280"/>
              </a:lnSpc>
            </a:pPr>
            <a:r>
              <a:rPr lang="en-US" sz="2800" b="1">
                <a:solidFill>
                  <a:srgbClr val="111111"/>
                </a:solidFill>
                <a:latin typeface="Inter SemiBold"/>
                <a:ea typeface="Inter SemiBold"/>
                <a:cs typeface="Inter SemiBold"/>
                <a:sym typeface="Inter SemiBold"/>
              </a:rPr>
              <a:t>Unidad</a:t>
            </a:r>
          </a:p>
        </p:txBody>
      </p:sp>
      <p:sp>
        <p:nvSpPr>
          <p:cNvPr id="43" name="TextBox 43"/>
          <p:cNvSpPr txBox="1"/>
          <p:nvPr/>
        </p:nvSpPr>
        <p:spPr>
          <a:xfrm>
            <a:off x="11304632" y="4251679"/>
            <a:ext cx="2421977" cy="602050"/>
          </a:xfrm>
          <a:prstGeom prst="rect">
            <a:avLst/>
          </a:prstGeom>
        </p:spPr>
        <p:txBody>
          <a:bodyPr lIns="0" tIns="0" rIns="0" bIns="0" rtlCol="0" anchor="t">
            <a:spAutoFit/>
          </a:bodyPr>
          <a:lstStyle/>
          <a:p>
            <a:pPr algn="ctr">
              <a:lnSpc>
                <a:spcPts val="4280"/>
              </a:lnSpc>
            </a:pPr>
            <a:r>
              <a:rPr lang="en-US" sz="2800" b="1">
                <a:solidFill>
                  <a:srgbClr val="111111"/>
                </a:solidFill>
                <a:latin typeface="Inter SemiBold"/>
                <a:ea typeface="Inter SemiBold"/>
                <a:cs typeface="Inter SemiBold"/>
                <a:sym typeface="Inter SemiBold"/>
              </a:rPr>
              <a:t>Ruta</a:t>
            </a:r>
          </a:p>
        </p:txBody>
      </p:sp>
      <p:sp>
        <p:nvSpPr>
          <p:cNvPr id="44" name="TextBox 44"/>
          <p:cNvSpPr txBox="1"/>
          <p:nvPr/>
        </p:nvSpPr>
        <p:spPr>
          <a:xfrm>
            <a:off x="14626580" y="4251679"/>
            <a:ext cx="2421977" cy="602050"/>
          </a:xfrm>
          <a:prstGeom prst="rect">
            <a:avLst/>
          </a:prstGeom>
        </p:spPr>
        <p:txBody>
          <a:bodyPr lIns="0" tIns="0" rIns="0" bIns="0" rtlCol="0" anchor="t">
            <a:spAutoFit/>
          </a:bodyPr>
          <a:lstStyle/>
          <a:p>
            <a:pPr algn="ctr">
              <a:lnSpc>
                <a:spcPts val="4280"/>
              </a:lnSpc>
            </a:pPr>
            <a:r>
              <a:rPr lang="en-US" sz="2800" b="1">
                <a:solidFill>
                  <a:srgbClr val="111111"/>
                </a:solidFill>
                <a:latin typeface="Inter SemiBold"/>
                <a:ea typeface="Inter SemiBold"/>
                <a:cs typeface="Inter SemiBold"/>
                <a:sym typeface="Inter SemiBold"/>
              </a:rPr>
              <a:t>Entrega</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200">
                <a:solidFill>
                  <a:srgbClr val="000000"/>
                </a:solidFill>
                <a:latin typeface="Inter"/>
                <a:ea typeface="Inter"/>
                <a:cs typeface="Inter"/>
                <a:sym typeface="Inter"/>
              </a:rPr>
              <a:t>15 dominios · una sola fuente por dato · custodia EPCIS 2.0</a:t>
            </a:r>
          </a:p>
        </p:txBody>
      </p:sp>
      <p:sp>
        <p:nvSpPr>
          <p:cNvPr id="51" name="TextBox 50"/>
          <p:cNvSpPr txBox="1"/>
          <p:nvPr/>
        </p:nvSpPr>
        <p:spPr>
          <a:xfrm>
            <a:off x="2743200" y="8321040"/>
            <a:ext cx="12801600" cy="307777"/>
          </a:xfrm>
          <a:prstGeom prst="rect">
            <a:avLst/>
          </a:prstGeom>
          <a:noFill/>
        </p:spPr>
        <p:txBody>
          <a:bodyPr wrap="square" lIns="0" tIns="0" rIns="0" bIns="0" anchor="t">
            <a:spAutoFit/>
          </a:bodyPr>
          <a:lstStyle/>
          <a:p>
            <a:pPr algn="ctr"/>
            <a:r>
              <a:rPr lang="es-MX" sz="2000" b="1">
                <a:solidFill>
                  <a:srgbClr val="3C3C3C"/>
                </a:solidFill>
                <a:latin typeface="Inter SemiBold"/>
              </a:rPr>
              <a:t>Migración: 16 GB de origen</a:t>
            </a:r>
            <a:r>
              <a:rPr sz="2000" b="1">
                <a:solidFill>
                  <a:srgbClr val="3C3C3C"/>
                </a:solidFill>
                <a:latin typeface="Inter SemiBold"/>
              </a:rPr>
              <a:t> · 0 diferencias sin explicar</a:t>
            </a:r>
          </a:p>
        </p:txBody>
      </p:sp>
      <p:sp>
        <p:nvSpPr>
          <p:cNvPr id="52"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11</a:t>
            </a:r>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3" name="Freeform 3"/>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a:p>
        </p:txBody>
      </p:sp>
      <p:sp>
        <p:nvSpPr>
          <p:cNvPr id="4" name="Freeform 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5" name="Freeform 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6" name="Freeform 6"/>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7" name="TextBox 7"/>
          <p:cNvSpPr txBox="1"/>
          <p:nvPr/>
        </p:nvSpPr>
        <p:spPr>
          <a:xfrm>
            <a:off x="1475324" y="1600200"/>
            <a:ext cx="7668676" cy="1371600"/>
          </a:xfrm>
          <a:prstGeom prst="rect">
            <a:avLst/>
          </a:prstGeom>
        </p:spPr>
        <p:txBody>
          <a:bodyPr lIns="0" tIns="0" rIns="0" bIns="0" rtlCol="0" anchor="t">
            <a:spAutoFit/>
          </a:bodyPr>
          <a:lstStyle/>
          <a:p>
            <a:pPr algn="l">
              <a:lnSpc>
                <a:spcPts val="10651"/>
              </a:lnSpc>
            </a:pPr>
            <a:r>
              <a:rPr lang="en-US" sz="8115" b="1">
                <a:solidFill>
                  <a:srgbClr val="111111"/>
                </a:solidFill>
                <a:latin typeface="Inter SemiBold"/>
                <a:ea typeface="Inter SemiBold"/>
                <a:cs typeface="Inter SemiBold"/>
                <a:sym typeface="Inter SemiBold"/>
              </a:rPr>
              <a:t>Metodología</a:t>
            </a:r>
          </a:p>
        </p:txBody>
      </p:sp>
      <p:sp>
        <p:nvSpPr>
          <p:cNvPr id="10" name="TextBox 10"/>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11" name="!!brand"/>
          <p:cNvSpPr txBox="1"/>
          <p:nvPr/>
        </p:nvSpPr>
        <p:spPr>
          <a:xfrm>
            <a:off x="2188556" y="1000125"/>
            <a:ext cx="3328659" cy="297180"/>
          </a:xfrm>
          <a:prstGeom prst="rect">
            <a:avLst/>
          </a:prstGeom>
        </p:spPr>
        <p:txBody>
          <a:bodyPr lIns="0" tIns="0" rIns="0" bIns="0" rtlCol="0" anchor="t">
            <a:spAutoFit/>
          </a:bodyPr>
          <a:lstStyle/>
          <a:p>
            <a:pPr algn="just">
              <a:lnSpc>
                <a:spcPts val="2520"/>
              </a:lnSpc>
            </a:pPr>
            <a:r>
              <a:rPr lang="en-US" sz="1800" b="1">
                <a:solidFill>
                  <a:srgbClr val="000000"/>
                </a:solidFill>
                <a:latin typeface="Inter SemiBold"/>
                <a:ea typeface="Inter SemiBold"/>
                <a:cs typeface="Inter SemiBold"/>
                <a:sym typeface="Inter SemiBold"/>
              </a:rPr>
              <a:t>LafroX SpA</a:t>
            </a:r>
          </a:p>
        </p:txBody>
      </p:sp>
      <p:pic>
        <p:nvPicPr>
          <p:cNvPr id="12" name="!!logo" descr="Isotipo LafroX"/>
          <p:cNvPicPr>
            <a:picLocks noChangeAspect="1"/>
          </p:cNvPicPr>
          <p:nvPr/>
        </p:nvPicPr>
        <p:blipFill>
          <a:blip r:embed="rId7"/>
          <a:stretch>
            <a:fillRect/>
          </a:stretch>
        </p:blipFill>
        <p:spPr>
          <a:xfrm>
            <a:off x="1472184" y="850392"/>
            <a:ext cx="551723" cy="566928"/>
          </a:xfrm>
          <a:prstGeom prst="rect">
            <a:avLst/>
          </a:prstGeom>
        </p:spPr>
      </p:pic>
      <p:sp>
        <p:nvSpPr>
          <p:cNvPr id="13" name="TextBox 12"/>
          <p:cNvSpPr txBox="1"/>
          <p:nvPr/>
        </p:nvSpPr>
        <p:spPr>
          <a:xfrm>
            <a:off x="1472184" y="3063240"/>
            <a:ext cx="7498079" cy="548640"/>
          </a:xfrm>
          <a:prstGeom prst="rect">
            <a:avLst/>
          </a:prstGeom>
          <a:noFill/>
        </p:spPr>
        <p:txBody>
          <a:bodyPr wrap="square" lIns="0" tIns="0" rIns="0" bIns="0" anchor="t">
            <a:spAutoFit/>
          </a:bodyPr>
          <a:lstStyle/>
          <a:p>
            <a:pPr algn="l"/>
            <a:r>
              <a:rPr sz="2800" b="1">
                <a:solidFill>
                  <a:srgbClr val="E8641B"/>
                </a:solidFill>
                <a:latin typeface="Inter SemiBold"/>
              </a:rPr>
              <a:t>PMBOK + RUP + DevSecOps</a:t>
            </a:r>
          </a:p>
        </p:txBody>
      </p:sp>
      <p:sp>
        <p:nvSpPr>
          <p:cNvPr id="14" name="TextBox 13"/>
          <p:cNvSpPr txBox="1"/>
          <p:nvPr/>
        </p:nvSpPr>
        <p:spPr>
          <a:xfrm>
            <a:off x="1472184" y="3931920"/>
            <a:ext cx="7315200" cy="2926080"/>
          </a:xfrm>
          <a:prstGeom prst="rect">
            <a:avLst/>
          </a:prstGeom>
          <a:noFill/>
        </p:spPr>
        <p:txBody>
          <a:bodyPr wrap="square" lIns="0" tIns="0" rIns="0" bIns="0" anchor="t">
            <a:spAutoFit/>
          </a:bodyPr>
          <a:lstStyle/>
          <a:p>
            <a:pPr algn="l">
              <a:spcAft>
                <a:spcPts val="1200"/>
              </a:spcAft>
            </a:pPr>
            <a:r>
              <a:rPr sz="2200" b="0">
                <a:solidFill>
                  <a:srgbClr val="3C3C3C"/>
                </a:solidFill>
                <a:latin typeface="Inter"/>
              </a:rPr>
              <a:t>Valor ganado: alerta si SPI/CPI &lt; 0,90</a:t>
            </a:r>
          </a:p>
          <a:p>
            <a:pPr algn="l">
              <a:spcAft>
                <a:spcPts val="1200"/>
              </a:spcAft>
            </a:pPr>
            <a:r>
              <a:rPr sz="2200" b="0">
                <a:solidFill>
                  <a:srgbClr val="3C3C3C"/>
                </a:solidFill>
                <a:latin typeface="Inter"/>
              </a:rPr>
              <a:t>Iteraciones de 2 semanas</a:t>
            </a:r>
          </a:p>
          <a:p>
            <a:pPr algn="l">
              <a:spcAft>
                <a:spcPts val="1200"/>
              </a:spcAft>
            </a:pPr>
            <a:r>
              <a:rPr sz="2200" b="0">
                <a:solidFill>
                  <a:srgbClr val="3C3C3C"/>
                </a:solidFill>
                <a:latin typeface="Inter"/>
              </a:rPr>
              <a:t>Compuertas que bloquean</a:t>
            </a:r>
          </a:p>
          <a:p>
            <a:pPr algn="l">
              <a:spcAft>
                <a:spcPts val="1200"/>
              </a:spcAft>
            </a:pPr>
            <a:r>
              <a:rPr sz="2200" b="0">
                <a:solidFill>
                  <a:srgbClr val="3C3C3C"/>
                </a:solidFill>
                <a:latin typeface="Inter"/>
              </a:rPr>
              <a:t>Sin despliegues en sep. y dic.</a:t>
            </a:r>
          </a:p>
        </p:txBody>
      </p:sp>
      <p:sp>
        <p:nvSpPr>
          <p:cNvPr id="15" name="TextBox 14"/>
          <p:cNvSpPr txBox="1"/>
          <p:nvPr/>
        </p:nvSpPr>
        <p:spPr>
          <a:xfrm>
            <a:off x="9509760" y="1188720"/>
            <a:ext cx="6400800" cy="457200"/>
          </a:xfrm>
          <a:prstGeom prst="rect">
            <a:avLst/>
          </a:prstGeom>
          <a:noFill/>
        </p:spPr>
        <p:txBody>
          <a:bodyPr wrap="square" lIns="0" tIns="0" rIns="0" bIns="0" anchor="t">
            <a:spAutoFit/>
          </a:bodyPr>
          <a:lstStyle/>
          <a:p>
            <a:pPr algn="l"/>
            <a:r>
              <a:rPr sz="2200" b="1">
                <a:solidFill>
                  <a:srgbClr val="111111"/>
                </a:solidFill>
                <a:latin typeface="Inter SemiBold"/>
              </a:rPr>
              <a:t>Ritmo de gobierno</a:t>
            </a:r>
          </a:p>
        </p:txBody>
      </p:sp>
      <p:sp>
        <p:nvSpPr>
          <p:cNvPr id="16" name="Rounded Rectangle 15"/>
          <p:cNvSpPr/>
          <p:nvPr/>
        </p:nvSpPr>
        <p:spPr>
          <a:xfrm>
            <a:off x="9509760" y="1828800"/>
            <a:ext cx="2194560" cy="82296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700" b="1">
                <a:solidFill>
                  <a:srgbClr val="FFFFFF"/>
                </a:solidFill>
                <a:latin typeface="Inter SemiBold"/>
              </a:rPr>
              <a:t>Semanal</a:t>
            </a:r>
          </a:p>
        </p:txBody>
      </p:sp>
      <p:sp>
        <p:nvSpPr>
          <p:cNvPr id="17" name="TextBox 16"/>
          <p:cNvSpPr txBox="1"/>
          <p:nvPr/>
        </p:nvSpPr>
        <p:spPr>
          <a:xfrm>
            <a:off x="11932920" y="1828800"/>
            <a:ext cx="4023360" cy="822960"/>
          </a:xfrm>
          <a:prstGeom prst="rect">
            <a:avLst/>
          </a:prstGeom>
          <a:noFill/>
        </p:spPr>
        <p:txBody>
          <a:bodyPr wrap="square" lIns="0" tIns="0" rIns="0" bIns="0" anchor="ctr">
            <a:spAutoFit/>
          </a:bodyPr>
          <a:lstStyle/>
          <a:p>
            <a:pPr algn="l"/>
            <a:r>
              <a:rPr sz="1900" b="0">
                <a:solidFill>
                  <a:srgbClr val="111111"/>
                </a:solidFill>
                <a:latin typeface="Inter"/>
              </a:rPr>
              <a:t>Seguimiento</a:t>
            </a:r>
          </a:p>
        </p:txBody>
      </p:sp>
      <p:sp>
        <p:nvSpPr>
          <p:cNvPr id="18" name="Rounded Rectangle 17"/>
          <p:cNvSpPr/>
          <p:nvPr/>
        </p:nvSpPr>
        <p:spPr>
          <a:xfrm>
            <a:off x="9509760" y="2926080"/>
            <a:ext cx="2194560" cy="82296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700" b="1">
                <a:solidFill>
                  <a:srgbClr val="FFFFFF"/>
                </a:solidFill>
                <a:latin typeface="Inter SemiBold"/>
              </a:rPr>
              <a:t>Quincenal</a:t>
            </a:r>
          </a:p>
        </p:txBody>
      </p:sp>
      <p:sp>
        <p:nvSpPr>
          <p:cNvPr id="19" name="TextBox 18"/>
          <p:cNvSpPr txBox="1"/>
          <p:nvPr/>
        </p:nvSpPr>
        <p:spPr>
          <a:xfrm>
            <a:off x="11932920" y="2926080"/>
            <a:ext cx="4023360" cy="822960"/>
          </a:xfrm>
          <a:prstGeom prst="rect">
            <a:avLst/>
          </a:prstGeom>
          <a:noFill/>
        </p:spPr>
        <p:txBody>
          <a:bodyPr wrap="square" lIns="0" tIns="0" rIns="0" bIns="0" anchor="ctr">
            <a:spAutoFit/>
          </a:bodyPr>
          <a:lstStyle/>
          <a:p>
            <a:pPr algn="l"/>
            <a:r>
              <a:rPr sz="1900" b="0">
                <a:solidFill>
                  <a:srgbClr val="111111"/>
                </a:solidFill>
                <a:latin typeface="Inter"/>
              </a:rPr>
              <a:t>Comité de Proyecto</a:t>
            </a:r>
          </a:p>
        </p:txBody>
      </p:sp>
      <p:sp>
        <p:nvSpPr>
          <p:cNvPr id="20" name="Rounded Rectangle 19"/>
          <p:cNvSpPr/>
          <p:nvPr/>
        </p:nvSpPr>
        <p:spPr>
          <a:xfrm>
            <a:off x="9509760" y="4023360"/>
            <a:ext cx="2194560" cy="82296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700" b="1">
                <a:solidFill>
                  <a:srgbClr val="FFFFFF"/>
                </a:solidFill>
                <a:latin typeface="Inter SemiBold"/>
              </a:rPr>
              <a:t>Mensual</a:t>
            </a:r>
          </a:p>
        </p:txBody>
      </p:sp>
      <p:sp>
        <p:nvSpPr>
          <p:cNvPr id="21" name="TextBox 20"/>
          <p:cNvSpPr txBox="1"/>
          <p:nvPr/>
        </p:nvSpPr>
        <p:spPr>
          <a:xfrm>
            <a:off x="11932920" y="4023360"/>
            <a:ext cx="4023360" cy="822960"/>
          </a:xfrm>
          <a:prstGeom prst="rect">
            <a:avLst/>
          </a:prstGeom>
          <a:noFill/>
        </p:spPr>
        <p:txBody>
          <a:bodyPr wrap="square" lIns="0" tIns="0" rIns="0" bIns="0" anchor="ctr">
            <a:spAutoFit/>
          </a:bodyPr>
          <a:lstStyle/>
          <a:p>
            <a:pPr algn="l"/>
            <a:r>
              <a:rPr sz="1900" b="0">
                <a:solidFill>
                  <a:srgbClr val="111111"/>
                </a:solidFill>
                <a:latin typeface="Inter"/>
              </a:rPr>
              <a:t>Ejecutivo y Arquitectura</a:t>
            </a:r>
          </a:p>
        </p:txBody>
      </p:sp>
      <p:sp>
        <p:nvSpPr>
          <p:cNvPr id="22" name="Rounded Rectangle 21"/>
          <p:cNvSpPr/>
          <p:nvPr/>
        </p:nvSpPr>
        <p:spPr>
          <a:xfrm>
            <a:off x="9509760" y="5120640"/>
            <a:ext cx="2194560" cy="82296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700" b="1">
                <a:solidFill>
                  <a:srgbClr val="FFFFFF"/>
                </a:solidFill>
                <a:latin typeface="Inter SemiBold"/>
              </a:rPr>
              <a:t>Mes 13–56</a:t>
            </a:r>
          </a:p>
        </p:txBody>
      </p:sp>
      <p:sp>
        <p:nvSpPr>
          <p:cNvPr id="23" name="TextBox 22"/>
          <p:cNvSpPr txBox="1"/>
          <p:nvPr/>
        </p:nvSpPr>
        <p:spPr>
          <a:xfrm>
            <a:off x="11932920" y="5120640"/>
            <a:ext cx="4023360" cy="822960"/>
          </a:xfrm>
          <a:prstGeom prst="rect">
            <a:avLst/>
          </a:prstGeom>
          <a:noFill/>
        </p:spPr>
        <p:txBody>
          <a:bodyPr wrap="square" lIns="0" tIns="0" rIns="0" bIns="0" anchor="ctr">
            <a:spAutoFit/>
          </a:bodyPr>
          <a:lstStyle/>
          <a:p>
            <a:pPr algn="l"/>
            <a:r>
              <a:rPr sz="1900" b="0">
                <a:solidFill>
                  <a:srgbClr val="111111"/>
                </a:solidFill>
                <a:latin typeface="Inter"/>
              </a:rPr>
              <a:t>Comité de Operación</a:t>
            </a:r>
          </a:p>
        </p:txBody>
      </p:sp>
      <p:sp>
        <p:nvSpPr>
          <p:cNvPr id="24" name="TextBox 23"/>
          <p:cNvSpPr txBox="1"/>
          <p:nvPr/>
        </p:nvSpPr>
        <p:spPr>
          <a:xfrm>
            <a:off x="9509760" y="6355080"/>
            <a:ext cx="7772400" cy="365760"/>
          </a:xfrm>
          <a:prstGeom prst="rect">
            <a:avLst/>
          </a:prstGeom>
          <a:noFill/>
        </p:spPr>
        <p:txBody>
          <a:bodyPr wrap="square" lIns="0" tIns="0" rIns="0" bIns="0" anchor="t">
            <a:spAutoFit/>
          </a:bodyPr>
          <a:lstStyle/>
          <a:p>
            <a:pPr algn="l"/>
            <a:r>
              <a:rPr sz="1600" b="1">
                <a:solidFill>
                  <a:srgbClr val="606060"/>
                </a:solidFill>
                <a:latin typeface="Inter SemiBold"/>
              </a:rPr>
              <a:t>Fases RUP</a:t>
            </a:r>
          </a:p>
        </p:txBody>
      </p:sp>
      <p:sp>
        <p:nvSpPr>
          <p:cNvPr id="25" name="Chevron 24"/>
          <p:cNvSpPr/>
          <p:nvPr/>
        </p:nvSpPr>
        <p:spPr>
          <a:xfrm>
            <a:off x="9509760" y="6812280"/>
            <a:ext cx="2194560" cy="868680"/>
          </a:xfrm>
          <a:prstGeom prst="chevron">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FFFFFF"/>
                </a:solidFill>
                <a:latin typeface="Inter SemiBold"/>
              </a:rPr>
              <a:t>Inicio</a:t>
            </a:r>
          </a:p>
        </p:txBody>
      </p:sp>
      <p:sp>
        <p:nvSpPr>
          <p:cNvPr id="26" name="Chevron 25"/>
          <p:cNvSpPr/>
          <p:nvPr/>
        </p:nvSpPr>
        <p:spPr>
          <a:xfrm>
            <a:off x="11475720" y="6812280"/>
            <a:ext cx="2194560" cy="868680"/>
          </a:xfrm>
          <a:prstGeom prst="chevron">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FFFFFF"/>
                </a:solidFill>
                <a:latin typeface="Inter SemiBold"/>
              </a:rPr>
              <a:t>Elaboración</a:t>
            </a:r>
          </a:p>
        </p:txBody>
      </p:sp>
      <p:sp>
        <p:nvSpPr>
          <p:cNvPr id="27" name="Chevron 26"/>
          <p:cNvSpPr/>
          <p:nvPr/>
        </p:nvSpPr>
        <p:spPr>
          <a:xfrm>
            <a:off x="13441680" y="6812280"/>
            <a:ext cx="2194560" cy="868680"/>
          </a:xfrm>
          <a:prstGeom prst="chevron">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FFFFFF"/>
                </a:solidFill>
                <a:latin typeface="Inter SemiBold"/>
              </a:rPr>
              <a:t>Construcción</a:t>
            </a:r>
          </a:p>
        </p:txBody>
      </p:sp>
      <p:sp>
        <p:nvSpPr>
          <p:cNvPr id="28" name="Chevron 27"/>
          <p:cNvSpPr/>
          <p:nvPr/>
        </p:nvSpPr>
        <p:spPr>
          <a:xfrm>
            <a:off x="15407640" y="6812280"/>
            <a:ext cx="2194560" cy="868680"/>
          </a:xfrm>
          <a:prstGeom prst="chevron">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400" b="1">
                <a:solidFill>
                  <a:srgbClr val="FFFFFF"/>
                </a:solidFill>
                <a:latin typeface="Inter SemiBold"/>
              </a:rPr>
              <a:t>Transición</a:t>
            </a:r>
          </a:p>
        </p:txBody>
      </p:sp>
      <p:sp>
        <p:nvSpPr>
          <p:cNvPr id="2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12</a:t>
            </a:r>
          </a:p>
        </p:txBody>
      </p:sp>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EDT: así se organiza el trabajo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9 fases · 49 cuentas de control · 222 paquetes de trabajo</a:t>
            </a:r>
          </a:p>
        </p:txBody>
      </p:sp>
      <p:sp>
        <p:nvSpPr>
          <p:cNvPr id="51" name="!!edt_root"/>
          <p:cNvSpPr/>
          <p:nvPr/>
        </p:nvSpPr>
        <p:spPr>
          <a:xfrm>
            <a:off x="6400800" y="3200400"/>
            <a:ext cx="5486400" cy="77724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Proyecto LafroX · 56 meses</a:t>
            </a:r>
          </a:p>
        </p:txBody>
      </p:sp>
      <p:cxnSp>
        <p:nvCxnSpPr>
          <p:cNvPr id="52" name="Connector 51"/>
          <p:cNvCxnSpPr/>
          <p:nvPr/>
        </p:nvCxnSpPr>
        <p:spPr>
          <a:xfrm>
            <a:off x="9144000" y="3977639"/>
            <a:ext cx="0" cy="24688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714500" y="4224528"/>
            <a:ext cx="1481328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7145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55" name="!!ph1"/>
          <p:cNvSpPr/>
          <p:nvPr/>
        </p:nvSpPr>
        <p:spPr>
          <a:xfrm>
            <a:off x="8229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6" name="!!ph1a"/>
          <p:cNvSpPr txBox="1"/>
          <p:nvPr/>
        </p:nvSpPr>
        <p:spPr>
          <a:xfrm>
            <a:off x="932688" y="4544568"/>
            <a:ext cx="1563624" cy="274320"/>
          </a:xfrm>
          <a:prstGeom prst="rect">
            <a:avLst/>
          </a:prstGeom>
          <a:noFill/>
        </p:spPr>
        <p:txBody>
          <a:bodyPr wrap="square" lIns="0" tIns="0" rIns="0" bIns="0" anchor="t">
            <a:spAutoFit/>
          </a:bodyPr>
          <a:lstStyle/>
          <a:p>
            <a:pPr algn="l"/>
            <a:r>
              <a:rPr sz="1500" b="1">
                <a:solidFill>
                  <a:srgbClr val="E8641B"/>
                </a:solidFill>
                <a:latin typeface="Inter SemiBold"/>
              </a:rPr>
              <a:t>Fase 1</a:t>
            </a:r>
          </a:p>
        </p:txBody>
      </p:sp>
      <p:sp>
        <p:nvSpPr>
          <p:cNvPr id="57" name="!!ph1b"/>
          <p:cNvSpPr txBox="1"/>
          <p:nvPr/>
        </p:nvSpPr>
        <p:spPr>
          <a:xfrm>
            <a:off x="932688" y="4846320"/>
            <a:ext cx="1563624" cy="685800"/>
          </a:xfrm>
          <a:prstGeom prst="rect">
            <a:avLst/>
          </a:prstGeom>
          <a:noFill/>
        </p:spPr>
        <p:txBody>
          <a:bodyPr wrap="square" lIns="0" tIns="0" rIns="0" bIns="0" anchor="t">
            <a:spAutoFit/>
          </a:bodyPr>
          <a:lstStyle/>
          <a:p>
            <a:pPr algn="l"/>
            <a:r>
              <a:rPr sz="1600" b="1">
                <a:solidFill>
                  <a:srgbClr val="111111"/>
                </a:solidFill>
                <a:latin typeface="Inter SemiBold"/>
              </a:rPr>
              <a:t>Inicio</a:t>
            </a:r>
          </a:p>
        </p:txBody>
      </p:sp>
      <p:sp>
        <p:nvSpPr>
          <p:cNvPr id="58" name="!!ph1c"/>
          <p:cNvSpPr txBox="1"/>
          <p:nvPr/>
        </p:nvSpPr>
        <p:spPr>
          <a:xfrm>
            <a:off x="932688" y="5577840"/>
            <a:ext cx="1563624" cy="320040"/>
          </a:xfrm>
          <a:prstGeom prst="rect">
            <a:avLst/>
          </a:prstGeom>
          <a:noFill/>
        </p:spPr>
        <p:txBody>
          <a:bodyPr wrap="square" lIns="0" tIns="0" rIns="0" bIns="0" anchor="t">
            <a:spAutoFit/>
          </a:bodyPr>
          <a:lstStyle/>
          <a:p>
            <a:pPr algn="l"/>
            <a:r>
              <a:rPr sz="1400" b="0">
                <a:solidFill>
                  <a:srgbClr val="606060"/>
                </a:solidFill>
                <a:latin typeface="Inter"/>
              </a:rPr>
              <a:t>9 CC · 35 PT</a:t>
            </a:r>
          </a:p>
        </p:txBody>
      </p:sp>
      <p:sp>
        <p:nvSpPr>
          <p:cNvPr id="59" name="!!ph1d"/>
          <p:cNvSpPr txBox="1"/>
          <p:nvPr/>
        </p:nvSpPr>
        <p:spPr>
          <a:xfrm>
            <a:off x="932688" y="5989320"/>
            <a:ext cx="1563624" cy="411480"/>
          </a:xfrm>
          <a:prstGeom prst="rect">
            <a:avLst/>
          </a:prstGeom>
          <a:noFill/>
        </p:spPr>
        <p:txBody>
          <a:bodyPr wrap="square" lIns="0" tIns="0" rIns="0" bIns="0" anchor="t">
            <a:spAutoFit/>
          </a:bodyPr>
          <a:lstStyle/>
          <a:p>
            <a:pPr algn="l"/>
            <a:r>
              <a:rPr sz="1700" b="1">
                <a:solidFill>
                  <a:srgbClr val="E8641B"/>
                </a:solidFill>
                <a:latin typeface="Inter SemiBold"/>
              </a:rPr>
              <a:t>6.920 HH</a:t>
            </a:r>
          </a:p>
        </p:txBody>
      </p:sp>
      <p:cxnSp>
        <p:nvCxnSpPr>
          <p:cNvPr id="60" name="Connector 59"/>
          <p:cNvCxnSpPr/>
          <p:nvPr/>
        </p:nvCxnSpPr>
        <p:spPr>
          <a:xfrm>
            <a:off x="356616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1" name="!!ph2"/>
          <p:cNvSpPr/>
          <p:nvPr/>
        </p:nvSpPr>
        <p:spPr>
          <a:xfrm>
            <a:off x="267462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2" name="!!ph2a"/>
          <p:cNvSpPr txBox="1"/>
          <p:nvPr/>
        </p:nvSpPr>
        <p:spPr>
          <a:xfrm>
            <a:off x="2784348" y="4544568"/>
            <a:ext cx="1563624" cy="274320"/>
          </a:xfrm>
          <a:prstGeom prst="rect">
            <a:avLst/>
          </a:prstGeom>
          <a:noFill/>
        </p:spPr>
        <p:txBody>
          <a:bodyPr wrap="square" lIns="0" tIns="0" rIns="0" bIns="0" anchor="t">
            <a:spAutoFit/>
          </a:bodyPr>
          <a:lstStyle/>
          <a:p>
            <a:pPr algn="l"/>
            <a:r>
              <a:rPr sz="1500" b="1">
                <a:solidFill>
                  <a:srgbClr val="E8641B"/>
                </a:solidFill>
                <a:latin typeface="Inter SemiBold"/>
              </a:rPr>
              <a:t>Fase 2</a:t>
            </a:r>
          </a:p>
        </p:txBody>
      </p:sp>
      <p:sp>
        <p:nvSpPr>
          <p:cNvPr id="63" name="!!ph2b"/>
          <p:cNvSpPr txBox="1"/>
          <p:nvPr/>
        </p:nvSpPr>
        <p:spPr>
          <a:xfrm>
            <a:off x="2784348" y="4846320"/>
            <a:ext cx="1563624" cy="685800"/>
          </a:xfrm>
          <a:prstGeom prst="rect">
            <a:avLst/>
          </a:prstGeom>
          <a:noFill/>
        </p:spPr>
        <p:txBody>
          <a:bodyPr wrap="square" lIns="0" tIns="0" rIns="0" bIns="0" anchor="t">
            <a:spAutoFit/>
          </a:bodyPr>
          <a:lstStyle/>
          <a:p>
            <a:pPr algn="l"/>
            <a:r>
              <a:rPr sz="1600" b="1">
                <a:solidFill>
                  <a:srgbClr val="111111"/>
                </a:solidFill>
                <a:latin typeface="Inter SemiBold"/>
              </a:rPr>
              <a:t>Elaboración</a:t>
            </a:r>
          </a:p>
        </p:txBody>
      </p:sp>
      <p:sp>
        <p:nvSpPr>
          <p:cNvPr id="64" name="!!ph2c"/>
          <p:cNvSpPr txBox="1"/>
          <p:nvPr/>
        </p:nvSpPr>
        <p:spPr>
          <a:xfrm>
            <a:off x="2784348" y="5577840"/>
            <a:ext cx="1563624" cy="320040"/>
          </a:xfrm>
          <a:prstGeom prst="rect">
            <a:avLst/>
          </a:prstGeom>
          <a:noFill/>
        </p:spPr>
        <p:txBody>
          <a:bodyPr wrap="square" lIns="0" tIns="0" rIns="0" bIns="0" anchor="t">
            <a:spAutoFit/>
          </a:bodyPr>
          <a:lstStyle/>
          <a:p>
            <a:pPr algn="l"/>
            <a:r>
              <a:rPr sz="1400" b="0">
                <a:solidFill>
                  <a:srgbClr val="606060"/>
                </a:solidFill>
                <a:latin typeface="Inter"/>
              </a:rPr>
              <a:t>6 CC · 18 PT</a:t>
            </a:r>
          </a:p>
        </p:txBody>
      </p:sp>
      <p:sp>
        <p:nvSpPr>
          <p:cNvPr id="65" name="!!ph2d"/>
          <p:cNvSpPr txBox="1"/>
          <p:nvPr/>
        </p:nvSpPr>
        <p:spPr>
          <a:xfrm>
            <a:off x="2784348" y="5989320"/>
            <a:ext cx="1563624" cy="411480"/>
          </a:xfrm>
          <a:prstGeom prst="rect">
            <a:avLst/>
          </a:prstGeom>
          <a:noFill/>
        </p:spPr>
        <p:txBody>
          <a:bodyPr wrap="square" lIns="0" tIns="0" rIns="0" bIns="0" anchor="t">
            <a:spAutoFit/>
          </a:bodyPr>
          <a:lstStyle/>
          <a:p>
            <a:pPr algn="l"/>
            <a:r>
              <a:rPr sz="1700" b="1">
                <a:solidFill>
                  <a:srgbClr val="E8641B"/>
                </a:solidFill>
                <a:latin typeface="Inter SemiBold"/>
              </a:rPr>
              <a:t>4.320 HH</a:t>
            </a:r>
          </a:p>
        </p:txBody>
      </p:sp>
      <p:cxnSp>
        <p:nvCxnSpPr>
          <p:cNvPr id="66" name="Connector 65"/>
          <p:cNvCxnSpPr/>
          <p:nvPr/>
        </p:nvCxnSpPr>
        <p:spPr>
          <a:xfrm>
            <a:off x="54178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7" name="!!ph3"/>
          <p:cNvSpPr/>
          <p:nvPr/>
        </p:nvSpPr>
        <p:spPr>
          <a:xfrm>
            <a:off x="45262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8" name="!!ph3a"/>
          <p:cNvSpPr txBox="1"/>
          <p:nvPr/>
        </p:nvSpPr>
        <p:spPr>
          <a:xfrm>
            <a:off x="4636008" y="4544568"/>
            <a:ext cx="1563624" cy="274320"/>
          </a:xfrm>
          <a:prstGeom prst="rect">
            <a:avLst/>
          </a:prstGeom>
          <a:noFill/>
        </p:spPr>
        <p:txBody>
          <a:bodyPr wrap="square" lIns="0" tIns="0" rIns="0" bIns="0" anchor="t">
            <a:spAutoFit/>
          </a:bodyPr>
          <a:lstStyle/>
          <a:p>
            <a:pPr algn="l"/>
            <a:r>
              <a:rPr sz="1500" b="1">
                <a:solidFill>
                  <a:srgbClr val="E8641B"/>
                </a:solidFill>
                <a:latin typeface="Inter SemiBold"/>
              </a:rPr>
              <a:t>Fase 3</a:t>
            </a:r>
          </a:p>
        </p:txBody>
      </p:sp>
      <p:sp>
        <p:nvSpPr>
          <p:cNvPr id="69" name="!!ph3b"/>
          <p:cNvSpPr txBox="1"/>
          <p:nvPr/>
        </p:nvSpPr>
        <p:spPr>
          <a:xfrm>
            <a:off x="4636008" y="4846320"/>
            <a:ext cx="1563624" cy="685800"/>
          </a:xfrm>
          <a:prstGeom prst="rect">
            <a:avLst/>
          </a:prstGeom>
          <a:noFill/>
        </p:spPr>
        <p:txBody>
          <a:bodyPr wrap="square" lIns="0" tIns="0" rIns="0" bIns="0" anchor="t">
            <a:spAutoFit/>
          </a:bodyPr>
          <a:lstStyle/>
          <a:p>
            <a:pPr algn="l"/>
            <a:r>
              <a:rPr sz="1600" b="1">
                <a:solidFill>
                  <a:srgbClr val="111111"/>
                </a:solidFill>
                <a:latin typeface="Inter SemiBold"/>
              </a:rPr>
              <a:t>Construcción</a:t>
            </a:r>
          </a:p>
        </p:txBody>
      </p:sp>
      <p:sp>
        <p:nvSpPr>
          <p:cNvPr id="70" name="!!ph3c"/>
          <p:cNvSpPr txBox="1"/>
          <p:nvPr/>
        </p:nvSpPr>
        <p:spPr>
          <a:xfrm>
            <a:off x="4636008" y="5577840"/>
            <a:ext cx="1563624" cy="320040"/>
          </a:xfrm>
          <a:prstGeom prst="rect">
            <a:avLst/>
          </a:prstGeom>
          <a:noFill/>
        </p:spPr>
        <p:txBody>
          <a:bodyPr wrap="square" lIns="0" tIns="0" rIns="0" bIns="0" anchor="t">
            <a:spAutoFit/>
          </a:bodyPr>
          <a:lstStyle/>
          <a:p>
            <a:pPr algn="l"/>
            <a:r>
              <a:rPr sz="1400" b="0">
                <a:solidFill>
                  <a:srgbClr val="606060"/>
                </a:solidFill>
                <a:latin typeface="Inter"/>
              </a:rPr>
              <a:t>11 CC · 79 PT</a:t>
            </a:r>
          </a:p>
        </p:txBody>
      </p:sp>
      <p:sp>
        <p:nvSpPr>
          <p:cNvPr id="71" name="!!ph3d"/>
          <p:cNvSpPr txBox="1"/>
          <p:nvPr/>
        </p:nvSpPr>
        <p:spPr>
          <a:xfrm>
            <a:off x="4636008" y="5989320"/>
            <a:ext cx="1563624" cy="411480"/>
          </a:xfrm>
          <a:prstGeom prst="rect">
            <a:avLst/>
          </a:prstGeom>
          <a:noFill/>
        </p:spPr>
        <p:txBody>
          <a:bodyPr wrap="square" lIns="0" tIns="0" rIns="0" bIns="0" anchor="t">
            <a:spAutoFit/>
          </a:bodyPr>
          <a:lstStyle/>
          <a:p>
            <a:pPr algn="l"/>
            <a:r>
              <a:rPr sz="1700" b="1">
                <a:solidFill>
                  <a:srgbClr val="E8641B"/>
                </a:solidFill>
                <a:latin typeface="Inter SemiBold"/>
              </a:rPr>
              <a:t>33.280 HH</a:t>
            </a:r>
          </a:p>
        </p:txBody>
      </p:sp>
      <p:cxnSp>
        <p:nvCxnSpPr>
          <p:cNvPr id="72" name="Connector 71"/>
          <p:cNvCxnSpPr/>
          <p:nvPr/>
        </p:nvCxnSpPr>
        <p:spPr>
          <a:xfrm>
            <a:off x="726947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3" name="!!ph4"/>
          <p:cNvSpPr/>
          <p:nvPr/>
        </p:nvSpPr>
        <p:spPr>
          <a:xfrm>
            <a:off x="637794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4" name="!!ph4a"/>
          <p:cNvSpPr txBox="1"/>
          <p:nvPr/>
        </p:nvSpPr>
        <p:spPr>
          <a:xfrm>
            <a:off x="6487668" y="4544568"/>
            <a:ext cx="1563624" cy="274320"/>
          </a:xfrm>
          <a:prstGeom prst="rect">
            <a:avLst/>
          </a:prstGeom>
          <a:noFill/>
        </p:spPr>
        <p:txBody>
          <a:bodyPr wrap="square" lIns="0" tIns="0" rIns="0" bIns="0" anchor="t">
            <a:spAutoFit/>
          </a:bodyPr>
          <a:lstStyle/>
          <a:p>
            <a:pPr algn="l"/>
            <a:r>
              <a:rPr sz="1500" b="1">
                <a:solidFill>
                  <a:srgbClr val="E8641B"/>
                </a:solidFill>
                <a:latin typeface="Inter SemiBold"/>
              </a:rPr>
              <a:t>Fase 4</a:t>
            </a:r>
          </a:p>
        </p:txBody>
      </p:sp>
      <p:sp>
        <p:nvSpPr>
          <p:cNvPr id="75" name="!!ph4b"/>
          <p:cNvSpPr txBox="1"/>
          <p:nvPr/>
        </p:nvSpPr>
        <p:spPr>
          <a:xfrm>
            <a:off x="6487668" y="4846320"/>
            <a:ext cx="1563624" cy="685800"/>
          </a:xfrm>
          <a:prstGeom prst="rect">
            <a:avLst/>
          </a:prstGeom>
          <a:noFill/>
        </p:spPr>
        <p:txBody>
          <a:bodyPr wrap="square" lIns="0" tIns="0" rIns="0" bIns="0" anchor="t">
            <a:spAutoFit/>
          </a:bodyPr>
          <a:lstStyle/>
          <a:p>
            <a:pPr algn="l"/>
            <a:r>
              <a:rPr sz="1600" b="1">
                <a:solidFill>
                  <a:srgbClr val="111111"/>
                </a:solidFill>
                <a:latin typeface="Inter SemiBold"/>
              </a:rPr>
              <a:t>Transición</a:t>
            </a:r>
          </a:p>
        </p:txBody>
      </p:sp>
      <p:sp>
        <p:nvSpPr>
          <p:cNvPr id="76" name="!!ph4c"/>
          <p:cNvSpPr txBox="1"/>
          <p:nvPr/>
        </p:nvSpPr>
        <p:spPr>
          <a:xfrm>
            <a:off x="6487668" y="5577840"/>
            <a:ext cx="1563624" cy="320040"/>
          </a:xfrm>
          <a:prstGeom prst="rect">
            <a:avLst/>
          </a:prstGeom>
          <a:noFill/>
        </p:spPr>
        <p:txBody>
          <a:bodyPr wrap="square" lIns="0" tIns="0" rIns="0" bIns="0" anchor="t">
            <a:spAutoFit/>
          </a:bodyPr>
          <a:lstStyle/>
          <a:p>
            <a:pPr algn="l"/>
            <a:r>
              <a:rPr sz="1400" b="0">
                <a:solidFill>
                  <a:srgbClr val="606060"/>
                </a:solidFill>
                <a:latin typeface="Inter"/>
              </a:rPr>
              <a:t>3 CC · 10 PT</a:t>
            </a:r>
          </a:p>
        </p:txBody>
      </p:sp>
      <p:sp>
        <p:nvSpPr>
          <p:cNvPr id="77" name="!!ph4d"/>
          <p:cNvSpPr txBox="1"/>
          <p:nvPr/>
        </p:nvSpPr>
        <p:spPr>
          <a:xfrm>
            <a:off x="6487668" y="5989320"/>
            <a:ext cx="1563624" cy="411480"/>
          </a:xfrm>
          <a:prstGeom prst="rect">
            <a:avLst/>
          </a:prstGeom>
          <a:noFill/>
        </p:spPr>
        <p:txBody>
          <a:bodyPr wrap="square" lIns="0" tIns="0" rIns="0" bIns="0" anchor="t">
            <a:spAutoFit/>
          </a:bodyPr>
          <a:lstStyle/>
          <a:p>
            <a:pPr algn="l"/>
            <a:r>
              <a:rPr sz="1700" b="1">
                <a:solidFill>
                  <a:srgbClr val="E8641B"/>
                </a:solidFill>
                <a:latin typeface="Inter SemiBold"/>
              </a:rPr>
              <a:t>20.672 HH</a:t>
            </a:r>
          </a:p>
        </p:txBody>
      </p:sp>
      <p:cxnSp>
        <p:nvCxnSpPr>
          <p:cNvPr id="78" name="Connector 77"/>
          <p:cNvCxnSpPr/>
          <p:nvPr/>
        </p:nvCxnSpPr>
        <p:spPr>
          <a:xfrm>
            <a:off x="912114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 name="!!ph5"/>
          <p:cNvSpPr/>
          <p:nvPr/>
        </p:nvSpPr>
        <p:spPr>
          <a:xfrm>
            <a:off x="822960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0" name="!!ph5a"/>
          <p:cNvSpPr txBox="1"/>
          <p:nvPr/>
        </p:nvSpPr>
        <p:spPr>
          <a:xfrm>
            <a:off x="8339327" y="4544568"/>
            <a:ext cx="1563624" cy="274320"/>
          </a:xfrm>
          <a:prstGeom prst="rect">
            <a:avLst/>
          </a:prstGeom>
          <a:noFill/>
        </p:spPr>
        <p:txBody>
          <a:bodyPr wrap="square" lIns="0" tIns="0" rIns="0" bIns="0" anchor="t">
            <a:spAutoFit/>
          </a:bodyPr>
          <a:lstStyle/>
          <a:p>
            <a:pPr algn="l"/>
            <a:r>
              <a:rPr sz="1500" b="1">
                <a:solidFill>
                  <a:srgbClr val="E8641B"/>
                </a:solidFill>
                <a:latin typeface="Inter SemiBold"/>
              </a:rPr>
              <a:t>Fase 5</a:t>
            </a:r>
          </a:p>
        </p:txBody>
      </p:sp>
      <p:sp>
        <p:nvSpPr>
          <p:cNvPr id="81" name="!!ph5b"/>
          <p:cNvSpPr txBox="1"/>
          <p:nvPr/>
        </p:nvSpPr>
        <p:spPr>
          <a:xfrm>
            <a:off x="8339327" y="4846320"/>
            <a:ext cx="1563624" cy="685800"/>
          </a:xfrm>
          <a:prstGeom prst="rect">
            <a:avLst/>
          </a:prstGeom>
          <a:noFill/>
        </p:spPr>
        <p:txBody>
          <a:bodyPr wrap="square" lIns="0" tIns="0" rIns="0" bIns="0" anchor="t">
            <a:spAutoFit/>
          </a:bodyPr>
          <a:lstStyle/>
          <a:p>
            <a:pPr algn="l"/>
            <a:r>
              <a:rPr sz="1600" b="1">
                <a:solidFill>
                  <a:srgbClr val="111111"/>
                </a:solidFill>
                <a:latin typeface="Inter SemiBold"/>
              </a:rPr>
              <a:t>Adquisiciones</a:t>
            </a:r>
          </a:p>
        </p:txBody>
      </p:sp>
      <p:sp>
        <p:nvSpPr>
          <p:cNvPr id="82" name="!!ph5c"/>
          <p:cNvSpPr txBox="1"/>
          <p:nvPr/>
        </p:nvSpPr>
        <p:spPr>
          <a:xfrm>
            <a:off x="8339327" y="5577840"/>
            <a:ext cx="1563624" cy="320040"/>
          </a:xfrm>
          <a:prstGeom prst="rect">
            <a:avLst/>
          </a:prstGeom>
          <a:noFill/>
        </p:spPr>
        <p:txBody>
          <a:bodyPr wrap="square" lIns="0" tIns="0" rIns="0" bIns="0" anchor="t">
            <a:spAutoFit/>
          </a:bodyPr>
          <a:lstStyle/>
          <a:p>
            <a:pPr algn="l"/>
            <a:r>
              <a:rPr sz="1400" b="0">
                <a:solidFill>
                  <a:srgbClr val="606060"/>
                </a:solidFill>
                <a:latin typeface="Inter"/>
              </a:rPr>
              <a:t>4 CC · 13 PT</a:t>
            </a:r>
          </a:p>
        </p:txBody>
      </p:sp>
      <p:sp>
        <p:nvSpPr>
          <p:cNvPr id="83" name="!!ph5d"/>
          <p:cNvSpPr txBox="1"/>
          <p:nvPr/>
        </p:nvSpPr>
        <p:spPr>
          <a:xfrm>
            <a:off x="8339327" y="5989320"/>
            <a:ext cx="1563624" cy="411480"/>
          </a:xfrm>
          <a:prstGeom prst="rect">
            <a:avLst/>
          </a:prstGeom>
          <a:noFill/>
        </p:spPr>
        <p:txBody>
          <a:bodyPr wrap="square" lIns="0" tIns="0" rIns="0" bIns="0" anchor="t">
            <a:spAutoFit/>
          </a:bodyPr>
          <a:lstStyle/>
          <a:p>
            <a:pPr algn="l"/>
            <a:r>
              <a:rPr sz="1700" b="1">
                <a:solidFill>
                  <a:srgbClr val="E8641B"/>
                </a:solidFill>
                <a:latin typeface="Inter SemiBold"/>
              </a:rPr>
              <a:t>1.040 HH</a:t>
            </a:r>
          </a:p>
        </p:txBody>
      </p:sp>
      <p:cxnSp>
        <p:nvCxnSpPr>
          <p:cNvPr id="84" name="Connector 83"/>
          <p:cNvCxnSpPr/>
          <p:nvPr/>
        </p:nvCxnSpPr>
        <p:spPr>
          <a:xfrm>
            <a:off x="109728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 name="!!ph6"/>
          <p:cNvSpPr/>
          <p:nvPr/>
        </p:nvSpPr>
        <p:spPr>
          <a:xfrm>
            <a:off x="100812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6" name="!!ph6a"/>
          <p:cNvSpPr txBox="1"/>
          <p:nvPr/>
        </p:nvSpPr>
        <p:spPr>
          <a:xfrm>
            <a:off x="10190988" y="4544568"/>
            <a:ext cx="1563624" cy="274320"/>
          </a:xfrm>
          <a:prstGeom prst="rect">
            <a:avLst/>
          </a:prstGeom>
          <a:noFill/>
        </p:spPr>
        <p:txBody>
          <a:bodyPr wrap="square" lIns="0" tIns="0" rIns="0" bIns="0" anchor="t">
            <a:spAutoFit/>
          </a:bodyPr>
          <a:lstStyle/>
          <a:p>
            <a:pPr algn="l"/>
            <a:r>
              <a:rPr sz="1500" b="1">
                <a:solidFill>
                  <a:srgbClr val="E8641B"/>
                </a:solidFill>
                <a:latin typeface="Inter SemiBold"/>
              </a:rPr>
              <a:t>Fase 6</a:t>
            </a:r>
          </a:p>
        </p:txBody>
      </p:sp>
      <p:sp>
        <p:nvSpPr>
          <p:cNvPr id="87" name="!!ph6b"/>
          <p:cNvSpPr txBox="1"/>
          <p:nvPr/>
        </p:nvSpPr>
        <p:spPr>
          <a:xfrm>
            <a:off x="10190988" y="4846320"/>
            <a:ext cx="1563624" cy="685800"/>
          </a:xfrm>
          <a:prstGeom prst="rect">
            <a:avLst/>
          </a:prstGeom>
          <a:noFill/>
        </p:spPr>
        <p:txBody>
          <a:bodyPr wrap="square" lIns="0" tIns="0" rIns="0" bIns="0" anchor="t">
            <a:spAutoFit/>
          </a:bodyPr>
          <a:lstStyle/>
          <a:p>
            <a:pPr algn="l"/>
            <a:r>
              <a:rPr sz="1600" b="1">
                <a:solidFill>
                  <a:srgbClr val="111111"/>
                </a:solidFill>
                <a:latin typeface="Inter SemiBold"/>
              </a:rPr>
              <a:t>Infraestructura</a:t>
            </a:r>
          </a:p>
        </p:txBody>
      </p:sp>
      <p:sp>
        <p:nvSpPr>
          <p:cNvPr id="88" name="!!ph6c"/>
          <p:cNvSpPr txBox="1"/>
          <p:nvPr/>
        </p:nvSpPr>
        <p:spPr>
          <a:xfrm>
            <a:off x="10190988" y="5577840"/>
            <a:ext cx="1563624" cy="320040"/>
          </a:xfrm>
          <a:prstGeom prst="rect">
            <a:avLst/>
          </a:prstGeom>
          <a:noFill/>
        </p:spPr>
        <p:txBody>
          <a:bodyPr wrap="square" lIns="0" tIns="0" rIns="0" bIns="0" anchor="t">
            <a:spAutoFit/>
          </a:bodyPr>
          <a:lstStyle/>
          <a:p>
            <a:pPr algn="l"/>
            <a:r>
              <a:rPr sz="1400" b="0">
                <a:solidFill>
                  <a:srgbClr val="606060"/>
                </a:solidFill>
                <a:latin typeface="Inter"/>
              </a:rPr>
              <a:t>6 CC · 24 PT</a:t>
            </a:r>
          </a:p>
        </p:txBody>
      </p:sp>
      <p:sp>
        <p:nvSpPr>
          <p:cNvPr id="89" name="!!ph6d"/>
          <p:cNvSpPr txBox="1"/>
          <p:nvPr/>
        </p:nvSpPr>
        <p:spPr>
          <a:xfrm>
            <a:off x="10190988" y="5989320"/>
            <a:ext cx="1563624" cy="411480"/>
          </a:xfrm>
          <a:prstGeom prst="rect">
            <a:avLst/>
          </a:prstGeom>
          <a:noFill/>
        </p:spPr>
        <p:txBody>
          <a:bodyPr wrap="square" lIns="0" tIns="0" rIns="0" bIns="0" anchor="t">
            <a:spAutoFit/>
          </a:bodyPr>
          <a:lstStyle/>
          <a:p>
            <a:pPr algn="l"/>
            <a:r>
              <a:rPr sz="1700" b="1">
                <a:solidFill>
                  <a:srgbClr val="E8641B"/>
                </a:solidFill>
                <a:latin typeface="Inter SemiBold"/>
              </a:rPr>
              <a:t>3.840 HH</a:t>
            </a:r>
          </a:p>
        </p:txBody>
      </p:sp>
      <p:cxnSp>
        <p:nvCxnSpPr>
          <p:cNvPr id="90" name="Connector 89"/>
          <p:cNvCxnSpPr/>
          <p:nvPr/>
        </p:nvCxnSpPr>
        <p:spPr>
          <a:xfrm>
            <a:off x="1282445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 name="!!ph7"/>
          <p:cNvSpPr/>
          <p:nvPr/>
        </p:nvSpPr>
        <p:spPr>
          <a:xfrm>
            <a:off x="1193291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2" name="!!ph7a"/>
          <p:cNvSpPr txBox="1"/>
          <p:nvPr/>
        </p:nvSpPr>
        <p:spPr>
          <a:xfrm>
            <a:off x="12042647" y="4544568"/>
            <a:ext cx="1563624" cy="274320"/>
          </a:xfrm>
          <a:prstGeom prst="rect">
            <a:avLst/>
          </a:prstGeom>
          <a:noFill/>
        </p:spPr>
        <p:txBody>
          <a:bodyPr wrap="square" lIns="0" tIns="0" rIns="0" bIns="0" anchor="t">
            <a:spAutoFit/>
          </a:bodyPr>
          <a:lstStyle/>
          <a:p>
            <a:pPr algn="l"/>
            <a:r>
              <a:rPr sz="1500" b="1">
                <a:solidFill>
                  <a:srgbClr val="E8641B"/>
                </a:solidFill>
                <a:latin typeface="Inter SemiBold"/>
              </a:rPr>
              <a:t>Fase 7</a:t>
            </a:r>
          </a:p>
        </p:txBody>
      </p:sp>
      <p:sp>
        <p:nvSpPr>
          <p:cNvPr id="93" name="!!ph7b"/>
          <p:cNvSpPr txBox="1"/>
          <p:nvPr/>
        </p:nvSpPr>
        <p:spPr>
          <a:xfrm>
            <a:off x="12042647" y="4846320"/>
            <a:ext cx="1563624" cy="685800"/>
          </a:xfrm>
          <a:prstGeom prst="rect">
            <a:avLst/>
          </a:prstGeom>
          <a:noFill/>
        </p:spPr>
        <p:txBody>
          <a:bodyPr wrap="square" lIns="0" tIns="0" rIns="0" bIns="0" anchor="t">
            <a:spAutoFit/>
          </a:bodyPr>
          <a:lstStyle/>
          <a:p>
            <a:pPr algn="l"/>
            <a:r>
              <a:rPr sz="1600" b="1">
                <a:solidFill>
                  <a:srgbClr val="111111"/>
                </a:solidFill>
                <a:latin typeface="Inter SemiBold"/>
              </a:rPr>
              <a:t>Capacitación y cambio</a:t>
            </a:r>
          </a:p>
        </p:txBody>
      </p:sp>
      <p:sp>
        <p:nvSpPr>
          <p:cNvPr id="94" name="!!ph7c"/>
          <p:cNvSpPr txBox="1"/>
          <p:nvPr/>
        </p:nvSpPr>
        <p:spPr>
          <a:xfrm>
            <a:off x="12042647" y="5577840"/>
            <a:ext cx="1563624" cy="320040"/>
          </a:xfrm>
          <a:prstGeom prst="rect">
            <a:avLst/>
          </a:prstGeom>
          <a:noFill/>
        </p:spPr>
        <p:txBody>
          <a:bodyPr wrap="square" lIns="0" tIns="0" rIns="0" bIns="0" anchor="t">
            <a:spAutoFit/>
          </a:bodyPr>
          <a:lstStyle/>
          <a:p>
            <a:pPr algn="l"/>
            <a:r>
              <a:rPr sz="1400" b="0">
                <a:solidFill>
                  <a:srgbClr val="606060"/>
                </a:solidFill>
                <a:latin typeface="Inter"/>
              </a:rPr>
              <a:t>3 CC · 13 PT</a:t>
            </a:r>
          </a:p>
        </p:txBody>
      </p:sp>
      <p:sp>
        <p:nvSpPr>
          <p:cNvPr id="95" name="!!ph7d"/>
          <p:cNvSpPr txBox="1"/>
          <p:nvPr/>
        </p:nvSpPr>
        <p:spPr>
          <a:xfrm>
            <a:off x="12042647" y="5989320"/>
            <a:ext cx="1563624" cy="411480"/>
          </a:xfrm>
          <a:prstGeom prst="rect">
            <a:avLst/>
          </a:prstGeom>
          <a:noFill/>
        </p:spPr>
        <p:txBody>
          <a:bodyPr wrap="square" lIns="0" tIns="0" rIns="0" bIns="0" anchor="t">
            <a:spAutoFit/>
          </a:bodyPr>
          <a:lstStyle/>
          <a:p>
            <a:pPr algn="l"/>
            <a:r>
              <a:rPr sz="1700" b="1">
                <a:solidFill>
                  <a:srgbClr val="E8641B"/>
                </a:solidFill>
                <a:latin typeface="Inter SemiBold"/>
              </a:rPr>
              <a:t>4.736 HH</a:t>
            </a:r>
          </a:p>
        </p:txBody>
      </p:sp>
      <p:cxnSp>
        <p:nvCxnSpPr>
          <p:cNvPr id="96" name="Connector 95"/>
          <p:cNvCxnSpPr/>
          <p:nvPr/>
        </p:nvCxnSpPr>
        <p:spPr>
          <a:xfrm>
            <a:off x="146761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7" name="!!ph8"/>
          <p:cNvSpPr/>
          <p:nvPr/>
        </p:nvSpPr>
        <p:spPr>
          <a:xfrm>
            <a:off x="137845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8" name="!!ph8a"/>
          <p:cNvSpPr txBox="1"/>
          <p:nvPr/>
        </p:nvSpPr>
        <p:spPr>
          <a:xfrm>
            <a:off x="13894307" y="4544568"/>
            <a:ext cx="1563624" cy="274320"/>
          </a:xfrm>
          <a:prstGeom prst="rect">
            <a:avLst/>
          </a:prstGeom>
          <a:noFill/>
        </p:spPr>
        <p:txBody>
          <a:bodyPr wrap="square" lIns="0" tIns="0" rIns="0" bIns="0" anchor="t">
            <a:spAutoFit/>
          </a:bodyPr>
          <a:lstStyle/>
          <a:p>
            <a:pPr algn="l"/>
            <a:r>
              <a:rPr sz="1500" b="1">
                <a:solidFill>
                  <a:srgbClr val="E8641B"/>
                </a:solidFill>
                <a:latin typeface="Inter SemiBold"/>
              </a:rPr>
              <a:t>Fase 8</a:t>
            </a:r>
          </a:p>
        </p:txBody>
      </p:sp>
      <p:sp>
        <p:nvSpPr>
          <p:cNvPr id="99" name="!!ph8b"/>
          <p:cNvSpPr txBox="1"/>
          <p:nvPr/>
        </p:nvSpPr>
        <p:spPr>
          <a:xfrm>
            <a:off x="13894307" y="4846320"/>
            <a:ext cx="1563624" cy="685800"/>
          </a:xfrm>
          <a:prstGeom prst="rect">
            <a:avLst/>
          </a:prstGeom>
          <a:noFill/>
        </p:spPr>
        <p:txBody>
          <a:bodyPr wrap="square" lIns="0" tIns="0" rIns="0" bIns="0" anchor="t">
            <a:spAutoFit/>
          </a:bodyPr>
          <a:lstStyle/>
          <a:p>
            <a:pPr algn="l"/>
            <a:r>
              <a:rPr sz="1600" b="1">
                <a:solidFill>
                  <a:srgbClr val="111111"/>
                </a:solidFill>
                <a:latin typeface="Inter SemiBold"/>
              </a:rPr>
              <a:t>Operación y soporte</a:t>
            </a:r>
          </a:p>
        </p:txBody>
      </p:sp>
      <p:sp>
        <p:nvSpPr>
          <p:cNvPr id="100" name="!!ph8c"/>
          <p:cNvSpPr txBox="1"/>
          <p:nvPr/>
        </p:nvSpPr>
        <p:spPr>
          <a:xfrm>
            <a:off x="13894307" y="5577840"/>
            <a:ext cx="1563624" cy="320040"/>
          </a:xfrm>
          <a:prstGeom prst="rect">
            <a:avLst/>
          </a:prstGeom>
          <a:noFill/>
        </p:spPr>
        <p:txBody>
          <a:bodyPr wrap="square" lIns="0" tIns="0" rIns="0" bIns="0" anchor="t">
            <a:spAutoFit/>
          </a:bodyPr>
          <a:lstStyle/>
          <a:p>
            <a:pPr algn="l"/>
            <a:r>
              <a:rPr sz="1400" b="0">
                <a:solidFill>
                  <a:srgbClr val="606060"/>
                </a:solidFill>
                <a:latin typeface="Inter"/>
              </a:rPr>
              <a:t>5 CC · 26 PT</a:t>
            </a:r>
          </a:p>
        </p:txBody>
      </p:sp>
      <p:sp>
        <p:nvSpPr>
          <p:cNvPr id="101" name="!!ph8d"/>
          <p:cNvSpPr txBox="1"/>
          <p:nvPr/>
        </p:nvSpPr>
        <p:spPr>
          <a:xfrm>
            <a:off x="13894307" y="5989320"/>
            <a:ext cx="1563624" cy="411480"/>
          </a:xfrm>
          <a:prstGeom prst="rect">
            <a:avLst/>
          </a:prstGeom>
          <a:noFill/>
        </p:spPr>
        <p:txBody>
          <a:bodyPr wrap="square" lIns="0" tIns="0" rIns="0" bIns="0" anchor="t">
            <a:spAutoFit/>
          </a:bodyPr>
          <a:lstStyle/>
          <a:p>
            <a:pPr algn="l"/>
            <a:r>
              <a:rPr sz="1700" b="1">
                <a:solidFill>
                  <a:srgbClr val="E8641B"/>
                </a:solidFill>
                <a:latin typeface="Inter SemiBold"/>
              </a:rPr>
              <a:t>129.879 HH</a:t>
            </a:r>
          </a:p>
        </p:txBody>
      </p:sp>
      <p:cxnSp>
        <p:nvCxnSpPr>
          <p:cNvPr id="102" name="Connector 101"/>
          <p:cNvCxnSpPr/>
          <p:nvPr/>
        </p:nvCxnSpPr>
        <p:spPr>
          <a:xfrm>
            <a:off x="1652778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 name="!!ph9"/>
          <p:cNvSpPr/>
          <p:nvPr/>
        </p:nvSpPr>
        <p:spPr>
          <a:xfrm>
            <a:off x="1563623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4" name="!!ph9a"/>
          <p:cNvSpPr txBox="1"/>
          <p:nvPr/>
        </p:nvSpPr>
        <p:spPr>
          <a:xfrm>
            <a:off x="15745967" y="4544568"/>
            <a:ext cx="1563624" cy="274320"/>
          </a:xfrm>
          <a:prstGeom prst="rect">
            <a:avLst/>
          </a:prstGeom>
          <a:noFill/>
        </p:spPr>
        <p:txBody>
          <a:bodyPr wrap="square" lIns="0" tIns="0" rIns="0" bIns="0" anchor="t">
            <a:spAutoFit/>
          </a:bodyPr>
          <a:lstStyle/>
          <a:p>
            <a:pPr algn="l"/>
            <a:r>
              <a:rPr sz="1500" b="1">
                <a:solidFill>
                  <a:srgbClr val="E8641B"/>
                </a:solidFill>
                <a:latin typeface="Inter SemiBold"/>
              </a:rPr>
              <a:t>Fase 9</a:t>
            </a:r>
          </a:p>
        </p:txBody>
      </p:sp>
      <p:sp>
        <p:nvSpPr>
          <p:cNvPr id="105" name="!!ph9b"/>
          <p:cNvSpPr txBox="1"/>
          <p:nvPr/>
        </p:nvSpPr>
        <p:spPr>
          <a:xfrm>
            <a:off x="15745967" y="4846320"/>
            <a:ext cx="1563624" cy="685800"/>
          </a:xfrm>
          <a:prstGeom prst="rect">
            <a:avLst/>
          </a:prstGeom>
          <a:noFill/>
        </p:spPr>
        <p:txBody>
          <a:bodyPr wrap="square" lIns="0" tIns="0" rIns="0" bIns="0" anchor="t">
            <a:spAutoFit/>
          </a:bodyPr>
          <a:lstStyle/>
          <a:p>
            <a:pPr algn="l"/>
            <a:r>
              <a:rPr sz="1600" b="1">
                <a:solidFill>
                  <a:srgbClr val="111111"/>
                </a:solidFill>
                <a:latin typeface="Inter SemiBold"/>
              </a:rPr>
              <a:t>Cierre</a:t>
            </a:r>
          </a:p>
        </p:txBody>
      </p:sp>
      <p:sp>
        <p:nvSpPr>
          <p:cNvPr id="106" name="!!ph9c"/>
          <p:cNvSpPr txBox="1"/>
          <p:nvPr/>
        </p:nvSpPr>
        <p:spPr>
          <a:xfrm>
            <a:off x="15745967" y="5577840"/>
            <a:ext cx="1563624" cy="320040"/>
          </a:xfrm>
          <a:prstGeom prst="rect">
            <a:avLst/>
          </a:prstGeom>
          <a:noFill/>
        </p:spPr>
        <p:txBody>
          <a:bodyPr wrap="square" lIns="0" tIns="0" rIns="0" bIns="0" anchor="t">
            <a:spAutoFit/>
          </a:bodyPr>
          <a:lstStyle/>
          <a:p>
            <a:pPr algn="l"/>
            <a:r>
              <a:rPr sz="1400" b="0">
                <a:solidFill>
                  <a:srgbClr val="606060"/>
                </a:solidFill>
                <a:latin typeface="Inter"/>
              </a:rPr>
              <a:t>2 CC · 4 PT</a:t>
            </a:r>
          </a:p>
        </p:txBody>
      </p:sp>
      <p:sp>
        <p:nvSpPr>
          <p:cNvPr id="107" name="!!ph9d"/>
          <p:cNvSpPr txBox="1"/>
          <p:nvPr/>
        </p:nvSpPr>
        <p:spPr>
          <a:xfrm>
            <a:off x="15745967" y="5989320"/>
            <a:ext cx="1563624" cy="411480"/>
          </a:xfrm>
          <a:prstGeom prst="rect">
            <a:avLst/>
          </a:prstGeom>
          <a:noFill/>
        </p:spPr>
        <p:txBody>
          <a:bodyPr wrap="square" lIns="0" tIns="0" rIns="0" bIns="0" anchor="t">
            <a:spAutoFit/>
          </a:bodyPr>
          <a:lstStyle/>
          <a:p>
            <a:pPr algn="l"/>
            <a:r>
              <a:rPr sz="1700" b="1">
                <a:solidFill>
                  <a:srgbClr val="E8641B"/>
                </a:solidFill>
                <a:latin typeface="Inter SemiBold"/>
              </a:rPr>
              <a:t>320 HH</a:t>
            </a:r>
          </a:p>
        </p:txBody>
      </p:sp>
      <p:sp>
        <p:nvSpPr>
          <p:cNvPr id="108" name="Rounded Rectangle 107"/>
          <p:cNvSpPr/>
          <p:nvPr/>
        </p:nvSpPr>
        <p:spPr>
          <a:xfrm>
            <a:off x="914400" y="7086600"/>
            <a:ext cx="8138160" cy="86868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Las fases 1 a 4 se repiten en cada etapa</a:t>
            </a:r>
          </a:p>
        </p:txBody>
      </p:sp>
      <p:sp>
        <p:nvSpPr>
          <p:cNvPr id="109" name="Rounded Rectangle 108"/>
          <p:cNvSpPr/>
          <p:nvPr/>
        </p:nvSpPr>
        <p:spPr>
          <a:xfrm>
            <a:off x="9235440" y="7086600"/>
            <a:ext cx="8138160" cy="8686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Operación concentra 129.879 HH</a:t>
            </a:r>
          </a:p>
        </p:txBody>
      </p:sp>
      <p:sp>
        <p:nvSpPr>
          <p:cNvPr id="110"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13</a:t>
            </a:r>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EDT: así se organiza el trabajo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9 fases · 49 cuentas de control · 222 paquetes de trabajo</a:t>
            </a:r>
          </a:p>
        </p:txBody>
      </p:sp>
      <p:sp>
        <p:nvSpPr>
          <p:cNvPr id="51" name="!!edt_root"/>
          <p:cNvSpPr/>
          <p:nvPr/>
        </p:nvSpPr>
        <p:spPr>
          <a:xfrm>
            <a:off x="6400800" y="3200400"/>
            <a:ext cx="5486400" cy="77724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Proyecto LafroX · 56 meses</a:t>
            </a:r>
          </a:p>
        </p:txBody>
      </p:sp>
      <p:cxnSp>
        <p:nvCxnSpPr>
          <p:cNvPr id="52" name="Connector 51"/>
          <p:cNvCxnSpPr/>
          <p:nvPr/>
        </p:nvCxnSpPr>
        <p:spPr>
          <a:xfrm>
            <a:off x="9144000" y="3977639"/>
            <a:ext cx="0" cy="24688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714500" y="4224528"/>
            <a:ext cx="1481328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7145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55" name="!!ph1"/>
          <p:cNvSpPr/>
          <p:nvPr/>
        </p:nvSpPr>
        <p:spPr>
          <a:xfrm>
            <a:off x="777240" y="4325112"/>
            <a:ext cx="1874519" cy="2414015"/>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6" name="!!ph1a"/>
          <p:cNvSpPr txBox="1"/>
          <p:nvPr/>
        </p:nvSpPr>
        <p:spPr>
          <a:xfrm>
            <a:off x="886968" y="4434840"/>
            <a:ext cx="1655063" cy="274320"/>
          </a:xfrm>
          <a:prstGeom prst="rect">
            <a:avLst/>
          </a:prstGeom>
          <a:noFill/>
        </p:spPr>
        <p:txBody>
          <a:bodyPr wrap="square" lIns="0" tIns="0" rIns="0" bIns="0" anchor="t">
            <a:spAutoFit/>
          </a:bodyPr>
          <a:lstStyle/>
          <a:p>
            <a:pPr algn="l"/>
            <a:r>
              <a:rPr sz="1500" b="1">
                <a:solidFill>
                  <a:srgbClr val="FFFFFF"/>
                </a:solidFill>
                <a:latin typeface="Inter SemiBold"/>
              </a:rPr>
              <a:t>Fase 1</a:t>
            </a:r>
          </a:p>
        </p:txBody>
      </p:sp>
      <p:sp>
        <p:nvSpPr>
          <p:cNvPr id="57" name="!!ph1b"/>
          <p:cNvSpPr txBox="1"/>
          <p:nvPr/>
        </p:nvSpPr>
        <p:spPr>
          <a:xfrm>
            <a:off x="886968" y="4736592"/>
            <a:ext cx="1655063" cy="685800"/>
          </a:xfrm>
          <a:prstGeom prst="rect">
            <a:avLst/>
          </a:prstGeom>
          <a:noFill/>
        </p:spPr>
        <p:txBody>
          <a:bodyPr wrap="square" lIns="0" tIns="0" rIns="0" bIns="0" anchor="t">
            <a:spAutoFit/>
          </a:bodyPr>
          <a:lstStyle/>
          <a:p>
            <a:pPr algn="l"/>
            <a:r>
              <a:rPr sz="1600" b="1">
                <a:solidFill>
                  <a:srgbClr val="FFFFFF"/>
                </a:solidFill>
                <a:latin typeface="Inter SemiBold"/>
              </a:rPr>
              <a:t>Inicio</a:t>
            </a:r>
          </a:p>
        </p:txBody>
      </p:sp>
      <p:sp>
        <p:nvSpPr>
          <p:cNvPr id="58" name="!!ph1c"/>
          <p:cNvSpPr txBox="1"/>
          <p:nvPr/>
        </p:nvSpPr>
        <p:spPr>
          <a:xfrm>
            <a:off x="886968" y="5468112"/>
            <a:ext cx="1655063" cy="320040"/>
          </a:xfrm>
          <a:prstGeom prst="rect">
            <a:avLst/>
          </a:prstGeom>
          <a:noFill/>
        </p:spPr>
        <p:txBody>
          <a:bodyPr wrap="square" lIns="0" tIns="0" rIns="0" bIns="0" anchor="t">
            <a:spAutoFit/>
          </a:bodyPr>
          <a:lstStyle/>
          <a:p>
            <a:pPr algn="l"/>
            <a:r>
              <a:rPr sz="1400" b="0">
                <a:solidFill>
                  <a:srgbClr val="FFFFFF"/>
                </a:solidFill>
                <a:latin typeface="Inter"/>
              </a:rPr>
              <a:t>9 CC · 35 PT</a:t>
            </a:r>
          </a:p>
        </p:txBody>
      </p:sp>
      <p:sp>
        <p:nvSpPr>
          <p:cNvPr id="59" name="!!ph1d"/>
          <p:cNvSpPr txBox="1"/>
          <p:nvPr/>
        </p:nvSpPr>
        <p:spPr>
          <a:xfrm>
            <a:off x="886968" y="5879592"/>
            <a:ext cx="1655063" cy="411480"/>
          </a:xfrm>
          <a:prstGeom prst="rect">
            <a:avLst/>
          </a:prstGeom>
          <a:noFill/>
        </p:spPr>
        <p:txBody>
          <a:bodyPr wrap="square" lIns="0" tIns="0" rIns="0" bIns="0" anchor="t">
            <a:spAutoFit/>
          </a:bodyPr>
          <a:lstStyle/>
          <a:p>
            <a:pPr algn="l"/>
            <a:r>
              <a:rPr sz="1700" b="1">
                <a:solidFill>
                  <a:srgbClr val="FFFFFF"/>
                </a:solidFill>
                <a:latin typeface="Inter SemiBold"/>
              </a:rPr>
              <a:t>6.920 HH</a:t>
            </a:r>
          </a:p>
        </p:txBody>
      </p:sp>
      <p:cxnSp>
        <p:nvCxnSpPr>
          <p:cNvPr id="60" name="Connector 59"/>
          <p:cNvCxnSpPr/>
          <p:nvPr/>
        </p:nvCxnSpPr>
        <p:spPr>
          <a:xfrm>
            <a:off x="356616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1" name="!!ph2"/>
          <p:cNvSpPr/>
          <p:nvPr/>
        </p:nvSpPr>
        <p:spPr>
          <a:xfrm>
            <a:off x="267462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2" name="!!ph2a"/>
          <p:cNvSpPr txBox="1"/>
          <p:nvPr/>
        </p:nvSpPr>
        <p:spPr>
          <a:xfrm>
            <a:off x="278434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2</a:t>
            </a:r>
          </a:p>
        </p:txBody>
      </p:sp>
      <p:sp>
        <p:nvSpPr>
          <p:cNvPr id="63" name="!!ph2b"/>
          <p:cNvSpPr txBox="1"/>
          <p:nvPr/>
        </p:nvSpPr>
        <p:spPr>
          <a:xfrm>
            <a:off x="278434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Elaboración</a:t>
            </a:r>
          </a:p>
        </p:txBody>
      </p:sp>
      <p:sp>
        <p:nvSpPr>
          <p:cNvPr id="64" name="!!ph2c"/>
          <p:cNvSpPr txBox="1"/>
          <p:nvPr/>
        </p:nvSpPr>
        <p:spPr>
          <a:xfrm>
            <a:off x="278434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18 PT</a:t>
            </a:r>
          </a:p>
        </p:txBody>
      </p:sp>
      <p:sp>
        <p:nvSpPr>
          <p:cNvPr id="65" name="!!ph2d"/>
          <p:cNvSpPr txBox="1"/>
          <p:nvPr/>
        </p:nvSpPr>
        <p:spPr>
          <a:xfrm>
            <a:off x="278434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4.320 HH</a:t>
            </a:r>
          </a:p>
        </p:txBody>
      </p:sp>
      <p:cxnSp>
        <p:nvCxnSpPr>
          <p:cNvPr id="66" name="Connector 65"/>
          <p:cNvCxnSpPr/>
          <p:nvPr/>
        </p:nvCxnSpPr>
        <p:spPr>
          <a:xfrm>
            <a:off x="54178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7" name="!!ph3"/>
          <p:cNvSpPr/>
          <p:nvPr/>
        </p:nvSpPr>
        <p:spPr>
          <a:xfrm>
            <a:off x="45262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8" name="!!ph3a"/>
          <p:cNvSpPr txBox="1"/>
          <p:nvPr/>
        </p:nvSpPr>
        <p:spPr>
          <a:xfrm>
            <a:off x="463600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3</a:t>
            </a:r>
          </a:p>
        </p:txBody>
      </p:sp>
      <p:sp>
        <p:nvSpPr>
          <p:cNvPr id="69" name="!!ph3b"/>
          <p:cNvSpPr txBox="1"/>
          <p:nvPr/>
        </p:nvSpPr>
        <p:spPr>
          <a:xfrm>
            <a:off x="463600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Construcción</a:t>
            </a:r>
          </a:p>
        </p:txBody>
      </p:sp>
      <p:sp>
        <p:nvSpPr>
          <p:cNvPr id="70" name="!!ph3c"/>
          <p:cNvSpPr txBox="1"/>
          <p:nvPr/>
        </p:nvSpPr>
        <p:spPr>
          <a:xfrm>
            <a:off x="463600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11 CC · 79 PT</a:t>
            </a:r>
          </a:p>
        </p:txBody>
      </p:sp>
      <p:sp>
        <p:nvSpPr>
          <p:cNvPr id="71" name="!!ph3d"/>
          <p:cNvSpPr txBox="1"/>
          <p:nvPr/>
        </p:nvSpPr>
        <p:spPr>
          <a:xfrm>
            <a:off x="463600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33.280 HH</a:t>
            </a:r>
          </a:p>
        </p:txBody>
      </p:sp>
      <p:cxnSp>
        <p:nvCxnSpPr>
          <p:cNvPr id="72" name="Connector 71"/>
          <p:cNvCxnSpPr/>
          <p:nvPr/>
        </p:nvCxnSpPr>
        <p:spPr>
          <a:xfrm>
            <a:off x="726947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3" name="!!ph4"/>
          <p:cNvSpPr/>
          <p:nvPr/>
        </p:nvSpPr>
        <p:spPr>
          <a:xfrm>
            <a:off x="637794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4" name="!!ph4a"/>
          <p:cNvSpPr txBox="1"/>
          <p:nvPr/>
        </p:nvSpPr>
        <p:spPr>
          <a:xfrm>
            <a:off x="648766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4</a:t>
            </a:r>
          </a:p>
        </p:txBody>
      </p:sp>
      <p:sp>
        <p:nvSpPr>
          <p:cNvPr id="75" name="!!ph4b"/>
          <p:cNvSpPr txBox="1"/>
          <p:nvPr/>
        </p:nvSpPr>
        <p:spPr>
          <a:xfrm>
            <a:off x="648766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Transición</a:t>
            </a:r>
          </a:p>
        </p:txBody>
      </p:sp>
      <p:sp>
        <p:nvSpPr>
          <p:cNvPr id="76" name="!!ph4c"/>
          <p:cNvSpPr txBox="1"/>
          <p:nvPr/>
        </p:nvSpPr>
        <p:spPr>
          <a:xfrm>
            <a:off x="648766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10 PT</a:t>
            </a:r>
          </a:p>
        </p:txBody>
      </p:sp>
      <p:sp>
        <p:nvSpPr>
          <p:cNvPr id="77" name="!!ph4d"/>
          <p:cNvSpPr txBox="1"/>
          <p:nvPr/>
        </p:nvSpPr>
        <p:spPr>
          <a:xfrm>
            <a:off x="648766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20.672 HH</a:t>
            </a:r>
          </a:p>
        </p:txBody>
      </p:sp>
      <p:cxnSp>
        <p:nvCxnSpPr>
          <p:cNvPr id="78" name="Connector 77"/>
          <p:cNvCxnSpPr/>
          <p:nvPr/>
        </p:nvCxnSpPr>
        <p:spPr>
          <a:xfrm>
            <a:off x="912114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 name="!!ph5"/>
          <p:cNvSpPr/>
          <p:nvPr/>
        </p:nvSpPr>
        <p:spPr>
          <a:xfrm>
            <a:off x="822960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0" name="!!ph5a"/>
          <p:cNvSpPr txBox="1"/>
          <p:nvPr/>
        </p:nvSpPr>
        <p:spPr>
          <a:xfrm>
            <a:off x="833932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5</a:t>
            </a:r>
          </a:p>
        </p:txBody>
      </p:sp>
      <p:sp>
        <p:nvSpPr>
          <p:cNvPr id="81" name="!!ph5b"/>
          <p:cNvSpPr txBox="1"/>
          <p:nvPr/>
        </p:nvSpPr>
        <p:spPr>
          <a:xfrm>
            <a:off x="833932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Adquisiciones</a:t>
            </a:r>
          </a:p>
        </p:txBody>
      </p:sp>
      <p:sp>
        <p:nvSpPr>
          <p:cNvPr id="82" name="!!ph5c"/>
          <p:cNvSpPr txBox="1"/>
          <p:nvPr/>
        </p:nvSpPr>
        <p:spPr>
          <a:xfrm>
            <a:off x="833932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4 CC · 13 PT</a:t>
            </a:r>
          </a:p>
        </p:txBody>
      </p:sp>
      <p:sp>
        <p:nvSpPr>
          <p:cNvPr id="83" name="!!ph5d"/>
          <p:cNvSpPr txBox="1"/>
          <p:nvPr/>
        </p:nvSpPr>
        <p:spPr>
          <a:xfrm>
            <a:off x="833932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1.040 HH</a:t>
            </a:r>
          </a:p>
        </p:txBody>
      </p:sp>
      <p:cxnSp>
        <p:nvCxnSpPr>
          <p:cNvPr id="84" name="Connector 83"/>
          <p:cNvCxnSpPr/>
          <p:nvPr/>
        </p:nvCxnSpPr>
        <p:spPr>
          <a:xfrm>
            <a:off x="109728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 name="!!ph6"/>
          <p:cNvSpPr/>
          <p:nvPr/>
        </p:nvSpPr>
        <p:spPr>
          <a:xfrm>
            <a:off x="100812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6" name="!!ph6a"/>
          <p:cNvSpPr txBox="1"/>
          <p:nvPr/>
        </p:nvSpPr>
        <p:spPr>
          <a:xfrm>
            <a:off x="101909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6</a:t>
            </a:r>
          </a:p>
        </p:txBody>
      </p:sp>
      <p:sp>
        <p:nvSpPr>
          <p:cNvPr id="87" name="!!ph6b"/>
          <p:cNvSpPr txBox="1"/>
          <p:nvPr/>
        </p:nvSpPr>
        <p:spPr>
          <a:xfrm>
            <a:off x="101909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Infraestructura</a:t>
            </a:r>
          </a:p>
        </p:txBody>
      </p:sp>
      <p:sp>
        <p:nvSpPr>
          <p:cNvPr id="88" name="!!ph6c"/>
          <p:cNvSpPr txBox="1"/>
          <p:nvPr/>
        </p:nvSpPr>
        <p:spPr>
          <a:xfrm>
            <a:off x="101909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24 PT</a:t>
            </a:r>
          </a:p>
        </p:txBody>
      </p:sp>
      <p:sp>
        <p:nvSpPr>
          <p:cNvPr id="89" name="!!ph6d"/>
          <p:cNvSpPr txBox="1"/>
          <p:nvPr/>
        </p:nvSpPr>
        <p:spPr>
          <a:xfrm>
            <a:off x="101909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3.840 HH</a:t>
            </a:r>
          </a:p>
        </p:txBody>
      </p:sp>
      <p:cxnSp>
        <p:nvCxnSpPr>
          <p:cNvPr id="90" name="Connector 89"/>
          <p:cNvCxnSpPr/>
          <p:nvPr/>
        </p:nvCxnSpPr>
        <p:spPr>
          <a:xfrm>
            <a:off x="1282445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 name="!!ph7"/>
          <p:cNvSpPr/>
          <p:nvPr/>
        </p:nvSpPr>
        <p:spPr>
          <a:xfrm>
            <a:off x="1193291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2" name="!!ph7a"/>
          <p:cNvSpPr txBox="1"/>
          <p:nvPr/>
        </p:nvSpPr>
        <p:spPr>
          <a:xfrm>
            <a:off x="1204264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7</a:t>
            </a:r>
          </a:p>
        </p:txBody>
      </p:sp>
      <p:sp>
        <p:nvSpPr>
          <p:cNvPr id="93" name="!!ph7b"/>
          <p:cNvSpPr txBox="1"/>
          <p:nvPr/>
        </p:nvSpPr>
        <p:spPr>
          <a:xfrm>
            <a:off x="1204264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Capacitación y cambio</a:t>
            </a:r>
          </a:p>
        </p:txBody>
      </p:sp>
      <p:sp>
        <p:nvSpPr>
          <p:cNvPr id="94" name="!!ph7c"/>
          <p:cNvSpPr txBox="1"/>
          <p:nvPr/>
        </p:nvSpPr>
        <p:spPr>
          <a:xfrm>
            <a:off x="1204264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13 PT</a:t>
            </a:r>
          </a:p>
        </p:txBody>
      </p:sp>
      <p:sp>
        <p:nvSpPr>
          <p:cNvPr id="95" name="!!ph7d"/>
          <p:cNvSpPr txBox="1"/>
          <p:nvPr/>
        </p:nvSpPr>
        <p:spPr>
          <a:xfrm>
            <a:off x="1204264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4.736 HH</a:t>
            </a:r>
          </a:p>
        </p:txBody>
      </p:sp>
      <p:cxnSp>
        <p:nvCxnSpPr>
          <p:cNvPr id="96" name="Connector 95"/>
          <p:cNvCxnSpPr/>
          <p:nvPr/>
        </p:nvCxnSpPr>
        <p:spPr>
          <a:xfrm>
            <a:off x="146761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7" name="!!ph8"/>
          <p:cNvSpPr/>
          <p:nvPr/>
        </p:nvSpPr>
        <p:spPr>
          <a:xfrm>
            <a:off x="137845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8" name="!!ph8a"/>
          <p:cNvSpPr txBox="1"/>
          <p:nvPr/>
        </p:nvSpPr>
        <p:spPr>
          <a:xfrm>
            <a:off x="1389430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8</a:t>
            </a:r>
          </a:p>
        </p:txBody>
      </p:sp>
      <p:sp>
        <p:nvSpPr>
          <p:cNvPr id="99" name="!!ph8b"/>
          <p:cNvSpPr txBox="1"/>
          <p:nvPr/>
        </p:nvSpPr>
        <p:spPr>
          <a:xfrm>
            <a:off x="1389430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Operación y soporte</a:t>
            </a:r>
          </a:p>
        </p:txBody>
      </p:sp>
      <p:sp>
        <p:nvSpPr>
          <p:cNvPr id="100" name="!!ph8c"/>
          <p:cNvSpPr txBox="1"/>
          <p:nvPr/>
        </p:nvSpPr>
        <p:spPr>
          <a:xfrm>
            <a:off x="1389430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5 CC · 26 PT</a:t>
            </a:r>
          </a:p>
        </p:txBody>
      </p:sp>
      <p:sp>
        <p:nvSpPr>
          <p:cNvPr id="101" name="!!ph8d"/>
          <p:cNvSpPr txBox="1"/>
          <p:nvPr/>
        </p:nvSpPr>
        <p:spPr>
          <a:xfrm>
            <a:off x="1389430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129.879 HH</a:t>
            </a:r>
          </a:p>
        </p:txBody>
      </p:sp>
      <p:cxnSp>
        <p:nvCxnSpPr>
          <p:cNvPr id="102" name="Connector 101"/>
          <p:cNvCxnSpPr/>
          <p:nvPr/>
        </p:nvCxnSpPr>
        <p:spPr>
          <a:xfrm>
            <a:off x="1652778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 name="!!ph9"/>
          <p:cNvSpPr/>
          <p:nvPr/>
        </p:nvSpPr>
        <p:spPr>
          <a:xfrm>
            <a:off x="1563623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4" name="!!ph9a"/>
          <p:cNvSpPr txBox="1"/>
          <p:nvPr/>
        </p:nvSpPr>
        <p:spPr>
          <a:xfrm>
            <a:off x="1574596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9</a:t>
            </a:r>
          </a:p>
        </p:txBody>
      </p:sp>
      <p:sp>
        <p:nvSpPr>
          <p:cNvPr id="105" name="!!ph9b"/>
          <p:cNvSpPr txBox="1"/>
          <p:nvPr/>
        </p:nvSpPr>
        <p:spPr>
          <a:xfrm>
            <a:off x="1574596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Cierre</a:t>
            </a:r>
          </a:p>
        </p:txBody>
      </p:sp>
      <p:sp>
        <p:nvSpPr>
          <p:cNvPr id="106" name="!!ph9c"/>
          <p:cNvSpPr txBox="1"/>
          <p:nvPr/>
        </p:nvSpPr>
        <p:spPr>
          <a:xfrm>
            <a:off x="1574596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2 CC · 4 PT</a:t>
            </a:r>
          </a:p>
        </p:txBody>
      </p:sp>
      <p:sp>
        <p:nvSpPr>
          <p:cNvPr id="107" name="!!ph9d"/>
          <p:cNvSpPr txBox="1"/>
          <p:nvPr/>
        </p:nvSpPr>
        <p:spPr>
          <a:xfrm>
            <a:off x="1574596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320 HH</a:t>
            </a:r>
          </a:p>
        </p:txBody>
      </p:sp>
      <p:sp>
        <p:nvSpPr>
          <p:cNvPr id="108" name="TextBox 107"/>
          <p:cNvSpPr txBox="1"/>
          <p:nvPr/>
        </p:nvSpPr>
        <p:spPr>
          <a:xfrm>
            <a:off x="822960" y="6949440"/>
            <a:ext cx="16642080" cy="365760"/>
          </a:xfrm>
          <a:prstGeom prst="rect">
            <a:avLst/>
          </a:prstGeom>
          <a:noFill/>
        </p:spPr>
        <p:txBody>
          <a:bodyPr wrap="square" lIns="0" tIns="0" rIns="0" bIns="0" anchor="t">
            <a:spAutoFit/>
          </a:bodyPr>
          <a:lstStyle/>
          <a:p>
            <a:pPr algn="l"/>
            <a:r>
              <a:rPr sz="1600" b="1">
                <a:solidFill>
                  <a:srgbClr val="E8641B"/>
                </a:solidFill>
                <a:latin typeface="Inter SemiBold"/>
              </a:rPr>
              <a:t>FASE 1 · INICIO · 9 CUENTAS DE CONTROL</a:t>
            </a:r>
          </a:p>
        </p:txBody>
      </p:sp>
      <p:sp>
        <p:nvSpPr>
          <p:cNvPr id="109" name="Rounded Rectangle 108"/>
          <p:cNvSpPr/>
          <p:nvPr/>
        </p:nvSpPr>
        <p:spPr>
          <a:xfrm>
            <a:off x="822960" y="7360920"/>
            <a:ext cx="3218687"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1.1 Definición inicial</a:t>
            </a:r>
          </a:p>
        </p:txBody>
      </p:sp>
      <p:sp>
        <p:nvSpPr>
          <p:cNvPr id="110" name="Rounded Rectangle 109"/>
          <p:cNvSpPr/>
          <p:nvPr/>
        </p:nvSpPr>
        <p:spPr>
          <a:xfrm>
            <a:off x="4178807" y="7360920"/>
            <a:ext cx="3218687"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1.2 Alcance</a:t>
            </a:r>
          </a:p>
        </p:txBody>
      </p:sp>
      <p:sp>
        <p:nvSpPr>
          <p:cNvPr id="111" name="Rounded Rectangle 110"/>
          <p:cNvSpPr/>
          <p:nvPr/>
        </p:nvSpPr>
        <p:spPr>
          <a:xfrm>
            <a:off x="7534655" y="7360920"/>
            <a:ext cx="3218687"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1.3 Planificación</a:t>
            </a:r>
          </a:p>
        </p:txBody>
      </p:sp>
      <p:sp>
        <p:nvSpPr>
          <p:cNvPr id="112" name="Rounded Rectangle 111"/>
          <p:cNvSpPr/>
          <p:nvPr/>
        </p:nvSpPr>
        <p:spPr>
          <a:xfrm>
            <a:off x="10890503" y="7360920"/>
            <a:ext cx="3218687"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1.4 Interesados y comunicaciones</a:t>
            </a:r>
          </a:p>
        </p:txBody>
      </p:sp>
      <p:sp>
        <p:nvSpPr>
          <p:cNvPr id="113" name="Rounded Rectangle 112"/>
          <p:cNvSpPr/>
          <p:nvPr/>
        </p:nvSpPr>
        <p:spPr>
          <a:xfrm>
            <a:off x="14246351" y="7360920"/>
            <a:ext cx="3218687"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1.5 Gestión de calidad</a:t>
            </a:r>
          </a:p>
        </p:txBody>
      </p:sp>
      <p:sp>
        <p:nvSpPr>
          <p:cNvPr id="114" name="Rounded Rectangle 113"/>
          <p:cNvSpPr/>
          <p:nvPr/>
        </p:nvSpPr>
        <p:spPr>
          <a:xfrm>
            <a:off x="822960" y="8129016"/>
            <a:ext cx="3218687"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1.6 Gestión de riesgos</a:t>
            </a:r>
          </a:p>
        </p:txBody>
      </p:sp>
      <p:sp>
        <p:nvSpPr>
          <p:cNvPr id="115" name="Rounded Rectangle 114"/>
          <p:cNvSpPr/>
          <p:nvPr/>
        </p:nvSpPr>
        <p:spPr>
          <a:xfrm>
            <a:off x="4178807" y="8129016"/>
            <a:ext cx="3218687"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1.7 Plan de reversibilidad</a:t>
            </a:r>
          </a:p>
        </p:txBody>
      </p:sp>
      <p:sp>
        <p:nvSpPr>
          <p:cNvPr id="116" name="Rounded Rectangle 115"/>
          <p:cNvSpPr/>
          <p:nvPr/>
        </p:nvSpPr>
        <p:spPr>
          <a:xfrm>
            <a:off x="7534655" y="8129016"/>
            <a:ext cx="3218687"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1.8 Gobierno y control</a:t>
            </a:r>
          </a:p>
        </p:txBody>
      </p:sp>
      <p:sp>
        <p:nvSpPr>
          <p:cNvPr id="117" name="Rounded Rectangle 116"/>
          <p:cNvSpPr/>
          <p:nvPr/>
        </p:nvSpPr>
        <p:spPr>
          <a:xfrm>
            <a:off x="10890503" y="8129016"/>
            <a:ext cx="3218687"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1.9 Cumplimiento normativo</a:t>
            </a:r>
          </a:p>
        </p:txBody>
      </p:sp>
      <p:sp>
        <p:nvSpPr>
          <p:cNvPr id="118"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14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EDT: así se organiza el trabajo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9 fases · 49 cuentas de control · 222 paquetes de trabajo</a:t>
            </a:r>
          </a:p>
        </p:txBody>
      </p:sp>
      <p:sp>
        <p:nvSpPr>
          <p:cNvPr id="51" name="!!edt_root"/>
          <p:cNvSpPr/>
          <p:nvPr/>
        </p:nvSpPr>
        <p:spPr>
          <a:xfrm>
            <a:off x="6400800" y="3200400"/>
            <a:ext cx="5486400" cy="77724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Proyecto LafroX · 56 meses</a:t>
            </a:r>
          </a:p>
        </p:txBody>
      </p:sp>
      <p:cxnSp>
        <p:nvCxnSpPr>
          <p:cNvPr id="52" name="Connector 51"/>
          <p:cNvCxnSpPr/>
          <p:nvPr/>
        </p:nvCxnSpPr>
        <p:spPr>
          <a:xfrm>
            <a:off x="9144000" y="3977639"/>
            <a:ext cx="0" cy="24688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714500" y="4224528"/>
            <a:ext cx="1481328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7145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55" name="!!ph1"/>
          <p:cNvSpPr/>
          <p:nvPr/>
        </p:nvSpPr>
        <p:spPr>
          <a:xfrm>
            <a:off x="8229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6" name="!!ph1a"/>
          <p:cNvSpPr txBox="1"/>
          <p:nvPr/>
        </p:nvSpPr>
        <p:spPr>
          <a:xfrm>
            <a:off x="9326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1</a:t>
            </a:r>
          </a:p>
        </p:txBody>
      </p:sp>
      <p:sp>
        <p:nvSpPr>
          <p:cNvPr id="57" name="!!ph1b"/>
          <p:cNvSpPr txBox="1"/>
          <p:nvPr/>
        </p:nvSpPr>
        <p:spPr>
          <a:xfrm>
            <a:off x="9326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Inicio</a:t>
            </a:r>
          </a:p>
        </p:txBody>
      </p:sp>
      <p:sp>
        <p:nvSpPr>
          <p:cNvPr id="58" name="!!ph1c"/>
          <p:cNvSpPr txBox="1"/>
          <p:nvPr/>
        </p:nvSpPr>
        <p:spPr>
          <a:xfrm>
            <a:off x="9326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9 CC · 35 PT</a:t>
            </a:r>
          </a:p>
        </p:txBody>
      </p:sp>
      <p:sp>
        <p:nvSpPr>
          <p:cNvPr id="59" name="!!ph1d"/>
          <p:cNvSpPr txBox="1"/>
          <p:nvPr/>
        </p:nvSpPr>
        <p:spPr>
          <a:xfrm>
            <a:off x="9326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6.920 HH</a:t>
            </a:r>
          </a:p>
        </p:txBody>
      </p:sp>
      <p:cxnSp>
        <p:nvCxnSpPr>
          <p:cNvPr id="60" name="Connector 59"/>
          <p:cNvCxnSpPr/>
          <p:nvPr/>
        </p:nvCxnSpPr>
        <p:spPr>
          <a:xfrm>
            <a:off x="356616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1" name="!!ph2"/>
          <p:cNvSpPr/>
          <p:nvPr/>
        </p:nvSpPr>
        <p:spPr>
          <a:xfrm>
            <a:off x="2628900" y="4325112"/>
            <a:ext cx="1874519" cy="2414015"/>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2" name="!!ph2a"/>
          <p:cNvSpPr txBox="1"/>
          <p:nvPr/>
        </p:nvSpPr>
        <p:spPr>
          <a:xfrm>
            <a:off x="2738628" y="4434840"/>
            <a:ext cx="1655063" cy="274320"/>
          </a:xfrm>
          <a:prstGeom prst="rect">
            <a:avLst/>
          </a:prstGeom>
          <a:noFill/>
        </p:spPr>
        <p:txBody>
          <a:bodyPr wrap="square" lIns="0" tIns="0" rIns="0" bIns="0" anchor="t">
            <a:spAutoFit/>
          </a:bodyPr>
          <a:lstStyle/>
          <a:p>
            <a:pPr algn="l"/>
            <a:r>
              <a:rPr sz="1500" b="1">
                <a:solidFill>
                  <a:srgbClr val="FFFFFF"/>
                </a:solidFill>
                <a:latin typeface="Inter SemiBold"/>
              </a:rPr>
              <a:t>Fase 2</a:t>
            </a:r>
          </a:p>
        </p:txBody>
      </p:sp>
      <p:sp>
        <p:nvSpPr>
          <p:cNvPr id="63" name="!!ph2b"/>
          <p:cNvSpPr txBox="1"/>
          <p:nvPr/>
        </p:nvSpPr>
        <p:spPr>
          <a:xfrm>
            <a:off x="2738628" y="4736592"/>
            <a:ext cx="1655063" cy="685800"/>
          </a:xfrm>
          <a:prstGeom prst="rect">
            <a:avLst/>
          </a:prstGeom>
          <a:noFill/>
        </p:spPr>
        <p:txBody>
          <a:bodyPr wrap="square" lIns="0" tIns="0" rIns="0" bIns="0" anchor="t">
            <a:spAutoFit/>
          </a:bodyPr>
          <a:lstStyle/>
          <a:p>
            <a:pPr algn="l"/>
            <a:r>
              <a:rPr sz="1600" b="1">
                <a:solidFill>
                  <a:srgbClr val="FFFFFF"/>
                </a:solidFill>
                <a:latin typeface="Inter SemiBold"/>
              </a:rPr>
              <a:t>Elaboración</a:t>
            </a:r>
          </a:p>
        </p:txBody>
      </p:sp>
      <p:sp>
        <p:nvSpPr>
          <p:cNvPr id="64" name="!!ph2c"/>
          <p:cNvSpPr txBox="1"/>
          <p:nvPr/>
        </p:nvSpPr>
        <p:spPr>
          <a:xfrm>
            <a:off x="2738628" y="5468112"/>
            <a:ext cx="1655063" cy="320040"/>
          </a:xfrm>
          <a:prstGeom prst="rect">
            <a:avLst/>
          </a:prstGeom>
          <a:noFill/>
        </p:spPr>
        <p:txBody>
          <a:bodyPr wrap="square" lIns="0" tIns="0" rIns="0" bIns="0" anchor="t">
            <a:spAutoFit/>
          </a:bodyPr>
          <a:lstStyle/>
          <a:p>
            <a:pPr algn="l"/>
            <a:r>
              <a:rPr sz="1400" b="0">
                <a:solidFill>
                  <a:srgbClr val="FFFFFF"/>
                </a:solidFill>
                <a:latin typeface="Inter"/>
              </a:rPr>
              <a:t>6 CC · 18 PT</a:t>
            </a:r>
          </a:p>
        </p:txBody>
      </p:sp>
      <p:sp>
        <p:nvSpPr>
          <p:cNvPr id="65" name="!!ph2d"/>
          <p:cNvSpPr txBox="1"/>
          <p:nvPr/>
        </p:nvSpPr>
        <p:spPr>
          <a:xfrm>
            <a:off x="2738628" y="5879592"/>
            <a:ext cx="1655063" cy="411480"/>
          </a:xfrm>
          <a:prstGeom prst="rect">
            <a:avLst/>
          </a:prstGeom>
          <a:noFill/>
        </p:spPr>
        <p:txBody>
          <a:bodyPr wrap="square" lIns="0" tIns="0" rIns="0" bIns="0" anchor="t">
            <a:spAutoFit/>
          </a:bodyPr>
          <a:lstStyle/>
          <a:p>
            <a:pPr algn="l"/>
            <a:r>
              <a:rPr sz="1700" b="1">
                <a:solidFill>
                  <a:srgbClr val="FFFFFF"/>
                </a:solidFill>
                <a:latin typeface="Inter SemiBold"/>
              </a:rPr>
              <a:t>4.320 HH</a:t>
            </a:r>
          </a:p>
        </p:txBody>
      </p:sp>
      <p:cxnSp>
        <p:nvCxnSpPr>
          <p:cNvPr id="66" name="Connector 65"/>
          <p:cNvCxnSpPr/>
          <p:nvPr/>
        </p:nvCxnSpPr>
        <p:spPr>
          <a:xfrm>
            <a:off x="54178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7" name="!!ph3"/>
          <p:cNvSpPr/>
          <p:nvPr/>
        </p:nvSpPr>
        <p:spPr>
          <a:xfrm>
            <a:off x="45262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8" name="!!ph3a"/>
          <p:cNvSpPr txBox="1"/>
          <p:nvPr/>
        </p:nvSpPr>
        <p:spPr>
          <a:xfrm>
            <a:off x="463600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3</a:t>
            </a:r>
          </a:p>
        </p:txBody>
      </p:sp>
      <p:sp>
        <p:nvSpPr>
          <p:cNvPr id="69" name="!!ph3b"/>
          <p:cNvSpPr txBox="1"/>
          <p:nvPr/>
        </p:nvSpPr>
        <p:spPr>
          <a:xfrm>
            <a:off x="463600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Construcción</a:t>
            </a:r>
          </a:p>
        </p:txBody>
      </p:sp>
      <p:sp>
        <p:nvSpPr>
          <p:cNvPr id="70" name="!!ph3c"/>
          <p:cNvSpPr txBox="1"/>
          <p:nvPr/>
        </p:nvSpPr>
        <p:spPr>
          <a:xfrm>
            <a:off x="463600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11 CC · 79 PT</a:t>
            </a:r>
          </a:p>
        </p:txBody>
      </p:sp>
      <p:sp>
        <p:nvSpPr>
          <p:cNvPr id="71" name="!!ph3d"/>
          <p:cNvSpPr txBox="1"/>
          <p:nvPr/>
        </p:nvSpPr>
        <p:spPr>
          <a:xfrm>
            <a:off x="463600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33.280 HH</a:t>
            </a:r>
          </a:p>
        </p:txBody>
      </p:sp>
      <p:cxnSp>
        <p:nvCxnSpPr>
          <p:cNvPr id="72" name="Connector 71"/>
          <p:cNvCxnSpPr/>
          <p:nvPr/>
        </p:nvCxnSpPr>
        <p:spPr>
          <a:xfrm>
            <a:off x="726947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3" name="!!ph4"/>
          <p:cNvSpPr/>
          <p:nvPr/>
        </p:nvSpPr>
        <p:spPr>
          <a:xfrm>
            <a:off x="637794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4" name="!!ph4a"/>
          <p:cNvSpPr txBox="1"/>
          <p:nvPr/>
        </p:nvSpPr>
        <p:spPr>
          <a:xfrm>
            <a:off x="648766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4</a:t>
            </a:r>
          </a:p>
        </p:txBody>
      </p:sp>
      <p:sp>
        <p:nvSpPr>
          <p:cNvPr id="75" name="!!ph4b"/>
          <p:cNvSpPr txBox="1"/>
          <p:nvPr/>
        </p:nvSpPr>
        <p:spPr>
          <a:xfrm>
            <a:off x="648766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Transición</a:t>
            </a:r>
          </a:p>
        </p:txBody>
      </p:sp>
      <p:sp>
        <p:nvSpPr>
          <p:cNvPr id="76" name="!!ph4c"/>
          <p:cNvSpPr txBox="1"/>
          <p:nvPr/>
        </p:nvSpPr>
        <p:spPr>
          <a:xfrm>
            <a:off x="648766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10 PT</a:t>
            </a:r>
          </a:p>
        </p:txBody>
      </p:sp>
      <p:sp>
        <p:nvSpPr>
          <p:cNvPr id="77" name="!!ph4d"/>
          <p:cNvSpPr txBox="1"/>
          <p:nvPr/>
        </p:nvSpPr>
        <p:spPr>
          <a:xfrm>
            <a:off x="648766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20.672 HH</a:t>
            </a:r>
          </a:p>
        </p:txBody>
      </p:sp>
      <p:cxnSp>
        <p:nvCxnSpPr>
          <p:cNvPr id="78" name="Connector 77"/>
          <p:cNvCxnSpPr/>
          <p:nvPr/>
        </p:nvCxnSpPr>
        <p:spPr>
          <a:xfrm>
            <a:off x="912114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 name="!!ph5"/>
          <p:cNvSpPr/>
          <p:nvPr/>
        </p:nvSpPr>
        <p:spPr>
          <a:xfrm>
            <a:off x="822960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0" name="!!ph5a"/>
          <p:cNvSpPr txBox="1"/>
          <p:nvPr/>
        </p:nvSpPr>
        <p:spPr>
          <a:xfrm>
            <a:off x="833932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5</a:t>
            </a:r>
          </a:p>
        </p:txBody>
      </p:sp>
      <p:sp>
        <p:nvSpPr>
          <p:cNvPr id="81" name="!!ph5b"/>
          <p:cNvSpPr txBox="1"/>
          <p:nvPr/>
        </p:nvSpPr>
        <p:spPr>
          <a:xfrm>
            <a:off x="833932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Adquisiciones</a:t>
            </a:r>
          </a:p>
        </p:txBody>
      </p:sp>
      <p:sp>
        <p:nvSpPr>
          <p:cNvPr id="82" name="!!ph5c"/>
          <p:cNvSpPr txBox="1"/>
          <p:nvPr/>
        </p:nvSpPr>
        <p:spPr>
          <a:xfrm>
            <a:off x="833932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4 CC · 13 PT</a:t>
            </a:r>
          </a:p>
        </p:txBody>
      </p:sp>
      <p:sp>
        <p:nvSpPr>
          <p:cNvPr id="83" name="!!ph5d"/>
          <p:cNvSpPr txBox="1"/>
          <p:nvPr/>
        </p:nvSpPr>
        <p:spPr>
          <a:xfrm>
            <a:off x="833932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1.040 HH</a:t>
            </a:r>
          </a:p>
        </p:txBody>
      </p:sp>
      <p:cxnSp>
        <p:nvCxnSpPr>
          <p:cNvPr id="84" name="Connector 83"/>
          <p:cNvCxnSpPr/>
          <p:nvPr/>
        </p:nvCxnSpPr>
        <p:spPr>
          <a:xfrm>
            <a:off x="109728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 name="!!ph6"/>
          <p:cNvSpPr/>
          <p:nvPr/>
        </p:nvSpPr>
        <p:spPr>
          <a:xfrm>
            <a:off x="100812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6" name="!!ph6a"/>
          <p:cNvSpPr txBox="1"/>
          <p:nvPr/>
        </p:nvSpPr>
        <p:spPr>
          <a:xfrm>
            <a:off x="101909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6</a:t>
            </a:r>
          </a:p>
        </p:txBody>
      </p:sp>
      <p:sp>
        <p:nvSpPr>
          <p:cNvPr id="87" name="!!ph6b"/>
          <p:cNvSpPr txBox="1"/>
          <p:nvPr/>
        </p:nvSpPr>
        <p:spPr>
          <a:xfrm>
            <a:off x="101909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Infraestructura</a:t>
            </a:r>
          </a:p>
        </p:txBody>
      </p:sp>
      <p:sp>
        <p:nvSpPr>
          <p:cNvPr id="88" name="!!ph6c"/>
          <p:cNvSpPr txBox="1"/>
          <p:nvPr/>
        </p:nvSpPr>
        <p:spPr>
          <a:xfrm>
            <a:off x="101909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24 PT</a:t>
            </a:r>
          </a:p>
        </p:txBody>
      </p:sp>
      <p:sp>
        <p:nvSpPr>
          <p:cNvPr id="89" name="!!ph6d"/>
          <p:cNvSpPr txBox="1"/>
          <p:nvPr/>
        </p:nvSpPr>
        <p:spPr>
          <a:xfrm>
            <a:off x="101909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3.840 HH</a:t>
            </a:r>
          </a:p>
        </p:txBody>
      </p:sp>
      <p:cxnSp>
        <p:nvCxnSpPr>
          <p:cNvPr id="90" name="Connector 89"/>
          <p:cNvCxnSpPr/>
          <p:nvPr/>
        </p:nvCxnSpPr>
        <p:spPr>
          <a:xfrm>
            <a:off x="1282445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 name="!!ph7"/>
          <p:cNvSpPr/>
          <p:nvPr/>
        </p:nvSpPr>
        <p:spPr>
          <a:xfrm>
            <a:off x="1193291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2" name="!!ph7a"/>
          <p:cNvSpPr txBox="1"/>
          <p:nvPr/>
        </p:nvSpPr>
        <p:spPr>
          <a:xfrm>
            <a:off x="1204264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7</a:t>
            </a:r>
          </a:p>
        </p:txBody>
      </p:sp>
      <p:sp>
        <p:nvSpPr>
          <p:cNvPr id="93" name="!!ph7b"/>
          <p:cNvSpPr txBox="1"/>
          <p:nvPr/>
        </p:nvSpPr>
        <p:spPr>
          <a:xfrm>
            <a:off x="1204264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Capacitación y cambio</a:t>
            </a:r>
          </a:p>
        </p:txBody>
      </p:sp>
      <p:sp>
        <p:nvSpPr>
          <p:cNvPr id="94" name="!!ph7c"/>
          <p:cNvSpPr txBox="1"/>
          <p:nvPr/>
        </p:nvSpPr>
        <p:spPr>
          <a:xfrm>
            <a:off x="1204264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13 PT</a:t>
            </a:r>
          </a:p>
        </p:txBody>
      </p:sp>
      <p:sp>
        <p:nvSpPr>
          <p:cNvPr id="95" name="!!ph7d"/>
          <p:cNvSpPr txBox="1"/>
          <p:nvPr/>
        </p:nvSpPr>
        <p:spPr>
          <a:xfrm>
            <a:off x="1204264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4.736 HH</a:t>
            </a:r>
          </a:p>
        </p:txBody>
      </p:sp>
      <p:cxnSp>
        <p:nvCxnSpPr>
          <p:cNvPr id="96" name="Connector 95"/>
          <p:cNvCxnSpPr/>
          <p:nvPr/>
        </p:nvCxnSpPr>
        <p:spPr>
          <a:xfrm>
            <a:off x="146761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7" name="!!ph8"/>
          <p:cNvSpPr/>
          <p:nvPr/>
        </p:nvSpPr>
        <p:spPr>
          <a:xfrm>
            <a:off x="137845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8" name="!!ph8a"/>
          <p:cNvSpPr txBox="1"/>
          <p:nvPr/>
        </p:nvSpPr>
        <p:spPr>
          <a:xfrm>
            <a:off x="1389430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8</a:t>
            </a:r>
          </a:p>
        </p:txBody>
      </p:sp>
      <p:sp>
        <p:nvSpPr>
          <p:cNvPr id="99" name="!!ph8b"/>
          <p:cNvSpPr txBox="1"/>
          <p:nvPr/>
        </p:nvSpPr>
        <p:spPr>
          <a:xfrm>
            <a:off x="1389430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Operación y soporte</a:t>
            </a:r>
          </a:p>
        </p:txBody>
      </p:sp>
      <p:sp>
        <p:nvSpPr>
          <p:cNvPr id="100" name="!!ph8c"/>
          <p:cNvSpPr txBox="1"/>
          <p:nvPr/>
        </p:nvSpPr>
        <p:spPr>
          <a:xfrm>
            <a:off x="1389430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5 CC · 26 PT</a:t>
            </a:r>
          </a:p>
        </p:txBody>
      </p:sp>
      <p:sp>
        <p:nvSpPr>
          <p:cNvPr id="101" name="!!ph8d"/>
          <p:cNvSpPr txBox="1"/>
          <p:nvPr/>
        </p:nvSpPr>
        <p:spPr>
          <a:xfrm>
            <a:off x="1389430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129.879 HH</a:t>
            </a:r>
          </a:p>
        </p:txBody>
      </p:sp>
      <p:cxnSp>
        <p:nvCxnSpPr>
          <p:cNvPr id="102" name="Connector 101"/>
          <p:cNvCxnSpPr/>
          <p:nvPr/>
        </p:nvCxnSpPr>
        <p:spPr>
          <a:xfrm>
            <a:off x="1652778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 name="!!ph9"/>
          <p:cNvSpPr/>
          <p:nvPr/>
        </p:nvSpPr>
        <p:spPr>
          <a:xfrm>
            <a:off x="1563623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4" name="!!ph9a"/>
          <p:cNvSpPr txBox="1"/>
          <p:nvPr/>
        </p:nvSpPr>
        <p:spPr>
          <a:xfrm>
            <a:off x="1574596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9</a:t>
            </a:r>
          </a:p>
        </p:txBody>
      </p:sp>
      <p:sp>
        <p:nvSpPr>
          <p:cNvPr id="105" name="!!ph9b"/>
          <p:cNvSpPr txBox="1"/>
          <p:nvPr/>
        </p:nvSpPr>
        <p:spPr>
          <a:xfrm>
            <a:off x="1574596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Cierre</a:t>
            </a:r>
          </a:p>
        </p:txBody>
      </p:sp>
      <p:sp>
        <p:nvSpPr>
          <p:cNvPr id="106" name="!!ph9c"/>
          <p:cNvSpPr txBox="1"/>
          <p:nvPr/>
        </p:nvSpPr>
        <p:spPr>
          <a:xfrm>
            <a:off x="1574596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2 CC · 4 PT</a:t>
            </a:r>
          </a:p>
        </p:txBody>
      </p:sp>
      <p:sp>
        <p:nvSpPr>
          <p:cNvPr id="107" name="!!ph9d"/>
          <p:cNvSpPr txBox="1"/>
          <p:nvPr/>
        </p:nvSpPr>
        <p:spPr>
          <a:xfrm>
            <a:off x="1574596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320 HH</a:t>
            </a:r>
          </a:p>
        </p:txBody>
      </p:sp>
      <p:sp>
        <p:nvSpPr>
          <p:cNvPr id="108" name="TextBox 107"/>
          <p:cNvSpPr txBox="1"/>
          <p:nvPr/>
        </p:nvSpPr>
        <p:spPr>
          <a:xfrm>
            <a:off x="822960" y="6949440"/>
            <a:ext cx="16642080" cy="365760"/>
          </a:xfrm>
          <a:prstGeom prst="rect">
            <a:avLst/>
          </a:prstGeom>
          <a:noFill/>
        </p:spPr>
        <p:txBody>
          <a:bodyPr wrap="square" lIns="0" tIns="0" rIns="0" bIns="0" anchor="t">
            <a:spAutoFit/>
          </a:bodyPr>
          <a:lstStyle/>
          <a:p>
            <a:pPr algn="l"/>
            <a:r>
              <a:rPr sz="1600" b="1">
                <a:solidFill>
                  <a:srgbClr val="E8641B"/>
                </a:solidFill>
                <a:latin typeface="Inter SemiBold"/>
              </a:rPr>
              <a:t>FASE 2 · ELABORACIÓN · 6 CUENTAS DE CONTROL</a:t>
            </a:r>
          </a:p>
        </p:txBody>
      </p:sp>
      <p:sp>
        <p:nvSpPr>
          <p:cNvPr id="109" name="Rounded Rectangle 108"/>
          <p:cNvSpPr/>
          <p:nvPr/>
        </p:nvSpPr>
        <p:spPr>
          <a:xfrm>
            <a:off x="822960"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2.1 Arquitectura</a:t>
            </a:r>
          </a:p>
        </p:txBody>
      </p:sp>
      <p:sp>
        <p:nvSpPr>
          <p:cNvPr id="110" name="Rounded Rectangle 109"/>
          <p:cNvSpPr/>
          <p:nvPr/>
        </p:nvSpPr>
        <p:spPr>
          <a:xfrm>
            <a:off x="3619499"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2.2 Seguridad</a:t>
            </a:r>
          </a:p>
        </p:txBody>
      </p:sp>
      <p:sp>
        <p:nvSpPr>
          <p:cNvPr id="111" name="Rounded Rectangle 110"/>
          <p:cNvSpPr/>
          <p:nvPr/>
        </p:nvSpPr>
        <p:spPr>
          <a:xfrm>
            <a:off x="6416040"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2.3 Sala técnica y racks</a:t>
            </a:r>
          </a:p>
        </p:txBody>
      </p:sp>
      <p:sp>
        <p:nvSpPr>
          <p:cNvPr id="112" name="Rounded Rectangle 111"/>
          <p:cNvSpPr/>
          <p:nvPr/>
        </p:nvSpPr>
        <p:spPr>
          <a:xfrm>
            <a:off x="9212580"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2.4 Validación de diseños</a:t>
            </a:r>
          </a:p>
        </p:txBody>
      </p:sp>
      <p:sp>
        <p:nvSpPr>
          <p:cNvPr id="113" name="Rounded Rectangle 112"/>
          <p:cNvSpPr/>
          <p:nvPr/>
        </p:nvSpPr>
        <p:spPr>
          <a:xfrm>
            <a:off x="12009120"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2.5 Continuidad del negocio</a:t>
            </a:r>
          </a:p>
        </p:txBody>
      </p:sp>
      <p:sp>
        <p:nvSpPr>
          <p:cNvPr id="114" name="Rounded Rectangle 113"/>
          <p:cNvSpPr/>
          <p:nvPr/>
        </p:nvSpPr>
        <p:spPr>
          <a:xfrm>
            <a:off x="14805660"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2.6 Experiencia de usuario</a:t>
            </a:r>
          </a:p>
        </p:txBody>
      </p:sp>
      <p:sp>
        <p:nvSpPr>
          <p:cNvPr id="11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EDT: así se organiza el trabajo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9 fases · 49 cuentas de control · 222 paquetes de trabajo</a:t>
            </a:r>
          </a:p>
        </p:txBody>
      </p:sp>
      <p:sp>
        <p:nvSpPr>
          <p:cNvPr id="51" name="!!edt_root"/>
          <p:cNvSpPr/>
          <p:nvPr/>
        </p:nvSpPr>
        <p:spPr>
          <a:xfrm>
            <a:off x="6400800" y="3200400"/>
            <a:ext cx="5486400" cy="77724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Proyecto LafroX · 56 meses</a:t>
            </a:r>
          </a:p>
        </p:txBody>
      </p:sp>
      <p:cxnSp>
        <p:nvCxnSpPr>
          <p:cNvPr id="52" name="Connector 51"/>
          <p:cNvCxnSpPr/>
          <p:nvPr/>
        </p:nvCxnSpPr>
        <p:spPr>
          <a:xfrm>
            <a:off x="9144000" y="3977639"/>
            <a:ext cx="0" cy="24688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714500" y="4224528"/>
            <a:ext cx="1481328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7145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55" name="!!ph1"/>
          <p:cNvSpPr/>
          <p:nvPr/>
        </p:nvSpPr>
        <p:spPr>
          <a:xfrm>
            <a:off x="8229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6" name="!!ph1a"/>
          <p:cNvSpPr txBox="1"/>
          <p:nvPr/>
        </p:nvSpPr>
        <p:spPr>
          <a:xfrm>
            <a:off x="9326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1</a:t>
            </a:r>
          </a:p>
        </p:txBody>
      </p:sp>
      <p:sp>
        <p:nvSpPr>
          <p:cNvPr id="57" name="!!ph1b"/>
          <p:cNvSpPr txBox="1"/>
          <p:nvPr/>
        </p:nvSpPr>
        <p:spPr>
          <a:xfrm>
            <a:off x="9326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Inicio</a:t>
            </a:r>
          </a:p>
        </p:txBody>
      </p:sp>
      <p:sp>
        <p:nvSpPr>
          <p:cNvPr id="58" name="!!ph1c"/>
          <p:cNvSpPr txBox="1"/>
          <p:nvPr/>
        </p:nvSpPr>
        <p:spPr>
          <a:xfrm>
            <a:off x="9326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9 CC · 35 PT</a:t>
            </a:r>
          </a:p>
        </p:txBody>
      </p:sp>
      <p:sp>
        <p:nvSpPr>
          <p:cNvPr id="59" name="!!ph1d"/>
          <p:cNvSpPr txBox="1"/>
          <p:nvPr/>
        </p:nvSpPr>
        <p:spPr>
          <a:xfrm>
            <a:off x="9326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6.920 HH</a:t>
            </a:r>
          </a:p>
        </p:txBody>
      </p:sp>
      <p:cxnSp>
        <p:nvCxnSpPr>
          <p:cNvPr id="60" name="Connector 59"/>
          <p:cNvCxnSpPr/>
          <p:nvPr/>
        </p:nvCxnSpPr>
        <p:spPr>
          <a:xfrm>
            <a:off x="356616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1" name="!!ph2"/>
          <p:cNvSpPr/>
          <p:nvPr/>
        </p:nvSpPr>
        <p:spPr>
          <a:xfrm>
            <a:off x="267462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2" name="!!ph2a"/>
          <p:cNvSpPr txBox="1"/>
          <p:nvPr/>
        </p:nvSpPr>
        <p:spPr>
          <a:xfrm>
            <a:off x="278434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2</a:t>
            </a:r>
          </a:p>
        </p:txBody>
      </p:sp>
      <p:sp>
        <p:nvSpPr>
          <p:cNvPr id="63" name="!!ph2b"/>
          <p:cNvSpPr txBox="1"/>
          <p:nvPr/>
        </p:nvSpPr>
        <p:spPr>
          <a:xfrm>
            <a:off x="278434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Elaboración</a:t>
            </a:r>
          </a:p>
        </p:txBody>
      </p:sp>
      <p:sp>
        <p:nvSpPr>
          <p:cNvPr id="64" name="!!ph2c"/>
          <p:cNvSpPr txBox="1"/>
          <p:nvPr/>
        </p:nvSpPr>
        <p:spPr>
          <a:xfrm>
            <a:off x="278434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18 PT</a:t>
            </a:r>
          </a:p>
        </p:txBody>
      </p:sp>
      <p:sp>
        <p:nvSpPr>
          <p:cNvPr id="65" name="!!ph2d"/>
          <p:cNvSpPr txBox="1"/>
          <p:nvPr/>
        </p:nvSpPr>
        <p:spPr>
          <a:xfrm>
            <a:off x="278434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4.320 HH</a:t>
            </a:r>
          </a:p>
        </p:txBody>
      </p:sp>
      <p:cxnSp>
        <p:nvCxnSpPr>
          <p:cNvPr id="66" name="Connector 65"/>
          <p:cNvCxnSpPr/>
          <p:nvPr/>
        </p:nvCxnSpPr>
        <p:spPr>
          <a:xfrm>
            <a:off x="54178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7" name="!!ph3"/>
          <p:cNvSpPr/>
          <p:nvPr/>
        </p:nvSpPr>
        <p:spPr>
          <a:xfrm>
            <a:off x="4480560" y="4325112"/>
            <a:ext cx="1874519" cy="2414015"/>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8" name="!!ph3a"/>
          <p:cNvSpPr txBox="1"/>
          <p:nvPr/>
        </p:nvSpPr>
        <p:spPr>
          <a:xfrm>
            <a:off x="4590288" y="4434840"/>
            <a:ext cx="1655063" cy="274320"/>
          </a:xfrm>
          <a:prstGeom prst="rect">
            <a:avLst/>
          </a:prstGeom>
          <a:noFill/>
        </p:spPr>
        <p:txBody>
          <a:bodyPr wrap="square" lIns="0" tIns="0" rIns="0" bIns="0" anchor="t">
            <a:spAutoFit/>
          </a:bodyPr>
          <a:lstStyle/>
          <a:p>
            <a:pPr algn="l"/>
            <a:r>
              <a:rPr sz="1500" b="1">
                <a:solidFill>
                  <a:srgbClr val="FFFFFF"/>
                </a:solidFill>
                <a:latin typeface="Inter SemiBold"/>
              </a:rPr>
              <a:t>Fase 3</a:t>
            </a:r>
          </a:p>
        </p:txBody>
      </p:sp>
      <p:sp>
        <p:nvSpPr>
          <p:cNvPr id="69" name="!!ph3b"/>
          <p:cNvSpPr txBox="1"/>
          <p:nvPr/>
        </p:nvSpPr>
        <p:spPr>
          <a:xfrm>
            <a:off x="4590288" y="4736592"/>
            <a:ext cx="1655063" cy="685800"/>
          </a:xfrm>
          <a:prstGeom prst="rect">
            <a:avLst/>
          </a:prstGeom>
          <a:noFill/>
        </p:spPr>
        <p:txBody>
          <a:bodyPr wrap="square" lIns="0" tIns="0" rIns="0" bIns="0" anchor="t">
            <a:spAutoFit/>
          </a:bodyPr>
          <a:lstStyle/>
          <a:p>
            <a:pPr algn="l"/>
            <a:r>
              <a:rPr sz="1600" b="1">
                <a:solidFill>
                  <a:srgbClr val="FFFFFF"/>
                </a:solidFill>
                <a:latin typeface="Inter SemiBold"/>
              </a:rPr>
              <a:t>Construcción</a:t>
            </a:r>
          </a:p>
        </p:txBody>
      </p:sp>
      <p:sp>
        <p:nvSpPr>
          <p:cNvPr id="70" name="!!ph3c"/>
          <p:cNvSpPr txBox="1"/>
          <p:nvPr/>
        </p:nvSpPr>
        <p:spPr>
          <a:xfrm>
            <a:off x="4590288" y="5468112"/>
            <a:ext cx="1655063" cy="320040"/>
          </a:xfrm>
          <a:prstGeom prst="rect">
            <a:avLst/>
          </a:prstGeom>
          <a:noFill/>
        </p:spPr>
        <p:txBody>
          <a:bodyPr wrap="square" lIns="0" tIns="0" rIns="0" bIns="0" anchor="t">
            <a:spAutoFit/>
          </a:bodyPr>
          <a:lstStyle/>
          <a:p>
            <a:pPr algn="l"/>
            <a:r>
              <a:rPr sz="1400" b="0">
                <a:solidFill>
                  <a:srgbClr val="FFFFFF"/>
                </a:solidFill>
                <a:latin typeface="Inter"/>
              </a:rPr>
              <a:t>11 CC · 79 PT</a:t>
            </a:r>
          </a:p>
        </p:txBody>
      </p:sp>
      <p:sp>
        <p:nvSpPr>
          <p:cNvPr id="71" name="!!ph3d"/>
          <p:cNvSpPr txBox="1"/>
          <p:nvPr/>
        </p:nvSpPr>
        <p:spPr>
          <a:xfrm>
            <a:off x="4590288" y="5879592"/>
            <a:ext cx="1655063" cy="411480"/>
          </a:xfrm>
          <a:prstGeom prst="rect">
            <a:avLst/>
          </a:prstGeom>
          <a:noFill/>
        </p:spPr>
        <p:txBody>
          <a:bodyPr wrap="square" lIns="0" tIns="0" rIns="0" bIns="0" anchor="t">
            <a:spAutoFit/>
          </a:bodyPr>
          <a:lstStyle/>
          <a:p>
            <a:pPr algn="l"/>
            <a:r>
              <a:rPr sz="1700" b="1">
                <a:solidFill>
                  <a:srgbClr val="FFFFFF"/>
                </a:solidFill>
                <a:latin typeface="Inter SemiBold"/>
              </a:rPr>
              <a:t>33.280 HH</a:t>
            </a:r>
          </a:p>
        </p:txBody>
      </p:sp>
      <p:cxnSp>
        <p:nvCxnSpPr>
          <p:cNvPr id="72" name="Connector 71"/>
          <p:cNvCxnSpPr/>
          <p:nvPr/>
        </p:nvCxnSpPr>
        <p:spPr>
          <a:xfrm>
            <a:off x="726947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3" name="!!ph4"/>
          <p:cNvSpPr/>
          <p:nvPr/>
        </p:nvSpPr>
        <p:spPr>
          <a:xfrm>
            <a:off x="637794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4" name="!!ph4a"/>
          <p:cNvSpPr txBox="1"/>
          <p:nvPr/>
        </p:nvSpPr>
        <p:spPr>
          <a:xfrm>
            <a:off x="648766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4</a:t>
            </a:r>
          </a:p>
        </p:txBody>
      </p:sp>
      <p:sp>
        <p:nvSpPr>
          <p:cNvPr id="75" name="!!ph4b"/>
          <p:cNvSpPr txBox="1"/>
          <p:nvPr/>
        </p:nvSpPr>
        <p:spPr>
          <a:xfrm>
            <a:off x="648766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Transición</a:t>
            </a:r>
          </a:p>
        </p:txBody>
      </p:sp>
      <p:sp>
        <p:nvSpPr>
          <p:cNvPr id="76" name="!!ph4c"/>
          <p:cNvSpPr txBox="1"/>
          <p:nvPr/>
        </p:nvSpPr>
        <p:spPr>
          <a:xfrm>
            <a:off x="648766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10 PT</a:t>
            </a:r>
          </a:p>
        </p:txBody>
      </p:sp>
      <p:sp>
        <p:nvSpPr>
          <p:cNvPr id="77" name="!!ph4d"/>
          <p:cNvSpPr txBox="1"/>
          <p:nvPr/>
        </p:nvSpPr>
        <p:spPr>
          <a:xfrm>
            <a:off x="648766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20.672 HH</a:t>
            </a:r>
          </a:p>
        </p:txBody>
      </p:sp>
      <p:cxnSp>
        <p:nvCxnSpPr>
          <p:cNvPr id="78" name="Connector 77"/>
          <p:cNvCxnSpPr/>
          <p:nvPr/>
        </p:nvCxnSpPr>
        <p:spPr>
          <a:xfrm>
            <a:off x="912114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 name="!!ph5"/>
          <p:cNvSpPr/>
          <p:nvPr/>
        </p:nvSpPr>
        <p:spPr>
          <a:xfrm>
            <a:off x="822960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0" name="!!ph5a"/>
          <p:cNvSpPr txBox="1"/>
          <p:nvPr/>
        </p:nvSpPr>
        <p:spPr>
          <a:xfrm>
            <a:off x="833932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5</a:t>
            </a:r>
          </a:p>
        </p:txBody>
      </p:sp>
      <p:sp>
        <p:nvSpPr>
          <p:cNvPr id="81" name="!!ph5b"/>
          <p:cNvSpPr txBox="1"/>
          <p:nvPr/>
        </p:nvSpPr>
        <p:spPr>
          <a:xfrm>
            <a:off x="833932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Adquisiciones</a:t>
            </a:r>
          </a:p>
        </p:txBody>
      </p:sp>
      <p:sp>
        <p:nvSpPr>
          <p:cNvPr id="82" name="!!ph5c"/>
          <p:cNvSpPr txBox="1"/>
          <p:nvPr/>
        </p:nvSpPr>
        <p:spPr>
          <a:xfrm>
            <a:off x="833932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4 CC · 13 PT</a:t>
            </a:r>
          </a:p>
        </p:txBody>
      </p:sp>
      <p:sp>
        <p:nvSpPr>
          <p:cNvPr id="83" name="!!ph5d"/>
          <p:cNvSpPr txBox="1"/>
          <p:nvPr/>
        </p:nvSpPr>
        <p:spPr>
          <a:xfrm>
            <a:off x="833932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1.040 HH</a:t>
            </a:r>
          </a:p>
        </p:txBody>
      </p:sp>
      <p:cxnSp>
        <p:nvCxnSpPr>
          <p:cNvPr id="84" name="Connector 83"/>
          <p:cNvCxnSpPr/>
          <p:nvPr/>
        </p:nvCxnSpPr>
        <p:spPr>
          <a:xfrm>
            <a:off x="109728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 name="!!ph6"/>
          <p:cNvSpPr/>
          <p:nvPr/>
        </p:nvSpPr>
        <p:spPr>
          <a:xfrm>
            <a:off x="100812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6" name="!!ph6a"/>
          <p:cNvSpPr txBox="1"/>
          <p:nvPr/>
        </p:nvSpPr>
        <p:spPr>
          <a:xfrm>
            <a:off x="101909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6</a:t>
            </a:r>
          </a:p>
        </p:txBody>
      </p:sp>
      <p:sp>
        <p:nvSpPr>
          <p:cNvPr id="87" name="!!ph6b"/>
          <p:cNvSpPr txBox="1"/>
          <p:nvPr/>
        </p:nvSpPr>
        <p:spPr>
          <a:xfrm>
            <a:off x="101909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Infraestructura</a:t>
            </a:r>
          </a:p>
        </p:txBody>
      </p:sp>
      <p:sp>
        <p:nvSpPr>
          <p:cNvPr id="88" name="!!ph6c"/>
          <p:cNvSpPr txBox="1"/>
          <p:nvPr/>
        </p:nvSpPr>
        <p:spPr>
          <a:xfrm>
            <a:off x="101909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24 PT</a:t>
            </a:r>
          </a:p>
        </p:txBody>
      </p:sp>
      <p:sp>
        <p:nvSpPr>
          <p:cNvPr id="89" name="!!ph6d"/>
          <p:cNvSpPr txBox="1"/>
          <p:nvPr/>
        </p:nvSpPr>
        <p:spPr>
          <a:xfrm>
            <a:off x="101909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3.840 HH</a:t>
            </a:r>
          </a:p>
        </p:txBody>
      </p:sp>
      <p:cxnSp>
        <p:nvCxnSpPr>
          <p:cNvPr id="90" name="Connector 89"/>
          <p:cNvCxnSpPr/>
          <p:nvPr/>
        </p:nvCxnSpPr>
        <p:spPr>
          <a:xfrm>
            <a:off x="1282445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 name="!!ph7"/>
          <p:cNvSpPr/>
          <p:nvPr/>
        </p:nvSpPr>
        <p:spPr>
          <a:xfrm>
            <a:off x="1193291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2" name="!!ph7a"/>
          <p:cNvSpPr txBox="1"/>
          <p:nvPr/>
        </p:nvSpPr>
        <p:spPr>
          <a:xfrm>
            <a:off x="1204264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7</a:t>
            </a:r>
          </a:p>
        </p:txBody>
      </p:sp>
      <p:sp>
        <p:nvSpPr>
          <p:cNvPr id="93" name="!!ph7b"/>
          <p:cNvSpPr txBox="1"/>
          <p:nvPr/>
        </p:nvSpPr>
        <p:spPr>
          <a:xfrm>
            <a:off x="1204264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Capacitación y cambio</a:t>
            </a:r>
          </a:p>
        </p:txBody>
      </p:sp>
      <p:sp>
        <p:nvSpPr>
          <p:cNvPr id="94" name="!!ph7c"/>
          <p:cNvSpPr txBox="1"/>
          <p:nvPr/>
        </p:nvSpPr>
        <p:spPr>
          <a:xfrm>
            <a:off x="1204264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13 PT</a:t>
            </a:r>
          </a:p>
        </p:txBody>
      </p:sp>
      <p:sp>
        <p:nvSpPr>
          <p:cNvPr id="95" name="!!ph7d"/>
          <p:cNvSpPr txBox="1"/>
          <p:nvPr/>
        </p:nvSpPr>
        <p:spPr>
          <a:xfrm>
            <a:off x="1204264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4.736 HH</a:t>
            </a:r>
          </a:p>
        </p:txBody>
      </p:sp>
      <p:cxnSp>
        <p:nvCxnSpPr>
          <p:cNvPr id="96" name="Connector 95"/>
          <p:cNvCxnSpPr/>
          <p:nvPr/>
        </p:nvCxnSpPr>
        <p:spPr>
          <a:xfrm>
            <a:off x="146761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7" name="!!ph8"/>
          <p:cNvSpPr/>
          <p:nvPr/>
        </p:nvSpPr>
        <p:spPr>
          <a:xfrm>
            <a:off x="137845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8" name="!!ph8a"/>
          <p:cNvSpPr txBox="1"/>
          <p:nvPr/>
        </p:nvSpPr>
        <p:spPr>
          <a:xfrm>
            <a:off x="1389430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8</a:t>
            </a:r>
          </a:p>
        </p:txBody>
      </p:sp>
      <p:sp>
        <p:nvSpPr>
          <p:cNvPr id="99" name="!!ph8b"/>
          <p:cNvSpPr txBox="1"/>
          <p:nvPr/>
        </p:nvSpPr>
        <p:spPr>
          <a:xfrm>
            <a:off x="1389430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Operación y soporte</a:t>
            </a:r>
          </a:p>
        </p:txBody>
      </p:sp>
      <p:sp>
        <p:nvSpPr>
          <p:cNvPr id="100" name="!!ph8c"/>
          <p:cNvSpPr txBox="1"/>
          <p:nvPr/>
        </p:nvSpPr>
        <p:spPr>
          <a:xfrm>
            <a:off x="1389430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5 CC · 26 PT</a:t>
            </a:r>
          </a:p>
        </p:txBody>
      </p:sp>
      <p:sp>
        <p:nvSpPr>
          <p:cNvPr id="101" name="!!ph8d"/>
          <p:cNvSpPr txBox="1"/>
          <p:nvPr/>
        </p:nvSpPr>
        <p:spPr>
          <a:xfrm>
            <a:off x="1389430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129.879 HH</a:t>
            </a:r>
          </a:p>
        </p:txBody>
      </p:sp>
      <p:cxnSp>
        <p:nvCxnSpPr>
          <p:cNvPr id="102" name="Connector 101"/>
          <p:cNvCxnSpPr/>
          <p:nvPr/>
        </p:nvCxnSpPr>
        <p:spPr>
          <a:xfrm>
            <a:off x="1652778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 name="!!ph9"/>
          <p:cNvSpPr/>
          <p:nvPr/>
        </p:nvSpPr>
        <p:spPr>
          <a:xfrm>
            <a:off x="1563623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4" name="!!ph9a"/>
          <p:cNvSpPr txBox="1"/>
          <p:nvPr/>
        </p:nvSpPr>
        <p:spPr>
          <a:xfrm>
            <a:off x="1574596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9</a:t>
            </a:r>
          </a:p>
        </p:txBody>
      </p:sp>
      <p:sp>
        <p:nvSpPr>
          <p:cNvPr id="105" name="!!ph9b"/>
          <p:cNvSpPr txBox="1"/>
          <p:nvPr/>
        </p:nvSpPr>
        <p:spPr>
          <a:xfrm>
            <a:off x="1574596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Cierre</a:t>
            </a:r>
          </a:p>
        </p:txBody>
      </p:sp>
      <p:sp>
        <p:nvSpPr>
          <p:cNvPr id="106" name="!!ph9c"/>
          <p:cNvSpPr txBox="1"/>
          <p:nvPr/>
        </p:nvSpPr>
        <p:spPr>
          <a:xfrm>
            <a:off x="1574596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2 CC · 4 PT</a:t>
            </a:r>
          </a:p>
        </p:txBody>
      </p:sp>
      <p:sp>
        <p:nvSpPr>
          <p:cNvPr id="107" name="!!ph9d"/>
          <p:cNvSpPr txBox="1"/>
          <p:nvPr/>
        </p:nvSpPr>
        <p:spPr>
          <a:xfrm>
            <a:off x="1574596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320 HH</a:t>
            </a:r>
          </a:p>
        </p:txBody>
      </p:sp>
      <p:sp>
        <p:nvSpPr>
          <p:cNvPr id="108" name="TextBox 107"/>
          <p:cNvSpPr txBox="1"/>
          <p:nvPr/>
        </p:nvSpPr>
        <p:spPr>
          <a:xfrm>
            <a:off x="822960" y="6949440"/>
            <a:ext cx="16642080" cy="365760"/>
          </a:xfrm>
          <a:prstGeom prst="rect">
            <a:avLst/>
          </a:prstGeom>
          <a:noFill/>
        </p:spPr>
        <p:txBody>
          <a:bodyPr wrap="square" lIns="0" tIns="0" rIns="0" bIns="0" anchor="t">
            <a:spAutoFit/>
          </a:bodyPr>
          <a:lstStyle/>
          <a:p>
            <a:pPr algn="l"/>
            <a:r>
              <a:rPr sz="1600" b="1">
                <a:solidFill>
                  <a:srgbClr val="E8641B"/>
                </a:solidFill>
                <a:latin typeface="Inter SemiBold"/>
              </a:rPr>
              <a:t>FASE 3 · CONSTRUCCIÓN · 11 CUENTAS DE CONTROL</a:t>
            </a:r>
          </a:p>
        </p:txBody>
      </p:sp>
      <p:sp>
        <p:nvSpPr>
          <p:cNvPr id="109" name="Rounded Rectangle 108"/>
          <p:cNvSpPr/>
          <p:nvPr/>
        </p:nvSpPr>
        <p:spPr>
          <a:xfrm>
            <a:off x="822960" y="7360920"/>
            <a:ext cx="2659380"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3.1 Ambientes y CI/CD</a:t>
            </a:r>
          </a:p>
        </p:txBody>
      </p:sp>
      <p:sp>
        <p:nvSpPr>
          <p:cNvPr id="110" name="Rounded Rectangle 109"/>
          <p:cNvSpPr/>
          <p:nvPr/>
        </p:nvSpPr>
        <p:spPr>
          <a:xfrm>
            <a:off x="3619499" y="7360920"/>
            <a:ext cx="2659380"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3.2 Servicios de nube</a:t>
            </a:r>
          </a:p>
        </p:txBody>
      </p:sp>
      <p:sp>
        <p:nvSpPr>
          <p:cNvPr id="111" name="Rounded Rectangle 110"/>
          <p:cNvSpPr/>
          <p:nvPr/>
        </p:nvSpPr>
        <p:spPr>
          <a:xfrm>
            <a:off x="6416040" y="7360920"/>
            <a:ext cx="2659380"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3.3 Base compartida</a:t>
            </a:r>
          </a:p>
        </p:txBody>
      </p:sp>
      <p:sp>
        <p:nvSpPr>
          <p:cNvPr id="112" name="Rounded Rectangle 111"/>
          <p:cNvSpPr/>
          <p:nvPr/>
        </p:nvSpPr>
        <p:spPr>
          <a:xfrm>
            <a:off x="9212580" y="7360920"/>
            <a:ext cx="2659380"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3.4 Módulos Etapa 1</a:t>
            </a:r>
          </a:p>
        </p:txBody>
      </p:sp>
      <p:sp>
        <p:nvSpPr>
          <p:cNvPr id="113" name="Rounded Rectangle 112"/>
          <p:cNvSpPr/>
          <p:nvPr/>
        </p:nvSpPr>
        <p:spPr>
          <a:xfrm>
            <a:off x="12009120" y="7360920"/>
            <a:ext cx="2659380"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3.5 Módulos Etapa 2</a:t>
            </a:r>
          </a:p>
        </p:txBody>
      </p:sp>
      <p:sp>
        <p:nvSpPr>
          <p:cNvPr id="114" name="Rounded Rectangle 113"/>
          <p:cNvSpPr/>
          <p:nvPr/>
        </p:nvSpPr>
        <p:spPr>
          <a:xfrm>
            <a:off x="14805660" y="7360920"/>
            <a:ext cx="2659380"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3.6 Integraciones</a:t>
            </a:r>
          </a:p>
        </p:txBody>
      </p:sp>
      <p:sp>
        <p:nvSpPr>
          <p:cNvPr id="115" name="Rounded Rectangle 114"/>
          <p:cNvSpPr/>
          <p:nvPr/>
        </p:nvSpPr>
        <p:spPr>
          <a:xfrm>
            <a:off x="822960" y="8129016"/>
            <a:ext cx="2659380"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3.7 Migración de datos</a:t>
            </a:r>
          </a:p>
        </p:txBody>
      </p:sp>
      <p:sp>
        <p:nvSpPr>
          <p:cNvPr id="116" name="Rounded Rectangle 115"/>
          <p:cNvSpPr/>
          <p:nvPr/>
        </p:nvSpPr>
        <p:spPr>
          <a:xfrm>
            <a:off x="3619499" y="8129016"/>
            <a:ext cx="2659380"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3.8 Pruebas Etapa 1</a:t>
            </a:r>
          </a:p>
        </p:txBody>
      </p:sp>
      <p:sp>
        <p:nvSpPr>
          <p:cNvPr id="117" name="Rounded Rectangle 116"/>
          <p:cNvSpPr/>
          <p:nvPr/>
        </p:nvSpPr>
        <p:spPr>
          <a:xfrm>
            <a:off x="6416040" y="8129016"/>
            <a:ext cx="2659380"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3.9 Pruebas Etapa 2</a:t>
            </a:r>
          </a:p>
        </p:txBody>
      </p:sp>
      <p:sp>
        <p:nvSpPr>
          <p:cNvPr id="118" name="Rounded Rectangle 117"/>
          <p:cNvSpPr/>
          <p:nvPr/>
        </p:nvSpPr>
        <p:spPr>
          <a:xfrm>
            <a:off x="9212580" y="8129016"/>
            <a:ext cx="2659380"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3.10 Innovaciones</a:t>
            </a:r>
          </a:p>
        </p:txBody>
      </p:sp>
      <p:sp>
        <p:nvSpPr>
          <p:cNvPr id="119" name="Rounded Rectangle 118"/>
          <p:cNvSpPr/>
          <p:nvPr/>
        </p:nvSpPr>
        <p:spPr>
          <a:xfrm>
            <a:off x="12009120" y="8129016"/>
            <a:ext cx="2659380" cy="658368"/>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3.11 Documentación</a:t>
            </a:r>
          </a:p>
        </p:txBody>
      </p:sp>
      <p:sp>
        <p:nvSpPr>
          <p:cNvPr id="120"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16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EDT: así se organiza el trabajo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9 fases · 49 cuentas de control · 222 paquetes de trabajo</a:t>
            </a:r>
          </a:p>
        </p:txBody>
      </p:sp>
      <p:sp>
        <p:nvSpPr>
          <p:cNvPr id="51" name="!!edt_root"/>
          <p:cNvSpPr/>
          <p:nvPr/>
        </p:nvSpPr>
        <p:spPr>
          <a:xfrm>
            <a:off x="6400800" y="3200400"/>
            <a:ext cx="5486400" cy="77724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Proyecto LafroX · 56 meses</a:t>
            </a:r>
          </a:p>
        </p:txBody>
      </p:sp>
      <p:cxnSp>
        <p:nvCxnSpPr>
          <p:cNvPr id="52" name="Connector 51"/>
          <p:cNvCxnSpPr/>
          <p:nvPr/>
        </p:nvCxnSpPr>
        <p:spPr>
          <a:xfrm>
            <a:off x="9144000" y="3977639"/>
            <a:ext cx="0" cy="24688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714500" y="4224528"/>
            <a:ext cx="1481328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7145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55" name="!!ph1"/>
          <p:cNvSpPr/>
          <p:nvPr/>
        </p:nvSpPr>
        <p:spPr>
          <a:xfrm>
            <a:off x="8229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6" name="!!ph1a"/>
          <p:cNvSpPr txBox="1"/>
          <p:nvPr/>
        </p:nvSpPr>
        <p:spPr>
          <a:xfrm>
            <a:off x="9326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1</a:t>
            </a:r>
          </a:p>
        </p:txBody>
      </p:sp>
      <p:sp>
        <p:nvSpPr>
          <p:cNvPr id="57" name="!!ph1b"/>
          <p:cNvSpPr txBox="1"/>
          <p:nvPr/>
        </p:nvSpPr>
        <p:spPr>
          <a:xfrm>
            <a:off x="9326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Inicio</a:t>
            </a:r>
          </a:p>
        </p:txBody>
      </p:sp>
      <p:sp>
        <p:nvSpPr>
          <p:cNvPr id="58" name="!!ph1c"/>
          <p:cNvSpPr txBox="1"/>
          <p:nvPr/>
        </p:nvSpPr>
        <p:spPr>
          <a:xfrm>
            <a:off x="9326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9 CC · 35 PT</a:t>
            </a:r>
          </a:p>
        </p:txBody>
      </p:sp>
      <p:sp>
        <p:nvSpPr>
          <p:cNvPr id="59" name="!!ph1d"/>
          <p:cNvSpPr txBox="1"/>
          <p:nvPr/>
        </p:nvSpPr>
        <p:spPr>
          <a:xfrm>
            <a:off x="9326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6.920 HH</a:t>
            </a:r>
          </a:p>
        </p:txBody>
      </p:sp>
      <p:cxnSp>
        <p:nvCxnSpPr>
          <p:cNvPr id="60" name="Connector 59"/>
          <p:cNvCxnSpPr/>
          <p:nvPr/>
        </p:nvCxnSpPr>
        <p:spPr>
          <a:xfrm>
            <a:off x="356616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1" name="!!ph2"/>
          <p:cNvSpPr/>
          <p:nvPr/>
        </p:nvSpPr>
        <p:spPr>
          <a:xfrm>
            <a:off x="267462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2" name="!!ph2a"/>
          <p:cNvSpPr txBox="1"/>
          <p:nvPr/>
        </p:nvSpPr>
        <p:spPr>
          <a:xfrm>
            <a:off x="278434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2</a:t>
            </a:r>
          </a:p>
        </p:txBody>
      </p:sp>
      <p:sp>
        <p:nvSpPr>
          <p:cNvPr id="63" name="!!ph2b"/>
          <p:cNvSpPr txBox="1"/>
          <p:nvPr/>
        </p:nvSpPr>
        <p:spPr>
          <a:xfrm>
            <a:off x="278434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Elaboración</a:t>
            </a:r>
          </a:p>
        </p:txBody>
      </p:sp>
      <p:sp>
        <p:nvSpPr>
          <p:cNvPr id="64" name="!!ph2c"/>
          <p:cNvSpPr txBox="1"/>
          <p:nvPr/>
        </p:nvSpPr>
        <p:spPr>
          <a:xfrm>
            <a:off x="278434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18 PT</a:t>
            </a:r>
          </a:p>
        </p:txBody>
      </p:sp>
      <p:sp>
        <p:nvSpPr>
          <p:cNvPr id="65" name="!!ph2d"/>
          <p:cNvSpPr txBox="1"/>
          <p:nvPr/>
        </p:nvSpPr>
        <p:spPr>
          <a:xfrm>
            <a:off x="278434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4.320 HH</a:t>
            </a:r>
          </a:p>
        </p:txBody>
      </p:sp>
      <p:cxnSp>
        <p:nvCxnSpPr>
          <p:cNvPr id="66" name="Connector 65"/>
          <p:cNvCxnSpPr/>
          <p:nvPr/>
        </p:nvCxnSpPr>
        <p:spPr>
          <a:xfrm>
            <a:off x="54178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7" name="!!ph3"/>
          <p:cNvSpPr/>
          <p:nvPr/>
        </p:nvSpPr>
        <p:spPr>
          <a:xfrm>
            <a:off x="45262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8" name="!!ph3a"/>
          <p:cNvSpPr txBox="1"/>
          <p:nvPr/>
        </p:nvSpPr>
        <p:spPr>
          <a:xfrm>
            <a:off x="463600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3</a:t>
            </a:r>
          </a:p>
        </p:txBody>
      </p:sp>
      <p:sp>
        <p:nvSpPr>
          <p:cNvPr id="69" name="!!ph3b"/>
          <p:cNvSpPr txBox="1"/>
          <p:nvPr/>
        </p:nvSpPr>
        <p:spPr>
          <a:xfrm>
            <a:off x="463600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Construcción</a:t>
            </a:r>
          </a:p>
        </p:txBody>
      </p:sp>
      <p:sp>
        <p:nvSpPr>
          <p:cNvPr id="70" name="!!ph3c"/>
          <p:cNvSpPr txBox="1"/>
          <p:nvPr/>
        </p:nvSpPr>
        <p:spPr>
          <a:xfrm>
            <a:off x="463600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11 CC · 79 PT</a:t>
            </a:r>
          </a:p>
        </p:txBody>
      </p:sp>
      <p:sp>
        <p:nvSpPr>
          <p:cNvPr id="71" name="!!ph3d"/>
          <p:cNvSpPr txBox="1"/>
          <p:nvPr/>
        </p:nvSpPr>
        <p:spPr>
          <a:xfrm>
            <a:off x="463600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33.280 HH</a:t>
            </a:r>
          </a:p>
        </p:txBody>
      </p:sp>
      <p:cxnSp>
        <p:nvCxnSpPr>
          <p:cNvPr id="72" name="Connector 71"/>
          <p:cNvCxnSpPr/>
          <p:nvPr/>
        </p:nvCxnSpPr>
        <p:spPr>
          <a:xfrm>
            <a:off x="726947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3" name="!!ph4"/>
          <p:cNvSpPr/>
          <p:nvPr/>
        </p:nvSpPr>
        <p:spPr>
          <a:xfrm>
            <a:off x="6332220" y="4325112"/>
            <a:ext cx="1874519" cy="2414015"/>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4" name="!!ph4a"/>
          <p:cNvSpPr txBox="1"/>
          <p:nvPr/>
        </p:nvSpPr>
        <p:spPr>
          <a:xfrm>
            <a:off x="6441948" y="4434840"/>
            <a:ext cx="1655063" cy="274320"/>
          </a:xfrm>
          <a:prstGeom prst="rect">
            <a:avLst/>
          </a:prstGeom>
          <a:noFill/>
        </p:spPr>
        <p:txBody>
          <a:bodyPr wrap="square" lIns="0" tIns="0" rIns="0" bIns="0" anchor="t">
            <a:spAutoFit/>
          </a:bodyPr>
          <a:lstStyle/>
          <a:p>
            <a:pPr algn="l"/>
            <a:r>
              <a:rPr sz="1500" b="1">
                <a:solidFill>
                  <a:srgbClr val="FFFFFF"/>
                </a:solidFill>
                <a:latin typeface="Inter SemiBold"/>
              </a:rPr>
              <a:t>Fase 4</a:t>
            </a:r>
          </a:p>
        </p:txBody>
      </p:sp>
      <p:sp>
        <p:nvSpPr>
          <p:cNvPr id="75" name="!!ph4b"/>
          <p:cNvSpPr txBox="1"/>
          <p:nvPr/>
        </p:nvSpPr>
        <p:spPr>
          <a:xfrm>
            <a:off x="6441948" y="4736592"/>
            <a:ext cx="1655063" cy="685800"/>
          </a:xfrm>
          <a:prstGeom prst="rect">
            <a:avLst/>
          </a:prstGeom>
          <a:noFill/>
        </p:spPr>
        <p:txBody>
          <a:bodyPr wrap="square" lIns="0" tIns="0" rIns="0" bIns="0" anchor="t">
            <a:spAutoFit/>
          </a:bodyPr>
          <a:lstStyle/>
          <a:p>
            <a:pPr algn="l"/>
            <a:r>
              <a:rPr sz="1600" b="1">
                <a:solidFill>
                  <a:srgbClr val="FFFFFF"/>
                </a:solidFill>
                <a:latin typeface="Inter SemiBold"/>
              </a:rPr>
              <a:t>Transición</a:t>
            </a:r>
          </a:p>
        </p:txBody>
      </p:sp>
      <p:sp>
        <p:nvSpPr>
          <p:cNvPr id="76" name="!!ph4c"/>
          <p:cNvSpPr txBox="1"/>
          <p:nvPr/>
        </p:nvSpPr>
        <p:spPr>
          <a:xfrm>
            <a:off x="6441948" y="5468112"/>
            <a:ext cx="1655063" cy="320040"/>
          </a:xfrm>
          <a:prstGeom prst="rect">
            <a:avLst/>
          </a:prstGeom>
          <a:noFill/>
        </p:spPr>
        <p:txBody>
          <a:bodyPr wrap="square" lIns="0" tIns="0" rIns="0" bIns="0" anchor="t">
            <a:spAutoFit/>
          </a:bodyPr>
          <a:lstStyle/>
          <a:p>
            <a:pPr algn="l"/>
            <a:r>
              <a:rPr sz="1400" b="0">
                <a:solidFill>
                  <a:srgbClr val="FFFFFF"/>
                </a:solidFill>
                <a:latin typeface="Inter"/>
              </a:rPr>
              <a:t>3 CC · 10 PT</a:t>
            </a:r>
          </a:p>
        </p:txBody>
      </p:sp>
      <p:sp>
        <p:nvSpPr>
          <p:cNvPr id="77" name="!!ph4d"/>
          <p:cNvSpPr txBox="1"/>
          <p:nvPr/>
        </p:nvSpPr>
        <p:spPr>
          <a:xfrm>
            <a:off x="6441948" y="5879592"/>
            <a:ext cx="1655063" cy="411480"/>
          </a:xfrm>
          <a:prstGeom prst="rect">
            <a:avLst/>
          </a:prstGeom>
          <a:noFill/>
        </p:spPr>
        <p:txBody>
          <a:bodyPr wrap="square" lIns="0" tIns="0" rIns="0" bIns="0" anchor="t">
            <a:spAutoFit/>
          </a:bodyPr>
          <a:lstStyle/>
          <a:p>
            <a:pPr algn="l"/>
            <a:r>
              <a:rPr sz="1700" b="1">
                <a:solidFill>
                  <a:srgbClr val="FFFFFF"/>
                </a:solidFill>
                <a:latin typeface="Inter SemiBold"/>
              </a:rPr>
              <a:t>20.672 HH</a:t>
            </a:r>
          </a:p>
        </p:txBody>
      </p:sp>
      <p:cxnSp>
        <p:nvCxnSpPr>
          <p:cNvPr id="78" name="Connector 77"/>
          <p:cNvCxnSpPr/>
          <p:nvPr/>
        </p:nvCxnSpPr>
        <p:spPr>
          <a:xfrm>
            <a:off x="912114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 name="!!ph5"/>
          <p:cNvSpPr/>
          <p:nvPr/>
        </p:nvSpPr>
        <p:spPr>
          <a:xfrm>
            <a:off x="822960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0" name="!!ph5a"/>
          <p:cNvSpPr txBox="1"/>
          <p:nvPr/>
        </p:nvSpPr>
        <p:spPr>
          <a:xfrm>
            <a:off x="833932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5</a:t>
            </a:r>
          </a:p>
        </p:txBody>
      </p:sp>
      <p:sp>
        <p:nvSpPr>
          <p:cNvPr id="81" name="!!ph5b"/>
          <p:cNvSpPr txBox="1"/>
          <p:nvPr/>
        </p:nvSpPr>
        <p:spPr>
          <a:xfrm>
            <a:off x="833932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Adquisiciones</a:t>
            </a:r>
          </a:p>
        </p:txBody>
      </p:sp>
      <p:sp>
        <p:nvSpPr>
          <p:cNvPr id="82" name="!!ph5c"/>
          <p:cNvSpPr txBox="1"/>
          <p:nvPr/>
        </p:nvSpPr>
        <p:spPr>
          <a:xfrm>
            <a:off x="833932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4 CC · 13 PT</a:t>
            </a:r>
          </a:p>
        </p:txBody>
      </p:sp>
      <p:sp>
        <p:nvSpPr>
          <p:cNvPr id="83" name="!!ph5d"/>
          <p:cNvSpPr txBox="1"/>
          <p:nvPr/>
        </p:nvSpPr>
        <p:spPr>
          <a:xfrm>
            <a:off x="833932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1.040 HH</a:t>
            </a:r>
          </a:p>
        </p:txBody>
      </p:sp>
      <p:cxnSp>
        <p:nvCxnSpPr>
          <p:cNvPr id="84" name="Connector 83"/>
          <p:cNvCxnSpPr/>
          <p:nvPr/>
        </p:nvCxnSpPr>
        <p:spPr>
          <a:xfrm>
            <a:off x="109728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 name="!!ph6"/>
          <p:cNvSpPr/>
          <p:nvPr/>
        </p:nvSpPr>
        <p:spPr>
          <a:xfrm>
            <a:off x="100812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6" name="!!ph6a"/>
          <p:cNvSpPr txBox="1"/>
          <p:nvPr/>
        </p:nvSpPr>
        <p:spPr>
          <a:xfrm>
            <a:off x="101909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6</a:t>
            </a:r>
          </a:p>
        </p:txBody>
      </p:sp>
      <p:sp>
        <p:nvSpPr>
          <p:cNvPr id="87" name="!!ph6b"/>
          <p:cNvSpPr txBox="1"/>
          <p:nvPr/>
        </p:nvSpPr>
        <p:spPr>
          <a:xfrm>
            <a:off x="101909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Infraestructura</a:t>
            </a:r>
          </a:p>
        </p:txBody>
      </p:sp>
      <p:sp>
        <p:nvSpPr>
          <p:cNvPr id="88" name="!!ph6c"/>
          <p:cNvSpPr txBox="1"/>
          <p:nvPr/>
        </p:nvSpPr>
        <p:spPr>
          <a:xfrm>
            <a:off x="101909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24 PT</a:t>
            </a:r>
          </a:p>
        </p:txBody>
      </p:sp>
      <p:sp>
        <p:nvSpPr>
          <p:cNvPr id="89" name="!!ph6d"/>
          <p:cNvSpPr txBox="1"/>
          <p:nvPr/>
        </p:nvSpPr>
        <p:spPr>
          <a:xfrm>
            <a:off x="101909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3.840 HH</a:t>
            </a:r>
          </a:p>
        </p:txBody>
      </p:sp>
      <p:cxnSp>
        <p:nvCxnSpPr>
          <p:cNvPr id="90" name="Connector 89"/>
          <p:cNvCxnSpPr/>
          <p:nvPr/>
        </p:nvCxnSpPr>
        <p:spPr>
          <a:xfrm>
            <a:off x="1282445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 name="!!ph7"/>
          <p:cNvSpPr/>
          <p:nvPr/>
        </p:nvSpPr>
        <p:spPr>
          <a:xfrm>
            <a:off x="1193291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2" name="!!ph7a"/>
          <p:cNvSpPr txBox="1"/>
          <p:nvPr/>
        </p:nvSpPr>
        <p:spPr>
          <a:xfrm>
            <a:off x="1204264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7</a:t>
            </a:r>
          </a:p>
        </p:txBody>
      </p:sp>
      <p:sp>
        <p:nvSpPr>
          <p:cNvPr id="93" name="!!ph7b"/>
          <p:cNvSpPr txBox="1"/>
          <p:nvPr/>
        </p:nvSpPr>
        <p:spPr>
          <a:xfrm>
            <a:off x="1204264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Capacitación y cambio</a:t>
            </a:r>
          </a:p>
        </p:txBody>
      </p:sp>
      <p:sp>
        <p:nvSpPr>
          <p:cNvPr id="94" name="!!ph7c"/>
          <p:cNvSpPr txBox="1"/>
          <p:nvPr/>
        </p:nvSpPr>
        <p:spPr>
          <a:xfrm>
            <a:off x="1204264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13 PT</a:t>
            </a:r>
          </a:p>
        </p:txBody>
      </p:sp>
      <p:sp>
        <p:nvSpPr>
          <p:cNvPr id="95" name="!!ph7d"/>
          <p:cNvSpPr txBox="1"/>
          <p:nvPr/>
        </p:nvSpPr>
        <p:spPr>
          <a:xfrm>
            <a:off x="1204264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4.736 HH</a:t>
            </a:r>
          </a:p>
        </p:txBody>
      </p:sp>
      <p:cxnSp>
        <p:nvCxnSpPr>
          <p:cNvPr id="96" name="Connector 95"/>
          <p:cNvCxnSpPr/>
          <p:nvPr/>
        </p:nvCxnSpPr>
        <p:spPr>
          <a:xfrm>
            <a:off x="146761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7" name="!!ph8"/>
          <p:cNvSpPr/>
          <p:nvPr/>
        </p:nvSpPr>
        <p:spPr>
          <a:xfrm>
            <a:off x="137845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8" name="!!ph8a"/>
          <p:cNvSpPr txBox="1"/>
          <p:nvPr/>
        </p:nvSpPr>
        <p:spPr>
          <a:xfrm>
            <a:off x="1389430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8</a:t>
            </a:r>
          </a:p>
        </p:txBody>
      </p:sp>
      <p:sp>
        <p:nvSpPr>
          <p:cNvPr id="99" name="!!ph8b"/>
          <p:cNvSpPr txBox="1"/>
          <p:nvPr/>
        </p:nvSpPr>
        <p:spPr>
          <a:xfrm>
            <a:off x="1389430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Operación y soporte</a:t>
            </a:r>
          </a:p>
        </p:txBody>
      </p:sp>
      <p:sp>
        <p:nvSpPr>
          <p:cNvPr id="100" name="!!ph8c"/>
          <p:cNvSpPr txBox="1"/>
          <p:nvPr/>
        </p:nvSpPr>
        <p:spPr>
          <a:xfrm>
            <a:off x="1389430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5 CC · 26 PT</a:t>
            </a:r>
          </a:p>
        </p:txBody>
      </p:sp>
      <p:sp>
        <p:nvSpPr>
          <p:cNvPr id="101" name="!!ph8d"/>
          <p:cNvSpPr txBox="1"/>
          <p:nvPr/>
        </p:nvSpPr>
        <p:spPr>
          <a:xfrm>
            <a:off x="1389430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129.879 HH</a:t>
            </a:r>
          </a:p>
        </p:txBody>
      </p:sp>
      <p:cxnSp>
        <p:nvCxnSpPr>
          <p:cNvPr id="102" name="Connector 101"/>
          <p:cNvCxnSpPr/>
          <p:nvPr/>
        </p:nvCxnSpPr>
        <p:spPr>
          <a:xfrm>
            <a:off x="1652778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 name="!!ph9"/>
          <p:cNvSpPr/>
          <p:nvPr/>
        </p:nvSpPr>
        <p:spPr>
          <a:xfrm>
            <a:off x="1563623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4" name="!!ph9a"/>
          <p:cNvSpPr txBox="1"/>
          <p:nvPr/>
        </p:nvSpPr>
        <p:spPr>
          <a:xfrm>
            <a:off x="1574596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9</a:t>
            </a:r>
          </a:p>
        </p:txBody>
      </p:sp>
      <p:sp>
        <p:nvSpPr>
          <p:cNvPr id="105" name="!!ph9b"/>
          <p:cNvSpPr txBox="1"/>
          <p:nvPr/>
        </p:nvSpPr>
        <p:spPr>
          <a:xfrm>
            <a:off x="1574596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Cierre</a:t>
            </a:r>
          </a:p>
        </p:txBody>
      </p:sp>
      <p:sp>
        <p:nvSpPr>
          <p:cNvPr id="106" name="!!ph9c"/>
          <p:cNvSpPr txBox="1"/>
          <p:nvPr/>
        </p:nvSpPr>
        <p:spPr>
          <a:xfrm>
            <a:off x="1574596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2 CC · 4 PT</a:t>
            </a:r>
          </a:p>
        </p:txBody>
      </p:sp>
      <p:sp>
        <p:nvSpPr>
          <p:cNvPr id="107" name="!!ph9d"/>
          <p:cNvSpPr txBox="1"/>
          <p:nvPr/>
        </p:nvSpPr>
        <p:spPr>
          <a:xfrm>
            <a:off x="1574596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320 HH</a:t>
            </a:r>
          </a:p>
        </p:txBody>
      </p:sp>
      <p:sp>
        <p:nvSpPr>
          <p:cNvPr id="108" name="TextBox 107"/>
          <p:cNvSpPr txBox="1"/>
          <p:nvPr/>
        </p:nvSpPr>
        <p:spPr>
          <a:xfrm>
            <a:off x="822960" y="6949440"/>
            <a:ext cx="16642080" cy="365760"/>
          </a:xfrm>
          <a:prstGeom prst="rect">
            <a:avLst/>
          </a:prstGeom>
          <a:noFill/>
        </p:spPr>
        <p:txBody>
          <a:bodyPr wrap="square" lIns="0" tIns="0" rIns="0" bIns="0" anchor="t">
            <a:spAutoFit/>
          </a:bodyPr>
          <a:lstStyle/>
          <a:p>
            <a:pPr algn="l"/>
            <a:r>
              <a:rPr sz="1600" b="1">
                <a:solidFill>
                  <a:srgbClr val="E8641B"/>
                </a:solidFill>
                <a:latin typeface="Inter SemiBold"/>
              </a:rPr>
              <a:t>FASE 4 · TRANSICIÓN · 3 CUENTAS DE CONTROL</a:t>
            </a:r>
          </a:p>
        </p:txBody>
      </p:sp>
      <p:sp>
        <p:nvSpPr>
          <p:cNvPr id="109" name="Rounded Rectangle 108"/>
          <p:cNvSpPr/>
          <p:nvPr/>
        </p:nvSpPr>
        <p:spPr>
          <a:xfrm>
            <a:off x="822960" y="7360920"/>
            <a:ext cx="5455919"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4.1 Plan de implantación</a:t>
            </a:r>
          </a:p>
        </p:txBody>
      </p:sp>
      <p:sp>
        <p:nvSpPr>
          <p:cNvPr id="110" name="Rounded Rectangle 109"/>
          <p:cNvSpPr/>
          <p:nvPr/>
        </p:nvSpPr>
        <p:spPr>
          <a:xfrm>
            <a:off x="6416040" y="7360920"/>
            <a:ext cx="5455919"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4.2 Marcha blanca y producción E1</a:t>
            </a:r>
          </a:p>
        </p:txBody>
      </p:sp>
      <p:sp>
        <p:nvSpPr>
          <p:cNvPr id="111" name="Rounded Rectangle 110"/>
          <p:cNvSpPr/>
          <p:nvPr/>
        </p:nvSpPr>
        <p:spPr>
          <a:xfrm>
            <a:off x="12009120" y="7360920"/>
            <a:ext cx="5455919"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4.3 Marcha blanca y producción E2</a:t>
            </a:r>
          </a:p>
        </p:txBody>
      </p:sp>
      <p:sp>
        <p:nvSpPr>
          <p:cNvPr id="112"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17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EDT: así se organiza el trabajo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9 fases · 49 cuentas de control · 222 paquetes de trabajo</a:t>
            </a:r>
          </a:p>
        </p:txBody>
      </p:sp>
      <p:sp>
        <p:nvSpPr>
          <p:cNvPr id="51" name="!!edt_root"/>
          <p:cNvSpPr/>
          <p:nvPr/>
        </p:nvSpPr>
        <p:spPr>
          <a:xfrm>
            <a:off x="6400800" y="3200400"/>
            <a:ext cx="5486400" cy="77724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Proyecto LafroX · 56 meses</a:t>
            </a:r>
          </a:p>
        </p:txBody>
      </p:sp>
      <p:cxnSp>
        <p:nvCxnSpPr>
          <p:cNvPr id="52" name="Connector 51"/>
          <p:cNvCxnSpPr/>
          <p:nvPr/>
        </p:nvCxnSpPr>
        <p:spPr>
          <a:xfrm>
            <a:off x="9144000" y="3977639"/>
            <a:ext cx="0" cy="24688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714500" y="4224528"/>
            <a:ext cx="1481328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7145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55" name="!!ph1"/>
          <p:cNvSpPr/>
          <p:nvPr/>
        </p:nvSpPr>
        <p:spPr>
          <a:xfrm>
            <a:off x="8229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6" name="!!ph1a"/>
          <p:cNvSpPr txBox="1"/>
          <p:nvPr/>
        </p:nvSpPr>
        <p:spPr>
          <a:xfrm>
            <a:off x="9326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1</a:t>
            </a:r>
          </a:p>
        </p:txBody>
      </p:sp>
      <p:sp>
        <p:nvSpPr>
          <p:cNvPr id="57" name="!!ph1b"/>
          <p:cNvSpPr txBox="1"/>
          <p:nvPr/>
        </p:nvSpPr>
        <p:spPr>
          <a:xfrm>
            <a:off x="9326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Inicio</a:t>
            </a:r>
          </a:p>
        </p:txBody>
      </p:sp>
      <p:sp>
        <p:nvSpPr>
          <p:cNvPr id="58" name="!!ph1c"/>
          <p:cNvSpPr txBox="1"/>
          <p:nvPr/>
        </p:nvSpPr>
        <p:spPr>
          <a:xfrm>
            <a:off x="9326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9 CC · 35 PT</a:t>
            </a:r>
          </a:p>
        </p:txBody>
      </p:sp>
      <p:sp>
        <p:nvSpPr>
          <p:cNvPr id="59" name="!!ph1d"/>
          <p:cNvSpPr txBox="1"/>
          <p:nvPr/>
        </p:nvSpPr>
        <p:spPr>
          <a:xfrm>
            <a:off x="9326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6.920 HH</a:t>
            </a:r>
          </a:p>
        </p:txBody>
      </p:sp>
      <p:cxnSp>
        <p:nvCxnSpPr>
          <p:cNvPr id="60" name="Connector 59"/>
          <p:cNvCxnSpPr/>
          <p:nvPr/>
        </p:nvCxnSpPr>
        <p:spPr>
          <a:xfrm>
            <a:off x="356616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1" name="!!ph2"/>
          <p:cNvSpPr/>
          <p:nvPr/>
        </p:nvSpPr>
        <p:spPr>
          <a:xfrm>
            <a:off x="267462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2" name="!!ph2a"/>
          <p:cNvSpPr txBox="1"/>
          <p:nvPr/>
        </p:nvSpPr>
        <p:spPr>
          <a:xfrm>
            <a:off x="278434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2</a:t>
            </a:r>
          </a:p>
        </p:txBody>
      </p:sp>
      <p:sp>
        <p:nvSpPr>
          <p:cNvPr id="63" name="!!ph2b"/>
          <p:cNvSpPr txBox="1"/>
          <p:nvPr/>
        </p:nvSpPr>
        <p:spPr>
          <a:xfrm>
            <a:off x="278434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Elaboración</a:t>
            </a:r>
          </a:p>
        </p:txBody>
      </p:sp>
      <p:sp>
        <p:nvSpPr>
          <p:cNvPr id="64" name="!!ph2c"/>
          <p:cNvSpPr txBox="1"/>
          <p:nvPr/>
        </p:nvSpPr>
        <p:spPr>
          <a:xfrm>
            <a:off x="278434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18 PT</a:t>
            </a:r>
          </a:p>
        </p:txBody>
      </p:sp>
      <p:sp>
        <p:nvSpPr>
          <p:cNvPr id="65" name="!!ph2d"/>
          <p:cNvSpPr txBox="1"/>
          <p:nvPr/>
        </p:nvSpPr>
        <p:spPr>
          <a:xfrm>
            <a:off x="278434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4.320 HH</a:t>
            </a:r>
          </a:p>
        </p:txBody>
      </p:sp>
      <p:cxnSp>
        <p:nvCxnSpPr>
          <p:cNvPr id="66" name="Connector 65"/>
          <p:cNvCxnSpPr/>
          <p:nvPr/>
        </p:nvCxnSpPr>
        <p:spPr>
          <a:xfrm>
            <a:off x="54178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7" name="!!ph3"/>
          <p:cNvSpPr/>
          <p:nvPr/>
        </p:nvSpPr>
        <p:spPr>
          <a:xfrm>
            <a:off x="45262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8" name="!!ph3a"/>
          <p:cNvSpPr txBox="1"/>
          <p:nvPr/>
        </p:nvSpPr>
        <p:spPr>
          <a:xfrm>
            <a:off x="463600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3</a:t>
            </a:r>
          </a:p>
        </p:txBody>
      </p:sp>
      <p:sp>
        <p:nvSpPr>
          <p:cNvPr id="69" name="!!ph3b"/>
          <p:cNvSpPr txBox="1"/>
          <p:nvPr/>
        </p:nvSpPr>
        <p:spPr>
          <a:xfrm>
            <a:off x="463600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Construcción</a:t>
            </a:r>
          </a:p>
        </p:txBody>
      </p:sp>
      <p:sp>
        <p:nvSpPr>
          <p:cNvPr id="70" name="!!ph3c"/>
          <p:cNvSpPr txBox="1"/>
          <p:nvPr/>
        </p:nvSpPr>
        <p:spPr>
          <a:xfrm>
            <a:off x="463600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11 CC · 79 PT</a:t>
            </a:r>
          </a:p>
        </p:txBody>
      </p:sp>
      <p:sp>
        <p:nvSpPr>
          <p:cNvPr id="71" name="!!ph3d"/>
          <p:cNvSpPr txBox="1"/>
          <p:nvPr/>
        </p:nvSpPr>
        <p:spPr>
          <a:xfrm>
            <a:off x="463600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33.280 HH</a:t>
            </a:r>
          </a:p>
        </p:txBody>
      </p:sp>
      <p:cxnSp>
        <p:nvCxnSpPr>
          <p:cNvPr id="72" name="Connector 71"/>
          <p:cNvCxnSpPr/>
          <p:nvPr/>
        </p:nvCxnSpPr>
        <p:spPr>
          <a:xfrm>
            <a:off x="726947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3" name="!!ph4"/>
          <p:cNvSpPr/>
          <p:nvPr/>
        </p:nvSpPr>
        <p:spPr>
          <a:xfrm>
            <a:off x="637794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4" name="!!ph4a"/>
          <p:cNvSpPr txBox="1"/>
          <p:nvPr/>
        </p:nvSpPr>
        <p:spPr>
          <a:xfrm>
            <a:off x="648766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4</a:t>
            </a:r>
          </a:p>
        </p:txBody>
      </p:sp>
      <p:sp>
        <p:nvSpPr>
          <p:cNvPr id="75" name="!!ph4b"/>
          <p:cNvSpPr txBox="1"/>
          <p:nvPr/>
        </p:nvSpPr>
        <p:spPr>
          <a:xfrm>
            <a:off x="648766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Transición</a:t>
            </a:r>
          </a:p>
        </p:txBody>
      </p:sp>
      <p:sp>
        <p:nvSpPr>
          <p:cNvPr id="76" name="!!ph4c"/>
          <p:cNvSpPr txBox="1"/>
          <p:nvPr/>
        </p:nvSpPr>
        <p:spPr>
          <a:xfrm>
            <a:off x="648766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10 PT</a:t>
            </a:r>
          </a:p>
        </p:txBody>
      </p:sp>
      <p:sp>
        <p:nvSpPr>
          <p:cNvPr id="77" name="!!ph4d"/>
          <p:cNvSpPr txBox="1"/>
          <p:nvPr/>
        </p:nvSpPr>
        <p:spPr>
          <a:xfrm>
            <a:off x="648766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20.672 HH</a:t>
            </a:r>
          </a:p>
        </p:txBody>
      </p:sp>
      <p:cxnSp>
        <p:nvCxnSpPr>
          <p:cNvPr id="78" name="Connector 77"/>
          <p:cNvCxnSpPr/>
          <p:nvPr/>
        </p:nvCxnSpPr>
        <p:spPr>
          <a:xfrm>
            <a:off x="912114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 name="!!ph5"/>
          <p:cNvSpPr/>
          <p:nvPr/>
        </p:nvSpPr>
        <p:spPr>
          <a:xfrm>
            <a:off x="8183879" y="4325112"/>
            <a:ext cx="1874519" cy="2414015"/>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0" name="!!ph5a"/>
          <p:cNvSpPr txBox="1"/>
          <p:nvPr/>
        </p:nvSpPr>
        <p:spPr>
          <a:xfrm>
            <a:off x="8293607" y="4434840"/>
            <a:ext cx="1655063" cy="274320"/>
          </a:xfrm>
          <a:prstGeom prst="rect">
            <a:avLst/>
          </a:prstGeom>
          <a:noFill/>
        </p:spPr>
        <p:txBody>
          <a:bodyPr wrap="square" lIns="0" tIns="0" rIns="0" bIns="0" anchor="t">
            <a:spAutoFit/>
          </a:bodyPr>
          <a:lstStyle/>
          <a:p>
            <a:pPr algn="l"/>
            <a:r>
              <a:rPr sz="1500" b="1">
                <a:solidFill>
                  <a:srgbClr val="FFFFFF"/>
                </a:solidFill>
                <a:latin typeface="Inter SemiBold"/>
              </a:rPr>
              <a:t>Fase 5</a:t>
            </a:r>
          </a:p>
        </p:txBody>
      </p:sp>
      <p:sp>
        <p:nvSpPr>
          <p:cNvPr id="81" name="!!ph5b"/>
          <p:cNvSpPr txBox="1"/>
          <p:nvPr/>
        </p:nvSpPr>
        <p:spPr>
          <a:xfrm>
            <a:off x="8293607" y="4736592"/>
            <a:ext cx="1655063" cy="685800"/>
          </a:xfrm>
          <a:prstGeom prst="rect">
            <a:avLst/>
          </a:prstGeom>
          <a:noFill/>
        </p:spPr>
        <p:txBody>
          <a:bodyPr wrap="square" lIns="0" tIns="0" rIns="0" bIns="0" anchor="t">
            <a:spAutoFit/>
          </a:bodyPr>
          <a:lstStyle/>
          <a:p>
            <a:pPr algn="l"/>
            <a:r>
              <a:rPr sz="1600" b="1">
                <a:solidFill>
                  <a:srgbClr val="FFFFFF"/>
                </a:solidFill>
                <a:latin typeface="Inter SemiBold"/>
              </a:rPr>
              <a:t>Adquisiciones</a:t>
            </a:r>
          </a:p>
        </p:txBody>
      </p:sp>
      <p:sp>
        <p:nvSpPr>
          <p:cNvPr id="82" name="!!ph5c"/>
          <p:cNvSpPr txBox="1"/>
          <p:nvPr/>
        </p:nvSpPr>
        <p:spPr>
          <a:xfrm>
            <a:off x="8293607" y="5468112"/>
            <a:ext cx="1655063" cy="320040"/>
          </a:xfrm>
          <a:prstGeom prst="rect">
            <a:avLst/>
          </a:prstGeom>
          <a:noFill/>
        </p:spPr>
        <p:txBody>
          <a:bodyPr wrap="square" lIns="0" tIns="0" rIns="0" bIns="0" anchor="t">
            <a:spAutoFit/>
          </a:bodyPr>
          <a:lstStyle/>
          <a:p>
            <a:pPr algn="l"/>
            <a:r>
              <a:rPr sz="1400" b="0">
                <a:solidFill>
                  <a:srgbClr val="FFFFFF"/>
                </a:solidFill>
                <a:latin typeface="Inter"/>
              </a:rPr>
              <a:t>4 CC · 13 PT</a:t>
            </a:r>
          </a:p>
        </p:txBody>
      </p:sp>
      <p:sp>
        <p:nvSpPr>
          <p:cNvPr id="83" name="!!ph5d"/>
          <p:cNvSpPr txBox="1"/>
          <p:nvPr/>
        </p:nvSpPr>
        <p:spPr>
          <a:xfrm>
            <a:off x="8293607" y="5879592"/>
            <a:ext cx="1655063" cy="411480"/>
          </a:xfrm>
          <a:prstGeom prst="rect">
            <a:avLst/>
          </a:prstGeom>
          <a:noFill/>
        </p:spPr>
        <p:txBody>
          <a:bodyPr wrap="square" lIns="0" tIns="0" rIns="0" bIns="0" anchor="t">
            <a:spAutoFit/>
          </a:bodyPr>
          <a:lstStyle/>
          <a:p>
            <a:pPr algn="l"/>
            <a:r>
              <a:rPr sz="1700" b="1">
                <a:solidFill>
                  <a:srgbClr val="FFFFFF"/>
                </a:solidFill>
                <a:latin typeface="Inter SemiBold"/>
              </a:rPr>
              <a:t>1.040 HH</a:t>
            </a:r>
          </a:p>
        </p:txBody>
      </p:sp>
      <p:cxnSp>
        <p:nvCxnSpPr>
          <p:cNvPr id="84" name="Connector 83"/>
          <p:cNvCxnSpPr/>
          <p:nvPr/>
        </p:nvCxnSpPr>
        <p:spPr>
          <a:xfrm>
            <a:off x="109728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 name="!!ph6"/>
          <p:cNvSpPr/>
          <p:nvPr/>
        </p:nvSpPr>
        <p:spPr>
          <a:xfrm>
            <a:off x="100812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6" name="!!ph6a"/>
          <p:cNvSpPr txBox="1"/>
          <p:nvPr/>
        </p:nvSpPr>
        <p:spPr>
          <a:xfrm>
            <a:off x="101909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6</a:t>
            </a:r>
          </a:p>
        </p:txBody>
      </p:sp>
      <p:sp>
        <p:nvSpPr>
          <p:cNvPr id="87" name="!!ph6b"/>
          <p:cNvSpPr txBox="1"/>
          <p:nvPr/>
        </p:nvSpPr>
        <p:spPr>
          <a:xfrm>
            <a:off x="101909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Infraestructura</a:t>
            </a:r>
          </a:p>
        </p:txBody>
      </p:sp>
      <p:sp>
        <p:nvSpPr>
          <p:cNvPr id="88" name="!!ph6c"/>
          <p:cNvSpPr txBox="1"/>
          <p:nvPr/>
        </p:nvSpPr>
        <p:spPr>
          <a:xfrm>
            <a:off x="101909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24 PT</a:t>
            </a:r>
          </a:p>
        </p:txBody>
      </p:sp>
      <p:sp>
        <p:nvSpPr>
          <p:cNvPr id="89" name="!!ph6d"/>
          <p:cNvSpPr txBox="1"/>
          <p:nvPr/>
        </p:nvSpPr>
        <p:spPr>
          <a:xfrm>
            <a:off x="101909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3.840 HH</a:t>
            </a:r>
          </a:p>
        </p:txBody>
      </p:sp>
      <p:cxnSp>
        <p:nvCxnSpPr>
          <p:cNvPr id="90" name="Connector 89"/>
          <p:cNvCxnSpPr/>
          <p:nvPr/>
        </p:nvCxnSpPr>
        <p:spPr>
          <a:xfrm>
            <a:off x="1282445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 name="!!ph7"/>
          <p:cNvSpPr/>
          <p:nvPr/>
        </p:nvSpPr>
        <p:spPr>
          <a:xfrm>
            <a:off x="1193291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2" name="!!ph7a"/>
          <p:cNvSpPr txBox="1"/>
          <p:nvPr/>
        </p:nvSpPr>
        <p:spPr>
          <a:xfrm>
            <a:off x="1204264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7</a:t>
            </a:r>
          </a:p>
        </p:txBody>
      </p:sp>
      <p:sp>
        <p:nvSpPr>
          <p:cNvPr id="93" name="!!ph7b"/>
          <p:cNvSpPr txBox="1"/>
          <p:nvPr/>
        </p:nvSpPr>
        <p:spPr>
          <a:xfrm>
            <a:off x="1204264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Capacitación y cambio</a:t>
            </a:r>
          </a:p>
        </p:txBody>
      </p:sp>
      <p:sp>
        <p:nvSpPr>
          <p:cNvPr id="94" name="!!ph7c"/>
          <p:cNvSpPr txBox="1"/>
          <p:nvPr/>
        </p:nvSpPr>
        <p:spPr>
          <a:xfrm>
            <a:off x="1204264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13 PT</a:t>
            </a:r>
          </a:p>
        </p:txBody>
      </p:sp>
      <p:sp>
        <p:nvSpPr>
          <p:cNvPr id="95" name="!!ph7d"/>
          <p:cNvSpPr txBox="1"/>
          <p:nvPr/>
        </p:nvSpPr>
        <p:spPr>
          <a:xfrm>
            <a:off x="1204264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4.736 HH</a:t>
            </a:r>
          </a:p>
        </p:txBody>
      </p:sp>
      <p:cxnSp>
        <p:nvCxnSpPr>
          <p:cNvPr id="96" name="Connector 95"/>
          <p:cNvCxnSpPr/>
          <p:nvPr/>
        </p:nvCxnSpPr>
        <p:spPr>
          <a:xfrm>
            <a:off x="146761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7" name="!!ph8"/>
          <p:cNvSpPr/>
          <p:nvPr/>
        </p:nvSpPr>
        <p:spPr>
          <a:xfrm>
            <a:off x="137845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8" name="!!ph8a"/>
          <p:cNvSpPr txBox="1"/>
          <p:nvPr/>
        </p:nvSpPr>
        <p:spPr>
          <a:xfrm>
            <a:off x="1389430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8</a:t>
            </a:r>
          </a:p>
        </p:txBody>
      </p:sp>
      <p:sp>
        <p:nvSpPr>
          <p:cNvPr id="99" name="!!ph8b"/>
          <p:cNvSpPr txBox="1"/>
          <p:nvPr/>
        </p:nvSpPr>
        <p:spPr>
          <a:xfrm>
            <a:off x="1389430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Operación y soporte</a:t>
            </a:r>
          </a:p>
        </p:txBody>
      </p:sp>
      <p:sp>
        <p:nvSpPr>
          <p:cNvPr id="100" name="!!ph8c"/>
          <p:cNvSpPr txBox="1"/>
          <p:nvPr/>
        </p:nvSpPr>
        <p:spPr>
          <a:xfrm>
            <a:off x="1389430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5 CC · 26 PT</a:t>
            </a:r>
          </a:p>
        </p:txBody>
      </p:sp>
      <p:sp>
        <p:nvSpPr>
          <p:cNvPr id="101" name="!!ph8d"/>
          <p:cNvSpPr txBox="1"/>
          <p:nvPr/>
        </p:nvSpPr>
        <p:spPr>
          <a:xfrm>
            <a:off x="1389430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129.879 HH</a:t>
            </a:r>
          </a:p>
        </p:txBody>
      </p:sp>
      <p:cxnSp>
        <p:nvCxnSpPr>
          <p:cNvPr id="102" name="Connector 101"/>
          <p:cNvCxnSpPr/>
          <p:nvPr/>
        </p:nvCxnSpPr>
        <p:spPr>
          <a:xfrm>
            <a:off x="1652778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 name="!!ph9"/>
          <p:cNvSpPr/>
          <p:nvPr/>
        </p:nvSpPr>
        <p:spPr>
          <a:xfrm>
            <a:off x="1563623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4" name="!!ph9a"/>
          <p:cNvSpPr txBox="1"/>
          <p:nvPr/>
        </p:nvSpPr>
        <p:spPr>
          <a:xfrm>
            <a:off x="1574596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9</a:t>
            </a:r>
          </a:p>
        </p:txBody>
      </p:sp>
      <p:sp>
        <p:nvSpPr>
          <p:cNvPr id="105" name="!!ph9b"/>
          <p:cNvSpPr txBox="1"/>
          <p:nvPr/>
        </p:nvSpPr>
        <p:spPr>
          <a:xfrm>
            <a:off x="1574596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Cierre</a:t>
            </a:r>
          </a:p>
        </p:txBody>
      </p:sp>
      <p:sp>
        <p:nvSpPr>
          <p:cNvPr id="106" name="!!ph9c"/>
          <p:cNvSpPr txBox="1"/>
          <p:nvPr/>
        </p:nvSpPr>
        <p:spPr>
          <a:xfrm>
            <a:off x="1574596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2 CC · 4 PT</a:t>
            </a:r>
          </a:p>
        </p:txBody>
      </p:sp>
      <p:sp>
        <p:nvSpPr>
          <p:cNvPr id="107" name="!!ph9d"/>
          <p:cNvSpPr txBox="1"/>
          <p:nvPr/>
        </p:nvSpPr>
        <p:spPr>
          <a:xfrm>
            <a:off x="1574596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320 HH</a:t>
            </a:r>
          </a:p>
        </p:txBody>
      </p:sp>
      <p:sp>
        <p:nvSpPr>
          <p:cNvPr id="108" name="TextBox 107"/>
          <p:cNvSpPr txBox="1"/>
          <p:nvPr/>
        </p:nvSpPr>
        <p:spPr>
          <a:xfrm>
            <a:off x="822960" y="6949440"/>
            <a:ext cx="16642080" cy="365760"/>
          </a:xfrm>
          <a:prstGeom prst="rect">
            <a:avLst/>
          </a:prstGeom>
          <a:noFill/>
        </p:spPr>
        <p:txBody>
          <a:bodyPr wrap="square" lIns="0" tIns="0" rIns="0" bIns="0" anchor="t">
            <a:spAutoFit/>
          </a:bodyPr>
          <a:lstStyle/>
          <a:p>
            <a:pPr algn="l"/>
            <a:r>
              <a:rPr sz="1600" b="1">
                <a:solidFill>
                  <a:srgbClr val="E8641B"/>
                </a:solidFill>
                <a:latin typeface="Inter SemiBold"/>
              </a:rPr>
              <a:t>FASE 5 · ADQUISICIONES · 4 CUENTAS DE CONTROL</a:t>
            </a:r>
          </a:p>
        </p:txBody>
      </p:sp>
      <p:sp>
        <p:nvSpPr>
          <p:cNvPr id="109" name="Rounded Rectangle 108"/>
          <p:cNvSpPr/>
          <p:nvPr/>
        </p:nvSpPr>
        <p:spPr>
          <a:xfrm>
            <a:off x="822960" y="7360920"/>
            <a:ext cx="405765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5.1 Hardware</a:t>
            </a:r>
          </a:p>
        </p:txBody>
      </p:sp>
      <p:sp>
        <p:nvSpPr>
          <p:cNvPr id="110" name="Rounded Rectangle 109"/>
          <p:cNvSpPr/>
          <p:nvPr/>
        </p:nvSpPr>
        <p:spPr>
          <a:xfrm>
            <a:off x="5017770" y="7360920"/>
            <a:ext cx="405765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5.2 Nube y licencias</a:t>
            </a:r>
          </a:p>
        </p:txBody>
      </p:sp>
      <p:sp>
        <p:nvSpPr>
          <p:cNvPr id="111" name="Rounded Rectangle 110"/>
          <p:cNvSpPr/>
          <p:nvPr/>
        </p:nvSpPr>
        <p:spPr>
          <a:xfrm>
            <a:off x="9212580" y="7360920"/>
            <a:ext cx="405765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5.3 Enlaces</a:t>
            </a:r>
          </a:p>
        </p:txBody>
      </p:sp>
      <p:sp>
        <p:nvSpPr>
          <p:cNvPr id="112" name="Rounded Rectangle 111"/>
          <p:cNvSpPr/>
          <p:nvPr/>
        </p:nvSpPr>
        <p:spPr>
          <a:xfrm>
            <a:off x="13407390" y="7360920"/>
            <a:ext cx="405765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5.4 Acuerdos con terceros</a:t>
            </a:r>
          </a:p>
        </p:txBody>
      </p:sp>
      <p:sp>
        <p:nvSpPr>
          <p:cNvPr id="113"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18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EDT: así se organiza el trabajo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9 fases · 49 cuentas de control · 222 paquetes de trabajo</a:t>
            </a:r>
          </a:p>
        </p:txBody>
      </p:sp>
      <p:sp>
        <p:nvSpPr>
          <p:cNvPr id="51" name="!!edt_root"/>
          <p:cNvSpPr/>
          <p:nvPr/>
        </p:nvSpPr>
        <p:spPr>
          <a:xfrm>
            <a:off x="6400800" y="3200400"/>
            <a:ext cx="5486400" cy="77724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Proyecto LafroX · 56 meses</a:t>
            </a:r>
          </a:p>
        </p:txBody>
      </p:sp>
      <p:cxnSp>
        <p:nvCxnSpPr>
          <p:cNvPr id="52" name="Connector 51"/>
          <p:cNvCxnSpPr/>
          <p:nvPr/>
        </p:nvCxnSpPr>
        <p:spPr>
          <a:xfrm>
            <a:off x="9144000" y="3977639"/>
            <a:ext cx="0" cy="24688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714500" y="4224528"/>
            <a:ext cx="1481328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7145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55" name="!!ph1"/>
          <p:cNvSpPr/>
          <p:nvPr/>
        </p:nvSpPr>
        <p:spPr>
          <a:xfrm>
            <a:off x="8229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6" name="!!ph1a"/>
          <p:cNvSpPr txBox="1"/>
          <p:nvPr/>
        </p:nvSpPr>
        <p:spPr>
          <a:xfrm>
            <a:off x="9326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1</a:t>
            </a:r>
          </a:p>
        </p:txBody>
      </p:sp>
      <p:sp>
        <p:nvSpPr>
          <p:cNvPr id="57" name="!!ph1b"/>
          <p:cNvSpPr txBox="1"/>
          <p:nvPr/>
        </p:nvSpPr>
        <p:spPr>
          <a:xfrm>
            <a:off x="9326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Inicio</a:t>
            </a:r>
          </a:p>
        </p:txBody>
      </p:sp>
      <p:sp>
        <p:nvSpPr>
          <p:cNvPr id="58" name="!!ph1c"/>
          <p:cNvSpPr txBox="1"/>
          <p:nvPr/>
        </p:nvSpPr>
        <p:spPr>
          <a:xfrm>
            <a:off x="9326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9 CC · 35 PT</a:t>
            </a:r>
          </a:p>
        </p:txBody>
      </p:sp>
      <p:sp>
        <p:nvSpPr>
          <p:cNvPr id="59" name="!!ph1d"/>
          <p:cNvSpPr txBox="1"/>
          <p:nvPr/>
        </p:nvSpPr>
        <p:spPr>
          <a:xfrm>
            <a:off x="9326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6.920 HH</a:t>
            </a:r>
          </a:p>
        </p:txBody>
      </p:sp>
      <p:cxnSp>
        <p:nvCxnSpPr>
          <p:cNvPr id="60" name="Connector 59"/>
          <p:cNvCxnSpPr/>
          <p:nvPr/>
        </p:nvCxnSpPr>
        <p:spPr>
          <a:xfrm>
            <a:off x="356616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1" name="!!ph2"/>
          <p:cNvSpPr/>
          <p:nvPr/>
        </p:nvSpPr>
        <p:spPr>
          <a:xfrm>
            <a:off x="267462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2" name="!!ph2a"/>
          <p:cNvSpPr txBox="1"/>
          <p:nvPr/>
        </p:nvSpPr>
        <p:spPr>
          <a:xfrm>
            <a:off x="278434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2</a:t>
            </a:r>
          </a:p>
        </p:txBody>
      </p:sp>
      <p:sp>
        <p:nvSpPr>
          <p:cNvPr id="63" name="!!ph2b"/>
          <p:cNvSpPr txBox="1"/>
          <p:nvPr/>
        </p:nvSpPr>
        <p:spPr>
          <a:xfrm>
            <a:off x="278434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Elaboración</a:t>
            </a:r>
          </a:p>
        </p:txBody>
      </p:sp>
      <p:sp>
        <p:nvSpPr>
          <p:cNvPr id="64" name="!!ph2c"/>
          <p:cNvSpPr txBox="1"/>
          <p:nvPr/>
        </p:nvSpPr>
        <p:spPr>
          <a:xfrm>
            <a:off x="278434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18 PT</a:t>
            </a:r>
          </a:p>
        </p:txBody>
      </p:sp>
      <p:sp>
        <p:nvSpPr>
          <p:cNvPr id="65" name="!!ph2d"/>
          <p:cNvSpPr txBox="1"/>
          <p:nvPr/>
        </p:nvSpPr>
        <p:spPr>
          <a:xfrm>
            <a:off x="278434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4.320 HH</a:t>
            </a:r>
          </a:p>
        </p:txBody>
      </p:sp>
      <p:cxnSp>
        <p:nvCxnSpPr>
          <p:cNvPr id="66" name="Connector 65"/>
          <p:cNvCxnSpPr/>
          <p:nvPr/>
        </p:nvCxnSpPr>
        <p:spPr>
          <a:xfrm>
            <a:off x="54178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7" name="!!ph3"/>
          <p:cNvSpPr/>
          <p:nvPr/>
        </p:nvSpPr>
        <p:spPr>
          <a:xfrm>
            <a:off x="45262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8" name="!!ph3a"/>
          <p:cNvSpPr txBox="1"/>
          <p:nvPr/>
        </p:nvSpPr>
        <p:spPr>
          <a:xfrm>
            <a:off x="463600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3</a:t>
            </a:r>
          </a:p>
        </p:txBody>
      </p:sp>
      <p:sp>
        <p:nvSpPr>
          <p:cNvPr id="69" name="!!ph3b"/>
          <p:cNvSpPr txBox="1"/>
          <p:nvPr/>
        </p:nvSpPr>
        <p:spPr>
          <a:xfrm>
            <a:off x="463600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Construcción</a:t>
            </a:r>
          </a:p>
        </p:txBody>
      </p:sp>
      <p:sp>
        <p:nvSpPr>
          <p:cNvPr id="70" name="!!ph3c"/>
          <p:cNvSpPr txBox="1"/>
          <p:nvPr/>
        </p:nvSpPr>
        <p:spPr>
          <a:xfrm>
            <a:off x="463600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11 CC · 79 PT</a:t>
            </a:r>
          </a:p>
        </p:txBody>
      </p:sp>
      <p:sp>
        <p:nvSpPr>
          <p:cNvPr id="71" name="!!ph3d"/>
          <p:cNvSpPr txBox="1"/>
          <p:nvPr/>
        </p:nvSpPr>
        <p:spPr>
          <a:xfrm>
            <a:off x="463600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33.280 HH</a:t>
            </a:r>
          </a:p>
        </p:txBody>
      </p:sp>
      <p:cxnSp>
        <p:nvCxnSpPr>
          <p:cNvPr id="72" name="Connector 71"/>
          <p:cNvCxnSpPr/>
          <p:nvPr/>
        </p:nvCxnSpPr>
        <p:spPr>
          <a:xfrm>
            <a:off x="726947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3" name="!!ph4"/>
          <p:cNvSpPr/>
          <p:nvPr/>
        </p:nvSpPr>
        <p:spPr>
          <a:xfrm>
            <a:off x="637794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4" name="!!ph4a"/>
          <p:cNvSpPr txBox="1"/>
          <p:nvPr/>
        </p:nvSpPr>
        <p:spPr>
          <a:xfrm>
            <a:off x="648766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4</a:t>
            </a:r>
          </a:p>
        </p:txBody>
      </p:sp>
      <p:sp>
        <p:nvSpPr>
          <p:cNvPr id="75" name="!!ph4b"/>
          <p:cNvSpPr txBox="1"/>
          <p:nvPr/>
        </p:nvSpPr>
        <p:spPr>
          <a:xfrm>
            <a:off x="648766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Transición</a:t>
            </a:r>
          </a:p>
        </p:txBody>
      </p:sp>
      <p:sp>
        <p:nvSpPr>
          <p:cNvPr id="76" name="!!ph4c"/>
          <p:cNvSpPr txBox="1"/>
          <p:nvPr/>
        </p:nvSpPr>
        <p:spPr>
          <a:xfrm>
            <a:off x="648766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10 PT</a:t>
            </a:r>
          </a:p>
        </p:txBody>
      </p:sp>
      <p:sp>
        <p:nvSpPr>
          <p:cNvPr id="77" name="!!ph4d"/>
          <p:cNvSpPr txBox="1"/>
          <p:nvPr/>
        </p:nvSpPr>
        <p:spPr>
          <a:xfrm>
            <a:off x="648766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20.672 HH</a:t>
            </a:r>
          </a:p>
        </p:txBody>
      </p:sp>
      <p:cxnSp>
        <p:nvCxnSpPr>
          <p:cNvPr id="78" name="Connector 77"/>
          <p:cNvCxnSpPr/>
          <p:nvPr/>
        </p:nvCxnSpPr>
        <p:spPr>
          <a:xfrm>
            <a:off x="912114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 name="!!ph5"/>
          <p:cNvSpPr/>
          <p:nvPr/>
        </p:nvSpPr>
        <p:spPr>
          <a:xfrm>
            <a:off x="822960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0" name="!!ph5a"/>
          <p:cNvSpPr txBox="1"/>
          <p:nvPr/>
        </p:nvSpPr>
        <p:spPr>
          <a:xfrm>
            <a:off x="833932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5</a:t>
            </a:r>
          </a:p>
        </p:txBody>
      </p:sp>
      <p:sp>
        <p:nvSpPr>
          <p:cNvPr id="81" name="!!ph5b"/>
          <p:cNvSpPr txBox="1"/>
          <p:nvPr/>
        </p:nvSpPr>
        <p:spPr>
          <a:xfrm>
            <a:off x="833932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Adquisiciones</a:t>
            </a:r>
          </a:p>
        </p:txBody>
      </p:sp>
      <p:sp>
        <p:nvSpPr>
          <p:cNvPr id="82" name="!!ph5c"/>
          <p:cNvSpPr txBox="1"/>
          <p:nvPr/>
        </p:nvSpPr>
        <p:spPr>
          <a:xfrm>
            <a:off x="833932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4 CC · 13 PT</a:t>
            </a:r>
          </a:p>
        </p:txBody>
      </p:sp>
      <p:sp>
        <p:nvSpPr>
          <p:cNvPr id="83" name="!!ph5d"/>
          <p:cNvSpPr txBox="1"/>
          <p:nvPr/>
        </p:nvSpPr>
        <p:spPr>
          <a:xfrm>
            <a:off x="833932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1.040 HH</a:t>
            </a:r>
          </a:p>
        </p:txBody>
      </p:sp>
      <p:cxnSp>
        <p:nvCxnSpPr>
          <p:cNvPr id="84" name="Connector 83"/>
          <p:cNvCxnSpPr/>
          <p:nvPr/>
        </p:nvCxnSpPr>
        <p:spPr>
          <a:xfrm>
            <a:off x="109728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 name="!!ph6"/>
          <p:cNvSpPr/>
          <p:nvPr/>
        </p:nvSpPr>
        <p:spPr>
          <a:xfrm>
            <a:off x="10035540" y="4325112"/>
            <a:ext cx="1874519" cy="2414015"/>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6" name="!!ph6a"/>
          <p:cNvSpPr txBox="1"/>
          <p:nvPr/>
        </p:nvSpPr>
        <p:spPr>
          <a:xfrm>
            <a:off x="10145267" y="4434840"/>
            <a:ext cx="1655063" cy="274320"/>
          </a:xfrm>
          <a:prstGeom prst="rect">
            <a:avLst/>
          </a:prstGeom>
          <a:noFill/>
        </p:spPr>
        <p:txBody>
          <a:bodyPr wrap="square" lIns="0" tIns="0" rIns="0" bIns="0" anchor="t">
            <a:spAutoFit/>
          </a:bodyPr>
          <a:lstStyle/>
          <a:p>
            <a:pPr algn="l"/>
            <a:r>
              <a:rPr sz="1500" b="1">
                <a:solidFill>
                  <a:srgbClr val="FFFFFF"/>
                </a:solidFill>
                <a:latin typeface="Inter SemiBold"/>
              </a:rPr>
              <a:t>Fase 6</a:t>
            </a:r>
          </a:p>
        </p:txBody>
      </p:sp>
      <p:sp>
        <p:nvSpPr>
          <p:cNvPr id="87" name="!!ph6b"/>
          <p:cNvSpPr txBox="1"/>
          <p:nvPr/>
        </p:nvSpPr>
        <p:spPr>
          <a:xfrm>
            <a:off x="10145267" y="4736592"/>
            <a:ext cx="1655063" cy="685800"/>
          </a:xfrm>
          <a:prstGeom prst="rect">
            <a:avLst/>
          </a:prstGeom>
          <a:noFill/>
        </p:spPr>
        <p:txBody>
          <a:bodyPr wrap="square" lIns="0" tIns="0" rIns="0" bIns="0" anchor="t">
            <a:spAutoFit/>
          </a:bodyPr>
          <a:lstStyle/>
          <a:p>
            <a:pPr algn="l"/>
            <a:r>
              <a:rPr sz="1600" b="1">
                <a:solidFill>
                  <a:srgbClr val="FFFFFF"/>
                </a:solidFill>
                <a:latin typeface="Inter SemiBold"/>
              </a:rPr>
              <a:t>Infraestructura</a:t>
            </a:r>
          </a:p>
        </p:txBody>
      </p:sp>
      <p:sp>
        <p:nvSpPr>
          <p:cNvPr id="88" name="!!ph6c"/>
          <p:cNvSpPr txBox="1"/>
          <p:nvPr/>
        </p:nvSpPr>
        <p:spPr>
          <a:xfrm>
            <a:off x="10145267" y="5468112"/>
            <a:ext cx="1655063" cy="320040"/>
          </a:xfrm>
          <a:prstGeom prst="rect">
            <a:avLst/>
          </a:prstGeom>
          <a:noFill/>
        </p:spPr>
        <p:txBody>
          <a:bodyPr wrap="square" lIns="0" tIns="0" rIns="0" bIns="0" anchor="t">
            <a:spAutoFit/>
          </a:bodyPr>
          <a:lstStyle/>
          <a:p>
            <a:pPr algn="l"/>
            <a:r>
              <a:rPr sz="1400" b="0">
                <a:solidFill>
                  <a:srgbClr val="FFFFFF"/>
                </a:solidFill>
                <a:latin typeface="Inter"/>
              </a:rPr>
              <a:t>6 CC · 24 PT</a:t>
            </a:r>
          </a:p>
        </p:txBody>
      </p:sp>
      <p:sp>
        <p:nvSpPr>
          <p:cNvPr id="89" name="!!ph6d"/>
          <p:cNvSpPr txBox="1"/>
          <p:nvPr/>
        </p:nvSpPr>
        <p:spPr>
          <a:xfrm>
            <a:off x="10145267" y="5879592"/>
            <a:ext cx="1655063" cy="411480"/>
          </a:xfrm>
          <a:prstGeom prst="rect">
            <a:avLst/>
          </a:prstGeom>
          <a:noFill/>
        </p:spPr>
        <p:txBody>
          <a:bodyPr wrap="square" lIns="0" tIns="0" rIns="0" bIns="0" anchor="t">
            <a:spAutoFit/>
          </a:bodyPr>
          <a:lstStyle/>
          <a:p>
            <a:pPr algn="l"/>
            <a:r>
              <a:rPr sz="1700" b="1">
                <a:solidFill>
                  <a:srgbClr val="FFFFFF"/>
                </a:solidFill>
                <a:latin typeface="Inter SemiBold"/>
              </a:rPr>
              <a:t>3.840 HH</a:t>
            </a:r>
          </a:p>
        </p:txBody>
      </p:sp>
      <p:cxnSp>
        <p:nvCxnSpPr>
          <p:cNvPr id="90" name="Connector 89"/>
          <p:cNvCxnSpPr/>
          <p:nvPr/>
        </p:nvCxnSpPr>
        <p:spPr>
          <a:xfrm>
            <a:off x="1282445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 name="!!ph7"/>
          <p:cNvSpPr/>
          <p:nvPr/>
        </p:nvSpPr>
        <p:spPr>
          <a:xfrm>
            <a:off x="1193291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2" name="!!ph7a"/>
          <p:cNvSpPr txBox="1"/>
          <p:nvPr/>
        </p:nvSpPr>
        <p:spPr>
          <a:xfrm>
            <a:off x="1204264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7</a:t>
            </a:r>
          </a:p>
        </p:txBody>
      </p:sp>
      <p:sp>
        <p:nvSpPr>
          <p:cNvPr id="93" name="!!ph7b"/>
          <p:cNvSpPr txBox="1"/>
          <p:nvPr/>
        </p:nvSpPr>
        <p:spPr>
          <a:xfrm>
            <a:off x="1204264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Capacitación y cambio</a:t>
            </a:r>
          </a:p>
        </p:txBody>
      </p:sp>
      <p:sp>
        <p:nvSpPr>
          <p:cNvPr id="94" name="!!ph7c"/>
          <p:cNvSpPr txBox="1"/>
          <p:nvPr/>
        </p:nvSpPr>
        <p:spPr>
          <a:xfrm>
            <a:off x="1204264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13 PT</a:t>
            </a:r>
          </a:p>
        </p:txBody>
      </p:sp>
      <p:sp>
        <p:nvSpPr>
          <p:cNvPr id="95" name="!!ph7d"/>
          <p:cNvSpPr txBox="1"/>
          <p:nvPr/>
        </p:nvSpPr>
        <p:spPr>
          <a:xfrm>
            <a:off x="1204264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4.736 HH</a:t>
            </a:r>
          </a:p>
        </p:txBody>
      </p:sp>
      <p:cxnSp>
        <p:nvCxnSpPr>
          <p:cNvPr id="96" name="Connector 95"/>
          <p:cNvCxnSpPr/>
          <p:nvPr/>
        </p:nvCxnSpPr>
        <p:spPr>
          <a:xfrm>
            <a:off x="146761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7" name="!!ph8"/>
          <p:cNvSpPr/>
          <p:nvPr/>
        </p:nvSpPr>
        <p:spPr>
          <a:xfrm>
            <a:off x="137845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8" name="!!ph8a"/>
          <p:cNvSpPr txBox="1"/>
          <p:nvPr/>
        </p:nvSpPr>
        <p:spPr>
          <a:xfrm>
            <a:off x="1389430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8</a:t>
            </a:r>
          </a:p>
        </p:txBody>
      </p:sp>
      <p:sp>
        <p:nvSpPr>
          <p:cNvPr id="99" name="!!ph8b"/>
          <p:cNvSpPr txBox="1"/>
          <p:nvPr/>
        </p:nvSpPr>
        <p:spPr>
          <a:xfrm>
            <a:off x="1389430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Operación y soporte</a:t>
            </a:r>
          </a:p>
        </p:txBody>
      </p:sp>
      <p:sp>
        <p:nvSpPr>
          <p:cNvPr id="100" name="!!ph8c"/>
          <p:cNvSpPr txBox="1"/>
          <p:nvPr/>
        </p:nvSpPr>
        <p:spPr>
          <a:xfrm>
            <a:off x="1389430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5 CC · 26 PT</a:t>
            </a:r>
          </a:p>
        </p:txBody>
      </p:sp>
      <p:sp>
        <p:nvSpPr>
          <p:cNvPr id="101" name="!!ph8d"/>
          <p:cNvSpPr txBox="1"/>
          <p:nvPr/>
        </p:nvSpPr>
        <p:spPr>
          <a:xfrm>
            <a:off x="1389430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129.879 HH</a:t>
            </a:r>
          </a:p>
        </p:txBody>
      </p:sp>
      <p:cxnSp>
        <p:nvCxnSpPr>
          <p:cNvPr id="102" name="Connector 101"/>
          <p:cNvCxnSpPr/>
          <p:nvPr/>
        </p:nvCxnSpPr>
        <p:spPr>
          <a:xfrm>
            <a:off x="1652778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 name="!!ph9"/>
          <p:cNvSpPr/>
          <p:nvPr/>
        </p:nvSpPr>
        <p:spPr>
          <a:xfrm>
            <a:off x="1563623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4" name="!!ph9a"/>
          <p:cNvSpPr txBox="1"/>
          <p:nvPr/>
        </p:nvSpPr>
        <p:spPr>
          <a:xfrm>
            <a:off x="1574596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9</a:t>
            </a:r>
          </a:p>
        </p:txBody>
      </p:sp>
      <p:sp>
        <p:nvSpPr>
          <p:cNvPr id="105" name="!!ph9b"/>
          <p:cNvSpPr txBox="1"/>
          <p:nvPr/>
        </p:nvSpPr>
        <p:spPr>
          <a:xfrm>
            <a:off x="1574596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Cierre</a:t>
            </a:r>
          </a:p>
        </p:txBody>
      </p:sp>
      <p:sp>
        <p:nvSpPr>
          <p:cNvPr id="106" name="!!ph9c"/>
          <p:cNvSpPr txBox="1"/>
          <p:nvPr/>
        </p:nvSpPr>
        <p:spPr>
          <a:xfrm>
            <a:off x="1574596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2 CC · 4 PT</a:t>
            </a:r>
          </a:p>
        </p:txBody>
      </p:sp>
      <p:sp>
        <p:nvSpPr>
          <p:cNvPr id="107" name="!!ph9d"/>
          <p:cNvSpPr txBox="1"/>
          <p:nvPr/>
        </p:nvSpPr>
        <p:spPr>
          <a:xfrm>
            <a:off x="1574596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320 HH</a:t>
            </a:r>
          </a:p>
        </p:txBody>
      </p:sp>
      <p:sp>
        <p:nvSpPr>
          <p:cNvPr id="108" name="TextBox 107"/>
          <p:cNvSpPr txBox="1"/>
          <p:nvPr/>
        </p:nvSpPr>
        <p:spPr>
          <a:xfrm>
            <a:off x="822960" y="6949440"/>
            <a:ext cx="16642080" cy="365760"/>
          </a:xfrm>
          <a:prstGeom prst="rect">
            <a:avLst/>
          </a:prstGeom>
          <a:noFill/>
        </p:spPr>
        <p:txBody>
          <a:bodyPr wrap="square" lIns="0" tIns="0" rIns="0" bIns="0" anchor="t">
            <a:spAutoFit/>
          </a:bodyPr>
          <a:lstStyle/>
          <a:p>
            <a:pPr algn="l"/>
            <a:r>
              <a:rPr sz="1600" b="1">
                <a:solidFill>
                  <a:srgbClr val="E8641B"/>
                </a:solidFill>
                <a:latin typeface="Inter SemiBold"/>
              </a:rPr>
              <a:t>FASE 6 · INFRAESTRUCTURA · 6 CUENTAS DE CONTROL</a:t>
            </a:r>
          </a:p>
        </p:txBody>
      </p:sp>
      <p:sp>
        <p:nvSpPr>
          <p:cNvPr id="109" name="Rounded Rectangle 108"/>
          <p:cNvSpPr/>
          <p:nvPr/>
        </p:nvSpPr>
        <p:spPr>
          <a:xfrm>
            <a:off x="822960"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6.1 Sala técnica Talca</a:t>
            </a:r>
          </a:p>
        </p:txBody>
      </p:sp>
      <p:sp>
        <p:nvSpPr>
          <p:cNvPr id="110" name="Rounded Rectangle 109"/>
          <p:cNvSpPr/>
          <p:nvPr/>
        </p:nvSpPr>
        <p:spPr>
          <a:xfrm>
            <a:off x="3619499"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6.2 Cableado</a:t>
            </a:r>
          </a:p>
        </p:txBody>
      </p:sp>
      <p:sp>
        <p:nvSpPr>
          <p:cNvPr id="111" name="Rounded Rectangle 110"/>
          <p:cNvSpPr/>
          <p:nvPr/>
        </p:nvSpPr>
        <p:spPr>
          <a:xfrm>
            <a:off x="6416040"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6.3 Racks y gabinetes</a:t>
            </a:r>
          </a:p>
        </p:txBody>
      </p:sp>
      <p:sp>
        <p:nvSpPr>
          <p:cNvPr id="112" name="Rounded Rectangle 111"/>
          <p:cNvSpPr/>
          <p:nvPr/>
        </p:nvSpPr>
        <p:spPr>
          <a:xfrm>
            <a:off x="9212580"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6.4 Seguridad física</a:t>
            </a:r>
          </a:p>
        </p:txBody>
      </p:sp>
      <p:sp>
        <p:nvSpPr>
          <p:cNvPr id="113" name="Rounded Rectangle 112"/>
          <p:cNvSpPr/>
          <p:nvPr/>
        </p:nvSpPr>
        <p:spPr>
          <a:xfrm>
            <a:off x="12009120"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6.5 Equipamiento de campo</a:t>
            </a:r>
          </a:p>
        </p:txBody>
      </p:sp>
      <p:sp>
        <p:nvSpPr>
          <p:cNvPr id="114" name="Rounded Rectangle 113"/>
          <p:cNvSpPr/>
          <p:nvPr/>
        </p:nvSpPr>
        <p:spPr>
          <a:xfrm>
            <a:off x="14805660" y="7360920"/>
            <a:ext cx="265938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6.6 Configuración de sitios</a:t>
            </a:r>
          </a:p>
        </p:txBody>
      </p:sp>
      <p:sp>
        <p:nvSpPr>
          <p:cNvPr id="11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19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EDT: así se organiza el trabajo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9 fases · 49 cuentas de control · 222 paquetes de trabajo</a:t>
            </a:r>
          </a:p>
        </p:txBody>
      </p:sp>
      <p:sp>
        <p:nvSpPr>
          <p:cNvPr id="51" name="!!edt_root"/>
          <p:cNvSpPr/>
          <p:nvPr/>
        </p:nvSpPr>
        <p:spPr>
          <a:xfrm>
            <a:off x="6400800" y="3200400"/>
            <a:ext cx="5486400" cy="77724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Proyecto LafroX · 56 meses</a:t>
            </a:r>
          </a:p>
        </p:txBody>
      </p:sp>
      <p:cxnSp>
        <p:nvCxnSpPr>
          <p:cNvPr id="52" name="Connector 51"/>
          <p:cNvCxnSpPr/>
          <p:nvPr/>
        </p:nvCxnSpPr>
        <p:spPr>
          <a:xfrm>
            <a:off x="9144000" y="3977639"/>
            <a:ext cx="0" cy="24688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714500" y="4224528"/>
            <a:ext cx="1481328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7145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55" name="!!ph1"/>
          <p:cNvSpPr/>
          <p:nvPr/>
        </p:nvSpPr>
        <p:spPr>
          <a:xfrm>
            <a:off x="8229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6" name="!!ph1a"/>
          <p:cNvSpPr txBox="1"/>
          <p:nvPr/>
        </p:nvSpPr>
        <p:spPr>
          <a:xfrm>
            <a:off x="9326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1</a:t>
            </a:r>
          </a:p>
        </p:txBody>
      </p:sp>
      <p:sp>
        <p:nvSpPr>
          <p:cNvPr id="57" name="!!ph1b"/>
          <p:cNvSpPr txBox="1"/>
          <p:nvPr/>
        </p:nvSpPr>
        <p:spPr>
          <a:xfrm>
            <a:off x="9326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Inicio</a:t>
            </a:r>
          </a:p>
        </p:txBody>
      </p:sp>
      <p:sp>
        <p:nvSpPr>
          <p:cNvPr id="58" name="!!ph1c"/>
          <p:cNvSpPr txBox="1"/>
          <p:nvPr/>
        </p:nvSpPr>
        <p:spPr>
          <a:xfrm>
            <a:off x="9326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9 CC · 35 PT</a:t>
            </a:r>
          </a:p>
        </p:txBody>
      </p:sp>
      <p:sp>
        <p:nvSpPr>
          <p:cNvPr id="59" name="!!ph1d"/>
          <p:cNvSpPr txBox="1"/>
          <p:nvPr/>
        </p:nvSpPr>
        <p:spPr>
          <a:xfrm>
            <a:off x="9326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6.920 HH</a:t>
            </a:r>
          </a:p>
        </p:txBody>
      </p:sp>
      <p:cxnSp>
        <p:nvCxnSpPr>
          <p:cNvPr id="60" name="Connector 59"/>
          <p:cNvCxnSpPr/>
          <p:nvPr/>
        </p:nvCxnSpPr>
        <p:spPr>
          <a:xfrm>
            <a:off x="356616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1" name="!!ph2"/>
          <p:cNvSpPr/>
          <p:nvPr/>
        </p:nvSpPr>
        <p:spPr>
          <a:xfrm>
            <a:off x="267462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2" name="!!ph2a"/>
          <p:cNvSpPr txBox="1"/>
          <p:nvPr/>
        </p:nvSpPr>
        <p:spPr>
          <a:xfrm>
            <a:off x="278434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2</a:t>
            </a:r>
          </a:p>
        </p:txBody>
      </p:sp>
      <p:sp>
        <p:nvSpPr>
          <p:cNvPr id="63" name="!!ph2b"/>
          <p:cNvSpPr txBox="1"/>
          <p:nvPr/>
        </p:nvSpPr>
        <p:spPr>
          <a:xfrm>
            <a:off x="278434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Elaboración</a:t>
            </a:r>
          </a:p>
        </p:txBody>
      </p:sp>
      <p:sp>
        <p:nvSpPr>
          <p:cNvPr id="64" name="!!ph2c"/>
          <p:cNvSpPr txBox="1"/>
          <p:nvPr/>
        </p:nvSpPr>
        <p:spPr>
          <a:xfrm>
            <a:off x="278434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18 PT</a:t>
            </a:r>
          </a:p>
        </p:txBody>
      </p:sp>
      <p:sp>
        <p:nvSpPr>
          <p:cNvPr id="65" name="!!ph2d"/>
          <p:cNvSpPr txBox="1"/>
          <p:nvPr/>
        </p:nvSpPr>
        <p:spPr>
          <a:xfrm>
            <a:off x="278434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4.320 HH</a:t>
            </a:r>
          </a:p>
        </p:txBody>
      </p:sp>
      <p:cxnSp>
        <p:nvCxnSpPr>
          <p:cNvPr id="66" name="Connector 65"/>
          <p:cNvCxnSpPr/>
          <p:nvPr/>
        </p:nvCxnSpPr>
        <p:spPr>
          <a:xfrm>
            <a:off x="54178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7" name="!!ph3"/>
          <p:cNvSpPr/>
          <p:nvPr/>
        </p:nvSpPr>
        <p:spPr>
          <a:xfrm>
            <a:off x="45262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8" name="!!ph3a"/>
          <p:cNvSpPr txBox="1"/>
          <p:nvPr/>
        </p:nvSpPr>
        <p:spPr>
          <a:xfrm>
            <a:off x="463600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3</a:t>
            </a:r>
          </a:p>
        </p:txBody>
      </p:sp>
      <p:sp>
        <p:nvSpPr>
          <p:cNvPr id="69" name="!!ph3b"/>
          <p:cNvSpPr txBox="1"/>
          <p:nvPr/>
        </p:nvSpPr>
        <p:spPr>
          <a:xfrm>
            <a:off x="463600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Construcción</a:t>
            </a:r>
          </a:p>
        </p:txBody>
      </p:sp>
      <p:sp>
        <p:nvSpPr>
          <p:cNvPr id="70" name="!!ph3c"/>
          <p:cNvSpPr txBox="1"/>
          <p:nvPr/>
        </p:nvSpPr>
        <p:spPr>
          <a:xfrm>
            <a:off x="463600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11 CC · 79 PT</a:t>
            </a:r>
          </a:p>
        </p:txBody>
      </p:sp>
      <p:sp>
        <p:nvSpPr>
          <p:cNvPr id="71" name="!!ph3d"/>
          <p:cNvSpPr txBox="1"/>
          <p:nvPr/>
        </p:nvSpPr>
        <p:spPr>
          <a:xfrm>
            <a:off x="463600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33.280 HH</a:t>
            </a:r>
          </a:p>
        </p:txBody>
      </p:sp>
      <p:cxnSp>
        <p:nvCxnSpPr>
          <p:cNvPr id="72" name="Connector 71"/>
          <p:cNvCxnSpPr/>
          <p:nvPr/>
        </p:nvCxnSpPr>
        <p:spPr>
          <a:xfrm>
            <a:off x="726947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3" name="!!ph4"/>
          <p:cNvSpPr/>
          <p:nvPr/>
        </p:nvSpPr>
        <p:spPr>
          <a:xfrm>
            <a:off x="637794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4" name="!!ph4a"/>
          <p:cNvSpPr txBox="1"/>
          <p:nvPr/>
        </p:nvSpPr>
        <p:spPr>
          <a:xfrm>
            <a:off x="648766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4</a:t>
            </a:r>
          </a:p>
        </p:txBody>
      </p:sp>
      <p:sp>
        <p:nvSpPr>
          <p:cNvPr id="75" name="!!ph4b"/>
          <p:cNvSpPr txBox="1"/>
          <p:nvPr/>
        </p:nvSpPr>
        <p:spPr>
          <a:xfrm>
            <a:off x="648766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Transición</a:t>
            </a:r>
          </a:p>
        </p:txBody>
      </p:sp>
      <p:sp>
        <p:nvSpPr>
          <p:cNvPr id="76" name="!!ph4c"/>
          <p:cNvSpPr txBox="1"/>
          <p:nvPr/>
        </p:nvSpPr>
        <p:spPr>
          <a:xfrm>
            <a:off x="648766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10 PT</a:t>
            </a:r>
          </a:p>
        </p:txBody>
      </p:sp>
      <p:sp>
        <p:nvSpPr>
          <p:cNvPr id="77" name="!!ph4d"/>
          <p:cNvSpPr txBox="1"/>
          <p:nvPr/>
        </p:nvSpPr>
        <p:spPr>
          <a:xfrm>
            <a:off x="648766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20.672 HH</a:t>
            </a:r>
          </a:p>
        </p:txBody>
      </p:sp>
      <p:cxnSp>
        <p:nvCxnSpPr>
          <p:cNvPr id="78" name="Connector 77"/>
          <p:cNvCxnSpPr/>
          <p:nvPr/>
        </p:nvCxnSpPr>
        <p:spPr>
          <a:xfrm>
            <a:off x="912114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 name="!!ph5"/>
          <p:cNvSpPr/>
          <p:nvPr/>
        </p:nvSpPr>
        <p:spPr>
          <a:xfrm>
            <a:off x="822960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0" name="!!ph5a"/>
          <p:cNvSpPr txBox="1"/>
          <p:nvPr/>
        </p:nvSpPr>
        <p:spPr>
          <a:xfrm>
            <a:off x="833932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5</a:t>
            </a:r>
          </a:p>
        </p:txBody>
      </p:sp>
      <p:sp>
        <p:nvSpPr>
          <p:cNvPr id="81" name="!!ph5b"/>
          <p:cNvSpPr txBox="1"/>
          <p:nvPr/>
        </p:nvSpPr>
        <p:spPr>
          <a:xfrm>
            <a:off x="833932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Adquisiciones</a:t>
            </a:r>
          </a:p>
        </p:txBody>
      </p:sp>
      <p:sp>
        <p:nvSpPr>
          <p:cNvPr id="82" name="!!ph5c"/>
          <p:cNvSpPr txBox="1"/>
          <p:nvPr/>
        </p:nvSpPr>
        <p:spPr>
          <a:xfrm>
            <a:off x="833932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4 CC · 13 PT</a:t>
            </a:r>
          </a:p>
        </p:txBody>
      </p:sp>
      <p:sp>
        <p:nvSpPr>
          <p:cNvPr id="83" name="!!ph5d"/>
          <p:cNvSpPr txBox="1"/>
          <p:nvPr/>
        </p:nvSpPr>
        <p:spPr>
          <a:xfrm>
            <a:off x="833932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1.040 HH</a:t>
            </a:r>
          </a:p>
        </p:txBody>
      </p:sp>
      <p:cxnSp>
        <p:nvCxnSpPr>
          <p:cNvPr id="84" name="Connector 83"/>
          <p:cNvCxnSpPr/>
          <p:nvPr/>
        </p:nvCxnSpPr>
        <p:spPr>
          <a:xfrm>
            <a:off x="109728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 name="!!ph6"/>
          <p:cNvSpPr/>
          <p:nvPr/>
        </p:nvSpPr>
        <p:spPr>
          <a:xfrm>
            <a:off x="100812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6" name="!!ph6a"/>
          <p:cNvSpPr txBox="1"/>
          <p:nvPr/>
        </p:nvSpPr>
        <p:spPr>
          <a:xfrm>
            <a:off x="101909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6</a:t>
            </a:r>
          </a:p>
        </p:txBody>
      </p:sp>
      <p:sp>
        <p:nvSpPr>
          <p:cNvPr id="87" name="!!ph6b"/>
          <p:cNvSpPr txBox="1"/>
          <p:nvPr/>
        </p:nvSpPr>
        <p:spPr>
          <a:xfrm>
            <a:off x="101909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Infraestructura</a:t>
            </a:r>
          </a:p>
        </p:txBody>
      </p:sp>
      <p:sp>
        <p:nvSpPr>
          <p:cNvPr id="88" name="!!ph6c"/>
          <p:cNvSpPr txBox="1"/>
          <p:nvPr/>
        </p:nvSpPr>
        <p:spPr>
          <a:xfrm>
            <a:off x="101909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24 PT</a:t>
            </a:r>
          </a:p>
        </p:txBody>
      </p:sp>
      <p:sp>
        <p:nvSpPr>
          <p:cNvPr id="89" name="!!ph6d"/>
          <p:cNvSpPr txBox="1"/>
          <p:nvPr/>
        </p:nvSpPr>
        <p:spPr>
          <a:xfrm>
            <a:off x="101909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3.840 HH</a:t>
            </a:r>
          </a:p>
        </p:txBody>
      </p:sp>
      <p:cxnSp>
        <p:nvCxnSpPr>
          <p:cNvPr id="90" name="Connector 89"/>
          <p:cNvCxnSpPr/>
          <p:nvPr/>
        </p:nvCxnSpPr>
        <p:spPr>
          <a:xfrm>
            <a:off x="1282445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 name="!!ph7"/>
          <p:cNvSpPr/>
          <p:nvPr/>
        </p:nvSpPr>
        <p:spPr>
          <a:xfrm>
            <a:off x="11887199" y="4325112"/>
            <a:ext cx="1874519" cy="2414015"/>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2" name="!!ph7a"/>
          <p:cNvSpPr txBox="1"/>
          <p:nvPr/>
        </p:nvSpPr>
        <p:spPr>
          <a:xfrm>
            <a:off x="11996927" y="4434840"/>
            <a:ext cx="1655063" cy="274320"/>
          </a:xfrm>
          <a:prstGeom prst="rect">
            <a:avLst/>
          </a:prstGeom>
          <a:noFill/>
        </p:spPr>
        <p:txBody>
          <a:bodyPr wrap="square" lIns="0" tIns="0" rIns="0" bIns="0" anchor="t">
            <a:spAutoFit/>
          </a:bodyPr>
          <a:lstStyle/>
          <a:p>
            <a:pPr algn="l"/>
            <a:r>
              <a:rPr sz="1500" b="1">
                <a:solidFill>
                  <a:srgbClr val="FFFFFF"/>
                </a:solidFill>
                <a:latin typeface="Inter SemiBold"/>
              </a:rPr>
              <a:t>Fase 7</a:t>
            </a:r>
          </a:p>
        </p:txBody>
      </p:sp>
      <p:sp>
        <p:nvSpPr>
          <p:cNvPr id="93" name="!!ph7b"/>
          <p:cNvSpPr txBox="1"/>
          <p:nvPr/>
        </p:nvSpPr>
        <p:spPr>
          <a:xfrm>
            <a:off x="11996927" y="4736592"/>
            <a:ext cx="1655063" cy="685800"/>
          </a:xfrm>
          <a:prstGeom prst="rect">
            <a:avLst/>
          </a:prstGeom>
          <a:noFill/>
        </p:spPr>
        <p:txBody>
          <a:bodyPr wrap="square" lIns="0" tIns="0" rIns="0" bIns="0" anchor="t">
            <a:spAutoFit/>
          </a:bodyPr>
          <a:lstStyle/>
          <a:p>
            <a:pPr algn="l"/>
            <a:r>
              <a:rPr sz="1600" b="1">
                <a:solidFill>
                  <a:srgbClr val="FFFFFF"/>
                </a:solidFill>
                <a:latin typeface="Inter SemiBold"/>
              </a:rPr>
              <a:t>Capacitación y cambio</a:t>
            </a:r>
          </a:p>
        </p:txBody>
      </p:sp>
      <p:sp>
        <p:nvSpPr>
          <p:cNvPr id="94" name="!!ph7c"/>
          <p:cNvSpPr txBox="1"/>
          <p:nvPr/>
        </p:nvSpPr>
        <p:spPr>
          <a:xfrm>
            <a:off x="11996927" y="5468112"/>
            <a:ext cx="1655063" cy="320040"/>
          </a:xfrm>
          <a:prstGeom prst="rect">
            <a:avLst/>
          </a:prstGeom>
          <a:noFill/>
        </p:spPr>
        <p:txBody>
          <a:bodyPr wrap="square" lIns="0" tIns="0" rIns="0" bIns="0" anchor="t">
            <a:spAutoFit/>
          </a:bodyPr>
          <a:lstStyle/>
          <a:p>
            <a:pPr algn="l"/>
            <a:r>
              <a:rPr sz="1400" b="0">
                <a:solidFill>
                  <a:srgbClr val="FFFFFF"/>
                </a:solidFill>
                <a:latin typeface="Inter"/>
              </a:rPr>
              <a:t>3 CC · 13 PT</a:t>
            </a:r>
          </a:p>
        </p:txBody>
      </p:sp>
      <p:sp>
        <p:nvSpPr>
          <p:cNvPr id="95" name="!!ph7d"/>
          <p:cNvSpPr txBox="1"/>
          <p:nvPr/>
        </p:nvSpPr>
        <p:spPr>
          <a:xfrm>
            <a:off x="11996927" y="5879592"/>
            <a:ext cx="1655063" cy="411480"/>
          </a:xfrm>
          <a:prstGeom prst="rect">
            <a:avLst/>
          </a:prstGeom>
          <a:noFill/>
        </p:spPr>
        <p:txBody>
          <a:bodyPr wrap="square" lIns="0" tIns="0" rIns="0" bIns="0" anchor="t">
            <a:spAutoFit/>
          </a:bodyPr>
          <a:lstStyle/>
          <a:p>
            <a:pPr algn="l"/>
            <a:r>
              <a:rPr sz="1700" b="1">
                <a:solidFill>
                  <a:srgbClr val="FFFFFF"/>
                </a:solidFill>
                <a:latin typeface="Inter SemiBold"/>
              </a:rPr>
              <a:t>4.736 HH</a:t>
            </a:r>
          </a:p>
        </p:txBody>
      </p:sp>
      <p:cxnSp>
        <p:nvCxnSpPr>
          <p:cNvPr id="96" name="Connector 95"/>
          <p:cNvCxnSpPr/>
          <p:nvPr/>
        </p:nvCxnSpPr>
        <p:spPr>
          <a:xfrm>
            <a:off x="146761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7" name="!!ph8"/>
          <p:cNvSpPr/>
          <p:nvPr/>
        </p:nvSpPr>
        <p:spPr>
          <a:xfrm>
            <a:off x="137845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8" name="!!ph8a"/>
          <p:cNvSpPr txBox="1"/>
          <p:nvPr/>
        </p:nvSpPr>
        <p:spPr>
          <a:xfrm>
            <a:off x="1389430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8</a:t>
            </a:r>
          </a:p>
        </p:txBody>
      </p:sp>
      <p:sp>
        <p:nvSpPr>
          <p:cNvPr id="99" name="!!ph8b"/>
          <p:cNvSpPr txBox="1"/>
          <p:nvPr/>
        </p:nvSpPr>
        <p:spPr>
          <a:xfrm>
            <a:off x="1389430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Operación y soporte</a:t>
            </a:r>
          </a:p>
        </p:txBody>
      </p:sp>
      <p:sp>
        <p:nvSpPr>
          <p:cNvPr id="100" name="!!ph8c"/>
          <p:cNvSpPr txBox="1"/>
          <p:nvPr/>
        </p:nvSpPr>
        <p:spPr>
          <a:xfrm>
            <a:off x="1389430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5 CC · 26 PT</a:t>
            </a:r>
          </a:p>
        </p:txBody>
      </p:sp>
      <p:sp>
        <p:nvSpPr>
          <p:cNvPr id="101" name="!!ph8d"/>
          <p:cNvSpPr txBox="1"/>
          <p:nvPr/>
        </p:nvSpPr>
        <p:spPr>
          <a:xfrm>
            <a:off x="1389430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129.879 HH</a:t>
            </a:r>
          </a:p>
        </p:txBody>
      </p:sp>
      <p:cxnSp>
        <p:nvCxnSpPr>
          <p:cNvPr id="102" name="Connector 101"/>
          <p:cNvCxnSpPr/>
          <p:nvPr/>
        </p:nvCxnSpPr>
        <p:spPr>
          <a:xfrm>
            <a:off x="1652778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 name="!!ph9"/>
          <p:cNvSpPr/>
          <p:nvPr/>
        </p:nvSpPr>
        <p:spPr>
          <a:xfrm>
            <a:off x="1563623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4" name="!!ph9a"/>
          <p:cNvSpPr txBox="1"/>
          <p:nvPr/>
        </p:nvSpPr>
        <p:spPr>
          <a:xfrm>
            <a:off x="1574596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9</a:t>
            </a:r>
          </a:p>
        </p:txBody>
      </p:sp>
      <p:sp>
        <p:nvSpPr>
          <p:cNvPr id="105" name="!!ph9b"/>
          <p:cNvSpPr txBox="1"/>
          <p:nvPr/>
        </p:nvSpPr>
        <p:spPr>
          <a:xfrm>
            <a:off x="1574596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Cierre</a:t>
            </a:r>
          </a:p>
        </p:txBody>
      </p:sp>
      <p:sp>
        <p:nvSpPr>
          <p:cNvPr id="106" name="!!ph9c"/>
          <p:cNvSpPr txBox="1"/>
          <p:nvPr/>
        </p:nvSpPr>
        <p:spPr>
          <a:xfrm>
            <a:off x="1574596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2 CC · 4 PT</a:t>
            </a:r>
          </a:p>
        </p:txBody>
      </p:sp>
      <p:sp>
        <p:nvSpPr>
          <p:cNvPr id="107" name="!!ph9d"/>
          <p:cNvSpPr txBox="1"/>
          <p:nvPr/>
        </p:nvSpPr>
        <p:spPr>
          <a:xfrm>
            <a:off x="1574596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320 HH</a:t>
            </a:r>
          </a:p>
        </p:txBody>
      </p:sp>
      <p:sp>
        <p:nvSpPr>
          <p:cNvPr id="108" name="TextBox 107"/>
          <p:cNvSpPr txBox="1"/>
          <p:nvPr/>
        </p:nvSpPr>
        <p:spPr>
          <a:xfrm>
            <a:off x="822960" y="6949440"/>
            <a:ext cx="16642080" cy="365760"/>
          </a:xfrm>
          <a:prstGeom prst="rect">
            <a:avLst/>
          </a:prstGeom>
          <a:noFill/>
        </p:spPr>
        <p:txBody>
          <a:bodyPr wrap="square" lIns="0" tIns="0" rIns="0" bIns="0" anchor="t">
            <a:spAutoFit/>
          </a:bodyPr>
          <a:lstStyle/>
          <a:p>
            <a:pPr algn="l"/>
            <a:r>
              <a:rPr sz="1600" b="1">
                <a:solidFill>
                  <a:srgbClr val="E8641B"/>
                </a:solidFill>
                <a:latin typeface="Inter SemiBold"/>
              </a:rPr>
              <a:t>FASE 7 · CAPACITACIÓN Y CAMBIO · 3 CUENTAS DE CONTROL</a:t>
            </a:r>
          </a:p>
        </p:txBody>
      </p:sp>
      <p:sp>
        <p:nvSpPr>
          <p:cNvPr id="109" name="Rounded Rectangle 108"/>
          <p:cNvSpPr/>
          <p:nvPr/>
        </p:nvSpPr>
        <p:spPr>
          <a:xfrm>
            <a:off x="822960" y="7360920"/>
            <a:ext cx="5455919"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7.1 Capacitación por roles</a:t>
            </a:r>
          </a:p>
        </p:txBody>
      </p:sp>
      <p:sp>
        <p:nvSpPr>
          <p:cNvPr id="110" name="Rounded Rectangle 109"/>
          <p:cNvSpPr/>
          <p:nvPr/>
        </p:nvSpPr>
        <p:spPr>
          <a:xfrm>
            <a:off x="6416040" y="7360920"/>
            <a:ext cx="5455919"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7.2 Gestión del cambio</a:t>
            </a:r>
          </a:p>
        </p:txBody>
      </p:sp>
      <p:sp>
        <p:nvSpPr>
          <p:cNvPr id="111" name="Rounded Rectangle 110"/>
          <p:cNvSpPr/>
          <p:nvPr/>
        </p:nvSpPr>
        <p:spPr>
          <a:xfrm>
            <a:off x="12009120" y="7360920"/>
            <a:ext cx="5455919"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7.3 Evaluaciones y certificaciones</a:t>
            </a:r>
          </a:p>
        </p:txBody>
      </p:sp>
      <p:sp>
        <p:nvSpPr>
          <p:cNvPr id="112"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EDT: así se organiza el trabajo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9 fases · 49 cuentas de control · 222 paquetes de trabajo</a:t>
            </a:r>
          </a:p>
        </p:txBody>
      </p:sp>
      <p:sp>
        <p:nvSpPr>
          <p:cNvPr id="51" name="!!edt_root"/>
          <p:cNvSpPr/>
          <p:nvPr/>
        </p:nvSpPr>
        <p:spPr>
          <a:xfrm>
            <a:off x="6400800" y="3200400"/>
            <a:ext cx="5486400" cy="77724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Proyecto LafroX · 56 meses</a:t>
            </a:r>
          </a:p>
        </p:txBody>
      </p:sp>
      <p:cxnSp>
        <p:nvCxnSpPr>
          <p:cNvPr id="52" name="Connector 51"/>
          <p:cNvCxnSpPr/>
          <p:nvPr/>
        </p:nvCxnSpPr>
        <p:spPr>
          <a:xfrm>
            <a:off x="9144000" y="3977639"/>
            <a:ext cx="0" cy="24688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714500" y="4224528"/>
            <a:ext cx="1481328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7145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55" name="!!ph1"/>
          <p:cNvSpPr/>
          <p:nvPr/>
        </p:nvSpPr>
        <p:spPr>
          <a:xfrm>
            <a:off x="8229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6" name="!!ph1a"/>
          <p:cNvSpPr txBox="1"/>
          <p:nvPr/>
        </p:nvSpPr>
        <p:spPr>
          <a:xfrm>
            <a:off x="9326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1</a:t>
            </a:r>
          </a:p>
        </p:txBody>
      </p:sp>
      <p:sp>
        <p:nvSpPr>
          <p:cNvPr id="57" name="!!ph1b"/>
          <p:cNvSpPr txBox="1"/>
          <p:nvPr/>
        </p:nvSpPr>
        <p:spPr>
          <a:xfrm>
            <a:off x="9326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Inicio</a:t>
            </a:r>
          </a:p>
        </p:txBody>
      </p:sp>
      <p:sp>
        <p:nvSpPr>
          <p:cNvPr id="58" name="!!ph1c"/>
          <p:cNvSpPr txBox="1"/>
          <p:nvPr/>
        </p:nvSpPr>
        <p:spPr>
          <a:xfrm>
            <a:off x="9326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9 CC · 35 PT</a:t>
            </a:r>
          </a:p>
        </p:txBody>
      </p:sp>
      <p:sp>
        <p:nvSpPr>
          <p:cNvPr id="59" name="!!ph1d"/>
          <p:cNvSpPr txBox="1"/>
          <p:nvPr/>
        </p:nvSpPr>
        <p:spPr>
          <a:xfrm>
            <a:off x="9326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6.920 HH</a:t>
            </a:r>
          </a:p>
        </p:txBody>
      </p:sp>
      <p:cxnSp>
        <p:nvCxnSpPr>
          <p:cNvPr id="60" name="Connector 59"/>
          <p:cNvCxnSpPr/>
          <p:nvPr/>
        </p:nvCxnSpPr>
        <p:spPr>
          <a:xfrm>
            <a:off x="356616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1" name="!!ph2"/>
          <p:cNvSpPr/>
          <p:nvPr/>
        </p:nvSpPr>
        <p:spPr>
          <a:xfrm>
            <a:off x="267462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2" name="!!ph2a"/>
          <p:cNvSpPr txBox="1"/>
          <p:nvPr/>
        </p:nvSpPr>
        <p:spPr>
          <a:xfrm>
            <a:off x="278434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2</a:t>
            </a:r>
          </a:p>
        </p:txBody>
      </p:sp>
      <p:sp>
        <p:nvSpPr>
          <p:cNvPr id="63" name="!!ph2b"/>
          <p:cNvSpPr txBox="1"/>
          <p:nvPr/>
        </p:nvSpPr>
        <p:spPr>
          <a:xfrm>
            <a:off x="278434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Elaboración</a:t>
            </a:r>
          </a:p>
        </p:txBody>
      </p:sp>
      <p:sp>
        <p:nvSpPr>
          <p:cNvPr id="64" name="!!ph2c"/>
          <p:cNvSpPr txBox="1"/>
          <p:nvPr/>
        </p:nvSpPr>
        <p:spPr>
          <a:xfrm>
            <a:off x="278434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18 PT</a:t>
            </a:r>
          </a:p>
        </p:txBody>
      </p:sp>
      <p:sp>
        <p:nvSpPr>
          <p:cNvPr id="65" name="!!ph2d"/>
          <p:cNvSpPr txBox="1"/>
          <p:nvPr/>
        </p:nvSpPr>
        <p:spPr>
          <a:xfrm>
            <a:off x="278434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4.320 HH</a:t>
            </a:r>
          </a:p>
        </p:txBody>
      </p:sp>
      <p:cxnSp>
        <p:nvCxnSpPr>
          <p:cNvPr id="66" name="Connector 65"/>
          <p:cNvCxnSpPr/>
          <p:nvPr/>
        </p:nvCxnSpPr>
        <p:spPr>
          <a:xfrm>
            <a:off x="54178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7" name="!!ph3"/>
          <p:cNvSpPr/>
          <p:nvPr/>
        </p:nvSpPr>
        <p:spPr>
          <a:xfrm>
            <a:off x="45262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8" name="!!ph3a"/>
          <p:cNvSpPr txBox="1"/>
          <p:nvPr/>
        </p:nvSpPr>
        <p:spPr>
          <a:xfrm>
            <a:off x="463600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3</a:t>
            </a:r>
          </a:p>
        </p:txBody>
      </p:sp>
      <p:sp>
        <p:nvSpPr>
          <p:cNvPr id="69" name="!!ph3b"/>
          <p:cNvSpPr txBox="1"/>
          <p:nvPr/>
        </p:nvSpPr>
        <p:spPr>
          <a:xfrm>
            <a:off x="463600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Construcción</a:t>
            </a:r>
          </a:p>
        </p:txBody>
      </p:sp>
      <p:sp>
        <p:nvSpPr>
          <p:cNvPr id="70" name="!!ph3c"/>
          <p:cNvSpPr txBox="1"/>
          <p:nvPr/>
        </p:nvSpPr>
        <p:spPr>
          <a:xfrm>
            <a:off x="463600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11 CC · 79 PT</a:t>
            </a:r>
          </a:p>
        </p:txBody>
      </p:sp>
      <p:sp>
        <p:nvSpPr>
          <p:cNvPr id="71" name="!!ph3d"/>
          <p:cNvSpPr txBox="1"/>
          <p:nvPr/>
        </p:nvSpPr>
        <p:spPr>
          <a:xfrm>
            <a:off x="463600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33.280 HH</a:t>
            </a:r>
          </a:p>
        </p:txBody>
      </p:sp>
      <p:cxnSp>
        <p:nvCxnSpPr>
          <p:cNvPr id="72" name="Connector 71"/>
          <p:cNvCxnSpPr/>
          <p:nvPr/>
        </p:nvCxnSpPr>
        <p:spPr>
          <a:xfrm>
            <a:off x="726947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3" name="!!ph4"/>
          <p:cNvSpPr/>
          <p:nvPr/>
        </p:nvSpPr>
        <p:spPr>
          <a:xfrm>
            <a:off x="637794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4" name="!!ph4a"/>
          <p:cNvSpPr txBox="1"/>
          <p:nvPr/>
        </p:nvSpPr>
        <p:spPr>
          <a:xfrm>
            <a:off x="648766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4</a:t>
            </a:r>
          </a:p>
        </p:txBody>
      </p:sp>
      <p:sp>
        <p:nvSpPr>
          <p:cNvPr id="75" name="!!ph4b"/>
          <p:cNvSpPr txBox="1"/>
          <p:nvPr/>
        </p:nvSpPr>
        <p:spPr>
          <a:xfrm>
            <a:off x="648766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Transición</a:t>
            </a:r>
          </a:p>
        </p:txBody>
      </p:sp>
      <p:sp>
        <p:nvSpPr>
          <p:cNvPr id="76" name="!!ph4c"/>
          <p:cNvSpPr txBox="1"/>
          <p:nvPr/>
        </p:nvSpPr>
        <p:spPr>
          <a:xfrm>
            <a:off x="648766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10 PT</a:t>
            </a:r>
          </a:p>
        </p:txBody>
      </p:sp>
      <p:sp>
        <p:nvSpPr>
          <p:cNvPr id="77" name="!!ph4d"/>
          <p:cNvSpPr txBox="1"/>
          <p:nvPr/>
        </p:nvSpPr>
        <p:spPr>
          <a:xfrm>
            <a:off x="648766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20.672 HH</a:t>
            </a:r>
          </a:p>
        </p:txBody>
      </p:sp>
      <p:cxnSp>
        <p:nvCxnSpPr>
          <p:cNvPr id="78" name="Connector 77"/>
          <p:cNvCxnSpPr/>
          <p:nvPr/>
        </p:nvCxnSpPr>
        <p:spPr>
          <a:xfrm>
            <a:off x="912114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 name="!!ph5"/>
          <p:cNvSpPr/>
          <p:nvPr/>
        </p:nvSpPr>
        <p:spPr>
          <a:xfrm>
            <a:off x="822960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0" name="!!ph5a"/>
          <p:cNvSpPr txBox="1"/>
          <p:nvPr/>
        </p:nvSpPr>
        <p:spPr>
          <a:xfrm>
            <a:off x="833932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5</a:t>
            </a:r>
          </a:p>
        </p:txBody>
      </p:sp>
      <p:sp>
        <p:nvSpPr>
          <p:cNvPr id="81" name="!!ph5b"/>
          <p:cNvSpPr txBox="1"/>
          <p:nvPr/>
        </p:nvSpPr>
        <p:spPr>
          <a:xfrm>
            <a:off x="833932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Adquisiciones</a:t>
            </a:r>
          </a:p>
        </p:txBody>
      </p:sp>
      <p:sp>
        <p:nvSpPr>
          <p:cNvPr id="82" name="!!ph5c"/>
          <p:cNvSpPr txBox="1"/>
          <p:nvPr/>
        </p:nvSpPr>
        <p:spPr>
          <a:xfrm>
            <a:off x="833932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4 CC · 13 PT</a:t>
            </a:r>
          </a:p>
        </p:txBody>
      </p:sp>
      <p:sp>
        <p:nvSpPr>
          <p:cNvPr id="83" name="!!ph5d"/>
          <p:cNvSpPr txBox="1"/>
          <p:nvPr/>
        </p:nvSpPr>
        <p:spPr>
          <a:xfrm>
            <a:off x="833932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1.040 HH</a:t>
            </a:r>
          </a:p>
        </p:txBody>
      </p:sp>
      <p:cxnSp>
        <p:nvCxnSpPr>
          <p:cNvPr id="84" name="Connector 83"/>
          <p:cNvCxnSpPr/>
          <p:nvPr/>
        </p:nvCxnSpPr>
        <p:spPr>
          <a:xfrm>
            <a:off x="109728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 name="!!ph6"/>
          <p:cNvSpPr/>
          <p:nvPr/>
        </p:nvSpPr>
        <p:spPr>
          <a:xfrm>
            <a:off x="100812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6" name="!!ph6a"/>
          <p:cNvSpPr txBox="1"/>
          <p:nvPr/>
        </p:nvSpPr>
        <p:spPr>
          <a:xfrm>
            <a:off x="101909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6</a:t>
            </a:r>
          </a:p>
        </p:txBody>
      </p:sp>
      <p:sp>
        <p:nvSpPr>
          <p:cNvPr id="87" name="!!ph6b"/>
          <p:cNvSpPr txBox="1"/>
          <p:nvPr/>
        </p:nvSpPr>
        <p:spPr>
          <a:xfrm>
            <a:off x="101909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Infraestructura</a:t>
            </a:r>
          </a:p>
        </p:txBody>
      </p:sp>
      <p:sp>
        <p:nvSpPr>
          <p:cNvPr id="88" name="!!ph6c"/>
          <p:cNvSpPr txBox="1"/>
          <p:nvPr/>
        </p:nvSpPr>
        <p:spPr>
          <a:xfrm>
            <a:off x="101909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24 PT</a:t>
            </a:r>
          </a:p>
        </p:txBody>
      </p:sp>
      <p:sp>
        <p:nvSpPr>
          <p:cNvPr id="89" name="!!ph6d"/>
          <p:cNvSpPr txBox="1"/>
          <p:nvPr/>
        </p:nvSpPr>
        <p:spPr>
          <a:xfrm>
            <a:off x="101909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3.840 HH</a:t>
            </a:r>
          </a:p>
        </p:txBody>
      </p:sp>
      <p:cxnSp>
        <p:nvCxnSpPr>
          <p:cNvPr id="90" name="Connector 89"/>
          <p:cNvCxnSpPr/>
          <p:nvPr/>
        </p:nvCxnSpPr>
        <p:spPr>
          <a:xfrm>
            <a:off x="1282445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 name="!!ph7"/>
          <p:cNvSpPr/>
          <p:nvPr/>
        </p:nvSpPr>
        <p:spPr>
          <a:xfrm>
            <a:off x="1193291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2" name="!!ph7a"/>
          <p:cNvSpPr txBox="1"/>
          <p:nvPr/>
        </p:nvSpPr>
        <p:spPr>
          <a:xfrm>
            <a:off x="1204264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7</a:t>
            </a:r>
          </a:p>
        </p:txBody>
      </p:sp>
      <p:sp>
        <p:nvSpPr>
          <p:cNvPr id="93" name="!!ph7b"/>
          <p:cNvSpPr txBox="1"/>
          <p:nvPr/>
        </p:nvSpPr>
        <p:spPr>
          <a:xfrm>
            <a:off x="1204264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Capacitación y cambio</a:t>
            </a:r>
          </a:p>
        </p:txBody>
      </p:sp>
      <p:sp>
        <p:nvSpPr>
          <p:cNvPr id="94" name="!!ph7c"/>
          <p:cNvSpPr txBox="1"/>
          <p:nvPr/>
        </p:nvSpPr>
        <p:spPr>
          <a:xfrm>
            <a:off x="1204264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13 PT</a:t>
            </a:r>
          </a:p>
        </p:txBody>
      </p:sp>
      <p:sp>
        <p:nvSpPr>
          <p:cNvPr id="95" name="!!ph7d"/>
          <p:cNvSpPr txBox="1"/>
          <p:nvPr/>
        </p:nvSpPr>
        <p:spPr>
          <a:xfrm>
            <a:off x="1204264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4.736 HH</a:t>
            </a:r>
          </a:p>
        </p:txBody>
      </p:sp>
      <p:cxnSp>
        <p:nvCxnSpPr>
          <p:cNvPr id="96" name="Connector 95"/>
          <p:cNvCxnSpPr/>
          <p:nvPr/>
        </p:nvCxnSpPr>
        <p:spPr>
          <a:xfrm>
            <a:off x="146761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7" name="!!ph8"/>
          <p:cNvSpPr/>
          <p:nvPr/>
        </p:nvSpPr>
        <p:spPr>
          <a:xfrm>
            <a:off x="13738859" y="4325112"/>
            <a:ext cx="1874519" cy="2414015"/>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8" name="!!ph8a"/>
          <p:cNvSpPr txBox="1"/>
          <p:nvPr/>
        </p:nvSpPr>
        <p:spPr>
          <a:xfrm>
            <a:off x="13848587" y="4434840"/>
            <a:ext cx="1655063" cy="274320"/>
          </a:xfrm>
          <a:prstGeom prst="rect">
            <a:avLst/>
          </a:prstGeom>
          <a:noFill/>
        </p:spPr>
        <p:txBody>
          <a:bodyPr wrap="square" lIns="0" tIns="0" rIns="0" bIns="0" anchor="t">
            <a:spAutoFit/>
          </a:bodyPr>
          <a:lstStyle/>
          <a:p>
            <a:pPr algn="l"/>
            <a:r>
              <a:rPr sz="1500" b="1">
                <a:solidFill>
                  <a:srgbClr val="FFFFFF"/>
                </a:solidFill>
                <a:latin typeface="Inter SemiBold"/>
              </a:rPr>
              <a:t>Fase 8</a:t>
            </a:r>
          </a:p>
        </p:txBody>
      </p:sp>
      <p:sp>
        <p:nvSpPr>
          <p:cNvPr id="99" name="!!ph8b"/>
          <p:cNvSpPr txBox="1"/>
          <p:nvPr/>
        </p:nvSpPr>
        <p:spPr>
          <a:xfrm>
            <a:off x="13848587" y="4736592"/>
            <a:ext cx="1655063" cy="685800"/>
          </a:xfrm>
          <a:prstGeom prst="rect">
            <a:avLst/>
          </a:prstGeom>
          <a:noFill/>
        </p:spPr>
        <p:txBody>
          <a:bodyPr wrap="square" lIns="0" tIns="0" rIns="0" bIns="0" anchor="t">
            <a:spAutoFit/>
          </a:bodyPr>
          <a:lstStyle/>
          <a:p>
            <a:pPr algn="l"/>
            <a:r>
              <a:rPr sz="1600" b="1">
                <a:solidFill>
                  <a:srgbClr val="FFFFFF"/>
                </a:solidFill>
                <a:latin typeface="Inter SemiBold"/>
              </a:rPr>
              <a:t>Operación y soporte</a:t>
            </a:r>
          </a:p>
        </p:txBody>
      </p:sp>
      <p:sp>
        <p:nvSpPr>
          <p:cNvPr id="100" name="!!ph8c"/>
          <p:cNvSpPr txBox="1"/>
          <p:nvPr/>
        </p:nvSpPr>
        <p:spPr>
          <a:xfrm>
            <a:off x="13848587" y="5468112"/>
            <a:ext cx="1655063" cy="320040"/>
          </a:xfrm>
          <a:prstGeom prst="rect">
            <a:avLst/>
          </a:prstGeom>
          <a:noFill/>
        </p:spPr>
        <p:txBody>
          <a:bodyPr wrap="square" lIns="0" tIns="0" rIns="0" bIns="0" anchor="t">
            <a:spAutoFit/>
          </a:bodyPr>
          <a:lstStyle/>
          <a:p>
            <a:pPr algn="l"/>
            <a:r>
              <a:rPr sz="1400" b="0">
                <a:solidFill>
                  <a:srgbClr val="FFFFFF"/>
                </a:solidFill>
                <a:latin typeface="Inter"/>
              </a:rPr>
              <a:t>5 CC · 26 PT</a:t>
            </a:r>
          </a:p>
        </p:txBody>
      </p:sp>
      <p:sp>
        <p:nvSpPr>
          <p:cNvPr id="101" name="!!ph8d"/>
          <p:cNvSpPr txBox="1"/>
          <p:nvPr/>
        </p:nvSpPr>
        <p:spPr>
          <a:xfrm>
            <a:off x="13848587" y="5879592"/>
            <a:ext cx="1655063" cy="411480"/>
          </a:xfrm>
          <a:prstGeom prst="rect">
            <a:avLst/>
          </a:prstGeom>
          <a:noFill/>
        </p:spPr>
        <p:txBody>
          <a:bodyPr wrap="square" lIns="0" tIns="0" rIns="0" bIns="0" anchor="t">
            <a:spAutoFit/>
          </a:bodyPr>
          <a:lstStyle/>
          <a:p>
            <a:pPr algn="l"/>
            <a:r>
              <a:rPr sz="1700" b="1">
                <a:solidFill>
                  <a:srgbClr val="FFFFFF"/>
                </a:solidFill>
                <a:latin typeface="Inter SemiBold"/>
              </a:rPr>
              <a:t>129.879 HH</a:t>
            </a:r>
          </a:p>
        </p:txBody>
      </p:sp>
      <p:cxnSp>
        <p:nvCxnSpPr>
          <p:cNvPr id="102" name="Connector 101"/>
          <p:cNvCxnSpPr/>
          <p:nvPr/>
        </p:nvCxnSpPr>
        <p:spPr>
          <a:xfrm>
            <a:off x="1652778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 name="!!ph9"/>
          <p:cNvSpPr/>
          <p:nvPr/>
        </p:nvSpPr>
        <p:spPr>
          <a:xfrm>
            <a:off x="1563623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4" name="!!ph9a"/>
          <p:cNvSpPr txBox="1"/>
          <p:nvPr/>
        </p:nvSpPr>
        <p:spPr>
          <a:xfrm>
            <a:off x="1574596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9</a:t>
            </a:r>
          </a:p>
        </p:txBody>
      </p:sp>
      <p:sp>
        <p:nvSpPr>
          <p:cNvPr id="105" name="!!ph9b"/>
          <p:cNvSpPr txBox="1"/>
          <p:nvPr/>
        </p:nvSpPr>
        <p:spPr>
          <a:xfrm>
            <a:off x="1574596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Cierre</a:t>
            </a:r>
          </a:p>
        </p:txBody>
      </p:sp>
      <p:sp>
        <p:nvSpPr>
          <p:cNvPr id="106" name="!!ph9c"/>
          <p:cNvSpPr txBox="1"/>
          <p:nvPr/>
        </p:nvSpPr>
        <p:spPr>
          <a:xfrm>
            <a:off x="1574596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2 CC · 4 PT</a:t>
            </a:r>
          </a:p>
        </p:txBody>
      </p:sp>
      <p:sp>
        <p:nvSpPr>
          <p:cNvPr id="107" name="!!ph9d"/>
          <p:cNvSpPr txBox="1"/>
          <p:nvPr/>
        </p:nvSpPr>
        <p:spPr>
          <a:xfrm>
            <a:off x="1574596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320 HH</a:t>
            </a:r>
          </a:p>
        </p:txBody>
      </p:sp>
      <p:sp>
        <p:nvSpPr>
          <p:cNvPr id="108" name="TextBox 107"/>
          <p:cNvSpPr txBox="1"/>
          <p:nvPr/>
        </p:nvSpPr>
        <p:spPr>
          <a:xfrm>
            <a:off x="822960" y="6949440"/>
            <a:ext cx="16642080" cy="365760"/>
          </a:xfrm>
          <a:prstGeom prst="rect">
            <a:avLst/>
          </a:prstGeom>
          <a:noFill/>
        </p:spPr>
        <p:txBody>
          <a:bodyPr wrap="square" lIns="0" tIns="0" rIns="0" bIns="0" anchor="t">
            <a:spAutoFit/>
          </a:bodyPr>
          <a:lstStyle/>
          <a:p>
            <a:pPr algn="l"/>
            <a:r>
              <a:rPr sz="1600" b="1">
                <a:solidFill>
                  <a:srgbClr val="E8641B"/>
                </a:solidFill>
                <a:latin typeface="Inter SemiBold"/>
              </a:rPr>
              <a:t>FASE 8 · OPERACIÓN Y SOPORTE · 5 CUENTAS DE CONTROL</a:t>
            </a:r>
          </a:p>
        </p:txBody>
      </p:sp>
      <p:sp>
        <p:nvSpPr>
          <p:cNvPr id="109" name="Rounded Rectangle 108"/>
          <p:cNvSpPr/>
          <p:nvPr/>
        </p:nvSpPr>
        <p:spPr>
          <a:xfrm>
            <a:off x="822960" y="7360920"/>
            <a:ext cx="3218687"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8.1 Servicios de operación</a:t>
            </a:r>
          </a:p>
        </p:txBody>
      </p:sp>
      <p:sp>
        <p:nvSpPr>
          <p:cNvPr id="110" name="Rounded Rectangle 109"/>
          <p:cNvSpPr/>
          <p:nvPr/>
        </p:nvSpPr>
        <p:spPr>
          <a:xfrm>
            <a:off x="4178807" y="7360920"/>
            <a:ext cx="3218687"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8.2 Mantenimiento</a:t>
            </a:r>
          </a:p>
        </p:txBody>
      </p:sp>
      <p:sp>
        <p:nvSpPr>
          <p:cNvPr id="111" name="Rounded Rectangle 110"/>
          <p:cNvSpPr/>
          <p:nvPr/>
        </p:nvSpPr>
        <p:spPr>
          <a:xfrm>
            <a:off x="7534655" y="7360920"/>
            <a:ext cx="3218687"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8.3 Innovaciones</a:t>
            </a:r>
          </a:p>
        </p:txBody>
      </p:sp>
      <p:sp>
        <p:nvSpPr>
          <p:cNvPr id="112" name="Rounded Rectangle 111"/>
          <p:cNvSpPr/>
          <p:nvPr/>
        </p:nvSpPr>
        <p:spPr>
          <a:xfrm>
            <a:off x="10890503" y="7360920"/>
            <a:ext cx="3218687"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8.4 Informes periódicos</a:t>
            </a:r>
          </a:p>
        </p:txBody>
      </p:sp>
      <p:sp>
        <p:nvSpPr>
          <p:cNvPr id="113" name="Rounded Rectangle 112"/>
          <p:cNvSpPr/>
          <p:nvPr/>
        </p:nvSpPr>
        <p:spPr>
          <a:xfrm>
            <a:off x="14246351" y="7360920"/>
            <a:ext cx="3218687"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8.5 Transferencia</a:t>
            </a:r>
          </a:p>
        </p:txBody>
      </p:sp>
      <p:sp>
        <p:nvSpPr>
          <p:cNvPr id="114"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EDT: así se organiza el trabajo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9 fases · 49 cuentas de control · 222 paquetes de trabajo</a:t>
            </a:r>
          </a:p>
        </p:txBody>
      </p:sp>
      <p:sp>
        <p:nvSpPr>
          <p:cNvPr id="51" name="!!edt_root"/>
          <p:cNvSpPr/>
          <p:nvPr/>
        </p:nvSpPr>
        <p:spPr>
          <a:xfrm>
            <a:off x="6400800" y="3200400"/>
            <a:ext cx="5486400" cy="77724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2000" b="1">
                <a:solidFill>
                  <a:srgbClr val="FFFFFF"/>
                </a:solidFill>
                <a:latin typeface="Inter SemiBold"/>
              </a:rPr>
              <a:t>Proyecto LafroX · 56 meses</a:t>
            </a:r>
          </a:p>
        </p:txBody>
      </p:sp>
      <p:cxnSp>
        <p:nvCxnSpPr>
          <p:cNvPr id="52" name="Connector 51"/>
          <p:cNvCxnSpPr/>
          <p:nvPr/>
        </p:nvCxnSpPr>
        <p:spPr>
          <a:xfrm>
            <a:off x="9144000" y="3977639"/>
            <a:ext cx="0" cy="24688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714500" y="4224528"/>
            <a:ext cx="1481328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7145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55" name="!!ph1"/>
          <p:cNvSpPr/>
          <p:nvPr/>
        </p:nvSpPr>
        <p:spPr>
          <a:xfrm>
            <a:off x="8229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6" name="!!ph1a"/>
          <p:cNvSpPr txBox="1"/>
          <p:nvPr/>
        </p:nvSpPr>
        <p:spPr>
          <a:xfrm>
            <a:off x="9326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1</a:t>
            </a:r>
          </a:p>
        </p:txBody>
      </p:sp>
      <p:sp>
        <p:nvSpPr>
          <p:cNvPr id="57" name="!!ph1b"/>
          <p:cNvSpPr txBox="1"/>
          <p:nvPr/>
        </p:nvSpPr>
        <p:spPr>
          <a:xfrm>
            <a:off x="9326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Inicio</a:t>
            </a:r>
          </a:p>
        </p:txBody>
      </p:sp>
      <p:sp>
        <p:nvSpPr>
          <p:cNvPr id="58" name="!!ph1c"/>
          <p:cNvSpPr txBox="1"/>
          <p:nvPr/>
        </p:nvSpPr>
        <p:spPr>
          <a:xfrm>
            <a:off x="9326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9 CC · 35 PT</a:t>
            </a:r>
          </a:p>
        </p:txBody>
      </p:sp>
      <p:sp>
        <p:nvSpPr>
          <p:cNvPr id="59" name="!!ph1d"/>
          <p:cNvSpPr txBox="1"/>
          <p:nvPr/>
        </p:nvSpPr>
        <p:spPr>
          <a:xfrm>
            <a:off x="9326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6.920 HH</a:t>
            </a:r>
          </a:p>
        </p:txBody>
      </p:sp>
      <p:cxnSp>
        <p:nvCxnSpPr>
          <p:cNvPr id="60" name="Connector 59"/>
          <p:cNvCxnSpPr/>
          <p:nvPr/>
        </p:nvCxnSpPr>
        <p:spPr>
          <a:xfrm>
            <a:off x="356616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1" name="!!ph2"/>
          <p:cNvSpPr/>
          <p:nvPr/>
        </p:nvSpPr>
        <p:spPr>
          <a:xfrm>
            <a:off x="267462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2" name="!!ph2a"/>
          <p:cNvSpPr txBox="1"/>
          <p:nvPr/>
        </p:nvSpPr>
        <p:spPr>
          <a:xfrm>
            <a:off x="278434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2</a:t>
            </a:r>
          </a:p>
        </p:txBody>
      </p:sp>
      <p:sp>
        <p:nvSpPr>
          <p:cNvPr id="63" name="!!ph2b"/>
          <p:cNvSpPr txBox="1"/>
          <p:nvPr/>
        </p:nvSpPr>
        <p:spPr>
          <a:xfrm>
            <a:off x="278434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Elaboración</a:t>
            </a:r>
          </a:p>
        </p:txBody>
      </p:sp>
      <p:sp>
        <p:nvSpPr>
          <p:cNvPr id="64" name="!!ph2c"/>
          <p:cNvSpPr txBox="1"/>
          <p:nvPr/>
        </p:nvSpPr>
        <p:spPr>
          <a:xfrm>
            <a:off x="278434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18 PT</a:t>
            </a:r>
          </a:p>
        </p:txBody>
      </p:sp>
      <p:sp>
        <p:nvSpPr>
          <p:cNvPr id="65" name="!!ph2d"/>
          <p:cNvSpPr txBox="1"/>
          <p:nvPr/>
        </p:nvSpPr>
        <p:spPr>
          <a:xfrm>
            <a:off x="278434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4.320 HH</a:t>
            </a:r>
          </a:p>
        </p:txBody>
      </p:sp>
      <p:cxnSp>
        <p:nvCxnSpPr>
          <p:cNvPr id="66" name="Connector 65"/>
          <p:cNvCxnSpPr/>
          <p:nvPr/>
        </p:nvCxnSpPr>
        <p:spPr>
          <a:xfrm>
            <a:off x="54178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67" name="!!ph3"/>
          <p:cNvSpPr/>
          <p:nvPr/>
        </p:nvSpPr>
        <p:spPr>
          <a:xfrm>
            <a:off x="45262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8" name="!!ph3a"/>
          <p:cNvSpPr txBox="1"/>
          <p:nvPr/>
        </p:nvSpPr>
        <p:spPr>
          <a:xfrm>
            <a:off x="463600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3</a:t>
            </a:r>
          </a:p>
        </p:txBody>
      </p:sp>
      <p:sp>
        <p:nvSpPr>
          <p:cNvPr id="69" name="!!ph3b"/>
          <p:cNvSpPr txBox="1"/>
          <p:nvPr/>
        </p:nvSpPr>
        <p:spPr>
          <a:xfrm>
            <a:off x="463600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Construcción</a:t>
            </a:r>
          </a:p>
        </p:txBody>
      </p:sp>
      <p:sp>
        <p:nvSpPr>
          <p:cNvPr id="70" name="!!ph3c"/>
          <p:cNvSpPr txBox="1"/>
          <p:nvPr/>
        </p:nvSpPr>
        <p:spPr>
          <a:xfrm>
            <a:off x="463600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11 CC · 79 PT</a:t>
            </a:r>
          </a:p>
        </p:txBody>
      </p:sp>
      <p:sp>
        <p:nvSpPr>
          <p:cNvPr id="71" name="!!ph3d"/>
          <p:cNvSpPr txBox="1"/>
          <p:nvPr/>
        </p:nvSpPr>
        <p:spPr>
          <a:xfrm>
            <a:off x="463600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33.280 HH</a:t>
            </a:r>
          </a:p>
        </p:txBody>
      </p:sp>
      <p:cxnSp>
        <p:nvCxnSpPr>
          <p:cNvPr id="72" name="Connector 71"/>
          <p:cNvCxnSpPr/>
          <p:nvPr/>
        </p:nvCxnSpPr>
        <p:spPr>
          <a:xfrm>
            <a:off x="726947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3" name="!!ph4"/>
          <p:cNvSpPr/>
          <p:nvPr/>
        </p:nvSpPr>
        <p:spPr>
          <a:xfrm>
            <a:off x="637794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74" name="!!ph4a"/>
          <p:cNvSpPr txBox="1"/>
          <p:nvPr/>
        </p:nvSpPr>
        <p:spPr>
          <a:xfrm>
            <a:off x="648766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4</a:t>
            </a:r>
          </a:p>
        </p:txBody>
      </p:sp>
      <p:sp>
        <p:nvSpPr>
          <p:cNvPr id="75" name="!!ph4b"/>
          <p:cNvSpPr txBox="1"/>
          <p:nvPr/>
        </p:nvSpPr>
        <p:spPr>
          <a:xfrm>
            <a:off x="648766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Transición</a:t>
            </a:r>
          </a:p>
        </p:txBody>
      </p:sp>
      <p:sp>
        <p:nvSpPr>
          <p:cNvPr id="76" name="!!ph4c"/>
          <p:cNvSpPr txBox="1"/>
          <p:nvPr/>
        </p:nvSpPr>
        <p:spPr>
          <a:xfrm>
            <a:off x="648766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10 PT</a:t>
            </a:r>
          </a:p>
        </p:txBody>
      </p:sp>
      <p:sp>
        <p:nvSpPr>
          <p:cNvPr id="77" name="!!ph4d"/>
          <p:cNvSpPr txBox="1"/>
          <p:nvPr/>
        </p:nvSpPr>
        <p:spPr>
          <a:xfrm>
            <a:off x="648766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20.672 HH</a:t>
            </a:r>
          </a:p>
        </p:txBody>
      </p:sp>
      <p:cxnSp>
        <p:nvCxnSpPr>
          <p:cNvPr id="78" name="Connector 77"/>
          <p:cNvCxnSpPr/>
          <p:nvPr/>
        </p:nvCxnSpPr>
        <p:spPr>
          <a:xfrm>
            <a:off x="912114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 name="!!ph5"/>
          <p:cNvSpPr/>
          <p:nvPr/>
        </p:nvSpPr>
        <p:spPr>
          <a:xfrm>
            <a:off x="822960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0" name="!!ph5a"/>
          <p:cNvSpPr txBox="1"/>
          <p:nvPr/>
        </p:nvSpPr>
        <p:spPr>
          <a:xfrm>
            <a:off x="833932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5</a:t>
            </a:r>
          </a:p>
        </p:txBody>
      </p:sp>
      <p:sp>
        <p:nvSpPr>
          <p:cNvPr id="81" name="!!ph5b"/>
          <p:cNvSpPr txBox="1"/>
          <p:nvPr/>
        </p:nvSpPr>
        <p:spPr>
          <a:xfrm>
            <a:off x="833932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Adquisiciones</a:t>
            </a:r>
          </a:p>
        </p:txBody>
      </p:sp>
      <p:sp>
        <p:nvSpPr>
          <p:cNvPr id="82" name="!!ph5c"/>
          <p:cNvSpPr txBox="1"/>
          <p:nvPr/>
        </p:nvSpPr>
        <p:spPr>
          <a:xfrm>
            <a:off x="833932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4 CC · 13 PT</a:t>
            </a:r>
          </a:p>
        </p:txBody>
      </p:sp>
      <p:sp>
        <p:nvSpPr>
          <p:cNvPr id="83" name="!!ph5d"/>
          <p:cNvSpPr txBox="1"/>
          <p:nvPr/>
        </p:nvSpPr>
        <p:spPr>
          <a:xfrm>
            <a:off x="833932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1.040 HH</a:t>
            </a:r>
          </a:p>
        </p:txBody>
      </p:sp>
      <p:cxnSp>
        <p:nvCxnSpPr>
          <p:cNvPr id="84" name="Connector 83"/>
          <p:cNvCxnSpPr/>
          <p:nvPr/>
        </p:nvCxnSpPr>
        <p:spPr>
          <a:xfrm>
            <a:off x="1097280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 name="!!ph6"/>
          <p:cNvSpPr/>
          <p:nvPr/>
        </p:nvSpPr>
        <p:spPr>
          <a:xfrm>
            <a:off x="1008126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86" name="!!ph6a"/>
          <p:cNvSpPr txBox="1"/>
          <p:nvPr/>
        </p:nvSpPr>
        <p:spPr>
          <a:xfrm>
            <a:off x="10190988"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6</a:t>
            </a:r>
          </a:p>
        </p:txBody>
      </p:sp>
      <p:sp>
        <p:nvSpPr>
          <p:cNvPr id="87" name="!!ph6b"/>
          <p:cNvSpPr txBox="1"/>
          <p:nvPr/>
        </p:nvSpPr>
        <p:spPr>
          <a:xfrm>
            <a:off x="10190988"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Infraestructura</a:t>
            </a:r>
          </a:p>
        </p:txBody>
      </p:sp>
      <p:sp>
        <p:nvSpPr>
          <p:cNvPr id="88" name="!!ph6c"/>
          <p:cNvSpPr txBox="1"/>
          <p:nvPr/>
        </p:nvSpPr>
        <p:spPr>
          <a:xfrm>
            <a:off x="10190988" y="5577840"/>
            <a:ext cx="1563624" cy="320040"/>
          </a:xfrm>
          <a:prstGeom prst="rect">
            <a:avLst/>
          </a:prstGeom>
          <a:noFill/>
        </p:spPr>
        <p:txBody>
          <a:bodyPr wrap="square" lIns="0" tIns="0" rIns="0" bIns="0" anchor="t">
            <a:spAutoFit/>
          </a:bodyPr>
          <a:lstStyle/>
          <a:p>
            <a:pPr algn="l"/>
            <a:r>
              <a:rPr sz="1400" b="0">
                <a:solidFill>
                  <a:srgbClr val="C7C7C7"/>
                </a:solidFill>
                <a:latin typeface="Inter"/>
              </a:rPr>
              <a:t>6 CC · 24 PT</a:t>
            </a:r>
          </a:p>
        </p:txBody>
      </p:sp>
      <p:sp>
        <p:nvSpPr>
          <p:cNvPr id="89" name="!!ph6d"/>
          <p:cNvSpPr txBox="1"/>
          <p:nvPr/>
        </p:nvSpPr>
        <p:spPr>
          <a:xfrm>
            <a:off x="10190988"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3.840 HH</a:t>
            </a:r>
          </a:p>
        </p:txBody>
      </p:sp>
      <p:cxnSp>
        <p:nvCxnSpPr>
          <p:cNvPr id="90" name="Connector 89"/>
          <p:cNvCxnSpPr/>
          <p:nvPr/>
        </p:nvCxnSpPr>
        <p:spPr>
          <a:xfrm>
            <a:off x="12824459"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 name="!!ph7"/>
          <p:cNvSpPr/>
          <p:nvPr/>
        </p:nvSpPr>
        <p:spPr>
          <a:xfrm>
            <a:off x="11932919"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2" name="!!ph7a"/>
          <p:cNvSpPr txBox="1"/>
          <p:nvPr/>
        </p:nvSpPr>
        <p:spPr>
          <a:xfrm>
            <a:off x="1204264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7</a:t>
            </a:r>
          </a:p>
        </p:txBody>
      </p:sp>
      <p:sp>
        <p:nvSpPr>
          <p:cNvPr id="93" name="!!ph7b"/>
          <p:cNvSpPr txBox="1"/>
          <p:nvPr/>
        </p:nvSpPr>
        <p:spPr>
          <a:xfrm>
            <a:off x="1204264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Capacitación y cambio</a:t>
            </a:r>
          </a:p>
        </p:txBody>
      </p:sp>
      <p:sp>
        <p:nvSpPr>
          <p:cNvPr id="94" name="!!ph7c"/>
          <p:cNvSpPr txBox="1"/>
          <p:nvPr/>
        </p:nvSpPr>
        <p:spPr>
          <a:xfrm>
            <a:off x="1204264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3 CC · 13 PT</a:t>
            </a:r>
          </a:p>
        </p:txBody>
      </p:sp>
      <p:sp>
        <p:nvSpPr>
          <p:cNvPr id="95" name="!!ph7d"/>
          <p:cNvSpPr txBox="1"/>
          <p:nvPr/>
        </p:nvSpPr>
        <p:spPr>
          <a:xfrm>
            <a:off x="1204264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4.736 HH</a:t>
            </a:r>
          </a:p>
        </p:txBody>
      </p:sp>
      <p:cxnSp>
        <p:nvCxnSpPr>
          <p:cNvPr id="96" name="Connector 95"/>
          <p:cNvCxnSpPr/>
          <p:nvPr/>
        </p:nvCxnSpPr>
        <p:spPr>
          <a:xfrm>
            <a:off x="1467612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7" name="!!ph8"/>
          <p:cNvSpPr/>
          <p:nvPr/>
        </p:nvSpPr>
        <p:spPr>
          <a:xfrm>
            <a:off x="13784580" y="4434840"/>
            <a:ext cx="1783080" cy="219456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98" name="!!ph8a"/>
          <p:cNvSpPr txBox="1"/>
          <p:nvPr/>
        </p:nvSpPr>
        <p:spPr>
          <a:xfrm>
            <a:off x="13894307" y="4544568"/>
            <a:ext cx="1563624" cy="274320"/>
          </a:xfrm>
          <a:prstGeom prst="rect">
            <a:avLst/>
          </a:prstGeom>
          <a:noFill/>
        </p:spPr>
        <p:txBody>
          <a:bodyPr wrap="square" lIns="0" tIns="0" rIns="0" bIns="0" anchor="t">
            <a:spAutoFit/>
          </a:bodyPr>
          <a:lstStyle/>
          <a:p>
            <a:pPr algn="l"/>
            <a:r>
              <a:rPr sz="1500" b="1">
                <a:solidFill>
                  <a:srgbClr val="C7C7C7"/>
                </a:solidFill>
                <a:latin typeface="Inter SemiBold"/>
              </a:rPr>
              <a:t>Fase 8</a:t>
            </a:r>
          </a:p>
        </p:txBody>
      </p:sp>
      <p:sp>
        <p:nvSpPr>
          <p:cNvPr id="99" name="!!ph8b"/>
          <p:cNvSpPr txBox="1"/>
          <p:nvPr/>
        </p:nvSpPr>
        <p:spPr>
          <a:xfrm>
            <a:off x="13894307" y="4846320"/>
            <a:ext cx="1563624" cy="685800"/>
          </a:xfrm>
          <a:prstGeom prst="rect">
            <a:avLst/>
          </a:prstGeom>
          <a:noFill/>
        </p:spPr>
        <p:txBody>
          <a:bodyPr wrap="square" lIns="0" tIns="0" rIns="0" bIns="0" anchor="t">
            <a:spAutoFit/>
          </a:bodyPr>
          <a:lstStyle/>
          <a:p>
            <a:pPr algn="l"/>
            <a:r>
              <a:rPr sz="1600" b="1">
                <a:solidFill>
                  <a:srgbClr val="C7C7C7"/>
                </a:solidFill>
                <a:latin typeface="Inter SemiBold"/>
              </a:rPr>
              <a:t>Operación y soporte</a:t>
            </a:r>
          </a:p>
        </p:txBody>
      </p:sp>
      <p:sp>
        <p:nvSpPr>
          <p:cNvPr id="100" name="!!ph8c"/>
          <p:cNvSpPr txBox="1"/>
          <p:nvPr/>
        </p:nvSpPr>
        <p:spPr>
          <a:xfrm>
            <a:off x="13894307" y="5577840"/>
            <a:ext cx="1563624" cy="320040"/>
          </a:xfrm>
          <a:prstGeom prst="rect">
            <a:avLst/>
          </a:prstGeom>
          <a:noFill/>
        </p:spPr>
        <p:txBody>
          <a:bodyPr wrap="square" lIns="0" tIns="0" rIns="0" bIns="0" anchor="t">
            <a:spAutoFit/>
          </a:bodyPr>
          <a:lstStyle/>
          <a:p>
            <a:pPr algn="l"/>
            <a:r>
              <a:rPr sz="1400" b="0">
                <a:solidFill>
                  <a:srgbClr val="C7C7C7"/>
                </a:solidFill>
                <a:latin typeface="Inter"/>
              </a:rPr>
              <a:t>5 CC · 26 PT</a:t>
            </a:r>
          </a:p>
        </p:txBody>
      </p:sp>
      <p:sp>
        <p:nvSpPr>
          <p:cNvPr id="101" name="!!ph8d"/>
          <p:cNvSpPr txBox="1"/>
          <p:nvPr/>
        </p:nvSpPr>
        <p:spPr>
          <a:xfrm>
            <a:off x="13894307" y="5989320"/>
            <a:ext cx="1563624" cy="411480"/>
          </a:xfrm>
          <a:prstGeom prst="rect">
            <a:avLst/>
          </a:prstGeom>
          <a:noFill/>
        </p:spPr>
        <p:txBody>
          <a:bodyPr wrap="square" lIns="0" tIns="0" rIns="0" bIns="0" anchor="t">
            <a:spAutoFit/>
          </a:bodyPr>
          <a:lstStyle/>
          <a:p>
            <a:pPr algn="l"/>
            <a:r>
              <a:rPr sz="1700" b="1">
                <a:solidFill>
                  <a:srgbClr val="C7C7C7"/>
                </a:solidFill>
                <a:latin typeface="Inter SemiBold"/>
              </a:rPr>
              <a:t>129.879 HH</a:t>
            </a:r>
          </a:p>
        </p:txBody>
      </p:sp>
      <p:cxnSp>
        <p:nvCxnSpPr>
          <p:cNvPr id="102" name="Connector 101"/>
          <p:cNvCxnSpPr/>
          <p:nvPr/>
        </p:nvCxnSpPr>
        <p:spPr>
          <a:xfrm>
            <a:off x="16527780" y="4224528"/>
            <a:ext cx="0" cy="210312"/>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 name="!!ph9"/>
          <p:cNvSpPr/>
          <p:nvPr/>
        </p:nvSpPr>
        <p:spPr>
          <a:xfrm>
            <a:off x="15590519" y="4325112"/>
            <a:ext cx="1874519" cy="2414015"/>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04" name="!!ph9a"/>
          <p:cNvSpPr txBox="1"/>
          <p:nvPr/>
        </p:nvSpPr>
        <p:spPr>
          <a:xfrm>
            <a:off x="15700247" y="4434840"/>
            <a:ext cx="1655063" cy="274320"/>
          </a:xfrm>
          <a:prstGeom prst="rect">
            <a:avLst/>
          </a:prstGeom>
          <a:noFill/>
        </p:spPr>
        <p:txBody>
          <a:bodyPr wrap="square" lIns="0" tIns="0" rIns="0" bIns="0" anchor="t">
            <a:spAutoFit/>
          </a:bodyPr>
          <a:lstStyle/>
          <a:p>
            <a:pPr algn="l"/>
            <a:r>
              <a:rPr sz="1500" b="1">
                <a:solidFill>
                  <a:srgbClr val="FFFFFF"/>
                </a:solidFill>
                <a:latin typeface="Inter SemiBold"/>
              </a:rPr>
              <a:t>Fase 9</a:t>
            </a:r>
          </a:p>
        </p:txBody>
      </p:sp>
      <p:sp>
        <p:nvSpPr>
          <p:cNvPr id="105" name="!!ph9b"/>
          <p:cNvSpPr txBox="1"/>
          <p:nvPr/>
        </p:nvSpPr>
        <p:spPr>
          <a:xfrm>
            <a:off x="15700247" y="4736592"/>
            <a:ext cx="1655063" cy="685800"/>
          </a:xfrm>
          <a:prstGeom prst="rect">
            <a:avLst/>
          </a:prstGeom>
          <a:noFill/>
        </p:spPr>
        <p:txBody>
          <a:bodyPr wrap="square" lIns="0" tIns="0" rIns="0" bIns="0" anchor="t">
            <a:spAutoFit/>
          </a:bodyPr>
          <a:lstStyle/>
          <a:p>
            <a:pPr algn="l"/>
            <a:r>
              <a:rPr sz="1600" b="1">
                <a:solidFill>
                  <a:srgbClr val="FFFFFF"/>
                </a:solidFill>
                <a:latin typeface="Inter SemiBold"/>
              </a:rPr>
              <a:t>Cierre</a:t>
            </a:r>
          </a:p>
        </p:txBody>
      </p:sp>
      <p:sp>
        <p:nvSpPr>
          <p:cNvPr id="106" name="!!ph9c"/>
          <p:cNvSpPr txBox="1"/>
          <p:nvPr/>
        </p:nvSpPr>
        <p:spPr>
          <a:xfrm>
            <a:off x="15700247" y="5468112"/>
            <a:ext cx="1655063" cy="320040"/>
          </a:xfrm>
          <a:prstGeom prst="rect">
            <a:avLst/>
          </a:prstGeom>
          <a:noFill/>
        </p:spPr>
        <p:txBody>
          <a:bodyPr wrap="square" lIns="0" tIns="0" rIns="0" bIns="0" anchor="t">
            <a:spAutoFit/>
          </a:bodyPr>
          <a:lstStyle/>
          <a:p>
            <a:pPr algn="l"/>
            <a:r>
              <a:rPr sz="1400" b="0">
                <a:solidFill>
                  <a:srgbClr val="FFFFFF"/>
                </a:solidFill>
                <a:latin typeface="Inter"/>
              </a:rPr>
              <a:t>2 CC · 4 PT</a:t>
            </a:r>
          </a:p>
        </p:txBody>
      </p:sp>
      <p:sp>
        <p:nvSpPr>
          <p:cNvPr id="107" name="!!ph9d"/>
          <p:cNvSpPr txBox="1"/>
          <p:nvPr/>
        </p:nvSpPr>
        <p:spPr>
          <a:xfrm>
            <a:off x="15700247" y="5879592"/>
            <a:ext cx="1655063" cy="411480"/>
          </a:xfrm>
          <a:prstGeom prst="rect">
            <a:avLst/>
          </a:prstGeom>
          <a:noFill/>
        </p:spPr>
        <p:txBody>
          <a:bodyPr wrap="square" lIns="0" tIns="0" rIns="0" bIns="0" anchor="t">
            <a:spAutoFit/>
          </a:bodyPr>
          <a:lstStyle/>
          <a:p>
            <a:pPr algn="l"/>
            <a:r>
              <a:rPr sz="1700" b="1">
                <a:solidFill>
                  <a:srgbClr val="FFFFFF"/>
                </a:solidFill>
                <a:latin typeface="Inter SemiBold"/>
              </a:rPr>
              <a:t>320 HH</a:t>
            </a:r>
          </a:p>
        </p:txBody>
      </p:sp>
      <p:sp>
        <p:nvSpPr>
          <p:cNvPr id="108" name="TextBox 107"/>
          <p:cNvSpPr txBox="1"/>
          <p:nvPr/>
        </p:nvSpPr>
        <p:spPr>
          <a:xfrm>
            <a:off x="822960" y="6949440"/>
            <a:ext cx="16642080" cy="365760"/>
          </a:xfrm>
          <a:prstGeom prst="rect">
            <a:avLst/>
          </a:prstGeom>
          <a:noFill/>
        </p:spPr>
        <p:txBody>
          <a:bodyPr wrap="square" lIns="0" tIns="0" rIns="0" bIns="0" anchor="t">
            <a:spAutoFit/>
          </a:bodyPr>
          <a:lstStyle/>
          <a:p>
            <a:pPr algn="l"/>
            <a:r>
              <a:rPr sz="1600" b="1">
                <a:solidFill>
                  <a:srgbClr val="E8641B"/>
                </a:solidFill>
                <a:latin typeface="Inter SemiBold"/>
              </a:rPr>
              <a:t>FASE 9 · CIERRE · 2 CUENTAS DE CONTROL</a:t>
            </a:r>
          </a:p>
        </p:txBody>
      </p:sp>
      <p:sp>
        <p:nvSpPr>
          <p:cNvPr id="109" name="Rounded Rectangle 108"/>
          <p:cNvSpPr/>
          <p:nvPr/>
        </p:nvSpPr>
        <p:spPr>
          <a:xfrm>
            <a:off x="822960" y="7360920"/>
            <a:ext cx="825246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9.1 Cierre de la implementación</a:t>
            </a:r>
          </a:p>
        </p:txBody>
      </p:sp>
      <p:sp>
        <p:nvSpPr>
          <p:cNvPr id="110" name="Rounded Rectangle 109"/>
          <p:cNvSpPr/>
          <p:nvPr/>
        </p:nvSpPr>
        <p:spPr>
          <a:xfrm>
            <a:off x="9212580" y="7360920"/>
            <a:ext cx="8252460" cy="1005840"/>
          </a:xfrm>
          <a:prstGeom prst="roundRect">
            <a:avLst>
              <a:gd name="adj" fmla="val 15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111111"/>
                </a:solidFill>
                <a:latin typeface="Inter SemiBold"/>
              </a:rPr>
              <a:t>9.2 Salida al término del contrato</a:t>
            </a:r>
          </a:p>
        </p:txBody>
      </p:sp>
      <p:sp>
        <p:nvSpPr>
          <p:cNvPr id="111"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03838" y="1097280"/>
            <a:ext cx="6035040" cy="2651760"/>
          </a:xfrm>
          <a:prstGeom prst="rect">
            <a:avLst/>
          </a:prstGeom>
        </p:spPr>
        <p:txBody>
          <a:bodyPr lIns="0" tIns="0" rIns="0" bIns="0" rtlCol="0" anchor="t">
            <a:spAutoFit/>
          </a:bodyPr>
          <a:lstStyle/>
          <a:p>
            <a:pPr algn="l">
              <a:lnSpc>
                <a:spcPct val="90000"/>
              </a:lnSpc>
            </a:pPr>
            <a:r>
              <a:rPr lang="en-US" sz="5200" b="1">
                <a:solidFill>
                  <a:srgbClr val="111111"/>
                </a:solidFill>
                <a:latin typeface="Inter SemiBold"/>
                <a:ea typeface="Inter SemiBold"/>
                <a:cs typeface="Inter SemiBold"/>
                <a:sym typeface="Inter SemiBold"/>
              </a:rPr>
              <a:t>Cómo se divide el proyecto</a:t>
            </a:r>
          </a:p>
        </p:txBody>
      </p:sp>
      <p:sp>
        <p:nvSpPr>
          <p:cNvPr id="11" name="Freeform 1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2" name="TextBox 11"/>
          <p:cNvSpPr txBox="1"/>
          <p:nvPr/>
        </p:nvSpPr>
        <p:spPr>
          <a:xfrm>
            <a:off x="1499616" y="4023360"/>
            <a:ext cx="5669280" cy="914400"/>
          </a:xfrm>
          <a:prstGeom prst="rect">
            <a:avLst/>
          </a:prstGeom>
          <a:noFill/>
        </p:spPr>
        <p:txBody>
          <a:bodyPr wrap="square" lIns="0" tIns="0" rIns="0" bIns="0" anchor="t">
            <a:spAutoFit/>
          </a:bodyPr>
          <a:lstStyle/>
          <a:p>
            <a:pPr algn="l"/>
            <a:r>
              <a:rPr sz="2600" b="0">
                <a:solidFill>
                  <a:srgbClr val="606060"/>
                </a:solidFill>
                <a:latin typeface="Inter"/>
              </a:rPr>
              <a:t>2 etapas + operación
8 frentes con responsable</a:t>
            </a:r>
          </a:p>
        </p:txBody>
      </p:sp>
      <p:sp>
        <p:nvSpPr>
          <p:cNvPr id="13" name="TextBox 12"/>
          <p:cNvSpPr txBox="1"/>
          <p:nvPr/>
        </p:nvSpPr>
        <p:spPr>
          <a:xfrm>
            <a:off x="1499616" y="5486400"/>
            <a:ext cx="5669280" cy="822960"/>
          </a:xfrm>
          <a:prstGeom prst="rect">
            <a:avLst/>
          </a:prstGeom>
          <a:noFill/>
        </p:spPr>
        <p:txBody>
          <a:bodyPr wrap="square" lIns="0" tIns="0" rIns="0" bIns="0" anchor="t">
            <a:spAutoFit/>
          </a:bodyPr>
          <a:lstStyle/>
          <a:p>
            <a:pPr algn="l"/>
            <a:r>
              <a:rPr sz="2200" b="1">
                <a:solidFill>
                  <a:srgbClr val="E8641B"/>
                </a:solidFill>
                <a:latin typeface="Inter SemiBold"/>
              </a:rPr>
              <a:t>Solapes: meses 13–15 y 19–20</a:t>
            </a:r>
          </a:p>
        </p:txBody>
      </p:sp>
      <p:sp>
        <p:nvSpPr>
          <p:cNvPr id="14" name="Rectangle 13"/>
          <p:cNvSpPr/>
          <p:nvPr/>
        </p:nvSpPr>
        <p:spPr>
          <a:xfrm>
            <a:off x="12076611" y="1188720"/>
            <a:ext cx="367392" cy="7269480"/>
          </a:xfrm>
          <a:prstGeom prst="rect">
            <a:avLst/>
          </a:prstGeom>
          <a:solidFill>
            <a:srgbClr val="FDE8D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5" name="Rectangle 14"/>
          <p:cNvSpPr/>
          <p:nvPr/>
        </p:nvSpPr>
        <p:spPr>
          <a:xfrm>
            <a:off x="12811397" y="1188720"/>
            <a:ext cx="244928" cy="7269480"/>
          </a:xfrm>
          <a:prstGeom prst="rect">
            <a:avLst/>
          </a:prstGeom>
          <a:solidFill>
            <a:srgbClr val="FDE8D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6" name="TextBox 15"/>
          <p:cNvSpPr txBox="1"/>
          <p:nvPr/>
        </p:nvSpPr>
        <p:spPr>
          <a:xfrm>
            <a:off x="7680960" y="1097280"/>
            <a:ext cx="2743200" cy="320040"/>
          </a:xfrm>
          <a:prstGeom prst="rect">
            <a:avLst/>
          </a:prstGeom>
          <a:noFill/>
        </p:spPr>
        <p:txBody>
          <a:bodyPr wrap="square" lIns="0" tIns="0" rIns="0" bIns="0" anchor="t">
            <a:spAutoFit/>
          </a:bodyPr>
          <a:lstStyle/>
          <a:p>
            <a:pPr algn="l"/>
            <a:r>
              <a:rPr sz="1400" b="1">
                <a:solidFill>
                  <a:srgbClr val="E8641B"/>
                </a:solidFill>
                <a:latin typeface="Inter SemiBold"/>
              </a:rPr>
              <a:t>BLOQUES</a:t>
            </a:r>
          </a:p>
        </p:txBody>
      </p:sp>
      <p:sp>
        <p:nvSpPr>
          <p:cNvPr id="17" name="TextBox 16"/>
          <p:cNvSpPr txBox="1"/>
          <p:nvPr/>
        </p:nvSpPr>
        <p:spPr>
          <a:xfrm>
            <a:off x="7680960" y="1463040"/>
            <a:ext cx="2743200" cy="411480"/>
          </a:xfrm>
          <a:prstGeom prst="rect">
            <a:avLst/>
          </a:prstGeom>
          <a:noFill/>
        </p:spPr>
        <p:txBody>
          <a:bodyPr wrap="square" lIns="0" tIns="0" rIns="0" bIns="0" anchor="ctr">
            <a:spAutoFit/>
          </a:bodyPr>
          <a:lstStyle/>
          <a:p>
            <a:pPr algn="l"/>
            <a:r>
              <a:rPr sz="1700" b="1">
                <a:solidFill>
                  <a:srgbClr val="111111"/>
                </a:solidFill>
                <a:latin typeface="Inter SemiBold"/>
              </a:rPr>
              <a:t>Etapa 1</a:t>
            </a:r>
          </a:p>
        </p:txBody>
      </p:sp>
      <p:sp>
        <p:nvSpPr>
          <p:cNvPr id="18" name="Rounded Rectangle 17"/>
          <p:cNvSpPr/>
          <p:nvPr/>
        </p:nvSpPr>
        <p:spPr>
          <a:xfrm>
            <a:off x="10607040" y="1463040"/>
            <a:ext cx="1959428" cy="411480"/>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m1–16</a:t>
            </a:r>
          </a:p>
        </p:txBody>
      </p:sp>
      <p:sp>
        <p:nvSpPr>
          <p:cNvPr id="19" name="TextBox 18"/>
          <p:cNvSpPr txBox="1"/>
          <p:nvPr/>
        </p:nvSpPr>
        <p:spPr>
          <a:xfrm>
            <a:off x="7680960" y="1993392"/>
            <a:ext cx="2743200" cy="411480"/>
          </a:xfrm>
          <a:prstGeom prst="rect">
            <a:avLst/>
          </a:prstGeom>
          <a:noFill/>
        </p:spPr>
        <p:txBody>
          <a:bodyPr wrap="square" lIns="0" tIns="0" rIns="0" bIns="0" anchor="ctr">
            <a:spAutoFit/>
          </a:bodyPr>
          <a:lstStyle/>
          <a:p>
            <a:pPr algn="l"/>
            <a:r>
              <a:rPr sz="1700" b="1">
                <a:solidFill>
                  <a:srgbClr val="111111"/>
                </a:solidFill>
                <a:latin typeface="Inter SemiBold"/>
              </a:rPr>
              <a:t>Etapa 2</a:t>
            </a:r>
          </a:p>
        </p:txBody>
      </p:sp>
      <p:sp>
        <p:nvSpPr>
          <p:cNvPr id="20" name="Rounded Rectangle 19"/>
          <p:cNvSpPr/>
          <p:nvPr/>
        </p:nvSpPr>
        <p:spPr>
          <a:xfrm>
            <a:off x="12076611" y="1993392"/>
            <a:ext cx="1102178" cy="411480"/>
          </a:xfrm>
          <a:prstGeom prst="roundRect">
            <a:avLst>
              <a:gd name="adj" fmla="val 3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m13–21</a:t>
            </a:r>
          </a:p>
        </p:txBody>
      </p:sp>
      <p:sp>
        <p:nvSpPr>
          <p:cNvPr id="21" name="TextBox 20"/>
          <p:cNvSpPr txBox="1"/>
          <p:nvPr/>
        </p:nvSpPr>
        <p:spPr>
          <a:xfrm>
            <a:off x="7680960" y="2523744"/>
            <a:ext cx="2743200" cy="411480"/>
          </a:xfrm>
          <a:prstGeom prst="rect">
            <a:avLst/>
          </a:prstGeom>
          <a:noFill/>
        </p:spPr>
        <p:txBody>
          <a:bodyPr wrap="square" lIns="0" tIns="0" rIns="0" bIns="0" anchor="ctr">
            <a:spAutoFit/>
          </a:bodyPr>
          <a:lstStyle/>
          <a:p>
            <a:pPr algn="l"/>
            <a:r>
              <a:rPr sz="1700" b="1">
                <a:solidFill>
                  <a:srgbClr val="111111"/>
                </a:solidFill>
                <a:latin typeface="Inter SemiBold"/>
              </a:rPr>
              <a:t>Operación</a:t>
            </a:r>
          </a:p>
        </p:txBody>
      </p:sp>
      <p:sp>
        <p:nvSpPr>
          <p:cNvPr id="22" name="Rounded Rectangle 21"/>
          <p:cNvSpPr/>
          <p:nvPr/>
        </p:nvSpPr>
        <p:spPr>
          <a:xfrm>
            <a:off x="13056325" y="2523744"/>
            <a:ext cx="4408714"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300" b="1">
                <a:solidFill>
                  <a:srgbClr val="FFFFFF"/>
                </a:solidFill>
                <a:latin typeface="Inter SemiBold"/>
              </a:rPr>
              <a:t>m21–56</a:t>
            </a:r>
          </a:p>
        </p:txBody>
      </p:sp>
      <p:sp>
        <p:nvSpPr>
          <p:cNvPr id="23" name="TextBox 22"/>
          <p:cNvSpPr txBox="1"/>
          <p:nvPr/>
        </p:nvSpPr>
        <p:spPr>
          <a:xfrm>
            <a:off x="7680960" y="3154680"/>
            <a:ext cx="2743200" cy="320040"/>
          </a:xfrm>
          <a:prstGeom prst="rect">
            <a:avLst/>
          </a:prstGeom>
          <a:noFill/>
        </p:spPr>
        <p:txBody>
          <a:bodyPr wrap="square" lIns="0" tIns="0" rIns="0" bIns="0" anchor="t">
            <a:spAutoFit/>
          </a:bodyPr>
          <a:lstStyle/>
          <a:p>
            <a:pPr algn="l"/>
            <a:r>
              <a:rPr sz="1400" b="1">
                <a:solidFill>
                  <a:srgbClr val="E8641B"/>
                </a:solidFill>
                <a:latin typeface="Inter SemiBold"/>
              </a:rPr>
              <a:t>FRENTES</a:t>
            </a:r>
          </a:p>
        </p:txBody>
      </p:sp>
      <p:sp>
        <p:nvSpPr>
          <p:cNvPr id="24" name="TextBox 23"/>
          <p:cNvSpPr txBox="1"/>
          <p:nvPr/>
        </p:nvSpPr>
        <p:spPr>
          <a:xfrm>
            <a:off x="7680960" y="3483864"/>
            <a:ext cx="2834640" cy="292608"/>
          </a:xfrm>
          <a:prstGeom prst="rect">
            <a:avLst/>
          </a:prstGeom>
          <a:noFill/>
        </p:spPr>
        <p:txBody>
          <a:bodyPr wrap="square" lIns="0" tIns="0" rIns="0" bIns="0" anchor="t">
            <a:spAutoFit/>
          </a:bodyPr>
          <a:lstStyle/>
          <a:p>
            <a:pPr algn="l"/>
            <a:r>
              <a:rPr sz="1500" b="1">
                <a:solidFill>
                  <a:srgbClr val="111111"/>
                </a:solidFill>
                <a:latin typeface="Inter SemiBold"/>
              </a:rPr>
              <a:t>F1 Dirección</a:t>
            </a:r>
          </a:p>
        </p:txBody>
      </p:sp>
      <p:sp>
        <p:nvSpPr>
          <p:cNvPr id="25" name="TextBox 24"/>
          <p:cNvSpPr txBox="1"/>
          <p:nvPr/>
        </p:nvSpPr>
        <p:spPr>
          <a:xfrm>
            <a:off x="7680960" y="3767328"/>
            <a:ext cx="2834640" cy="274320"/>
          </a:xfrm>
          <a:prstGeom prst="rect">
            <a:avLst/>
          </a:prstGeom>
          <a:noFill/>
        </p:spPr>
        <p:txBody>
          <a:bodyPr wrap="square" lIns="0" tIns="0" rIns="0" bIns="0" anchor="t">
            <a:spAutoFit/>
          </a:bodyPr>
          <a:lstStyle/>
          <a:p>
            <a:pPr algn="l"/>
            <a:r>
              <a:rPr sz="1400" b="0">
                <a:solidFill>
                  <a:srgbClr val="606060"/>
                </a:solidFill>
                <a:latin typeface="Inter"/>
              </a:rPr>
              <a:t>Jefe de Proyecto</a:t>
            </a:r>
          </a:p>
        </p:txBody>
      </p:sp>
      <p:sp>
        <p:nvSpPr>
          <p:cNvPr id="26" name="Rounded Rectangle 25"/>
          <p:cNvSpPr/>
          <p:nvPr/>
        </p:nvSpPr>
        <p:spPr>
          <a:xfrm>
            <a:off x="10607040" y="3593592"/>
            <a:ext cx="6858000" cy="38404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27" name="TextBox 26"/>
          <p:cNvSpPr txBox="1"/>
          <p:nvPr/>
        </p:nvSpPr>
        <p:spPr>
          <a:xfrm>
            <a:off x="7680960" y="4105656"/>
            <a:ext cx="2834640" cy="292608"/>
          </a:xfrm>
          <a:prstGeom prst="rect">
            <a:avLst/>
          </a:prstGeom>
          <a:noFill/>
        </p:spPr>
        <p:txBody>
          <a:bodyPr wrap="square" lIns="0" tIns="0" rIns="0" bIns="0" anchor="t">
            <a:spAutoFit/>
          </a:bodyPr>
          <a:lstStyle/>
          <a:p>
            <a:pPr algn="l"/>
            <a:r>
              <a:rPr sz="1500" b="1">
                <a:solidFill>
                  <a:srgbClr val="111111"/>
                </a:solidFill>
                <a:latin typeface="Inter SemiBold"/>
              </a:rPr>
              <a:t>F2 Arquitectura</a:t>
            </a:r>
          </a:p>
        </p:txBody>
      </p:sp>
      <p:sp>
        <p:nvSpPr>
          <p:cNvPr id="28" name="TextBox 27"/>
          <p:cNvSpPr txBox="1"/>
          <p:nvPr/>
        </p:nvSpPr>
        <p:spPr>
          <a:xfrm>
            <a:off x="7680960" y="4389120"/>
            <a:ext cx="2834640" cy="274320"/>
          </a:xfrm>
          <a:prstGeom prst="rect">
            <a:avLst/>
          </a:prstGeom>
          <a:noFill/>
        </p:spPr>
        <p:txBody>
          <a:bodyPr wrap="square" lIns="0" tIns="0" rIns="0" bIns="0" anchor="t">
            <a:spAutoFit/>
          </a:bodyPr>
          <a:lstStyle/>
          <a:p>
            <a:pPr algn="l"/>
            <a:r>
              <a:rPr sz="1400" b="0">
                <a:solidFill>
                  <a:srgbClr val="606060"/>
                </a:solidFill>
                <a:latin typeface="Inter"/>
              </a:rPr>
              <a:t>Arquitecto de Solución</a:t>
            </a:r>
          </a:p>
        </p:txBody>
      </p:sp>
      <p:sp>
        <p:nvSpPr>
          <p:cNvPr id="29" name="Rounded Rectangle 28"/>
          <p:cNvSpPr/>
          <p:nvPr/>
        </p:nvSpPr>
        <p:spPr>
          <a:xfrm>
            <a:off x="10607040" y="4215384"/>
            <a:ext cx="2571750" cy="38404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0" name="TextBox 29"/>
          <p:cNvSpPr txBox="1"/>
          <p:nvPr/>
        </p:nvSpPr>
        <p:spPr>
          <a:xfrm>
            <a:off x="7680960" y="4727448"/>
            <a:ext cx="2834640" cy="292608"/>
          </a:xfrm>
          <a:prstGeom prst="rect">
            <a:avLst/>
          </a:prstGeom>
          <a:noFill/>
        </p:spPr>
        <p:txBody>
          <a:bodyPr wrap="square" lIns="0" tIns="0" rIns="0" bIns="0" anchor="t">
            <a:spAutoFit/>
          </a:bodyPr>
          <a:lstStyle/>
          <a:p>
            <a:pPr algn="l"/>
            <a:r>
              <a:rPr sz="1500" b="1">
                <a:solidFill>
                  <a:srgbClr val="111111"/>
                </a:solidFill>
                <a:latin typeface="Inter SemiBold"/>
              </a:rPr>
              <a:t>F3 Construcción E1</a:t>
            </a:r>
          </a:p>
        </p:txBody>
      </p:sp>
      <p:sp>
        <p:nvSpPr>
          <p:cNvPr id="31" name="TextBox 30"/>
          <p:cNvSpPr txBox="1"/>
          <p:nvPr/>
        </p:nvSpPr>
        <p:spPr>
          <a:xfrm>
            <a:off x="7680960" y="5010912"/>
            <a:ext cx="2834640" cy="274320"/>
          </a:xfrm>
          <a:prstGeom prst="rect">
            <a:avLst/>
          </a:prstGeom>
          <a:noFill/>
        </p:spPr>
        <p:txBody>
          <a:bodyPr wrap="square" lIns="0" tIns="0" rIns="0" bIns="0" anchor="t">
            <a:spAutoFit/>
          </a:bodyPr>
          <a:lstStyle/>
          <a:p>
            <a:pPr algn="l"/>
            <a:r>
              <a:rPr sz="1400" b="0">
                <a:solidFill>
                  <a:srgbClr val="606060"/>
                </a:solidFill>
                <a:latin typeface="Inter"/>
              </a:rPr>
              <a:t>Líder de Desarrollo</a:t>
            </a:r>
          </a:p>
        </p:txBody>
      </p:sp>
      <p:sp>
        <p:nvSpPr>
          <p:cNvPr id="32" name="Rounded Rectangle 31"/>
          <p:cNvSpPr/>
          <p:nvPr/>
        </p:nvSpPr>
        <p:spPr>
          <a:xfrm>
            <a:off x="10607040" y="4837176"/>
            <a:ext cx="2449285" cy="38404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3" name="TextBox 32"/>
          <p:cNvSpPr txBox="1"/>
          <p:nvPr/>
        </p:nvSpPr>
        <p:spPr>
          <a:xfrm>
            <a:off x="7680960" y="5349240"/>
            <a:ext cx="2834640" cy="292608"/>
          </a:xfrm>
          <a:prstGeom prst="rect">
            <a:avLst/>
          </a:prstGeom>
          <a:noFill/>
        </p:spPr>
        <p:txBody>
          <a:bodyPr wrap="square" lIns="0" tIns="0" rIns="0" bIns="0" anchor="t">
            <a:spAutoFit/>
          </a:bodyPr>
          <a:lstStyle/>
          <a:p>
            <a:pPr algn="l"/>
            <a:r>
              <a:rPr sz="1500" b="1">
                <a:solidFill>
                  <a:srgbClr val="111111"/>
                </a:solidFill>
                <a:latin typeface="Inter SemiBold"/>
              </a:rPr>
              <a:t>F4 Construcción E2</a:t>
            </a:r>
          </a:p>
        </p:txBody>
      </p:sp>
      <p:sp>
        <p:nvSpPr>
          <p:cNvPr id="34" name="TextBox 33"/>
          <p:cNvSpPr txBox="1"/>
          <p:nvPr/>
        </p:nvSpPr>
        <p:spPr>
          <a:xfrm>
            <a:off x="7680960" y="5632704"/>
            <a:ext cx="2834640" cy="274320"/>
          </a:xfrm>
          <a:prstGeom prst="rect">
            <a:avLst/>
          </a:prstGeom>
          <a:noFill/>
        </p:spPr>
        <p:txBody>
          <a:bodyPr wrap="square" lIns="0" tIns="0" rIns="0" bIns="0" anchor="t">
            <a:spAutoFit/>
          </a:bodyPr>
          <a:lstStyle/>
          <a:p>
            <a:pPr algn="l"/>
            <a:r>
              <a:rPr sz="1400" b="0">
                <a:solidFill>
                  <a:srgbClr val="606060"/>
                </a:solidFill>
                <a:latin typeface="Inter"/>
              </a:rPr>
              <a:t>Líder de Desarrollo</a:t>
            </a:r>
          </a:p>
        </p:txBody>
      </p:sp>
      <p:sp>
        <p:nvSpPr>
          <p:cNvPr id="35" name="Rounded Rectangle 34"/>
          <p:cNvSpPr/>
          <p:nvPr/>
        </p:nvSpPr>
        <p:spPr>
          <a:xfrm>
            <a:off x="12076611" y="5458968"/>
            <a:ext cx="979714" cy="38404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6" name="TextBox 35"/>
          <p:cNvSpPr txBox="1"/>
          <p:nvPr/>
        </p:nvSpPr>
        <p:spPr>
          <a:xfrm>
            <a:off x="7680960" y="5971032"/>
            <a:ext cx="2834640" cy="292608"/>
          </a:xfrm>
          <a:prstGeom prst="rect">
            <a:avLst/>
          </a:prstGeom>
          <a:noFill/>
        </p:spPr>
        <p:txBody>
          <a:bodyPr wrap="square" lIns="0" tIns="0" rIns="0" bIns="0" anchor="t">
            <a:spAutoFit/>
          </a:bodyPr>
          <a:lstStyle/>
          <a:p>
            <a:pPr algn="l"/>
            <a:r>
              <a:rPr sz="1500" b="1">
                <a:solidFill>
                  <a:srgbClr val="111111"/>
                </a:solidFill>
                <a:latin typeface="Inter SemiBold"/>
              </a:rPr>
              <a:t>F5 Plataforma</a:t>
            </a:r>
          </a:p>
        </p:txBody>
      </p:sp>
      <p:sp>
        <p:nvSpPr>
          <p:cNvPr id="37" name="TextBox 36"/>
          <p:cNvSpPr txBox="1"/>
          <p:nvPr/>
        </p:nvSpPr>
        <p:spPr>
          <a:xfrm>
            <a:off x="7680960" y="6254496"/>
            <a:ext cx="2834640" cy="274320"/>
          </a:xfrm>
          <a:prstGeom prst="rect">
            <a:avLst/>
          </a:prstGeom>
          <a:noFill/>
        </p:spPr>
        <p:txBody>
          <a:bodyPr wrap="square" lIns="0" tIns="0" rIns="0" bIns="0" anchor="t">
            <a:spAutoFit/>
          </a:bodyPr>
          <a:lstStyle/>
          <a:p>
            <a:pPr algn="l"/>
            <a:r>
              <a:rPr sz="1400" b="0">
                <a:solidFill>
                  <a:srgbClr val="606060"/>
                </a:solidFill>
                <a:latin typeface="Inter"/>
              </a:rPr>
              <a:t>Líder de Operación/SRE</a:t>
            </a:r>
          </a:p>
        </p:txBody>
      </p:sp>
      <p:sp>
        <p:nvSpPr>
          <p:cNvPr id="38" name="Rounded Rectangle 37"/>
          <p:cNvSpPr/>
          <p:nvPr/>
        </p:nvSpPr>
        <p:spPr>
          <a:xfrm>
            <a:off x="10607040" y="6080760"/>
            <a:ext cx="2449285" cy="38404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9" name="TextBox 38"/>
          <p:cNvSpPr txBox="1"/>
          <p:nvPr/>
        </p:nvSpPr>
        <p:spPr>
          <a:xfrm>
            <a:off x="7680960" y="6592824"/>
            <a:ext cx="2834640" cy="292608"/>
          </a:xfrm>
          <a:prstGeom prst="rect">
            <a:avLst/>
          </a:prstGeom>
          <a:noFill/>
        </p:spPr>
        <p:txBody>
          <a:bodyPr wrap="square" lIns="0" tIns="0" rIns="0" bIns="0" anchor="t">
            <a:spAutoFit/>
          </a:bodyPr>
          <a:lstStyle/>
          <a:p>
            <a:pPr algn="l"/>
            <a:r>
              <a:rPr sz="1500" b="1">
                <a:solidFill>
                  <a:srgbClr val="111111"/>
                </a:solidFill>
                <a:latin typeface="Inter SemiBold"/>
              </a:rPr>
              <a:t>F6 Calidad</a:t>
            </a:r>
          </a:p>
        </p:txBody>
      </p:sp>
      <p:sp>
        <p:nvSpPr>
          <p:cNvPr id="40" name="TextBox 39"/>
          <p:cNvSpPr txBox="1"/>
          <p:nvPr/>
        </p:nvSpPr>
        <p:spPr>
          <a:xfrm>
            <a:off x="7680960" y="6876288"/>
            <a:ext cx="2834640" cy="274320"/>
          </a:xfrm>
          <a:prstGeom prst="rect">
            <a:avLst/>
          </a:prstGeom>
          <a:noFill/>
        </p:spPr>
        <p:txBody>
          <a:bodyPr wrap="square" lIns="0" tIns="0" rIns="0" bIns="0" anchor="t">
            <a:spAutoFit/>
          </a:bodyPr>
          <a:lstStyle/>
          <a:p>
            <a:pPr algn="l"/>
            <a:r>
              <a:rPr sz="1400" b="0">
                <a:solidFill>
                  <a:srgbClr val="606060"/>
                </a:solidFill>
                <a:latin typeface="Inter"/>
              </a:rPr>
              <a:t>Líder de Calidad</a:t>
            </a:r>
          </a:p>
        </p:txBody>
      </p:sp>
      <p:sp>
        <p:nvSpPr>
          <p:cNvPr id="41" name="Rounded Rectangle 40"/>
          <p:cNvSpPr/>
          <p:nvPr/>
        </p:nvSpPr>
        <p:spPr>
          <a:xfrm>
            <a:off x="10607040" y="6702552"/>
            <a:ext cx="2571750" cy="38404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42" name="TextBox 41"/>
          <p:cNvSpPr txBox="1"/>
          <p:nvPr/>
        </p:nvSpPr>
        <p:spPr>
          <a:xfrm>
            <a:off x="7680960" y="7214616"/>
            <a:ext cx="2834640" cy="292608"/>
          </a:xfrm>
          <a:prstGeom prst="rect">
            <a:avLst/>
          </a:prstGeom>
          <a:noFill/>
        </p:spPr>
        <p:txBody>
          <a:bodyPr wrap="square" lIns="0" tIns="0" rIns="0" bIns="0" anchor="t">
            <a:spAutoFit/>
          </a:bodyPr>
          <a:lstStyle/>
          <a:p>
            <a:pPr algn="l"/>
            <a:r>
              <a:rPr sz="1500" b="1">
                <a:solidFill>
                  <a:srgbClr val="111111"/>
                </a:solidFill>
                <a:latin typeface="Inter SemiBold"/>
              </a:rPr>
              <a:t>F7 Implantación</a:t>
            </a:r>
          </a:p>
        </p:txBody>
      </p:sp>
      <p:sp>
        <p:nvSpPr>
          <p:cNvPr id="43" name="TextBox 42"/>
          <p:cNvSpPr txBox="1"/>
          <p:nvPr/>
        </p:nvSpPr>
        <p:spPr>
          <a:xfrm>
            <a:off x="7680960" y="7498079"/>
            <a:ext cx="2834640" cy="274320"/>
          </a:xfrm>
          <a:prstGeom prst="rect">
            <a:avLst/>
          </a:prstGeom>
          <a:noFill/>
        </p:spPr>
        <p:txBody>
          <a:bodyPr wrap="square" lIns="0" tIns="0" rIns="0" bIns="0" anchor="t">
            <a:spAutoFit/>
          </a:bodyPr>
          <a:lstStyle/>
          <a:p>
            <a:pPr algn="l"/>
            <a:r>
              <a:rPr sz="1400" b="0">
                <a:solidFill>
                  <a:srgbClr val="606060"/>
                </a:solidFill>
                <a:latin typeface="Inter"/>
              </a:rPr>
              <a:t>Líder de Implantación</a:t>
            </a:r>
          </a:p>
        </p:txBody>
      </p:sp>
      <p:sp>
        <p:nvSpPr>
          <p:cNvPr id="44" name="Rounded Rectangle 43"/>
          <p:cNvSpPr/>
          <p:nvPr/>
        </p:nvSpPr>
        <p:spPr>
          <a:xfrm>
            <a:off x="11586754" y="7324344"/>
            <a:ext cx="1592035" cy="38404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45" name="TextBox 44"/>
          <p:cNvSpPr txBox="1"/>
          <p:nvPr/>
        </p:nvSpPr>
        <p:spPr>
          <a:xfrm>
            <a:off x="7680960" y="7836408"/>
            <a:ext cx="2834640" cy="292608"/>
          </a:xfrm>
          <a:prstGeom prst="rect">
            <a:avLst/>
          </a:prstGeom>
          <a:noFill/>
        </p:spPr>
        <p:txBody>
          <a:bodyPr wrap="square" lIns="0" tIns="0" rIns="0" bIns="0" anchor="t">
            <a:spAutoFit/>
          </a:bodyPr>
          <a:lstStyle/>
          <a:p>
            <a:pPr algn="l"/>
            <a:r>
              <a:rPr sz="1500" b="1">
                <a:solidFill>
                  <a:srgbClr val="111111"/>
                </a:solidFill>
                <a:latin typeface="Inter SemiBold"/>
              </a:rPr>
              <a:t>F8 Operación</a:t>
            </a:r>
          </a:p>
        </p:txBody>
      </p:sp>
      <p:sp>
        <p:nvSpPr>
          <p:cNvPr id="46" name="TextBox 45"/>
          <p:cNvSpPr txBox="1"/>
          <p:nvPr/>
        </p:nvSpPr>
        <p:spPr>
          <a:xfrm>
            <a:off x="7680960" y="8119872"/>
            <a:ext cx="2834640" cy="274320"/>
          </a:xfrm>
          <a:prstGeom prst="rect">
            <a:avLst/>
          </a:prstGeom>
          <a:noFill/>
        </p:spPr>
        <p:txBody>
          <a:bodyPr wrap="square" lIns="0" tIns="0" rIns="0" bIns="0" anchor="t">
            <a:spAutoFit/>
          </a:bodyPr>
          <a:lstStyle/>
          <a:p>
            <a:pPr algn="l"/>
            <a:r>
              <a:rPr sz="1400" b="0">
                <a:solidFill>
                  <a:srgbClr val="606060"/>
                </a:solidFill>
                <a:latin typeface="Inter"/>
              </a:rPr>
              <a:t>Líder de Operación/SRE</a:t>
            </a:r>
          </a:p>
        </p:txBody>
      </p:sp>
      <p:sp>
        <p:nvSpPr>
          <p:cNvPr id="47" name="Rounded Rectangle 46"/>
          <p:cNvSpPr/>
          <p:nvPr/>
        </p:nvSpPr>
        <p:spPr>
          <a:xfrm>
            <a:off x="13056325" y="7946136"/>
            <a:ext cx="4408714" cy="384048"/>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48" name="TextBox 47"/>
          <p:cNvSpPr txBox="1"/>
          <p:nvPr/>
        </p:nvSpPr>
        <p:spPr>
          <a:xfrm>
            <a:off x="10287000" y="8503920"/>
            <a:ext cx="822960" cy="274320"/>
          </a:xfrm>
          <a:prstGeom prst="rect">
            <a:avLst/>
          </a:prstGeom>
          <a:noFill/>
        </p:spPr>
        <p:txBody>
          <a:bodyPr wrap="square" lIns="0" tIns="0" rIns="0" bIns="0" anchor="t">
            <a:spAutoFit/>
          </a:bodyPr>
          <a:lstStyle/>
          <a:p>
            <a:pPr algn="ctr"/>
            <a:r>
              <a:rPr sz="1400" b="0">
                <a:solidFill>
                  <a:srgbClr val="606060"/>
                </a:solidFill>
                <a:latin typeface="Inter"/>
              </a:rPr>
              <a:t>m1</a:t>
            </a:r>
          </a:p>
        </p:txBody>
      </p:sp>
      <p:sp>
        <p:nvSpPr>
          <p:cNvPr id="49" name="TextBox 48"/>
          <p:cNvSpPr txBox="1"/>
          <p:nvPr/>
        </p:nvSpPr>
        <p:spPr>
          <a:xfrm>
            <a:off x="11756571" y="8503920"/>
            <a:ext cx="822960" cy="274320"/>
          </a:xfrm>
          <a:prstGeom prst="rect">
            <a:avLst/>
          </a:prstGeom>
          <a:noFill/>
        </p:spPr>
        <p:txBody>
          <a:bodyPr wrap="square" lIns="0" tIns="0" rIns="0" bIns="0" anchor="t">
            <a:spAutoFit/>
          </a:bodyPr>
          <a:lstStyle/>
          <a:p>
            <a:pPr algn="ctr"/>
            <a:r>
              <a:rPr sz="1400" b="0">
                <a:solidFill>
                  <a:srgbClr val="606060"/>
                </a:solidFill>
                <a:latin typeface="Inter"/>
              </a:rPr>
              <a:t>m13</a:t>
            </a:r>
          </a:p>
        </p:txBody>
      </p:sp>
      <p:sp>
        <p:nvSpPr>
          <p:cNvPr id="50" name="TextBox 49"/>
          <p:cNvSpPr txBox="1"/>
          <p:nvPr/>
        </p:nvSpPr>
        <p:spPr>
          <a:xfrm>
            <a:off x="12736285" y="8503920"/>
            <a:ext cx="822960" cy="274320"/>
          </a:xfrm>
          <a:prstGeom prst="rect">
            <a:avLst/>
          </a:prstGeom>
          <a:noFill/>
        </p:spPr>
        <p:txBody>
          <a:bodyPr wrap="square" lIns="0" tIns="0" rIns="0" bIns="0" anchor="t">
            <a:spAutoFit/>
          </a:bodyPr>
          <a:lstStyle/>
          <a:p>
            <a:pPr algn="ctr"/>
            <a:r>
              <a:rPr sz="1400" b="0">
                <a:solidFill>
                  <a:srgbClr val="606060"/>
                </a:solidFill>
                <a:latin typeface="Inter"/>
              </a:rPr>
              <a:t>m21</a:t>
            </a:r>
          </a:p>
        </p:txBody>
      </p:sp>
      <p:sp>
        <p:nvSpPr>
          <p:cNvPr id="51" name="TextBox 50"/>
          <p:cNvSpPr txBox="1"/>
          <p:nvPr/>
        </p:nvSpPr>
        <p:spPr>
          <a:xfrm>
            <a:off x="17022535" y="8503920"/>
            <a:ext cx="822960" cy="274320"/>
          </a:xfrm>
          <a:prstGeom prst="rect">
            <a:avLst/>
          </a:prstGeom>
          <a:noFill/>
        </p:spPr>
        <p:txBody>
          <a:bodyPr wrap="square" lIns="0" tIns="0" rIns="0" bIns="0" anchor="t">
            <a:spAutoFit/>
          </a:bodyPr>
          <a:lstStyle/>
          <a:p>
            <a:pPr algn="ctr"/>
            <a:r>
              <a:rPr sz="1400" b="0">
                <a:solidFill>
                  <a:srgbClr val="606060"/>
                </a:solidFill>
                <a:latin typeface="Inter"/>
              </a:rPr>
              <a:t>m56</a:t>
            </a:r>
          </a:p>
        </p:txBody>
      </p:sp>
      <p:sp>
        <p:nvSpPr>
          <p:cNvPr id="52"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23</a:t>
            </a:r>
          </a:p>
        </p:txBody>
      </p:sp>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Gantt de implementación</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Meses 1–24 · congelamientos, certificaciones, reversión y riesgos a la vista</a:t>
            </a:r>
          </a:p>
        </p:txBody>
      </p:sp>
      <p:sp>
        <p:nvSpPr>
          <p:cNvPr id="51" name="Rectangle 50"/>
          <p:cNvSpPr/>
          <p:nvPr/>
        </p:nvSpPr>
        <p:spPr>
          <a:xfrm>
            <a:off x="7760970"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 name="TextBox 51"/>
          <p:cNvSpPr txBox="1"/>
          <p:nvPr/>
        </p:nvSpPr>
        <p:spPr>
          <a:xfrm>
            <a:off x="7669530"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Sep</a:t>
            </a:r>
          </a:p>
        </p:txBody>
      </p:sp>
      <p:sp>
        <p:nvSpPr>
          <p:cNvPr id="53" name="Rectangle 52"/>
          <p:cNvSpPr/>
          <p:nvPr/>
        </p:nvSpPr>
        <p:spPr>
          <a:xfrm>
            <a:off x="9441180"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4" name="TextBox 53"/>
          <p:cNvSpPr txBox="1"/>
          <p:nvPr/>
        </p:nvSpPr>
        <p:spPr>
          <a:xfrm>
            <a:off x="9349740"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Dic</a:t>
            </a:r>
          </a:p>
        </p:txBody>
      </p:sp>
      <p:sp>
        <p:nvSpPr>
          <p:cNvPr id="55" name="Rectangle 54"/>
          <p:cNvSpPr/>
          <p:nvPr/>
        </p:nvSpPr>
        <p:spPr>
          <a:xfrm>
            <a:off x="14481809"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6" name="TextBox 55"/>
          <p:cNvSpPr txBox="1"/>
          <p:nvPr/>
        </p:nvSpPr>
        <p:spPr>
          <a:xfrm>
            <a:off x="14390369"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Sep</a:t>
            </a:r>
          </a:p>
        </p:txBody>
      </p:sp>
      <p:sp>
        <p:nvSpPr>
          <p:cNvPr id="57" name="Rectangle 56"/>
          <p:cNvSpPr/>
          <p:nvPr/>
        </p:nvSpPr>
        <p:spPr>
          <a:xfrm>
            <a:off x="16162019"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8" name="TextBox 57"/>
          <p:cNvSpPr txBox="1"/>
          <p:nvPr/>
        </p:nvSpPr>
        <p:spPr>
          <a:xfrm>
            <a:off x="16070579"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Dic</a:t>
            </a:r>
          </a:p>
        </p:txBody>
      </p:sp>
      <p:sp>
        <p:nvSpPr>
          <p:cNvPr id="59" name="TextBox 58"/>
          <p:cNvSpPr txBox="1"/>
          <p:nvPr/>
        </p:nvSpPr>
        <p:spPr>
          <a:xfrm>
            <a:off x="731520" y="3017520"/>
            <a:ext cx="3017520" cy="292608"/>
          </a:xfrm>
          <a:prstGeom prst="rect">
            <a:avLst/>
          </a:prstGeom>
          <a:noFill/>
        </p:spPr>
        <p:txBody>
          <a:bodyPr wrap="square" lIns="0" rIns="0" tIns="0" bIns="0" anchor="t">
            <a:spAutoFit/>
          </a:bodyPr>
          <a:lstStyle/>
          <a:p>
            <a:pPr algn="l"/>
            <a:r>
              <a:rPr sz="1400" b="0">
                <a:solidFill>
                  <a:srgbClr val="606060"/>
                </a:solidFill>
                <a:latin typeface="Inter"/>
              </a:rPr>
              <a:t>Gris = congelamiento</a:t>
            </a:r>
          </a:p>
        </p:txBody>
      </p:sp>
      <p:sp>
        <p:nvSpPr>
          <p:cNvPr id="60" name="TextBox 59"/>
          <p:cNvSpPr txBox="1"/>
          <p:nvPr/>
        </p:nvSpPr>
        <p:spPr>
          <a:xfrm>
            <a:off x="731520" y="3383280"/>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Diseño e infraestructura</a:t>
            </a:r>
          </a:p>
        </p:txBody>
      </p:sp>
      <p:sp>
        <p:nvSpPr>
          <p:cNvPr id="61" name="!!gv_0"/>
          <p:cNvSpPr/>
          <p:nvPr/>
        </p:nvSpPr>
        <p:spPr>
          <a:xfrm>
            <a:off x="3840480" y="3383280"/>
            <a:ext cx="18288" cy="292608"/>
          </a:xfrm>
          <a:prstGeom prst="roundRect">
            <a:avLst>
              <a:gd name="adj" fmla="val 30000"/>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2" name="TextBox 61"/>
          <p:cNvSpPr txBox="1"/>
          <p:nvPr/>
        </p:nvSpPr>
        <p:spPr>
          <a:xfrm>
            <a:off x="731520" y="3767328"/>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Construcción y pruebas E1</a:t>
            </a:r>
          </a:p>
        </p:txBody>
      </p:sp>
      <p:sp>
        <p:nvSpPr>
          <p:cNvPr id="63" name="!!gv_1"/>
          <p:cNvSpPr/>
          <p:nvPr/>
        </p:nvSpPr>
        <p:spPr>
          <a:xfrm>
            <a:off x="6080760" y="3767328"/>
            <a:ext cx="18288" cy="29260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4" name="TextBox 63"/>
          <p:cNvSpPr txBox="1"/>
          <p:nvPr/>
        </p:nvSpPr>
        <p:spPr>
          <a:xfrm>
            <a:off x="731520" y="4151376"/>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Migración de datos</a:t>
            </a:r>
          </a:p>
        </p:txBody>
      </p:sp>
      <p:sp>
        <p:nvSpPr>
          <p:cNvPr id="65" name="!!gv_2"/>
          <p:cNvSpPr/>
          <p:nvPr/>
        </p:nvSpPr>
        <p:spPr>
          <a:xfrm>
            <a:off x="7200900" y="4151376"/>
            <a:ext cx="18288" cy="29260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6" name="TextBox 65"/>
          <p:cNvSpPr txBox="1"/>
          <p:nvPr/>
        </p:nvSpPr>
        <p:spPr>
          <a:xfrm>
            <a:off x="731520" y="4535424"/>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Marcha blanca E1</a:t>
            </a:r>
          </a:p>
        </p:txBody>
      </p:sp>
      <p:sp>
        <p:nvSpPr>
          <p:cNvPr id="67" name="!!gv_3"/>
          <p:cNvSpPr/>
          <p:nvPr/>
        </p:nvSpPr>
        <p:spPr>
          <a:xfrm>
            <a:off x="10561320" y="4535424"/>
            <a:ext cx="18288" cy="292608"/>
          </a:xfrm>
          <a:prstGeom prst="roundRect">
            <a:avLst>
              <a:gd name="adj" fmla="val 3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8" name="TextBox 67"/>
          <p:cNvSpPr txBox="1"/>
          <p:nvPr/>
        </p:nvSpPr>
        <p:spPr>
          <a:xfrm>
            <a:off x="731520" y="4919472"/>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Construcción y pruebas E2</a:t>
            </a:r>
          </a:p>
        </p:txBody>
      </p:sp>
      <p:sp>
        <p:nvSpPr>
          <p:cNvPr id="69" name="!!gv_4"/>
          <p:cNvSpPr/>
          <p:nvPr/>
        </p:nvSpPr>
        <p:spPr>
          <a:xfrm>
            <a:off x="10561320" y="4919472"/>
            <a:ext cx="18288" cy="292608"/>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0" name="TextBox 69"/>
          <p:cNvSpPr txBox="1"/>
          <p:nvPr/>
        </p:nvSpPr>
        <p:spPr>
          <a:xfrm>
            <a:off x="731520" y="5303520"/>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Marcha blanca E2</a:t>
            </a:r>
          </a:p>
        </p:txBody>
      </p:sp>
      <p:sp>
        <p:nvSpPr>
          <p:cNvPr id="71" name="!!gv_5"/>
          <p:cNvSpPr/>
          <p:nvPr/>
        </p:nvSpPr>
        <p:spPr>
          <a:xfrm>
            <a:off x="13921739" y="5303520"/>
            <a:ext cx="18288" cy="292608"/>
          </a:xfrm>
          <a:prstGeom prst="roundRect">
            <a:avLst>
              <a:gd name="adj" fmla="val 30000"/>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2" name="TextBox 71"/>
          <p:cNvSpPr txBox="1"/>
          <p:nvPr/>
        </p:nvSpPr>
        <p:spPr>
          <a:xfrm>
            <a:off x="731520" y="5687568"/>
            <a:ext cx="3017520" cy="292608"/>
          </a:xfrm>
          <a:prstGeom prst="rect">
            <a:avLst/>
          </a:prstGeom>
          <a:noFill/>
        </p:spPr>
        <p:txBody>
          <a:bodyPr wrap="square" lIns="0" rIns="0" tIns="0" bIns="0" anchor="ctr">
            <a:spAutoFit/>
          </a:bodyPr>
          <a:lstStyle/>
          <a:p>
            <a:pPr algn="l"/>
            <a:r>
              <a:rPr sz="1400" b="1">
                <a:solidFill>
                  <a:srgbClr val="B84A0F"/>
                </a:solidFill>
                <a:latin typeface="Inter SemiBold"/>
              </a:rPr>
              <a:t>Calidad</a:t>
            </a:r>
          </a:p>
        </p:txBody>
      </p:sp>
      <p:sp>
        <p:nvSpPr>
          <p:cNvPr id="73" name="!!gv_6"/>
          <p:cNvSpPr/>
          <p:nvPr/>
        </p:nvSpPr>
        <p:spPr>
          <a:xfrm>
            <a:off x="10561320" y="5779008"/>
            <a:ext cx="18288" cy="109728"/>
          </a:xfrm>
          <a:prstGeom prst="roundRect">
            <a:avLst>
              <a:gd name="adj" fmla="val 30000"/>
            </a:avLst>
          </a:prstGeom>
          <a:solidFill>
            <a:srgbClr val="F3C9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4" name="!!gv_7"/>
          <p:cNvSpPr/>
          <p:nvPr/>
        </p:nvSpPr>
        <p:spPr>
          <a:xfrm>
            <a:off x="8321040" y="5687568"/>
            <a:ext cx="18288" cy="292608"/>
          </a:xfrm>
          <a:prstGeom prst="roundRect">
            <a:avLst>
              <a:gd name="adj" fmla="val 3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5" name="!!gv_8"/>
          <p:cNvSpPr/>
          <p:nvPr/>
        </p:nvSpPr>
        <p:spPr>
          <a:xfrm>
            <a:off x="12241530" y="5687568"/>
            <a:ext cx="18288" cy="292608"/>
          </a:xfrm>
          <a:prstGeom prst="roundRect">
            <a:avLst>
              <a:gd name="adj" fmla="val 3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6" name="TextBox 75"/>
          <p:cNvSpPr txBox="1"/>
          <p:nvPr/>
        </p:nvSpPr>
        <p:spPr>
          <a:xfrm>
            <a:off x="731520" y="6071616"/>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Gestión del cambio</a:t>
            </a:r>
          </a:p>
        </p:txBody>
      </p:sp>
      <p:sp>
        <p:nvSpPr>
          <p:cNvPr id="77" name="!!gv_9"/>
          <p:cNvSpPr/>
          <p:nvPr/>
        </p:nvSpPr>
        <p:spPr>
          <a:xfrm>
            <a:off x="4400550" y="6071616"/>
            <a:ext cx="18288" cy="292608"/>
          </a:xfrm>
          <a:prstGeom prst="roundRect">
            <a:avLst>
              <a:gd name="adj" fmla="val 30000"/>
            </a:avLst>
          </a:prstGeom>
          <a:solidFill>
            <a:srgbClr val="C7C7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 name="TextBox 77"/>
          <p:cNvSpPr txBox="1"/>
          <p:nvPr/>
        </p:nvSpPr>
        <p:spPr>
          <a:xfrm>
            <a:off x="731520" y="6455664"/>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Operación → m56</a:t>
            </a:r>
          </a:p>
        </p:txBody>
      </p:sp>
      <p:sp>
        <p:nvSpPr>
          <p:cNvPr id="79" name="!!gv_10"/>
          <p:cNvSpPr/>
          <p:nvPr/>
        </p:nvSpPr>
        <p:spPr>
          <a:xfrm>
            <a:off x="15041880" y="6455664"/>
            <a:ext cx="18288" cy="292608"/>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0" name="TextBox 79"/>
          <p:cNvSpPr txBox="1"/>
          <p:nvPr/>
        </p:nvSpPr>
        <p:spPr>
          <a:xfrm>
            <a:off x="731520" y="6839712"/>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Cambios de software</a:t>
            </a:r>
          </a:p>
        </p:txBody>
      </p:sp>
      <p:sp>
        <p:nvSpPr>
          <p:cNvPr id="81" name="TextBox 80"/>
          <p:cNvSpPr txBox="1"/>
          <p:nvPr/>
        </p:nvSpPr>
        <p:spPr>
          <a:xfrm>
            <a:off x="731520" y="7223760"/>
            <a:ext cx="3017520" cy="457200"/>
          </a:xfrm>
          <a:prstGeom prst="rect">
            <a:avLst/>
          </a:prstGeom>
          <a:noFill/>
        </p:spPr>
        <p:txBody>
          <a:bodyPr wrap="square" lIns="0" rIns="0" tIns="0" bIns="0" anchor="ctr">
            <a:spAutoFit/>
          </a:bodyPr>
          <a:lstStyle/>
          <a:p>
            <a:pPr algn="l"/>
            <a:r>
              <a:rPr sz="1400" b="1">
                <a:solidFill>
                  <a:srgbClr val="111111"/>
                </a:solidFill>
                <a:latin typeface="Inter SemiBold"/>
              </a:rPr>
              <a:t>Hitos</a:t>
            </a:r>
          </a:p>
        </p:txBody>
      </p:sp>
      <p:sp>
        <p:nvSpPr>
          <p:cNvPr id="82" name="TextBox 81"/>
          <p:cNvSpPr txBox="1"/>
          <p:nvPr/>
        </p:nvSpPr>
        <p:spPr>
          <a:xfrm>
            <a:off x="731520" y="7772400"/>
            <a:ext cx="3017520" cy="292608"/>
          </a:xfrm>
          <a:prstGeom prst="rect">
            <a:avLst/>
          </a:prstGeom>
          <a:noFill/>
        </p:spPr>
        <p:txBody>
          <a:bodyPr wrap="square" lIns="0" rIns="0" tIns="0" bIns="0" anchor="ctr">
            <a:spAutoFit/>
          </a:bodyPr>
          <a:lstStyle/>
          <a:p>
            <a:pPr algn="l"/>
            <a:r>
              <a:rPr sz="1400" b="1">
                <a:solidFill>
                  <a:srgbClr val="E8641B"/>
                </a:solidFill>
                <a:latin typeface="Inter SemiBold"/>
              </a:rPr>
              <a:t>Riesgos</a:t>
            </a:r>
          </a:p>
        </p:txBody>
      </p:sp>
      <p:cxnSp>
        <p:nvCxnSpPr>
          <p:cNvPr id="83" name="Connector 82"/>
          <p:cNvCxnSpPr/>
          <p:nvPr/>
        </p:nvCxnSpPr>
        <p:spPr>
          <a:xfrm>
            <a:off x="3840480" y="8174736"/>
            <a:ext cx="13441680" cy="0"/>
          </a:xfrm>
          <a:prstGeom prst="line">
            <a:avLst/>
          </a:prstGeom>
          <a:ln w="12700">
            <a:solidFill>
              <a:srgbClr val="9A9A9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38404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a:t>
            </a:r>
          </a:p>
        </p:txBody>
      </p:sp>
      <p:sp>
        <p:nvSpPr>
          <p:cNvPr id="85" name="TextBox 84"/>
          <p:cNvSpPr txBox="1"/>
          <p:nvPr/>
        </p:nvSpPr>
        <p:spPr>
          <a:xfrm>
            <a:off x="44005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a:t>
            </a:r>
          </a:p>
        </p:txBody>
      </p:sp>
      <p:sp>
        <p:nvSpPr>
          <p:cNvPr id="86" name="TextBox 85"/>
          <p:cNvSpPr txBox="1"/>
          <p:nvPr/>
        </p:nvSpPr>
        <p:spPr>
          <a:xfrm>
            <a:off x="496062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3</a:t>
            </a:r>
          </a:p>
        </p:txBody>
      </p:sp>
      <p:sp>
        <p:nvSpPr>
          <p:cNvPr id="87" name="TextBox 86"/>
          <p:cNvSpPr txBox="1"/>
          <p:nvPr/>
        </p:nvSpPr>
        <p:spPr>
          <a:xfrm>
            <a:off x="552069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4</a:t>
            </a:r>
          </a:p>
        </p:txBody>
      </p:sp>
      <p:sp>
        <p:nvSpPr>
          <p:cNvPr id="88" name="TextBox 87"/>
          <p:cNvSpPr txBox="1"/>
          <p:nvPr/>
        </p:nvSpPr>
        <p:spPr>
          <a:xfrm>
            <a:off x="608076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5</a:t>
            </a:r>
          </a:p>
        </p:txBody>
      </p:sp>
      <p:sp>
        <p:nvSpPr>
          <p:cNvPr id="89" name="TextBox 88"/>
          <p:cNvSpPr txBox="1"/>
          <p:nvPr/>
        </p:nvSpPr>
        <p:spPr>
          <a:xfrm>
            <a:off x="664082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6</a:t>
            </a:r>
          </a:p>
        </p:txBody>
      </p:sp>
      <p:sp>
        <p:nvSpPr>
          <p:cNvPr id="90" name="TextBox 89"/>
          <p:cNvSpPr txBox="1"/>
          <p:nvPr/>
        </p:nvSpPr>
        <p:spPr>
          <a:xfrm>
            <a:off x="720090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7</a:t>
            </a:r>
          </a:p>
        </p:txBody>
      </p:sp>
      <p:sp>
        <p:nvSpPr>
          <p:cNvPr id="91" name="TextBox 90"/>
          <p:cNvSpPr txBox="1"/>
          <p:nvPr/>
        </p:nvSpPr>
        <p:spPr>
          <a:xfrm>
            <a:off x="776097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8</a:t>
            </a:r>
          </a:p>
        </p:txBody>
      </p:sp>
      <p:sp>
        <p:nvSpPr>
          <p:cNvPr id="92" name="TextBox 91"/>
          <p:cNvSpPr txBox="1"/>
          <p:nvPr/>
        </p:nvSpPr>
        <p:spPr>
          <a:xfrm>
            <a:off x="832104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9</a:t>
            </a:r>
          </a:p>
        </p:txBody>
      </p:sp>
      <p:sp>
        <p:nvSpPr>
          <p:cNvPr id="93" name="TextBox 92"/>
          <p:cNvSpPr txBox="1"/>
          <p:nvPr/>
        </p:nvSpPr>
        <p:spPr>
          <a:xfrm>
            <a:off x="888110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10</a:t>
            </a:r>
          </a:p>
        </p:txBody>
      </p:sp>
      <p:sp>
        <p:nvSpPr>
          <p:cNvPr id="94" name="TextBox 93"/>
          <p:cNvSpPr txBox="1"/>
          <p:nvPr/>
        </p:nvSpPr>
        <p:spPr>
          <a:xfrm>
            <a:off x="94411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11</a:t>
            </a:r>
          </a:p>
        </p:txBody>
      </p:sp>
      <p:sp>
        <p:nvSpPr>
          <p:cNvPr id="95" name="TextBox 94"/>
          <p:cNvSpPr txBox="1"/>
          <p:nvPr/>
        </p:nvSpPr>
        <p:spPr>
          <a:xfrm>
            <a:off x="100012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12</a:t>
            </a:r>
          </a:p>
        </p:txBody>
      </p:sp>
      <p:sp>
        <p:nvSpPr>
          <p:cNvPr id="96" name="TextBox 95"/>
          <p:cNvSpPr txBox="1"/>
          <p:nvPr/>
        </p:nvSpPr>
        <p:spPr>
          <a:xfrm>
            <a:off x="1056132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13</a:t>
            </a:r>
          </a:p>
        </p:txBody>
      </p:sp>
      <p:sp>
        <p:nvSpPr>
          <p:cNvPr id="97" name="TextBox 96"/>
          <p:cNvSpPr txBox="1"/>
          <p:nvPr/>
        </p:nvSpPr>
        <p:spPr>
          <a:xfrm>
            <a:off x="1112139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14</a:t>
            </a:r>
          </a:p>
        </p:txBody>
      </p:sp>
      <p:sp>
        <p:nvSpPr>
          <p:cNvPr id="98" name="TextBox 97"/>
          <p:cNvSpPr txBox="1"/>
          <p:nvPr/>
        </p:nvSpPr>
        <p:spPr>
          <a:xfrm>
            <a:off x="1168145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15</a:t>
            </a:r>
          </a:p>
        </p:txBody>
      </p:sp>
      <p:sp>
        <p:nvSpPr>
          <p:cNvPr id="99" name="TextBox 98"/>
          <p:cNvSpPr txBox="1"/>
          <p:nvPr/>
        </p:nvSpPr>
        <p:spPr>
          <a:xfrm>
            <a:off x="1224153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16</a:t>
            </a:r>
          </a:p>
        </p:txBody>
      </p:sp>
      <p:sp>
        <p:nvSpPr>
          <p:cNvPr id="100" name="TextBox 99"/>
          <p:cNvSpPr txBox="1"/>
          <p:nvPr/>
        </p:nvSpPr>
        <p:spPr>
          <a:xfrm>
            <a:off x="1280160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17</a:t>
            </a:r>
          </a:p>
        </p:txBody>
      </p:sp>
      <p:sp>
        <p:nvSpPr>
          <p:cNvPr id="101" name="TextBox 100"/>
          <p:cNvSpPr txBox="1"/>
          <p:nvPr/>
        </p:nvSpPr>
        <p:spPr>
          <a:xfrm>
            <a:off x="1336167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18</a:t>
            </a:r>
          </a:p>
        </p:txBody>
      </p:sp>
      <p:sp>
        <p:nvSpPr>
          <p:cNvPr id="102" name="TextBox 101"/>
          <p:cNvSpPr txBox="1"/>
          <p:nvPr/>
        </p:nvSpPr>
        <p:spPr>
          <a:xfrm>
            <a:off x="1392173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19</a:t>
            </a:r>
          </a:p>
        </p:txBody>
      </p:sp>
      <p:sp>
        <p:nvSpPr>
          <p:cNvPr id="103" name="TextBox 102"/>
          <p:cNvSpPr txBox="1"/>
          <p:nvPr/>
        </p:nvSpPr>
        <p:spPr>
          <a:xfrm>
            <a:off x="1448180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20</a:t>
            </a:r>
          </a:p>
        </p:txBody>
      </p:sp>
      <p:sp>
        <p:nvSpPr>
          <p:cNvPr id="104" name="TextBox 103"/>
          <p:cNvSpPr txBox="1"/>
          <p:nvPr/>
        </p:nvSpPr>
        <p:spPr>
          <a:xfrm>
            <a:off x="150418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21</a:t>
            </a:r>
          </a:p>
        </p:txBody>
      </p:sp>
      <p:sp>
        <p:nvSpPr>
          <p:cNvPr id="105" name="TextBox 104"/>
          <p:cNvSpPr txBox="1"/>
          <p:nvPr/>
        </p:nvSpPr>
        <p:spPr>
          <a:xfrm>
            <a:off x="156019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22</a:t>
            </a:r>
          </a:p>
        </p:txBody>
      </p:sp>
      <p:sp>
        <p:nvSpPr>
          <p:cNvPr id="106" name="TextBox 105"/>
          <p:cNvSpPr txBox="1"/>
          <p:nvPr/>
        </p:nvSpPr>
        <p:spPr>
          <a:xfrm>
            <a:off x="1616201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23</a:t>
            </a:r>
          </a:p>
        </p:txBody>
      </p:sp>
      <p:sp>
        <p:nvSpPr>
          <p:cNvPr id="107" name="TextBox 106"/>
          <p:cNvSpPr txBox="1"/>
          <p:nvPr/>
        </p:nvSpPr>
        <p:spPr>
          <a:xfrm>
            <a:off x="1672208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24</a:t>
            </a:r>
          </a:p>
        </p:txBody>
      </p:sp>
      <p:sp>
        <p:nvSpPr>
          <p:cNvPr id="108"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24</a:t>
            </a:r>
          </a:p>
        </p:txBody>
      </p:sp>
    </p:spTree>
  </p:cSld>
  <p:clrMapOvr>
    <a:masterClrMapping/>
  </p:clrMapOvr>
  <p:transition spd="med" advTm="100">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Gantt de implementación</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Meses 1–24 · congelamientos, certificaciones, reversión y riesgos a la vista</a:t>
            </a:r>
          </a:p>
        </p:txBody>
      </p:sp>
      <p:sp>
        <p:nvSpPr>
          <p:cNvPr id="51" name="Rectangle 50"/>
          <p:cNvSpPr/>
          <p:nvPr/>
        </p:nvSpPr>
        <p:spPr>
          <a:xfrm>
            <a:off x="7760970"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 name="TextBox 51"/>
          <p:cNvSpPr txBox="1"/>
          <p:nvPr/>
        </p:nvSpPr>
        <p:spPr>
          <a:xfrm>
            <a:off x="7669530"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Sep</a:t>
            </a:r>
          </a:p>
        </p:txBody>
      </p:sp>
      <p:sp>
        <p:nvSpPr>
          <p:cNvPr id="53" name="Rectangle 52"/>
          <p:cNvSpPr/>
          <p:nvPr/>
        </p:nvSpPr>
        <p:spPr>
          <a:xfrm>
            <a:off x="9441180"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4" name="TextBox 53"/>
          <p:cNvSpPr txBox="1"/>
          <p:nvPr/>
        </p:nvSpPr>
        <p:spPr>
          <a:xfrm>
            <a:off x="9349740"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Dic</a:t>
            </a:r>
          </a:p>
        </p:txBody>
      </p:sp>
      <p:sp>
        <p:nvSpPr>
          <p:cNvPr id="55" name="Rectangle 54"/>
          <p:cNvSpPr/>
          <p:nvPr/>
        </p:nvSpPr>
        <p:spPr>
          <a:xfrm>
            <a:off x="14481809"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6" name="TextBox 55"/>
          <p:cNvSpPr txBox="1"/>
          <p:nvPr/>
        </p:nvSpPr>
        <p:spPr>
          <a:xfrm>
            <a:off x="14390369"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Sep</a:t>
            </a:r>
          </a:p>
        </p:txBody>
      </p:sp>
      <p:sp>
        <p:nvSpPr>
          <p:cNvPr id="57" name="Rectangle 56"/>
          <p:cNvSpPr/>
          <p:nvPr/>
        </p:nvSpPr>
        <p:spPr>
          <a:xfrm>
            <a:off x="16162019"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8" name="TextBox 57"/>
          <p:cNvSpPr txBox="1"/>
          <p:nvPr/>
        </p:nvSpPr>
        <p:spPr>
          <a:xfrm>
            <a:off x="16070579"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Dic</a:t>
            </a:r>
          </a:p>
        </p:txBody>
      </p:sp>
      <p:sp>
        <p:nvSpPr>
          <p:cNvPr id="59" name="TextBox 58"/>
          <p:cNvSpPr txBox="1"/>
          <p:nvPr/>
        </p:nvSpPr>
        <p:spPr>
          <a:xfrm>
            <a:off x="731520" y="3017520"/>
            <a:ext cx="3017520" cy="292608"/>
          </a:xfrm>
          <a:prstGeom prst="rect">
            <a:avLst/>
          </a:prstGeom>
          <a:noFill/>
        </p:spPr>
        <p:txBody>
          <a:bodyPr wrap="square" lIns="0" rIns="0" tIns="0" bIns="0" anchor="t">
            <a:spAutoFit/>
          </a:bodyPr>
          <a:lstStyle/>
          <a:p>
            <a:pPr algn="l"/>
            <a:r>
              <a:rPr sz="1400" b="0">
                <a:solidFill>
                  <a:srgbClr val="606060"/>
                </a:solidFill>
                <a:latin typeface="Inter"/>
              </a:rPr>
              <a:t>Gris = congelamiento</a:t>
            </a:r>
          </a:p>
        </p:txBody>
      </p:sp>
      <p:sp>
        <p:nvSpPr>
          <p:cNvPr id="60" name="TextBox 59"/>
          <p:cNvSpPr txBox="1"/>
          <p:nvPr/>
        </p:nvSpPr>
        <p:spPr>
          <a:xfrm>
            <a:off x="731520" y="3383280"/>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Diseño e infraestructura</a:t>
            </a:r>
          </a:p>
        </p:txBody>
      </p:sp>
      <p:sp>
        <p:nvSpPr>
          <p:cNvPr id="61" name="!!gv_0"/>
          <p:cNvSpPr/>
          <p:nvPr/>
        </p:nvSpPr>
        <p:spPr>
          <a:xfrm>
            <a:off x="3840480" y="3383280"/>
            <a:ext cx="6720840" cy="292608"/>
          </a:xfrm>
          <a:prstGeom prst="roundRect">
            <a:avLst>
              <a:gd name="adj" fmla="val 30000"/>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2" name="TextBox 61"/>
          <p:cNvSpPr txBox="1"/>
          <p:nvPr/>
        </p:nvSpPr>
        <p:spPr>
          <a:xfrm>
            <a:off x="731520" y="3767328"/>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Construcción y pruebas E1</a:t>
            </a:r>
          </a:p>
        </p:txBody>
      </p:sp>
      <p:sp>
        <p:nvSpPr>
          <p:cNvPr id="63" name="!!gv_1"/>
          <p:cNvSpPr/>
          <p:nvPr/>
        </p:nvSpPr>
        <p:spPr>
          <a:xfrm>
            <a:off x="6080760" y="3767328"/>
            <a:ext cx="3360420" cy="29260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4" name="TextBox 63"/>
          <p:cNvSpPr txBox="1"/>
          <p:nvPr/>
        </p:nvSpPr>
        <p:spPr>
          <a:xfrm>
            <a:off x="731520" y="4151376"/>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Migración de datos</a:t>
            </a:r>
          </a:p>
        </p:txBody>
      </p:sp>
      <p:sp>
        <p:nvSpPr>
          <p:cNvPr id="65" name="!!gv_2"/>
          <p:cNvSpPr/>
          <p:nvPr/>
        </p:nvSpPr>
        <p:spPr>
          <a:xfrm>
            <a:off x="7200900" y="4151376"/>
            <a:ext cx="3360420" cy="29260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6" name="TextBox 65"/>
          <p:cNvSpPr txBox="1"/>
          <p:nvPr/>
        </p:nvSpPr>
        <p:spPr>
          <a:xfrm>
            <a:off x="731520" y="4535424"/>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Marcha blanca E1</a:t>
            </a:r>
          </a:p>
        </p:txBody>
      </p:sp>
      <p:sp>
        <p:nvSpPr>
          <p:cNvPr id="67" name="!!gv_3"/>
          <p:cNvSpPr/>
          <p:nvPr/>
        </p:nvSpPr>
        <p:spPr>
          <a:xfrm>
            <a:off x="10561320" y="4535424"/>
            <a:ext cx="1680210" cy="292608"/>
          </a:xfrm>
          <a:prstGeom prst="roundRect">
            <a:avLst>
              <a:gd name="adj" fmla="val 3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8" name="TextBox 67"/>
          <p:cNvSpPr txBox="1"/>
          <p:nvPr/>
        </p:nvSpPr>
        <p:spPr>
          <a:xfrm>
            <a:off x="10561320" y="4535424"/>
            <a:ext cx="1680210" cy="292608"/>
          </a:xfrm>
          <a:prstGeom prst="rect">
            <a:avLst/>
          </a:prstGeom>
          <a:noFill/>
        </p:spPr>
        <p:txBody>
          <a:bodyPr wrap="square" lIns="0" rIns="0" tIns="0" bIns="0" anchor="ctr">
            <a:spAutoFit/>
          </a:bodyPr>
          <a:lstStyle/>
          <a:p>
            <a:pPr algn="ctr"/>
            <a:r>
              <a:rPr sz="1300" b="1">
                <a:solidFill>
                  <a:srgbClr val="111111"/>
                </a:solidFill>
                <a:latin typeface="Inter SemiBold"/>
              </a:rPr>
              <a:t>Olas 1·2·3</a:t>
            </a:r>
          </a:p>
        </p:txBody>
      </p:sp>
      <p:sp>
        <p:nvSpPr>
          <p:cNvPr id="69" name="TextBox 68"/>
          <p:cNvSpPr txBox="1"/>
          <p:nvPr/>
        </p:nvSpPr>
        <p:spPr>
          <a:xfrm>
            <a:off x="731520" y="4919472"/>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Construcción y pruebas E2</a:t>
            </a:r>
          </a:p>
        </p:txBody>
      </p:sp>
      <p:sp>
        <p:nvSpPr>
          <p:cNvPr id="70" name="!!gv_4"/>
          <p:cNvSpPr/>
          <p:nvPr/>
        </p:nvSpPr>
        <p:spPr>
          <a:xfrm>
            <a:off x="10561320" y="4919472"/>
            <a:ext cx="3360420" cy="292608"/>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1" name="TextBox 70"/>
          <p:cNvSpPr txBox="1"/>
          <p:nvPr/>
        </p:nvSpPr>
        <p:spPr>
          <a:xfrm>
            <a:off x="731520" y="5303520"/>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Marcha blanca E2</a:t>
            </a:r>
          </a:p>
        </p:txBody>
      </p:sp>
      <p:sp>
        <p:nvSpPr>
          <p:cNvPr id="72" name="!!gv_5"/>
          <p:cNvSpPr/>
          <p:nvPr/>
        </p:nvSpPr>
        <p:spPr>
          <a:xfrm>
            <a:off x="13921739" y="5303520"/>
            <a:ext cx="1120139" cy="292608"/>
          </a:xfrm>
          <a:prstGeom prst="roundRect">
            <a:avLst>
              <a:gd name="adj" fmla="val 30000"/>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3" name="TextBox 72"/>
          <p:cNvSpPr txBox="1"/>
          <p:nvPr/>
        </p:nvSpPr>
        <p:spPr>
          <a:xfrm>
            <a:off x="731520" y="5687568"/>
            <a:ext cx="3017520" cy="292608"/>
          </a:xfrm>
          <a:prstGeom prst="rect">
            <a:avLst/>
          </a:prstGeom>
          <a:noFill/>
        </p:spPr>
        <p:txBody>
          <a:bodyPr wrap="square" lIns="0" rIns="0" tIns="0" bIns="0" anchor="ctr">
            <a:spAutoFit/>
          </a:bodyPr>
          <a:lstStyle/>
          <a:p>
            <a:pPr algn="l"/>
            <a:r>
              <a:rPr sz="1400" b="1">
                <a:solidFill>
                  <a:srgbClr val="B84A0F"/>
                </a:solidFill>
                <a:latin typeface="Inter SemiBold"/>
              </a:rPr>
              <a:t>Calidad</a:t>
            </a:r>
          </a:p>
        </p:txBody>
      </p:sp>
      <p:sp>
        <p:nvSpPr>
          <p:cNvPr id="74" name="!!gv_6"/>
          <p:cNvSpPr/>
          <p:nvPr/>
        </p:nvSpPr>
        <p:spPr>
          <a:xfrm>
            <a:off x="10561320" y="5779008"/>
            <a:ext cx="6720840" cy="109728"/>
          </a:xfrm>
          <a:prstGeom prst="roundRect">
            <a:avLst>
              <a:gd name="adj" fmla="val 30000"/>
            </a:avLst>
          </a:prstGeom>
          <a:solidFill>
            <a:srgbClr val="F3C9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5" name="!!gv_7"/>
          <p:cNvSpPr/>
          <p:nvPr/>
        </p:nvSpPr>
        <p:spPr>
          <a:xfrm>
            <a:off x="8321040" y="5687568"/>
            <a:ext cx="1120139" cy="292608"/>
          </a:xfrm>
          <a:prstGeom prst="roundRect">
            <a:avLst>
              <a:gd name="adj" fmla="val 3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6" name="!!gv_8"/>
          <p:cNvSpPr/>
          <p:nvPr/>
        </p:nvSpPr>
        <p:spPr>
          <a:xfrm>
            <a:off x="12241530" y="5687568"/>
            <a:ext cx="1120139" cy="292608"/>
          </a:xfrm>
          <a:prstGeom prst="roundRect">
            <a:avLst>
              <a:gd name="adj" fmla="val 3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 name="TextBox 76"/>
          <p:cNvSpPr txBox="1"/>
          <p:nvPr/>
        </p:nvSpPr>
        <p:spPr>
          <a:xfrm>
            <a:off x="8321040" y="5687568"/>
            <a:ext cx="1120139" cy="292608"/>
          </a:xfrm>
          <a:prstGeom prst="rect">
            <a:avLst/>
          </a:prstGeom>
          <a:noFill/>
        </p:spPr>
        <p:txBody>
          <a:bodyPr wrap="square" lIns="0" rIns="0" tIns="0" bIns="0" anchor="ctr">
            <a:spAutoFit/>
          </a:bodyPr>
          <a:lstStyle/>
          <a:p>
            <a:pPr algn="ctr"/>
            <a:r>
              <a:rPr sz="1300" b="1">
                <a:solidFill>
                  <a:srgbClr val="FFFFFF"/>
                </a:solidFill>
                <a:latin typeface="Inter SemiBold"/>
              </a:rPr>
              <a:t>Certif.</a:t>
            </a:r>
          </a:p>
        </p:txBody>
      </p:sp>
      <p:sp>
        <p:nvSpPr>
          <p:cNvPr id="78" name="TextBox 77"/>
          <p:cNvSpPr txBox="1"/>
          <p:nvPr/>
        </p:nvSpPr>
        <p:spPr>
          <a:xfrm>
            <a:off x="12241530" y="5687568"/>
            <a:ext cx="1120139" cy="292608"/>
          </a:xfrm>
          <a:prstGeom prst="rect">
            <a:avLst/>
          </a:prstGeom>
          <a:noFill/>
        </p:spPr>
        <p:txBody>
          <a:bodyPr wrap="square" lIns="0" rIns="0" tIns="0" bIns="0" anchor="ctr">
            <a:spAutoFit/>
          </a:bodyPr>
          <a:lstStyle/>
          <a:p>
            <a:pPr algn="ctr"/>
            <a:r>
              <a:rPr sz="1300" b="1">
                <a:solidFill>
                  <a:srgbClr val="FFFFFF"/>
                </a:solidFill>
                <a:latin typeface="Inter SemiBold"/>
              </a:rPr>
              <a:t>Certif.</a:t>
            </a:r>
          </a:p>
        </p:txBody>
      </p:sp>
      <p:sp>
        <p:nvSpPr>
          <p:cNvPr id="79" name="TextBox 78"/>
          <p:cNvSpPr txBox="1"/>
          <p:nvPr/>
        </p:nvSpPr>
        <p:spPr>
          <a:xfrm>
            <a:off x="13361670" y="5687568"/>
            <a:ext cx="1400174" cy="292608"/>
          </a:xfrm>
          <a:prstGeom prst="rect">
            <a:avLst/>
          </a:prstGeom>
          <a:noFill/>
        </p:spPr>
        <p:txBody>
          <a:bodyPr wrap="square" lIns="0" rIns="0" tIns="0" bIns="0" anchor="ctr">
            <a:spAutoFit/>
          </a:bodyPr>
          <a:lstStyle/>
          <a:p>
            <a:pPr algn="ctr"/>
            <a:r>
              <a:rPr sz="1300" b="1">
                <a:solidFill>
                  <a:srgbClr val="B84A0F"/>
                </a:solidFill>
                <a:latin typeface="Inter SemiBold"/>
              </a:rPr>
              <a:t>restauración</a:t>
            </a:r>
          </a:p>
        </p:txBody>
      </p:sp>
      <p:sp>
        <p:nvSpPr>
          <p:cNvPr id="80" name="TextBox 79"/>
          <p:cNvSpPr txBox="1"/>
          <p:nvPr/>
        </p:nvSpPr>
        <p:spPr>
          <a:xfrm>
            <a:off x="731520" y="6071616"/>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Gestión del cambio</a:t>
            </a:r>
          </a:p>
        </p:txBody>
      </p:sp>
      <p:sp>
        <p:nvSpPr>
          <p:cNvPr id="81" name="!!gv_9"/>
          <p:cNvSpPr/>
          <p:nvPr/>
        </p:nvSpPr>
        <p:spPr>
          <a:xfrm>
            <a:off x="4400550" y="6071616"/>
            <a:ext cx="11201399" cy="292608"/>
          </a:xfrm>
          <a:prstGeom prst="roundRect">
            <a:avLst>
              <a:gd name="adj" fmla="val 30000"/>
            </a:avLst>
          </a:prstGeom>
          <a:solidFill>
            <a:srgbClr val="C7C7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2" name="TextBox 81"/>
          <p:cNvSpPr txBox="1"/>
          <p:nvPr/>
        </p:nvSpPr>
        <p:spPr>
          <a:xfrm>
            <a:off x="731520" y="6455664"/>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Operación → m56</a:t>
            </a:r>
          </a:p>
        </p:txBody>
      </p:sp>
      <p:sp>
        <p:nvSpPr>
          <p:cNvPr id="83" name="!!gv_10"/>
          <p:cNvSpPr/>
          <p:nvPr/>
        </p:nvSpPr>
        <p:spPr>
          <a:xfrm>
            <a:off x="15041880" y="6455664"/>
            <a:ext cx="2240279" cy="292608"/>
          </a:xfrm>
          <a:prstGeom prst="homePlate">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4" name="TextBox 83"/>
          <p:cNvSpPr txBox="1"/>
          <p:nvPr/>
        </p:nvSpPr>
        <p:spPr>
          <a:xfrm>
            <a:off x="731520" y="6839712"/>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Cambios de software</a:t>
            </a:r>
          </a:p>
        </p:txBody>
      </p:sp>
      <p:sp>
        <p:nvSpPr>
          <p:cNvPr id="85" name="TextBox 84"/>
          <p:cNvSpPr txBox="1"/>
          <p:nvPr/>
        </p:nvSpPr>
        <p:spPr>
          <a:xfrm>
            <a:off x="731520" y="7223760"/>
            <a:ext cx="3017520" cy="457200"/>
          </a:xfrm>
          <a:prstGeom prst="rect">
            <a:avLst/>
          </a:prstGeom>
          <a:noFill/>
        </p:spPr>
        <p:txBody>
          <a:bodyPr wrap="square" lIns="0" rIns="0" tIns="0" bIns="0" anchor="ctr">
            <a:spAutoFit/>
          </a:bodyPr>
          <a:lstStyle/>
          <a:p>
            <a:pPr algn="l"/>
            <a:r>
              <a:rPr sz="1400" b="1">
                <a:solidFill>
                  <a:srgbClr val="111111"/>
                </a:solidFill>
                <a:latin typeface="Inter SemiBold"/>
              </a:rPr>
              <a:t>Hitos</a:t>
            </a:r>
          </a:p>
        </p:txBody>
      </p:sp>
      <p:sp>
        <p:nvSpPr>
          <p:cNvPr id="86" name="TextBox 85"/>
          <p:cNvSpPr txBox="1"/>
          <p:nvPr/>
        </p:nvSpPr>
        <p:spPr>
          <a:xfrm>
            <a:off x="731520" y="7772400"/>
            <a:ext cx="3017520" cy="292608"/>
          </a:xfrm>
          <a:prstGeom prst="rect">
            <a:avLst/>
          </a:prstGeom>
          <a:noFill/>
        </p:spPr>
        <p:txBody>
          <a:bodyPr wrap="square" lIns="0" rIns="0" tIns="0" bIns="0" anchor="ctr">
            <a:spAutoFit/>
          </a:bodyPr>
          <a:lstStyle/>
          <a:p>
            <a:pPr algn="l"/>
            <a:r>
              <a:rPr sz="1400" b="1">
                <a:solidFill>
                  <a:srgbClr val="E8641B"/>
                </a:solidFill>
                <a:latin typeface="Inter SemiBold"/>
              </a:rPr>
              <a:t>Riesgos</a:t>
            </a:r>
          </a:p>
        </p:txBody>
      </p:sp>
      <p:cxnSp>
        <p:nvCxnSpPr>
          <p:cNvPr id="87" name="Connector 86"/>
          <p:cNvCxnSpPr/>
          <p:nvPr/>
        </p:nvCxnSpPr>
        <p:spPr>
          <a:xfrm>
            <a:off x="3840480" y="8174736"/>
            <a:ext cx="13441680" cy="0"/>
          </a:xfrm>
          <a:prstGeom prst="line">
            <a:avLst/>
          </a:prstGeom>
          <a:ln w="12700">
            <a:solidFill>
              <a:srgbClr val="9A9A9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38404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a:t>
            </a:r>
          </a:p>
        </p:txBody>
      </p:sp>
      <p:sp>
        <p:nvSpPr>
          <p:cNvPr id="89" name="TextBox 88"/>
          <p:cNvSpPr txBox="1"/>
          <p:nvPr/>
        </p:nvSpPr>
        <p:spPr>
          <a:xfrm>
            <a:off x="44005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a:t>
            </a:r>
          </a:p>
        </p:txBody>
      </p:sp>
      <p:sp>
        <p:nvSpPr>
          <p:cNvPr id="90" name="TextBox 89"/>
          <p:cNvSpPr txBox="1"/>
          <p:nvPr/>
        </p:nvSpPr>
        <p:spPr>
          <a:xfrm>
            <a:off x="496062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3</a:t>
            </a:r>
          </a:p>
        </p:txBody>
      </p:sp>
      <p:sp>
        <p:nvSpPr>
          <p:cNvPr id="91" name="TextBox 90"/>
          <p:cNvSpPr txBox="1"/>
          <p:nvPr/>
        </p:nvSpPr>
        <p:spPr>
          <a:xfrm>
            <a:off x="552069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4</a:t>
            </a:r>
          </a:p>
        </p:txBody>
      </p:sp>
      <p:sp>
        <p:nvSpPr>
          <p:cNvPr id="92" name="TextBox 91"/>
          <p:cNvSpPr txBox="1"/>
          <p:nvPr/>
        </p:nvSpPr>
        <p:spPr>
          <a:xfrm>
            <a:off x="608076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5</a:t>
            </a:r>
          </a:p>
        </p:txBody>
      </p:sp>
      <p:sp>
        <p:nvSpPr>
          <p:cNvPr id="93" name="TextBox 92"/>
          <p:cNvSpPr txBox="1"/>
          <p:nvPr/>
        </p:nvSpPr>
        <p:spPr>
          <a:xfrm>
            <a:off x="664082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6</a:t>
            </a:r>
          </a:p>
        </p:txBody>
      </p:sp>
      <p:sp>
        <p:nvSpPr>
          <p:cNvPr id="94" name="TextBox 93"/>
          <p:cNvSpPr txBox="1"/>
          <p:nvPr/>
        </p:nvSpPr>
        <p:spPr>
          <a:xfrm>
            <a:off x="720090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7</a:t>
            </a:r>
          </a:p>
        </p:txBody>
      </p:sp>
      <p:sp>
        <p:nvSpPr>
          <p:cNvPr id="95" name="TextBox 94"/>
          <p:cNvSpPr txBox="1"/>
          <p:nvPr/>
        </p:nvSpPr>
        <p:spPr>
          <a:xfrm>
            <a:off x="776097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8</a:t>
            </a:r>
          </a:p>
        </p:txBody>
      </p:sp>
      <p:sp>
        <p:nvSpPr>
          <p:cNvPr id="96" name="TextBox 95"/>
          <p:cNvSpPr txBox="1"/>
          <p:nvPr/>
        </p:nvSpPr>
        <p:spPr>
          <a:xfrm>
            <a:off x="832104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9</a:t>
            </a:r>
          </a:p>
        </p:txBody>
      </p:sp>
      <p:sp>
        <p:nvSpPr>
          <p:cNvPr id="97" name="TextBox 96"/>
          <p:cNvSpPr txBox="1"/>
          <p:nvPr/>
        </p:nvSpPr>
        <p:spPr>
          <a:xfrm>
            <a:off x="888110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10</a:t>
            </a:r>
          </a:p>
        </p:txBody>
      </p:sp>
      <p:sp>
        <p:nvSpPr>
          <p:cNvPr id="98" name="TextBox 97"/>
          <p:cNvSpPr txBox="1"/>
          <p:nvPr/>
        </p:nvSpPr>
        <p:spPr>
          <a:xfrm>
            <a:off x="94411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11</a:t>
            </a:r>
          </a:p>
        </p:txBody>
      </p:sp>
      <p:sp>
        <p:nvSpPr>
          <p:cNvPr id="99" name="TextBox 98"/>
          <p:cNvSpPr txBox="1"/>
          <p:nvPr/>
        </p:nvSpPr>
        <p:spPr>
          <a:xfrm>
            <a:off x="100012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12</a:t>
            </a:r>
          </a:p>
        </p:txBody>
      </p:sp>
      <p:sp>
        <p:nvSpPr>
          <p:cNvPr id="100" name="TextBox 99"/>
          <p:cNvSpPr txBox="1"/>
          <p:nvPr/>
        </p:nvSpPr>
        <p:spPr>
          <a:xfrm>
            <a:off x="1056132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13</a:t>
            </a:r>
          </a:p>
        </p:txBody>
      </p:sp>
      <p:sp>
        <p:nvSpPr>
          <p:cNvPr id="101" name="TextBox 100"/>
          <p:cNvSpPr txBox="1"/>
          <p:nvPr/>
        </p:nvSpPr>
        <p:spPr>
          <a:xfrm>
            <a:off x="1112139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14</a:t>
            </a:r>
          </a:p>
        </p:txBody>
      </p:sp>
      <p:sp>
        <p:nvSpPr>
          <p:cNvPr id="102" name="TextBox 101"/>
          <p:cNvSpPr txBox="1"/>
          <p:nvPr/>
        </p:nvSpPr>
        <p:spPr>
          <a:xfrm>
            <a:off x="1168145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15</a:t>
            </a:r>
          </a:p>
        </p:txBody>
      </p:sp>
      <p:sp>
        <p:nvSpPr>
          <p:cNvPr id="103" name="TextBox 102"/>
          <p:cNvSpPr txBox="1"/>
          <p:nvPr/>
        </p:nvSpPr>
        <p:spPr>
          <a:xfrm>
            <a:off x="1224153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16</a:t>
            </a:r>
          </a:p>
        </p:txBody>
      </p:sp>
      <p:sp>
        <p:nvSpPr>
          <p:cNvPr id="104" name="TextBox 103"/>
          <p:cNvSpPr txBox="1"/>
          <p:nvPr/>
        </p:nvSpPr>
        <p:spPr>
          <a:xfrm>
            <a:off x="1280160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17</a:t>
            </a:r>
          </a:p>
        </p:txBody>
      </p:sp>
      <p:sp>
        <p:nvSpPr>
          <p:cNvPr id="105" name="TextBox 104"/>
          <p:cNvSpPr txBox="1"/>
          <p:nvPr/>
        </p:nvSpPr>
        <p:spPr>
          <a:xfrm>
            <a:off x="1336167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18</a:t>
            </a:r>
          </a:p>
        </p:txBody>
      </p:sp>
      <p:sp>
        <p:nvSpPr>
          <p:cNvPr id="106" name="TextBox 105"/>
          <p:cNvSpPr txBox="1"/>
          <p:nvPr/>
        </p:nvSpPr>
        <p:spPr>
          <a:xfrm>
            <a:off x="1392173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19</a:t>
            </a:r>
          </a:p>
        </p:txBody>
      </p:sp>
      <p:sp>
        <p:nvSpPr>
          <p:cNvPr id="107" name="TextBox 106"/>
          <p:cNvSpPr txBox="1"/>
          <p:nvPr/>
        </p:nvSpPr>
        <p:spPr>
          <a:xfrm>
            <a:off x="1448180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20</a:t>
            </a:r>
          </a:p>
        </p:txBody>
      </p:sp>
      <p:sp>
        <p:nvSpPr>
          <p:cNvPr id="108" name="TextBox 107"/>
          <p:cNvSpPr txBox="1"/>
          <p:nvPr/>
        </p:nvSpPr>
        <p:spPr>
          <a:xfrm>
            <a:off x="150418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21</a:t>
            </a:r>
          </a:p>
        </p:txBody>
      </p:sp>
      <p:sp>
        <p:nvSpPr>
          <p:cNvPr id="109" name="TextBox 108"/>
          <p:cNvSpPr txBox="1"/>
          <p:nvPr/>
        </p:nvSpPr>
        <p:spPr>
          <a:xfrm>
            <a:off x="156019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22</a:t>
            </a:r>
          </a:p>
        </p:txBody>
      </p:sp>
      <p:sp>
        <p:nvSpPr>
          <p:cNvPr id="110" name="TextBox 109"/>
          <p:cNvSpPr txBox="1"/>
          <p:nvPr/>
        </p:nvSpPr>
        <p:spPr>
          <a:xfrm>
            <a:off x="1616201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23</a:t>
            </a:r>
          </a:p>
        </p:txBody>
      </p:sp>
      <p:sp>
        <p:nvSpPr>
          <p:cNvPr id="111" name="TextBox 110"/>
          <p:cNvSpPr txBox="1"/>
          <p:nvPr/>
        </p:nvSpPr>
        <p:spPr>
          <a:xfrm>
            <a:off x="1672208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24</a:t>
            </a:r>
          </a:p>
        </p:txBody>
      </p:sp>
      <p:sp>
        <p:nvSpPr>
          <p:cNvPr id="112" name="Rounded Rectangle 111"/>
          <p:cNvSpPr/>
          <p:nvPr/>
        </p:nvSpPr>
        <p:spPr>
          <a:xfrm>
            <a:off x="9441180" y="6839712"/>
            <a:ext cx="1568195" cy="292608"/>
          </a:xfrm>
          <a:prstGeom prst="roundRect">
            <a:avLst>
              <a:gd name="adj" fmla="val 50000"/>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1300" b="1">
                <a:solidFill>
                  <a:srgbClr val="111111"/>
                </a:solidFill>
                <a:latin typeface="Inter SemiBold"/>
              </a:rPr>
              <a:t>↺ Reversión E1</a:t>
            </a:r>
          </a:p>
        </p:txBody>
      </p:sp>
      <p:sp>
        <p:nvSpPr>
          <p:cNvPr id="113" name="Rounded Rectangle 112"/>
          <p:cNvSpPr/>
          <p:nvPr/>
        </p:nvSpPr>
        <p:spPr>
          <a:xfrm>
            <a:off x="12801600" y="6839712"/>
            <a:ext cx="1568195" cy="292608"/>
          </a:xfrm>
          <a:prstGeom prst="roundRect">
            <a:avLst>
              <a:gd name="adj" fmla="val 50000"/>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1300" b="1">
                <a:solidFill>
                  <a:srgbClr val="111111"/>
                </a:solidFill>
                <a:latin typeface="Inter SemiBold"/>
              </a:rPr>
              <a:t>↺ Reversión E2</a:t>
            </a:r>
          </a:p>
        </p:txBody>
      </p:sp>
      <p:sp>
        <p:nvSpPr>
          <p:cNvPr id="114" name="Diamond 113"/>
          <p:cNvSpPr/>
          <p:nvPr/>
        </p:nvSpPr>
        <p:spPr>
          <a:xfrm>
            <a:off x="457085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15" name="TextBox 114"/>
          <p:cNvSpPr txBox="1"/>
          <p:nvPr/>
        </p:nvSpPr>
        <p:spPr>
          <a:xfrm>
            <a:off x="440055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H1</a:t>
            </a:r>
          </a:p>
        </p:txBody>
      </p:sp>
      <p:sp>
        <p:nvSpPr>
          <p:cNvPr id="116" name="Diamond 115"/>
          <p:cNvSpPr/>
          <p:nvPr/>
        </p:nvSpPr>
        <p:spPr>
          <a:xfrm>
            <a:off x="569099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17" name="TextBox 116"/>
          <p:cNvSpPr txBox="1"/>
          <p:nvPr/>
        </p:nvSpPr>
        <p:spPr>
          <a:xfrm>
            <a:off x="552069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H2</a:t>
            </a:r>
          </a:p>
        </p:txBody>
      </p:sp>
      <p:sp>
        <p:nvSpPr>
          <p:cNvPr id="118" name="Diamond 117"/>
          <p:cNvSpPr/>
          <p:nvPr/>
        </p:nvSpPr>
        <p:spPr>
          <a:xfrm>
            <a:off x="681113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19" name="TextBox 118"/>
          <p:cNvSpPr txBox="1"/>
          <p:nvPr/>
        </p:nvSpPr>
        <p:spPr>
          <a:xfrm>
            <a:off x="6640829"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H3</a:t>
            </a:r>
          </a:p>
        </p:txBody>
      </p:sp>
      <p:sp>
        <p:nvSpPr>
          <p:cNvPr id="120" name="Diamond 119"/>
          <p:cNvSpPr/>
          <p:nvPr/>
        </p:nvSpPr>
        <p:spPr>
          <a:xfrm>
            <a:off x="905141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1" name="TextBox 120"/>
          <p:cNvSpPr txBox="1"/>
          <p:nvPr/>
        </p:nvSpPr>
        <p:spPr>
          <a:xfrm>
            <a:off x="8881109"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H4</a:t>
            </a:r>
          </a:p>
        </p:txBody>
      </p:sp>
      <p:sp>
        <p:nvSpPr>
          <p:cNvPr id="122" name="Diamond 121"/>
          <p:cNvSpPr/>
          <p:nvPr/>
        </p:nvSpPr>
        <p:spPr>
          <a:xfrm>
            <a:off x="1017155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3" name="TextBox 122"/>
          <p:cNvSpPr txBox="1"/>
          <p:nvPr/>
        </p:nvSpPr>
        <p:spPr>
          <a:xfrm>
            <a:off x="1000125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H5</a:t>
            </a:r>
          </a:p>
        </p:txBody>
      </p:sp>
      <p:sp>
        <p:nvSpPr>
          <p:cNvPr id="124" name="Diamond 123"/>
          <p:cNvSpPr/>
          <p:nvPr/>
        </p:nvSpPr>
        <p:spPr>
          <a:xfrm>
            <a:off x="1073162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5" name="TextBox 124"/>
          <p:cNvSpPr txBox="1"/>
          <p:nvPr/>
        </p:nvSpPr>
        <p:spPr>
          <a:xfrm>
            <a:off x="1056132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H6</a:t>
            </a:r>
          </a:p>
        </p:txBody>
      </p:sp>
      <p:sp>
        <p:nvSpPr>
          <p:cNvPr id="126" name="Diamond 125"/>
          <p:cNvSpPr/>
          <p:nvPr/>
        </p:nvSpPr>
        <p:spPr>
          <a:xfrm>
            <a:off x="1129169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7" name="TextBox 126"/>
          <p:cNvSpPr txBox="1"/>
          <p:nvPr/>
        </p:nvSpPr>
        <p:spPr>
          <a:xfrm>
            <a:off x="1112139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H8</a:t>
            </a:r>
          </a:p>
        </p:txBody>
      </p:sp>
      <p:sp>
        <p:nvSpPr>
          <p:cNvPr id="128" name="Diamond 127"/>
          <p:cNvSpPr/>
          <p:nvPr/>
        </p:nvSpPr>
        <p:spPr>
          <a:xfrm>
            <a:off x="12411837" y="7242048"/>
            <a:ext cx="219456" cy="219456"/>
          </a:xfrm>
          <a:prstGeom prst="diamond">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9" name="TextBox 128"/>
          <p:cNvSpPr txBox="1"/>
          <p:nvPr/>
        </p:nvSpPr>
        <p:spPr>
          <a:xfrm>
            <a:off x="12241530" y="7470648"/>
            <a:ext cx="560069" cy="274320"/>
          </a:xfrm>
          <a:prstGeom prst="rect">
            <a:avLst/>
          </a:prstGeom>
          <a:noFill/>
        </p:spPr>
        <p:txBody>
          <a:bodyPr wrap="square" lIns="0" rIns="0" tIns="0" bIns="0" anchor="t">
            <a:spAutoFit/>
          </a:bodyPr>
          <a:lstStyle/>
          <a:p>
            <a:pPr algn="ctr"/>
            <a:r>
              <a:rPr sz="1300" b="1">
                <a:solidFill>
                  <a:srgbClr val="E8641B"/>
                </a:solidFill>
                <a:latin typeface="Inter SemiBold"/>
              </a:rPr>
              <a:t>H7</a:t>
            </a:r>
          </a:p>
        </p:txBody>
      </p:sp>
      <p:sp>
        <p:nvSpPr>
          <p:cNvPr id="130" name="Diamond 129"/>
          <p:cNvSpPr/>
          <p:nvPr/>
        </p:nvSpPr>
        <p:spPr>
          <a:xfrm>
            <a:off x="1297190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1" name="TextBox 130"/>
          <p:cNvSpPr txBox="1"/>
          <p:nvPr/>
        </p:nvSpPr>
        <p:spPr>
          <a:xfrm>
            <a:off x="1280160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H9</a:t>
            </a:r>
          </a:p>
        </p:txBody>
      </p:sp>
      <p:sp>
        <p:nvSpPr>
          <p:cNvPr id="132" name="Diamond 131"/>
          <p:cNvSpPr/>
          <p:nvPr/>
        </p:nvSpPr>
        <p:spPr>
          <a:xfrm>
            <a:off x="1353197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3" name="TextBox 132"/>
          <p:cNvSpPr txBox="1"/>
          <p:nvPr/>
        </p:nvSpPr>
        <p:spPr>
          <a:xfrm>
            <a:off x="1336167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H10</a:t>
            </a:r>
          </a:p>
        </p:txBody>
      </p:sp>
      <p:sp>
        <p:nvSpPr>
          <p:cNvPr id="134" name="Diamond 133"/>
          <p:cNvSpPr/>
          <p:nvPr/>
        </p:nvSpPr>
        <p:spPr>
          <a:xfrm>
            <a:off x="1409204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5" name="TextBox 134"/>
          <p:cNvSpPr txBox="1"/>
          <p:nvPr/>
        </p:nvSpPr>
        <p:spPr>
          <a:xfrm>
            <a:off x="13921739"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H11</a:t>
            </a:r>
          </a:p>
        </p:txBody>
      </p:sp>
      <p:sp>
        <p:nvSpPr>
          <p:cNvPr id="136" name="Diamond 135"/>
          <p:cNvSpPr/>
          <p:nvPr/>
        </p:nvSpPr>
        <p:spPr>
          <a:xfrm>
            <a:off x="15212186" y="7242048"/>
            <a:ext cx="219456" cy="219456"/>
          </a:xfrm>
          <a:prstGeom prst="diamond">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7" name="TextBox 136"/>
          <p:cNvSpPr txBox="1"/>
          <p:nvPr/>
        </p:nvSpPr>
        <p:spPr>
          <a:xfrm>
            <a:off x="15041880" y="7470648"/>
            <a:ext cx="560069" cy="274320"/>
          </a:xfrm>
          <a:prstGeom prst="rect">
            <a:avLst/>
          </a:prstGeom>
          <a:noFill/>
        </p:spPr>
        <p:txBody>
          <a:bodyPr wrap="square" lIns="0" rIns="0" tIns="0" bIns="0" anchor="t">
            <a:spAutoFit/>
          </a:bodyPr>
          <a:lstStyle/>
          <a:p>
            <a:pPr algn="ctr"/>
            <a:r>
              <a:rPr sz="1300" b="1">
                <a:solidFill>
                  <a:srgbClr val="E8641B"/>
                </a:solidFill>
                <a:latin typeface="Inter SemiBold"/>
              </a:rPr>
              <a:t>H12</a:t>
            </a:r>
          </a:p>
        </p:txBody>
      </p:sp>
      <p:sp>
        <p:nvSpPr>
          <p:cNvPr id="138" name="Oval 137"/>
          <p:cNvSpPr/>
          <p:nvPr/>
        </p:nvSpPr>
        <p:spPr>
          <a:xfrm>
            <a:off x="453428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39" name="Oval 138"/>
          <p:cNvSpPr/>
          <p:nvPr/>
        </p:nvSpPr>
        <p:spPr>
          <a:xfrm>
            <a:off x="565442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40" name="Oval 139"/>
          <p:cNvSpPr/>
          <p:nvPr/>
        </p:nvSpPr>
        <p:spPr>
          <a:xfrm>
            <a:off x="677456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41" name="Oval 140"/>
          <p:cNvSpPr/>
          <p:nvPr/>
        </p:nvSpPr>
        <p:spPr>
          <a:xfrm>
            <a:off x="789470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2</a:t>
            </a:r>
          </a:p>
        </p:txBody>
      </p:sp>
      <p:sp>
        <p:nvSpPr>
          <p:cNvPr id="142" name="Oval 141"/>
          <p:cNvSpPr/>
          <p:nvPr/>
        </p:nvSpPr>
        <p:spPr>
          <a:xfrm>
            <a:off x="957491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4</a:t>
            </a:r>
          </a:p>
        </p:txBody>
      </p:sp>
      <p:sp>
        <p:nvSpPr>
          <p:cNvPr id="143" name="Oval 142"/>
          <p:cNvSpPr/>
          <p:nvPr/>
        </p:nvSpPr>
        <p:spPr>
          <a:xfrm>
            <a:off x="1013498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44" name="TextBox 143"/>
          <p:cNvSpPr txBox="1"/>
          <p:nvPr/>
        </p:nvSpPr>
        <p:spPr>
          <a:xfrm>
            <a:off x="3840480" y="8522208"/>
            <a:ext cx="10789920" cy="320040"/>
          </a:xfrm>
          <a:prstGeom prst="rect">
            <a:avLst/>
          </a:prstGeom>
          <a:noFill/>
        </p:spPr>
        <p:txBody>
          <a:bodyPr wrap="square" lIns="0" rIns="0" tIns="0" bIns="0" anchor="t">
            <a:spAutoFit/>
          </a:bodyPr>
          <a:lstStyle/>
          <a:p>
            <a:pPr algn="l"/>
            <a:r>
              <a:rPr sz="1400" b="1">
                <a:solidFill>
                  <a:srgbClr val="E8641B"/>
                </a:solidFill>
                <a:latin typeface="Inter SemiBold"/>
              </a:rPr>
              <a:t>Riesgos: m2 R-001 · m4 R-014 · m6 R-006 · m8 R-005, R-011 · m11 R-003, R-013, R-015, R-016 · m12 R-012</a:t>
            </a:r>
          </a:p>
        </p:txBody>
      </p:sp>
      <p:sp>
        <p:nvSpPr>
          <p:cNvPr id="14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8" name="TextBox 8"/>
          <p:cNvSpPr txBox="1"/>
          <p:nvPr/>
        </p:nvSpPr>
        <p:spPr>
          <a:xfrm>
            <a:off x="9389512" y="1188720"/>
            <a:ext cx="5669280" cy="2377440"/>
          </a:xfrm>
          <a:prstGeom prst="rect">
            <a:avLst/>
          </a:prstGeom>
        </p:spPr>
        <p:txBody>
          <a:bodyPr lIns="0" tIns="0" rIns="0" bIns="0" rtlCol="0" anchor="t">
            <a:spAutoFit/>
          </a:bodyPr>
          <a:lstStyle/>
          <a:p>
            <a:pPr algn="l">
              <a:lnSpc>
                <a:spcPct val="90000"/>
              </a:lnSpc>
            </a:pPr>
            <a:r>
              <a:rPr lang="en-US" sz="6000" b="1">
                <a:solidFill>
                  <a:srgbClr val="111111"/>
                </a:solidFill>
                <a:latin typeface="Inter SemiBold"/>
                <a:ea typeface="Inter SemiBold"/>
                <a:cs typeface="Inter SemiBold"/>
                <a:sym typeface="Inter SemiBold"/>
              </a:rPr>
              <a:t>Esfuerzo por mes</a:t>
            </a:r>
          </a:p>
        </p:txBody>
      </p:sp>
      <p:sp>
        <p:nvSpPr>
          <p:cNvPr id="11" name="!!brand"/>
          <p:cNvSpPr txBox="1"/>
          <p:nvPr/>
        </p:nvSpPr>
        <p:spPr>
          <a:xfrm>
            <a:off x="13217409" y="1000125"/>
            <a:ext cx="3328659" cy="297180"/>
          </a:xfrm>
          <a:prstGeom prst="rect">
            <a:avLst/>
          </a:prstGeom>
        </p:spPr>
        <p:txBody>
          <a:bodyPr lIns="0" tIns="0" rIns="0" bIns="0" rtlCol="0" anchor="t">
            <a:spAutoFit/>
          </a:bodyPr>
          <a:lstStyle/>
          <a:p>
            <a:pPr algn="r">
              <a:lnSpc>
                <a:spcPts val="2520"/>
              </a:lnSpc>
            </a:pPr>
            <a:r>
              <a:rPr lang="en-US" sz="1800" b="1">
                <a:solidFill>
                  <a:srgbClr val="000000"/>
                </a:solidFill>
                <a:latin typeface="Inter SemiBold"/>
                <a:ea typeface="Inter SemiBold"/>
                <a:cs typeface="Inter SemiBold"/>
                <a:sym typeface="Inter SemiBold"/>
              </a:rPr>
              <a:t>LafroX SpA</a:t>
            </a:r>
          </a:p>
        </p:txBody>
      </p:sp>
      <p:pic>
        <p:nvPicPr>
          <p:cNvPr id="12" name="!!logo" descr="Isotipo LafroX"/>
          <p:cNvPicPr>
            <a:picLocks noChangeAspect="1"/>
          </p:cNvPicPr>
          <p:nvPr/>
        </p:nvPicPr>
        <p:blipFill>
          <a:blip r:embed="rId5"/>
          <a:stretch>
            <a:fillRect/>
          </a:stretch>
        </p:blipFill>
        <p:spPr>
          <a:xfrm>
            <a:off x="16706088" y="850392"/>
            <a:ext cx="551723" cy="566928"/>
          </a:xfrm>
          <a:prstGeom prst="rect">
            <a:avLst/>
          </a:prstGeom>
        </p:spPr>
      </p:pic>
      <p:sp>
        <p:nvSpPr>
          <p:cNvPr id="13" name="TextBox 12"/>
          <p:cNvSpPr txBox="1"/>
          <p:nvPr/>
        </p:nvSpPr>
        <p:spPr>
          <a:xfrm>
            <a:off x="9390888" y="3840480"/>
            <a:ext cx="5303520" cy="548640"/>
          </a:xfrm>
          <a:prstGeom prst="rect">
            <a:avLst/>
          </a:prstGeom>
          <a:noFill/>
        </p:spPr>
        <p:txBody>
          <a:bodyPr wrap="square" lIns="0" tIns="0" rIns="0" bIns="0" anchor="t">
            <a:spAutoFit/>
          </a:bodyPr>
          <a:lstStyle/>
          <a:p>
            <a:pPr algn="l"/>
            <a:r>
              <a:rPr sz="3200" b="1">
                <a:solidFill>
                  <a:srgbClr val="E8641B"/>
                </a:solidFill>
                <a:latin typeface="Inter SemiBold"/>
              </a:rPr>
              <a:t>8.106 HH</a:t>
            </a:r>
          </a:p>
        </p:txBody>
      </p:sp>
      <p:sp>
        <p:nvSpPr>
          <p:cNvPr id="14" name="TextBox 13"/>
          <p:cNvSpPr txBox="1"/>
          <p:nvPr/>
        </p:nvSpPr>
        <p:spPr>
          <a:xfrm>
            <a:off x="9390888" y="4389120"/>
            <a:ext cx="5303520" cy="411480"/>
          </a:xfrm>
          <a:prstGeom prst="rect">
            <a:avLst/>
          </a:prstGeom>
          <a:noFill/>
        </p:spPr>
        <p:txBody>
          <a:bodyPr wrap="square" lIns="0" tIns="0" rIns="0" bIns="0" anchor="t">
            <a:spAutoFit/>
          </a:bodyPr>
          <a:lstStyle/>
          <a:p>
            <a:pPr algn="l"/>
            <a:r>
              <a:rPr sz="1700" b="0">
                <a:solidFill>
                  <a:srgbClr val="606060"/>
                </a:solidFill>
                <a:latin typeface="Inter"/>
              </a:rPr>
              <a:t>máximo mensual · mes 15</a:t>
            </a:r>
          </a:p>
        </p:txBody>
      </p:sp>
      <p:sp>
        <p:nvSpPr>
          <p:cNvPr id="15" name="TextBox 14"/>
          <p:cNvSpPr txBox="1"/>
          <p:nvPr/>
        </p:nvSpPr>
        <p:spPr>
          <a:xfrm>
            <a:off x="9390888" y="4956048"/>
            <a:ext cx="5303520" cy="548640"/>
          </a:xfrm>
          <a:prstGeom prst="rect">
            <a:avLst/>
          </a:prstGeom>
          <a:noFill/>
        </p:spPr>
        <p:txBody>
          <a:bodyPr wrap="square" lIns="0" tIns="0" rIns="0" bIns="0" anchor="t">
            <a:spAutoFit/>
          </a:bodyPr>
          <a:lstStyle/>
          <a:p>
            <a:pPr algn="l"/>
            <a:r>
              <a:rPr sz="3200" b="1">
                <a:solidFill>
                  <a:srgbClr val="E8641B"/>
                </a:solidFill>
                <a:latin typeface="Inter SemiBold"/>
              </a:rPr>
              <a:t>69 personas</a:t>
            </a:r>
          </a:p>
        </p:txBody>
      </p:sp>
      <p:sp>
        <p:nvSpPr>
          <p:cNvPr id="16" name="TextBox 15"/>
          <p:cNvSpPr txBox="1"/>
          <p:nvPr/>
        </p:nvSpPr>
        <p:spPr>
          <a:xfrm>
            <a:off x="9390888" y="5504688"/>
            <a:ext cx="5303520" cy="261610"/>
          </a:xfrm>
          <a:prstGeom prst="rect">
            <a:avLst/>
          </a:prstGeom>
          <a:noFill/>
        </p:spPr>
        <p:txBody>
          <a:bodyPr wrap="square" lIns="0" tIns="0" rIns="0" bIns="0" anchor="t">
            <a:spAutoFit/>
          </a:bodyPr>
          <a:lstStyle/>
          <a:p>
            <a:pPr algn="l"/>
            <a:r>
              <a:rPr lang="es-MX" sz="1700" b="0">
                <a:solidFill>
                  <a:srgbClr val="606060"/>
                </a:solidFill>
                <a:latin typeface="Inter"/>
              </a:rPr>
              <a:t>equivalentes · peak del mes 15</a:t>
            </a:r>
            <a:endParaRPr sz="1700" b="0">
              <a:solidFill>
                <a:srgbClr val="606060"/>
              </a:solidFill>
              <a:latin typeface="Inter"/>
            </a:endParaRPr>
          </a:p>
        </p:txBody>
      </p:sp>
      <p:sp>
        <p:nvSpPr>
          <p:cNvPr id="17" name="TextBox 16"/>
          <p:cNvSpPr txBox="1"/>
          <p:nvPr/>
        </p:nvSpPr>
        <p:spPr>
          <a:xfrm>
            <a:off x="9390888" y="6071616"/>
            <a:ext cx="5303520" cy="548640"/>
          </a:xfrm>
          <a:prstGeom prst="rect">
            <a:avLst/>
          </a:prstGeom>
          <a:noFill/>
        </p:spPr>
        <p:txBody>
          <a:bodyPr wrap="square" lIns="0" tIns="0" rIns="0" bIns="0" anchor="t">
            <a:spAutoFit/>
          </a:bodyPr>
          <a:lstStyle/>
          <a:p>
            <a:pPr algn="l"/>
            <a:r>
              <a:rPr sz="3200" b="1">
                <a:solidFill>
                  <a:srgbClr val="E8641B"/>
                </a:solidFill>
                <a:latin typeface="Inter SemiBold"/>
              </a:rPr>
              <a:t>≈3.200–3.900</a:t>
            </a:r>
          </a:p>
        </p:txBody>
      </p:sp>
      <p:sp>
        <p:nvSpPr>
          <p:cNvPr id="18" name="TextBox 17"/>
          <p:cNvSpPr txBox="1"/>
          <p:nvPr/>
        </p:nvSpPr>
        <p:spPr>
          <a:xfrm>
            <a:off x="9390888" y="6620256"/>
            <a:ext cx="5303520" cy="411480"/>
          </a:xfrm>
          <a:prstGeom prst="rect">
            <a:avLst/>
          </a:prstGeom>
          <a:noFill/>
        </p:spPr>
        <p:txBody>
          <a:bodyPr wrap="square" lIns="0" tIns="0" rIns="0" bIns="0" anchor="t">
            <a:spAutoFit/>
          </a:bodyPr>
          <a:lstStyle/>
          <a:p>
            <a:pPr algn="l"/>
            <a:r>
              <a:rPr sz="1700" b="0">
                <a:solidFill>
                  <a:srgbClr val="606060"/>
                </a:solidFill>
                <a:latin typeface="Inter"/>
              </a:rPr>
              <a:t>HH/mes en operación</a:t>
            </a:r>
          </a:p>
        </p:txBody>
      </p:sp>
      <p:sp>
        <p:nvSpPr>
          <p:cNvPr id="19" name="TextBox 18"/>
          <p:cNvSpPr txBox="1"/>
          <p:nvPr/>
        </p:nvSpPr>
        <p:spPr>
          <a:xfrm>
            <a:off x="9390888" y="7187184"/>
            <a:ext cx="5303520" cy="548640"/>
          </a:xfrm>
          <a:prstGeom prst="rect">
            <a:avLst/>
          </a:prstGeom>
          <a:noFill/>
        </p:spPr>
        <p:txBody>
          <a:bodyPr wrap="square" lIns="0" tIns="0" rIns="0" bIns="0" anchor="t">
            <a:spAutoFit/>
          </a:bodyPr>
          <a:lstStyle/>
          <a:p>
            <a:pPr algn="l"/>
            <a:r>
              <a:rPr sz="3200" b="1">
                <a:solidFill>
                  <a:srgbClr val="E8641B"/>
                </a:solidFill>
                <a:latin typeface="Inter SemiBold"/>
              </a:rPr>
              <a:t>217.543 HH</a:t>
            </a:r>
          </a:p>
        </p:txBody>
      </p:sp>
      <p:sp>
        <p:nvSpPr>
          <p:cNvPr id="20" name="TextBox 19"/>
          <p:cNvSpPr txBox="1"/>
          <p:nvPr/>
        </p:nvSpPr>
        <p:spPr>
          <a:xfrm>
            <a:off x="9390888" y="7735824"/>
            <a:ext cx="5303520" cy="411480"/>
          </a:xfrm>
          <a:prstGeom prst="rect">
            <a:avLst/>
          </a:prstGeom>
          <a:noFill/>
        </p:spPr>
        <p:txBody>
          <a:bodyPr wrap="square" lIns="0" tIns="0" rIns="0" bIns="0" anchor="t">
            <a:spAutoFit/>
          </a:bodyPr>
          <a:lstStyle/>
          <a:p>
            <a:pPr algn="l"/>
            <a:r>
              <a:rPr sz="1700" b="0">
                <a:solidFill>
                  <a:srgbClr val="606060"/>
                </a:solidFill>
                <a:latin typeface="Inter"/>
              </a:rPr>
              <a:t>programadas en total</a:t>
            </a:r>
          </a:p>
        </p:txBody>
      </p:sp>
      <p:graphicFrame>
        <p:nvGraphicFramePr>
          <p:cNvPr id="21" name="Esfuerzo mensual"/>
          <p:cNvGraphicFramePr>
            <a:graphicFrameLocks noGrp="1"/>
          </p:cNvGraphicFramePr>
          <p:nvPr/>
        </p:nvGraphicFramePr>
        <p:xfrm>
          <a:off x="457200" y="1188720"/>
          <a:ext cx="8686800" cy="7863840"/>
        </p:xfrm>
        <a:graphic>
          <a:graphicData uri="http://schemas.openxmlformats.org/drawingml/2006/chart">
            <c:chart xmlns:c="http://schemas.openxmlformats.org/drawingml/2006/chart" xmlns:r="http://schemas.openxmlformats.org/officeDocument/2006/relationships" r:id="rId6"/>
          </a:graphicData>
        </a:graphic>
      </p:graphicFrame>
      <p:sp>
        <p:nvSpPr>
          <p:cNvPr id="22"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FFFFFF"/>
                </a:solidFill>
                <a:latin typeface="Inter SemiBold"/>
              </a:rPr>
              <a:t>25</a:t>
            </a:r>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p:spPr>
      </p:sp>
      <p:sp>
        <p:nvSpPr>
          <p:cNvPr id="10" name="Freeform 10"/>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431044" y="1908274"/>
            <a:ext cx="7589520" cy="3108960"/>
          </a:xfrm>
          <a:prstGeom prst="rect">
            <a:avLst/>
          </a:prstGeom>
        </p:spPr>
        <p:txBody>
          <a:bodyPr lIns="0" tIns="0" rIns="0" bIns="0" rtlCol="0" anchor="t">
            <a:spAutoFit/>
          </a:bodyPr>
          <a:lstStyle/>
          <a:p>
            <a:pPr algn="l">
              <a:lnSpc>
                <a:spcPct val="90000"/>
              </a:lnSpc>
            </a:pPr>
            <a:r>
              <a:rPr lang="en-US" sz="5200" b="1">
                <a:solidFill>
                  <a:srgbClr val="111111"/>
                </a:solidFill>
                <a:latin typeface="Inter SemiBold"/>
                <a:ea typeface="Inter SemiBold"/>
                <a:cs typeface="Inter SemiBold"/>
                <a:sym typeface="Inter SemiBold"/>
              </a:rPr>
              <a:t>RBS: de dónde vienen los riesgos</a:t>
            </a:r>
          </a:p>
        </p:txBody>
      </p:sp>
      <p:sp>
        <p:nvSpPr>
          <p:cNvPr id="12" name="TextBox 11"/>
          <p:cNvSpPr txBox="1"/>
          <p:nvPr/>
        </p:nvSpPr>
        <p:spPr>
          <a:xfrm>
            <a:off x="1435608" y="4846320"/>
            <a:ext cx="7589520" cy="548640"/>
          </a:xfrm>
          <a:prstGeom prst="rect">
            <a:avLst/>
          </a:prstGeom>
          <a:noFill/>
        </p:spPr>
        <p:txBody>
          <a:bodyPr wrap="square" lIns="0" tIns="0" rIns="0" bIns="0" anchor="t">
            <a:spAutoFit/>
          </a:bodyPr>
          <a:lstStyle/>
          <a:p>
            <a:pPr algn="l"/>
            <a:r>
              <a:rPr sz="2400" b="0">
                <a:solidFill>
                  <a:srgbClr val="3C3C3C"/>
                </a:solidFill>
                <a:latin typeface="Inter"/>
              </a:rPr>
              <a:t>7 ramas · 45 riesgos · ISO 31000</a:t>
            </a:r>
          </a:p>
        </p:txBody>
      </p:sp>
      <p:sp>
        <p:nvSpPr>
          <p:cNvPr id="13" name="Rectangle 12"/>
          <p:cNvSpPr/>
          <p:nvPr/>
        </p:nvSpPr>
        <p:spPr>
          <a:xfrm>
            <a:off x="1435608" y="5760720"/>
            <a:ext cx="325120" cy="5029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4" name="Rectangle 13"/>
          <p:cNvSpPr/>
          <p:nvPr/>
        </p:nvSpPr>
        <p:spPr>
          <a:xfrm>
            <a:off x="1760728" y="5760720"/>
            <a:ext cx="3738879" cy="502920"/>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5" name="Rectangle 14"/>
          <p:cNvSpPr/>
          <p:nvPr/>
        </p:nvSpPr>
        <p:spPr>
          <a:xfrm>
            <a:off x="5499608" y="5760720"/>
            <a:ext cx="3088640" cy="50292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6" name="Rectangle 15"/>
          <p:cNvSpPr/>
          <p:nvPr/>
        </p:nvSpPr>
        <p:spPr>
          <a:xfrm>
            <a:off x="8588248" y="5760720"/>
            <a:ext cx="162560" cy="502920"/>
          </a:xfrm>
          <a:prstGeom prst="rect">
            <a:avLst/>
          </a:prstGeom>
          <a:solidFill>
            <a:srgbClr val="C7C7C7"/>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17" name="TextBox 16"/>
          <p:cNvSpPr txBox="1"/>
          <p:nvPr/>
        </p:nvSpPr>
        <p:spPr>
          <a:xfrm>
            <a:off x="1435608" y="6400800"/>
            <a:ext cx="7589520" cy="365760"/>
          </a:xfrm>
          <a:prstGeom prst="rect">
            <a:avLst/>
          </a:prstGeom>
          <a:noFill/>
        </p:spPr>
        <p:txBody>
          <a:bodyPr wrap="square" lIns="0" tIns="0" rIns="0" bIns="0" anchor="t">
            <a:spAutoFit/>
          </a:bodyPr>
          <a:lstStyle/>
          <a:p>
            <a:pPr algn="l"/>
            <a:r>
              <a:rPr sz="1800" b="0">
                <a:solidFill>
                  <a:srgbClr val="3C3C3C"/>
                </a:solidFill>
                <a:latin typeface="Inter"/>
              </a:rPr>
              <a:t>2 críticos · 23 altos · 19 medios · 1 bajo</a:t>
            </a:r>
          </a:p>
        </p:txBody>
      </p:sp>
      <p:sp>
        <p:nvSpPr>
          <p:cNvPr id="18" name="Rounded Rectangle 17"/>
          <p:cNvSpPr/>
          <p:nvPr/>
        </p:nvSpPr>
        <p:spPr>
          <a:xfrm>
            <a:off x="9326880" y="914400"/>
            <a:ext cx="1737360" cy="7370064"/>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4400" b="1">
                <a:solidFill>
                  <a:srgbClr val="FFFFFF"/>
                </a:solidFill>
                <a:latin typeface="Inter SemiBold"/>
              </a:rPr>
              <a:t>45</a:t>
            </a:r>
          </a:p>
          <a:p>
            <a:pPr algn="ctr"/>
            <a:r>
              <a:rPr sz="1700" b="0">
                <a:solidFill>
                  <a:srgbClr val="C7C7C7"/>
                </a:solidFill>
                <a:latin typeface="Inter"/>
              </a:rPr>
              <a:t>riesgos</a:t>
            </a:r>
          </a:p>
        </p:txBody>
      </p:sp>
      <p:cxnSp>
        <p:nvCxnSpPr>
          <p:cNvPr id="19" name="Connector 18"/>
          <p:cNvCxnSpPr/>
          <p:nvPr/>
        </p:nvCxnSpPr>
        <p:spPr>
          <a:xfrm>
            <a:off x="11064240" y="1362456"/>
            <a:ext cx="36576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1430000" y="914400"/>
            <a:ext cx="6309360" cy="89611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21" name="!!rama1"/>
          <p:cNvSpPr/>
          <p:nvPr/>
        </p:nvSpPr>
        <p:spPr>
          <a:xfrm>
            <a:off x="11567160" y="1042416"/>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800" b="1">
                <a:solidFill>
                  <a:srgbClr val="FFFFFF"/>
                </a:solidFill>
                <a:latin typeface="Inter SemiBold"/>
              </a:rPr>
              <a:t>14</a:t>
            </a:r>
          </a:p>
        </p:txBody>
      </p:sp>
      <p:sp>
        <p:nvSpPr>
          <p:cNvPr id="22" name="TextBox 21"/>
          <p:cNvSpPr txBox="1"/>
          <p:nvPr/>
        </p:nvSpPr>
        <p:spPr>
          <a:xfrm>
            <a:off x="12390120" y="987552"/>
            <a:ext cx="5303520" cy="365760"/>
          </a:xfrm>
          <a:prstGeom prst="rect">
            <a:avLst/>
          </a:prstGeom>
          <a:noFill/>
        </p:spPr>
        <p:txBody>
          <a:bodyPr wrap="square" lIns="0" tIns="0" rIns="0" bIns="0" anchor="t">
            <a:spAutoFit/>
          </a:bodyPr>
          <a:lstStyle/>
          <a:p>
            <a:pPr algn="l"/>
            <a:r>
              <a:rPr sz="1700" b="1">
                <a:solidFill>
                  <a:srgbClr val="111111"/>
                </a:solidFill>
                <a:latin typeface="Inter SemiBold"/>
              </a:rPr>
              <a:t>1 · Solución y tecnología</a:t>
            </a:r>
          </a:p>
        </p:txBody>
      </p:sp>
      <p:sp>
        <p:nvSpPr>
          <p:cNvPr id="23" name="TextBox 22"/>
          <p:cNvSpPr txBox="1"/>
          <p:nvPr/>
        </p:nvSpPr>
        <p:spPr>
          <a:xfrm>
            <a:off x="12390120" y="1389888"/>
            <a:ext cx="5303520" cy="347472"/>
          </a:xfrm>
          <a:prstGeom prst="rect">
            <a:avLst/>
          </a:prstGeom>
          <a:noFill/>
        </p:spPr>
        <p:txBody>
          <a:bodyPr wrap="square" lIns="0" tIns="0" rIns="0" bIns="0" anchor="t">
            <a:spAutoFit/>
          </a:bodyPr>
          <a:lstStyle/>
          <a:p>
            <a:pPr algn="l"/>
            <a:r>
              <a:rPr sz="1400" b="0">
                <a:solidFill>
                  <a:srgbClr val="606060"/>
                </a:solidFill>
                <a:latin typeface="Inter"/>
              </a:rPr>
              <a:t>R-012 Retiro · R-015 RTO/RPO</a:t>
            </a:r>
          </a:p>
        </p:txBody>
      </p:sp>
      <p:cxnSp>
        <p:nvCxnSpPr>
          <p:cNvPr id="24" name="Connector 23"/>
          <p:cNvCxnSpPr/>
          <p:nvPr/>
        </p:nvCxnSpPr>
        <p:spPr>
          <a:xfrm>
            <a:off x="11064240" y="2441448"/>
            <a:ext cx="36576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1430000" y="1993391"/>
            <a:ext cx="6309360" cy="89611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26" name="!!rama2"/>
          <p:cNvSpPr/>
          <p:nvPr/>
        </p:nvSpPr>
        <p:spPr>
          <a:xfrm>
            <a:off x="11567160" y="2121408"/>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800" b="1">
                <a:solidFill>
                  <a:srgbClr val="FFFFFF"/>
                </a:solidFill>
                <a:latin typeface="Inter SemiBold"/>
              </a:rPr>
              <a:t>7</a:t>
            </a:r>
          </a:p>
        </p:txBody>
      </p:sp>
      <p:sp>
        <p:nvSpPr>
          <p:cNvPr id="27" name="TextBox 26"/>
          <p:cNvSpPr txBox="1"/>
          <p:nvPr/>
        </p:nvSpPr>
        <p:spPr>
          <a:xfrm>
            <a:off x="12390120" y="2066543"/>
            <a:ext cx="5303520" cy="365760"/>
          </a:xfrm>
          <a:prstGeom prst="rect">
            <a:avLst/>
          </a:prstGeom>
          <a:noFill/>
        </p:spPr>
        <p:txBody>
          <a:bodyPr wrap="square" lIns="0" tIns="0" rIns="0" bIns="0" anchor="t">
            <a:spAutoFit/>
          </a:bodyPr>
          <a:lstStyle/>
          <a:p>
            <a:pPr algn="l"/>
            <a:r>
              <a:rPr sz="1700" b="1">
                <a:solidFill>
                  <a:srgbClr val="111111"/>
                </a:solidFill>
                <a:latin typeface="Inter SemiBold"/>
              </a:rPr>
              <a:t>2 · Integración y legado</a:t>
            </a:r>
          </a:p>
        </p:txBody>
      </p:sp>
      <p:sp>
        <p:nvSpPr>
          <p:cNvPr id="28" name="TextBox 27"/>
          <p:cNvSpPr txBox="1"/>
          <p:nvPr/>
        </p:nvSpPr>
        <p:spPr>
          <a:xfrm>
            <a:off x="12390120" y="2468879"/>
            <a:ext cx="5303520" cy="347472"/>
          </a:xfrm>
          <a:prstGeom prst="rect">
            <a:avLst/>
          </a:prstGeom>
          <a:noFill/>
        </p:spPr>
        <p:txBody>
          <a:bodyPr wrap="square" lIns="0" tIns="0" rIns="0" bIns="0" anchor="t">
            <a:spAutoFit/>
          </a:bodyPr>
          <a:lstStyle/>
          <a:p>
            <a:pPr algn="l"/>
            <a:r>
              <a:rPr sz="1400" b="0">
                <a:solidFill>
                  <a:srgbClr val="606060"/>
                </a:solidFill>
                <a:latin typeface="Inter"/>
              </a:rPr>
              <a:t>R-001 Interfaces ERP · R-003 WMS</a:t>
            </a:r>
          </a:p>
        </p:txBody>
      </p:sp>
      <p:cxnSp>
        <p:nvCxnSpPr>
          <p:cNvPr id="29" name="Connector 28"/>
          <p:cNvCxnSpPr/>
          <p:nvPr/>
        </p:nvCxnSpPr>
        <p:spPr>
          <a:xfrm>
            <a:off x="11064240" y="3520439"/>
            <a:ext cx="36576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1430000" y="3072384"/>
            <a:ext cx="6309360" cy="89611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1" name="!!rama3"/>
          <p:cNvSpPr/>
          <p:nvPr/>
        </p:nvSpPr>
        <p:spPr>
          <a:xfrm>
            <a:off x="11567160" y="3200400"/>
            <a:ext cx="640080" cy="640080"/>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800" b="1">
                <a:solidFill>
                  <a:srgbClr val="FFFFFF"/>
                </a:solidFill>
                <a:latin typeface="Inter SemiBold"/>
              </a:rPr>
              <a:t>8</a:t>
            </a:r>
          </a:p>
        </p:txBody>
      </p:sp>
      <p:sp>
        <p:nvSpPr>
          <p:cNvPr id="32" name="TextBox 31"/>
          <p:cNvSpPr txBox="1"/>
          <p:nvPr/>
        </p:nvSpPr>
        <p:spPr>
          <a:xfrm>
            <a:off x="12390120" y="3145536"/>
            <a:ext cx="5303520" cy="365760"/>
          </a:xfrm>
          <a:prstGeom prst="rect">
            <a:avLst/>
          </a:prstGeom>
          <a:noFill/>
        </p:spPr>
        <p:txBody>
          <a:bodyPr wrap="square" lIns="0" tIns="0" rIns="0" bIns="0" anchor="t">
            <a:spAutoFit/>
          </a:bodyPr>
          <a:lstStyle/>
          <a:p>
            <a:pPr algn="l"/>
            <a:r>
              <a:rPr sz="1700" b="1">
                <a:solidFill>
                  <a:srgbClr val="111111"/>
                </a:solidFill>
                <a:latin typeface="Inter SemiBold"/>
              </a:rPr>
              <a:t>3 · Operación del cliente</a:t>
            </a:r>
          </a:p>
        </p:txBody>
      </p:sp>
      <p:sp>
        <p:nvSpPr>
          <p:cNvPr id="33" name="TextBox 32"/>
          <p:cNvSpPr txBox="1"/>
          <p:nvPr/>
        </p:nvSpPr>
        <p:spPr>
          <a:xfrm>
            <a:off x="12390120" y="3547872"/>
            <a:ext cx="5303520" cy="347472"/>
          </a:xfrm>
          <a:prstGeom prst="rect">
            <a:avLst/>
          </a:prstGeom>
          <a:noFill/>
        </p:spPr>
        <p:txBody>
          <a:bodyPr wrap="square" lIns="0" tIns="0" rIns="0" bIns="0" anchor="t">
            <a:spAutoFit/>
          </a:bodyPr>
          <a:lstStyle/>
          <a:p>
            <a:pPr algn="l"/>
            <a:r>
              <a:rPr sz="1400" b="0">
                <a:solidFill>
                  <a:srgbClr val="606060"/>
                </a:solidFill>
                <a:latin typeface="Inter"/>
              </a:rPr>
              <a:t>R-006 Enlaces · R-014 Sala y energía</a:t>
            </a:r>
          </a:p>
        </p:txBody>
      </p:sp>
      <p:cxnSp>
        <p:nvCxnSpPr>
          <p:cNvPr id="34" name="Connector 33"/>
          <p:cNvCxnSpPr/>
          <p:nvPr/>
        </p:nvCxnSpPr>
        <p:spPr>
          <a:xfrm>
            <a:off x="11064240" y="4599432"/>
            <a:ext cx="36576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1430000" y="4151376"/>
            <a:ext cx="6309360" cy="89611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6" name="!!rama4"/>
          <p:cNvSpPr/>
          <p:nvPr/>
        </p:nvSpPr>
        <p:spPr>
          <a:xfrm>
            <a:off x="11567160" y="4279392"/>
            <a:ext cx="640080" cy="640080"/>
          </a:xfrm>
          <a:prstGeom prst="ellipse">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800" b="1">
                <a:solidFill>
                  <a:srgbClr val="FFFFFF"/>
                </a:solidFill>
                <a:latin typeface="Inter SemiBold"/>
              </a:rPr>
              <a:t>7</a:t>
            </a:r>
          </a:p>
        </p:txBody>
      </p:sp>
      <p:sp>
        <p:nvSpPr>
          <p:cNvPr id="37" name="TextBox 36"/>
          <p:cNvSpPr txBox="1"/>
          <p:nvPr/>
        </p:nvSpPr>
        <p:spPr>
          <a:xfrm>
            <a:off x="12390120" y="4224528"/>
            <a:ext cx="5303520" cy="365760"/>
          </a:xfrm>
          <a:prstGeom prst="rect">
            <a:avLst/>
          </a:prstGeom>
          <a:noFill/>
        </p:spPr>
        <p:txBody>
          <a:bodyPr wrap="square" lIns="0" tIns="0" rIns="0" bIns="0" anchor="t">
            <a:spAutoFit/>
          </a:bodyPr>
          <a:lstStyle/>
          <a:p>
            <a:pPr algn="l"/>
            <a:r>
              <a:rPr sz="1700" b="1">
                <a:solidFill>
                  <a:srgbClr val="111111"/>
                </a:solidFill>
                <a:latin typeface="Inter SemiBold"/>
              </a:rPr>
              <a:t>4 · Personas y adopción</a:t>
            </a:r>
          </a:p>
        </p:txBody>
      </p:sp>
      <p:sp>
        <p:nvSpPr>
          <p:cNvPr id="38" name="TextBox 37"/>
          <p:cNvSpPr txBox="1"/>
          <p:nvPr/>
        </p:nvSpPr>
        <p:spPr>
          <a:xfrm>
            <a:off x="12390120" y="4626864"/>
            <a:ext cx="5303520" cy="347472"/>
          </a:xfrm>
          <a:prstGeom prst="rect">
            <a:avLst/>
          </a:prstGeom>
          <a:noFill/>
        </p:spPr>
        <p:txBody>
          <a:bodyPr wrap="square" lIns="0" tIns="0" rIns="0" bIns="0" anchor="t">
            <a:spAutoFit/>
          </a:bodyPr>
          <a:lstStyle/>
          <a:p>
            <a:pPr algn="l"/>
            <a:r>
              <a:rPr sz="1400" b="0">
                <a:solidFill>
                  <a:srgbClr val="606060"/>
                </a:solidFill>
                <a:latin typeface="Inter"/>
              </a:rPr>
              <a:t>R-017 Sindicato · R-021 Rutas</a:t>
            </a:r>
          </a:p>
        </p:txBody>
      </p:sp>
      <p:cxnSp>
        <p:nvCxnSpPr>
          <p:cNvPr id="39" name="Connector 38"/>
          <p:cNvCxnSpPr/>
          <p:nvPr/>
        </p:nvCxnSpPr>
        <p:spPr>
          <a:xfrm>
            <a:off x="11064240" y="5678424"/>
            <a:ext cx="36576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1430000" y="5230368"/>
            <a:ext cx="6309360" cy="89611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41" name="!!rama5"/>
          <p:cNvSpPr/>
          <p:nvPr/>
        </p:nvSpPr>
        <p:spPr>
          <a:xfrm>
            <a:off x="11567160" y="5358383"/>
            <a:ext cx="640080" cy="64008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800" b="1">
                <a:solidFill>
                  <a:srgbClr val="FFFFFF"/>
                </a:solidFill>
                <a:latin typeface="Inter SemiBold"/>
              </a:rPr>
              <a:t>4</a:t>
            </a:r>
          </a:p>
        </p:txBody>
      </p:sp>
      <p:sp>
        <p:nvSpPr>
          <p:cNvPr id="42" name="TextBox 41"/>
          <p:cNvSpPr txBox="1"/>
          <p:nvPr/>
        </p:nvSpPr>
        <p:spPr>
          <a:xfrm>
            <a:off x="12390120" y="5303520"/>
            <a:ext cx="5303520" cy="365760"/>
          </a:xfrm>
          <a:prstGeom prst="rect">
            <a:avLst/>
          </a:prstGeom>
          <a:noFill/>
        </p:spPr>
        <p:txBody>
          <a:bodyPr wrap="square" lIns="0" tIns="0" rIns="0" bIns="0" anchor="t">
            <a:spAutoFit/>
          </a:bodyPr>
          <a:lstStyle/>
          <a:p>
            <a:pPr algn="l"/>
            <a:r>
              <a:rPr sz="1700" b="1">
                <a:solidFill>
                  <a:srgbClr val="111111"/>
                </a:solidFill>
                <a:latin typeface="Inter SemiBold"/>
              </a:rPr>
              <a:t>5 · Contrato y licitación</a:t>
            </a:r>
          </a:p>
        </p:txBody>
      </p:sp>
      <p:sp>
        <p:nvSpPr>
          <p:cNvPr id="43" name="TextBox 42"/>
          <p:cNvSpPr txBox="1"/>
          <p:nvPr/>
        </p:nvSpPr>
        <p:spPr>
          <a:xfrm>
            <a:off x="12390120" y="5705856"/>
            <a:ext cx="5303520" cy="347472"/>
          </a:xfrm>
          <a:prstGeom prst="rect">
            <a:avLst/>
          </a:prstGeom>
          <a:noFill/>
        </p:spPr>
        <p:txBody>
          <a:bodyPr wrap="square" lIns="0" tIns="0" rIns="0" bIns="0" anchor="t">
            <a:spAutoFit/>
          </a:bodyPr>
          <a:lstStyle/>
          <a:p>
            <a:pPr algn="l"/>
            <a:r>
              <a:rPr sz="1400" b="0">
                <a:solidFill>
                  <a:srgbClr val="606060"/>
                </a:solidFill>
                <a:latin typeface="Inter"/>
              </a:rPr>
              <a:t>R-026 Aceptación · R-027 Alcance</a:t>
            </a:r>
          </a:p>
        </p:txBody>
      </p:sp>
      <p:cxnSp>
        <p:nvCxnSpPr>
          <p:cNvPr id="44" name="Connector 43"/>
          <p:cNvCxnSpPr/>
          <p:nvPr/>
        </p:nvCxnSpPr>
        <p:spPr>
          <a:xfrm>
            <a:off x="11064240" y="6757416"/>
            <a:ext cx="36576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1430000" y="6309359"/>
            <a:ext cx="6309360" cy="89611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46" name="!!rama6"/>
          <p:cNvSpPr/>
          <p:nvPr/>
        </p:nvSpPr>
        <p:spPr>
          <a:xfrm>
            <a:off x="11567160" y="6437375"/>
            <a:ext cx="640080" cy="640080"/>
          </a:xfrm>
          <a:prstGeom prst="ellipse">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800" b="1">
                <a:solidFill>
                  <a:srgbClr val="FFFFFF"/>
                </a:solidFill>
                <a:latin typeface="Inter SemiBold"/>
              </a:rPr>
              <a:t>2</a:t>
            </a:r>
          </a:p>
        </p:txBody>
      </p:sp>
      <p:sp>
        <p:nvSpPr>
          <p:cNvPr id="47" name="TextBox 46"/>
          <p:cNvSpPr txBox="1"/>
          <p:nvPr/>
        </p:nvSpPr>
        <p:spPr>
          <a:xfrm>
            <a:off x="12390120" y="6382512"/>
            <a:ext cx="5303520" cy="365760"/>
          </a:xfrm>
          <a:prstGeom prst="rect">
            <a:avLst/>
          </a:prstGeom>
          <a:noFill/>
        </p:spPr>
        <p:txBody>
          <a:bodyPr wrap="square" lIns="0" tIns="0" rIns="0" bIns="0" anchor="t">
            <a:spAutoFit/>
          </a:bodyPr>
          <a:lstStyle/>
          <a:p>
            <a:pPr algn="l"/>
            <a:r>
              <a:rPr sz="1700" b="1">
                <a:solidFill>
                  <a:srgbClr val="111111"/>
                </a:solidFill>
                <a:latin typeface="Inter SemiBold"/>
              </a:rPr>
              <a:t>6 · Regulatorio y externo</a:t>
            </a:r>
          </a:p>
        </p:txBody>
      </p:sp>
      <p:sp>
        <p:nvSpPr>
          <p:cNvPr id="48" name="TextBox 47"/>
          <p:cNvSpPr txBox="1"/>
          <p:nvPr/>
        </p:nvSpPr>
        <p:spPr>
          <a:xfrm>
            <a:off x="12390120" y="6784848"/>
            <a:ext cx="5303520" cy="347472"/>
          </a:xfrm>
          <a:prstGeom prst="rect">
            <a:avLst/>
          </a:prstGeom>
          <a:noFill/>
        </p:spPr>
        <p:txBody>
          <a:bodyPr wrap="square" lIns="0" tIns="0" rIns="0" bIns="0" anchor="t">
            <a:spAutoFit/>
          </a:bodyPr>
          <a:lstStyle/>
          <a:p>
            <a:pPr algn="l"/>
            <a:r>
              <a:rPr sz="1400" b="0">
                <a:solidFill>
                  <a:srgbClr val="606060"/>
                </a:solidFill>
                <a:latin typeface="Inter"/>
              </a:rPr>
              <a:t>R-029 Evidencia · R-042 Normativa</a:t>
            </a:r>
          </a:p>
        </p:txBody>
      </p:sp>
      <p:cxnSp>
        <p:nvCxnSpPr>
          <p:cNvPr id="49" name="Connector 48"/>
          <p:cNvCxnSpPr/>
          <p:nvPr/>
        </p:nvCxnSpPr>
        <p:spPr>
          <a:xfrm>
            <a:off x="11064240" y="7836408"/>
            <a:ext cx="365760"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11430000" y="7388352"/>
            <a:ext cx="6309360" cy="89611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1" name="!!rama7"/>
          <p:cNvSpPr/>
          <p:nvPr/>
        </p:nvSpPr>
        <p:spPr>
          <a:xfrm>
            <a:off x="11567160" y="7516368"/>
            <a:ext cx="640080" cy="640080"/>
          </a:xfrm>
          <a:prstGeom prst="ellipse">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800" b="1">
                <a:solidFill>
                  <a:srgbClr val="FFFFFF"/>
                </a:solidFill>
                <a:latin typeface="Inter SemiBold"/>
              </a:rPr>
              <a:t>3</a:t>
            </a:r>
          </a:p>
        </p:txBody>
      </p:sp>
      <p:sp>
        <p:nvSpPr>
          <p:cNvPr id="52" name="TextBox 51"/>
          <p:cNvSpPr txBox="1"/>
          <p:nvPr/>
        </p:nvSpPr>
        <p:spPr>
          <a:xfrm>
            <a:off x="12390120" y="7461504"/>
            <a:ext cx="5303520" cy="365760"/>
          </a:xfrm>
          <a:prstGeom prst="rect">
            <a:avLst/>
          </a:prstGeom>
          <a:noFill/>
        </p:spPr>
        <p:txBody>
          <a:bodyPr wrap="square" lIns="0" tIns="0" rIns="0" bIns="0" anchor="t">
            <a:spAutoFit/>
          </a:bodyPr>
          <a:lstStyle/>
          <a:p>
            <a:pPr algn="l"/>
            <a:r>
              <a:rPr sz="1700" b="1">
                <a:solidFill>
                  <a:srgbClr val="111111"/>
                </a:solidFill>
                <a:latin typeface="Inter SemiBold"/>
              </a:rPr>
              <a:t>7 · Empresa proveedora</a:t>
            </a:r>
          </a:p>
        </p:txBody>
      </p:sp>
      <p:sp>
        <p:nvSpPr>
          <p:cNvPr id="53" name="TextBox 52"/>
          <p:cNvSpPr txBox="1"/>
          <p:nvPr/>
        </p:nvSpPr>
        <p:spPr>
          <a:xfrm>
            <a:off x="12390120" y="7863840"/>
            <a:ext cx="5303520" cy="347472"/>
          </a:xfrm>
          <a:prstGeom prst="rect">
            <a:avLst/>
          </a:prstGeom>
          <a:noFill/>
        </p:spPr>
        <p:txBody>
          <a:bodyPr wrap="square" lIns="0" tIns="0" rIns="0" bIns="0" anchor="t">
            <a:spAutoFit/>
          </a:bodyPr>
          <a:lstStyle/>
          <a:p>
            <a:pPr algn="l"/>
            <a:r>
              <a:rPr sz="1400" b="0">
                <a:solidFill>
                  <a:srgbClr val="606060"/>
                </a:solidFill>
                <a:latin typeface="Inter"/>
              </a:rPr>
              <a:t>R-025 Dotación · R-034 Mesa y NOC</a:t>
            </a:r>
          </a:p>
        </p:txBody>
      </p:sp>
      <p:sp>
        <p:nvSpPr>
          <p:cNvPr id="54"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26</a:t>
            </a:r>
          </a:p>
        </p:txBody>
      </p:sp>
    </p:spTree>
  </p:cSld>
  <p:clrMapOvr>
    <a:masterClrMapping/>
  </p:clrMapOvr>
  <p:transition spd="med">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03838" y="1097280"/>
            <a:ext cx="6035040" cy="2377440"/>
          </a:xfrm>
          <a:prstGeom prst="rect">
            <a:avLst/>
          </a:prstGeom>
        </p:spPr>
        <p:txBody>
          <a:bodyPr lIns="0" tIns="0" rIns="0" bIns="0" rtlCol="0" anchor="t">
            <a:spAutoFit/>
          </a:bodyPr>
          <a:lstStyle/>
          <a:p>
            <a:pPr algn="l">
              <a:lnSpc>
                <a:spcPct val="90000"/>
              </a:lnSpc>
            </a:pPr>
            <a:r>
              <a:rPr lang="en-US" sz="5600" b="1">
                <a:solidFill>
                  <a:srgbClr val="111111"/>
                </a:solidFill>
                <a:latin typeface="Inter SemiBold"/>
                <a:ea typeface="Inter SemiBold"/>
                <a:cs typeface="Inter SemiBold"/>
                <a:sym typeface="Inter SemiBold"/>
              </a:rPr>
              <a:t>Riesgos principales</a:t>
            </a:r>
          </a:p>
        </p:txBody>
      </p:sp>
      <p:sp>
        <p:nvSpPr>
          <p:cNvPr id="11" name="Freeform 1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2" name="TextBox 11"/>
          <p:cNvSpPr txBox="1"/>
          <p:nvPr/>
        </p:nvSpPr>
        <p:spPr>
          <a:xfrm>
            <a:off x="1499616" y="3657600"/>
            <a:ext cx="5669280" cy="1097280"/>
          </a:xfrm>
          <a:prstGeom prst="rect">
            <a:avLst/>
          </a:prstGeom>
          <a:noFill/>
        </p:spPr>
        <p:txBody>
          <a:bodyPr wrap="square" lIns="0" tIns="0" rIns="0" bIns="0" anchor="t">
            <a:spAutoFit/>
          </a:bodyPr>
          <a:lstStyle/>
          <a:p>
            <a:pPr algn="l"/>
            <a:r>
              <a:rPr sz="2200" b="0">
                <a:solidFill>
                  <a:srgbClr val="606060"/>
                </a:solidFill>
                <a:latin typeface="Inter"/>
              </a:rPr>
              <a:t>Respuesta: mitigar
Probabilidad inicial → objetivo</a:t>
            </a:r>
          </a:p>
        </p:txBody>
      </p:sp>
      <p:sp>
        <p:nvSpPr>
          <p:cNvPr id="13" name="TextBox 12"/>
          <p:cNvSpPr txBox="1"/>
          <p:nvPr/>
        </p:nvSpPr>
        <p:spPr>
          <a:xfrm>
            <a:off x="1499616" y="5212080"/>
            <a:ext cx="5486400" cy="548640"/>
          </a:xfrm>
          <a:prstGeom prst="rect">
            <a:avLst/>
          </a:prstGeom>
          <a:noFill/>
        </p:spPr>
        <p:txBody>
          <a:bodyPr wrap="square" lIns="0" tIns="0" rIns="0" bIns="0" anchor="t">
            <a:spAutoFit/>
          </a:bodyPr>
          <a:lstStyle/>
          <a:p>
            <a:pPr algn="l"/>
            <a:r>
              <a:rPr sz="3400" b="1">
                <a:solidFill>
                  <a:srgbClr val="E8641B"/>
                </a:solidFill>
                <a:latin typeface="Inter SemiBold"/>
              </a:rPr>
              <a:t>2.058 HH</a:t>
            </a:r>
          </a:p>
        </p:txBody>
      </p:sp>
      <p:sp>
        <p:nvSpPr>
          <p:cNvPr id="14" name="TextBox 13"/>
          <p:cNvSpPr txBox="1"/>
          <p:nvPr/>
        </p:nvSpPr>
        <p:spPr>
          <a:xfrm>
            <a:off x="1499616" y="5779008"/>
            <a:ext cx="5486400" cy="411480"/>
          </a:xfrm>
          <a:prstGeom prst="rect">
            <a:avLst/>
          </a:prstGeom>
          <a:noFill/>
        </p:spPr>
        <p:txBody>
          <a:bodyPr wrap="square" lIns="0" tIns="0" rIns="0" bIns="0" anchor="t">
            <a:spAutoFit/>
          </a:bodyPr>
          <a:lstStyle/>
          <a:p>
            <a:pPr algn="l"/>
            <a:r>
              <a:rPr sz="1700" b="0">
                <a:solidFill>
                  <a:srgbClr val="606060"/>
                </a:solidFill>
                <a:latin typeface="Inter"/>
              </a:rPr>
              <a:t>de contingencia</a:t>
            </a:r>
          </a:p>
        </p:txBody>
      </p:sp>
      <p:sp>
        <p:nvSpPr>
          <p:cNvPr id="15" name="TextBox 14"/>
          <p:cNvSpPr txBox="1"/>
          <p:nvPr/>
        </p:nvSpPr>
        <p:spPr>
          <a:xfrm>
            <a:off x="1499616" y="6309360"/>
            <a:ext cx="5486400" cy="548640"/>
          </a:xfrm>
          <a:prstGeom prst="rect">
            <a:avLst/>
          </a:prstGeom>
          <a:noFill/>
        </p:spPr>
        <p:txBody>
          <a:bodyPr wrap="square" lIns="0" tIns="0" rIns="0" bIns="0" anchor="t">
            <a:spAutoFit/>
          </a:bodyPr>
          <a:lstStyle/>
          <a:p>
            <a:pPr algn="l"/>
            <a:r>
              <a:rPr sz="3400" b="1">
                <a:solidFill>
                  <a:srgbClr val="E8641B"/>
                </a:solidFill>
                <a:latin typeface="Inter SemiBold"/>
              </a:rPr>
              <a:t>1.600 HH</a:t>
            </a:r>
          </a:p>
        </p:txBody>
      </p:sp>
      <p:sp>
        <p:nvSpPr>
          <p:cNvPr id="16" name="TextBox 15"/>
          <p:cNvSpPr txBox="1"/>
          <p:nvPr/>
        </p:nvSpPr>
        <p:spPr>
          <a:xfrm>
            <a:off x="1499616" y="6876288"/>
            <a:ext cx="5486400" cy="411480"/>
          </a:xfrm>
          <a:prstGeom prst="rect">
            <a:avLst/>
          </a:prstGeom>
          <a:noFill/>
        </p:spPr>
        <p:txBody>
          <a:bodyPr wrap="square" lIns="0" tIns="0" rIns="0" bIns="0" anchor="t">
            <a:spAutoFit/>
          </a:bodyPr>
          <a:lstStyle/>
          <a:p>
            <a:pPr algn="l"/>
            <a:r>
              <a:rPr sz="1700" b="0">
                <a:solidFill>
                  <a:srgbClr val="606060"/>
                </a:solidFill>
                <a:latin typeface="Inter"/>
              </a:rPr>
              <a:t>de reserva de gestión</a:t>
            </a:r>
          </a:p>
        </p:txBody>
      </p:sp>
      <p:sp>
        <p:nvSpPr>
          <p:cNvPr id="17" name="TextBox 16"/>
          <p:cNvSpPr txBox="1"/>
          <p:nvPr/>
        </p:nvSpPr>
        <p:spPr>
          <a:xfrm>
            <a:off x="1499616" y="7635240"/>
            <a:ext cx="5669280" cy="548640"/>
          </a:xfrm>
          <a:prstGeom prst="rect">
            <a:avLst/>
          </a:prstGeom>
          <a:noFill/>
        </p:spPr>
        <p:txBody>
          <a:bodyPr wrap="square" lIns="0" tIns="0" rIns="0" bIns="0" anchor="t">
            <a:spAutoFit/>
          </a:bodyPr>
          <a:lstStyle/>
          <a:p>
            <a:pPr algn="l"/>
            <a:r>
              <a:rPr sz="1400" b="0">
                <a:solidFill>
                  <a:srgbClr val="9A9A9A"/>
                </a:solidFill>
                <a:latin typeface="Inter"/>
              </a:rPr>
              <a:t>Objetivo condicionado a validación</a:t>
            </a:r>
          </a:p>
        </p:txBody>
      </p:sp>
      <p:sp>
        <p:nvSpPr>
          <p:cNvPr id="18" name="TextBox 17"/>
          <p:cNvSpPr txBox="1"/>
          <p:nvPr/>
        </p:nvSpPr>
        <p:spPr>
          <a:xfrm>
            <a:off x="7589520" y="868680"/>
            <a:ext cx="731520" cy="274320"/>
          </a:xfrm>
          <a:prstGeom prst="rect">
            <a:avLst/>
          </a:prstGeom>
          <a:noFill/>
        </p:spPr>
        <p:txBody>
          <a:bodyPr wrap="square" lIns="0" tIns="0" rIns="0" bIns="0" anchor="t">
            <a:spAutoFit/>
          </a:bodyPr>
          <a:lstStyle/>
          <a:p>
            <a:pPr algn="l"/>
            <a:r>
              <a:rPr sz="1400" b="1">
                <a:solidFill>
                  <a:srgbClr val="9A9A9A"/>
                </a:solidFill>
                <a:latin typeface="Inter SemiBold"/>
              </a:rPr>
              <a:t>RAMA</a:t>
            </a:r>
          </a:p>
        </p:txBody>
      </p:sp>
      <p:sp>
        <p:nvSpPr>
          <p:cNvPr id="19" name="TextBox 18"/>
          <p:cNvSpPr txBox="1"/>
          <p:nvPr/>
        </p:nvSpPr>
        <p:spPr>
          <a:xfrm>
            <a:off x="8412480" y="868680"/>
            <a:ext cx="3383280" cy="274320"/>
          </a:xfrm>
          <a:prstGeom prst="rect">
            <a:avLst/>
          </a:prstGeom>
          <a:noFill/>
        </p:spPr>
        <p:txBody>
          <a:bodyPr wrap="square" lIns="0" tIns="0" rIns="0" bIns="0" anchor="t">
            <a:spAutoFit/>
          </a:bodyPr>
          <a:lstStyle/>
          <a:p>
            <a:pPr algn="l"/>
            <a:r>
              <a:rPr sz="1400" b="1">
                <a:solidFill>
                  <a:srgbClr val="9A9A9A"/>
                </a:solidFill>
                <a:latin typeface="Inter SemiBold"/>
              </a:rPr>
              <a:t>RIESGO</a:t>
            </a:r>
          </a:p>
        </p:txBody>
      </p:sp>
      <p:sp>
        <p:nvSpPr>
          <p:cNvPr id="20" name="TextBox 19"/>
          <p:cNvSpPr txBox="1"/>
          <p:nvPr/>
        </p:nvSpPr>
        <p:spPr>
          <a:xfrm>
            <a:off x="11932920" y="868680"/>
            <a:ext cx="3566160" cy="274320"/>
          </a:xfrm>
          <a:prstGeom prst="rect">
            <a:avLst/>
          </a:prstGeom>
          <a:noFill/>
        </p:spPr>
        <p:txBody>
          <a:bodyPr wrap="square" lIns="0" tIns="0" rIns="0" bIns="0" anchor="t">
            <a:spAutoFit/>
          </a:bodyPr>
          <a:lstStyle/>
          <a:p>
            <a:pPr algn="l"/>
            <a:r>
              <a:rPr sz="1400" b="1">
                <a:solidFill>
                  <a:srgbClr val="9A9A9A"/>
                </a:solidFill>
                <a:latin typeface="Inter SemiBold"/>
              </a:rPr>
              <a:t>MITIGACIÓN</a:t>
            </a:r>
          </a:p>
        </p:txBody>
      </p:sp>
      <p:sp>
        <p:nvSpPr>
          <p:cNvPr id="21" name="TextBox 20"/>
          <p:cNvSpPr txBox="1"/>
          <p:nvPr/>
        </p:nvSpPr>
        <p:spPr>
          <a:xfrm>
            <a:off x="15636240" y="868680"/>
            <a:ext cx="1920240" cy="274320"/>
          </a:xfrm>
          <a:prstGeom prst="rect">
            <a:avLst/>
          </a:prstGeom>
          <a:noFill/>
        </p:spPr>
        <p:txBody>
          <a:bodyPr wrap="square" lIns="0" tIns="0" rIns="0" bIns="0" anchor="t">
            <a:spAutoFit/>
          </a:bodyPr>
          <a:lstStyle/>
          <a:p>
            <a:pPr algn="l"/>
            <a:r>
              <a:rPr sz="1400" b="1">
                <a:solidFill>
                  <a:srgbClr val="9A9A9A"/>
                </a:solidFill>
                <a:latin typeface="Inter SemiBold"/>
              </a:rPr>
              <a:t>PROB.</a:t>
            </a:r>
          </a:p>
        </p:txBody>
      </p:sp>
      <p:sp>
        <p:nvSpPr>
          <p:cNvPr id="22" name="Rounded Rectangle 21"/>
          <p:cNvSpPr/>
          <p:nvPr/>
        </p:nvSpPr>
        <p:spPr>
          <a:xfrm>
            <a:off x="7589520" y="1234440"/>
            <a:ext cx="1001268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23" name="!!rama1"/>
          <p:cNvSpPr/>
          <p:nvPr/>
        </p:nvSpPr>
        <p:spPr>
          <a:xfrm>
            <a:off x="7680960" y="1508760"/>
            <a:ext cx="594360" cy="59436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1</a:t>
            </a:r>
          </a:p>
        </p:txBody>
      </p:sp>
      <p:sp>
        <p:nvSpPr>
          <p:cNvPr id="24" name="TextBox 23"/>
          <p:cNvSpPr txBox="1"/>
          <p:nvPr/>
        </p:nvSpPr>
        <p:spPr>
          <a:xfrm>
            <a:off x="8412480" y="1325880"/>
            <a:ext cx="3383280" cy="594360"/>
          </a:xfrm>
          <a:prstGeom prst="rect">
            <a:avLst/>
          </a:prstGeom>
          <a:noFill/>
        </p:spPr>
        <p:txBody>
          <a:bodyPr wrap="square" lIns="0" tIns="0" rIns="0" bIns="0" anchor="t">
            <a:spAutoFit/>
          </a:bodyPr>
          <a:lstStyle/>
          <a:p>
            <a:pPr algn="l"/>
            <a:r>
              <a:rPr sz="1600" b="1">
                <a:solidFill>
                  <a:srgbClr val="E8641B"/>
                </a:solidFill>
                <a:latin typeface="Inter SemiBold"/>
              </a:rPr>
              <a:t>R-012  </a:t>
            </a:r>
            <a:r>
              <a:rPr sz="1600" b="1">
                <a:solidFill>
                  <a:srgbClr val="111111"/>
                </a:solidFill>
                <a:latin typeface="Inter SemiBold"/>
              </a:rPr>
              <a:t>Retiro sin trazabilidad</a:t>
            </a:r>
          </a:p>
        </p:txBody>
      </p:sp>
      <p:sp>
        <p:nvSpPr>
          <p:cNvPr id="25" name="TextBox 24"/>
          <p:cNvSpPr txBox="1"/>
          <p:nvPr/>
        </p:nvSpPr>
        <p:spPr>
          <a:xfrm>
            <a:off x="8412480" y="2011680"/>
            <a:ext cx="3383280" cy="292608"/>
          </a:xfrm>
          <a:prstGeom prst="rect">
            <a:avLst/>
          </a:prstGeom>
          <a:noFill/>
        </p:spPr>
        <p:txBody>
          <a:bodyPr wrap="square" lIns="0" tIns="0" rIns="0" bIns="0" anchor="t">
            <a:spAutoFit/>
          </a:bodyPr>
          <a:lstStyle/>
          <a:p>
            <a:pPr algn="l"/>
            <a:r>
              <a:rPr sz="1400" b="0">
                <a:solidFill>
                  <a:srgbClr val="606060"/>
                </a:solidFill>
                <a:latin typeface="Inter"/>
              </a:rPr>
              <a:t>M. Miño</a:t>
            </a:r>
          </a:p>
        </p:txBody>
      </p:sp>
      <p:sp>
        <p:nvSpPr>
          <p:cNvPr id="26" name="TextBox 25"/>
          <p:cNvSpPr txBox="1"/>
          <p:nvPr/>
        </p:nvSpPr>
        <p:spPr>
          <a:xfrm>
            <a:off x="11932920" y="1234440"/>
            <a:ext cx="3566160" cy="1143000"/>
          </a:xfrm>
          <a:prstGeom prst="rect">
            <a:avLst/>
          </a:prstGeom>
          <a:noFill/>
        </p:spPr>
        <p:txBody>
          <a:bodyPr wrap="square" lIns="0" tIns="0" rIns="0" bIns="0" anchor="ctr">
            <a:spAutoFit/>
          </a:bodyPr>
          <a:lstStyle/>
          <a:p>
            <a:pPr algn="l"/>
            <a:r>
              <a:rPr sz="1600" b="0">
                <a:solidFill>
                  <a:srgbClr val="3C3C3C"/>
                </a:solidFill>
                <a:latin typeface="Inter"/>
              </a:rPr>
              <a:t>Retiro simulado de punta a punta</a:t>
            </a:r>
          </a:p>
        </p:txBody>
      </p:sp>
      <p:sp>
        <p:nvSpPr>
          <p:cNvPr id="27" name="TextBox 26"/>
          <p:cNvSpPr txBox="1"/>
          <p:nvPr/>
        </p:nvSpPr>
        <p:spPr>
          <a:xfrm>
            <a:off x="15636240" y="1234440"/>
            <a:ext cx="1920240" cy="1143000"/>
          </a:xfrm>
          <a:prstGeom prst="rect">
            <a:avLst/>
          </a:prstGeom>
          <a:noFill/>
        </p:spPr>
        <p:txBody>
          <a:bodyPr wrap="square" lIns="0" tIns="0" rIns="0" bIns="0" anchor="ctr">
            <a:spAutoFit/>
          </a:bodyPr>
          <a:lstStyle/>
          <a:p>
            <a:pPr algn="l"/>
            <a:r>
              <a:rPr sz="2000" b="1">
                <a:solidFill>
                  <a:srgbClr val="9A9A9A"/>
                </a:solidFill>
                <a:latin typeface="Inter SemiBold"/>
              </a:rPr>
              <a:t>35 % → </a:t>
            </a:r>
            <a:r>
              <a:rPr sz="2000" b="1">
                <a:solidFill>
                  <a:srgbClr val="E8641B"/>
                </a:solidFill>
                <a:latin typeface="Inter SemiBold"/>
              </a:rPr>
              <a:t>10 %</a:t>
            </a:r>
          </a:p>
        </p:txBody>
      </p:sp>
      <p:sp>
        <p:nvSpPr>
          <p:cNvPr id="28" name="Rounded Rectangle 27"/>
          <p:cNvSpPr/>
          <p:nvPr/>
        </p:nvSpPr>
        <p:spPr>
          <a:xfrm>
            <a:off x="7589520" y="2496312"/>
            <a:ext cx="1001268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29" name="Oval 28"/>
          <p:cNvSpPr/>
          <p:nvPr/>
        </p:nvSpPr>
        <p:spPr>
          <a:xfrm>
            <a:off x="7680960" y="2770632"/>
            <a:ext cx="594360" cy="59436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1</a:t>
            </a:r>
          </a:p>
        </p:txBody>
      </p:sp>
      <p:sp>
        <p:nvSpPr>
          <p:cNvPr id="30" name="TextBox 29"/>
          <p:cNvSpPr txBox="1"/>
          <p:nvPr/>
        </p:nvSpPr>
        <p:spPr>
          <a:xfrm>
            <a:off x="8412480" y="2587752"/>
            <a:ext cx="3383280" cy="594360"/>
          </a:xfrm>
          <a:prstGeom prst="rect">
            <a:avLst/>
          </a:prstGeom>
          <a:noFill/>
        </p:spPr>
        <p:txBody>
          <a:bodyPr wrap="square" lIns="0" tIns="0" rIns="0" bIns="0" anchor="t">
            <a:spAutoFit/>
          </a:bodyPr>
          <a:lstStyle/>
          <a:p>
            <a:pPr algn="l"/>
            <a:r>
              <a:rPr sz="1600" b="1">
                <a:solidFill>
                  <a:srgbClr val="E8641B"/>
                </a:solidFill>
                <a:latin typeface="Inter SemiBold"/>
              </a:rPr>
              <a:t>R-015  </a:t>
            </a:r>
            <a:r>
              <a:rPr sz="1600" b="1">
                <a:solidFill>
                  <a:srgbClr val="111111"/>
                </a:solidFill>
                <a:latin typeface="Inter SemiBold"/>
              </a:rPr>
              <a:t>Recuperación fuera de RTO/RPO</a:t>
            </a:r>
          </a:p>
        </p:txBody>
      </p:sp>
      <p:sp>
        <p:nvSpPr>
          <p:cNvPr id="31" name="TextBox 30"/>
          <p:cNvSpPr txBox="1"/>
          <p:nvPr/>
        </p:nvSpPr>
        <p:spPr>
          <a:xfrm>
            <a:off x="8412480" y="3273552"/>
            <a:ext cx="3383280" cy="292608"/>
          </a:xfrm>
          <a:prstGeom prst="rect">
            <a:avLst/>
          </a:prstGeom>
          <a:noFill/>
        </p:spPr>
        <p:txBody>
          <a:bodyPr wrap="square" lIns="0" tIns="0" rIns="0" bIns="0" anchor="t">
            <a:spAutoFit/>
          </a:bodyPr>
          <a:lstStyle/>
          <a:p>
            <a:pPr algn="l"/>
            <a:r>
              <a:rPr sz="1400" b="0">
                <a:solidFill>
                  <a:srgbClr val="606060"/>
                </a:solidFill>
                <a:latin typeface="Inter"/>
              </a:rPr>
              <a:t>G. Castillo</a:t>
            </a:r>
          </a:p>
        </p:txBody>
      </p:sp>
      <p:sp>
        <p:nvSpPr>
          <p:cNvPr id="32" name="TextBox 31"/>
          <p:cNvSpPr txBox="1"/>
          <p:nvPr/>
        </p:nvSpPr>
        <p:spPr>
          <a:xfrm>
            <a:off x="11932920" y="2496312"/>
            <a:ext cx="3566160" cy="1143000"/>
          </a:xfrm>
          <a:prstGeom prst="rect">
            <a:avLst/>
          </a:prstGeom>
          <a:noFill/>
        </p:spPr>
        <p:txBody>
          <a:bodyPr wrap="square" lIns="0" tIns="0" rIns="0" bIns="0" anchor="ctr">
            <a:spAutoFit/>
          </a:bodyPr>
          <a:lstStyle/>
          <a:p>
            <a:pPr algn="l"/>
            <a:r>
              <a:rPr sz="1600" b="0">
                <a:solidFill>
                  <a:srgbClr val="3C3C3C"/>
                </a:solidFill>
                <a:latin typeface="Inter"/>
              </a:rPr>
              <a:t>Ensayo de desastre total</a:t>
            </a:r>
          </a:p>
        </p:txBody>
      </p:sp>
      <p:sp>
        <p:nvSpPr>
          <p:cNvPr id="33" name="TextBox 32"/>
          <p:cNvSpPr txBox="1"/>
          <p:nvPr/>
        </p:nvSpPr>
        <p:spPr>
          <a:xfrm>
            <a:off x="15636240" y="2496312"/>
            <a:ext cx="1920240" cy="1143000"/>
          </a:xfrm>
          <a:prstGeom prst="rect">
            <a:avLst/>
          </a:prstGeom>
          <a:noFill/>
        </p:spPr>
        <p:txBody>
          <a:bodyPr wrap="square" lIns="0" tIns="0" rIns="0" bIns="0" anchor="ctr">
            <a:spAutoFit/>
          </a:bodyPr>
          <a:lstStyle/>
          <a:p>
            <a:pPr algn="l"/>
            <a:r>
              <a:rPr sz="2000" b="1">
                <a:solidFill>
                  <a:srgbClr val="9A9A9A"/>
                </a:solidFill>
                <a:latin typeface="Inter SemiBold"/>
              </a:rPr>
              <a:t>35 % → </a:t>
            </a:r>
            <a:r>
              <a:rPr sz="2000" b="1">
                <a:solidFill>
                  <a:srgbClr val="E8641B"/>
                </a:solidFill>
                <a:latin typeface="Inter SemiBold"/>
              </a:rPr>
              <a:t>10 %</a:t>
            </a:r>
          </a:p>
        </p:txBody>
      </p:sp>
      <p:sp>
        <p:nvSpPr>
          <p:cNvPr id="34" name="Rounded Rectangle 33"/>
          <p:cNvSpPr/>
          <p:nvPr/>
        </p:nvSpPr>
        <p:spPr>
          <a:xfrm>
            <a:off x="7589520" y="3758183"/>
            <a:ext cx="1001268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5" name="Oval 34"/>
          <p:cNvSpPr/>
          <p:nvPr/>
        </p:nvSpPr>
        <p:spPr>
          <a:xfrm>
            <a:off x="7680960" y="4032503"/>
            <a:ext cx="594360" cy="59436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1</a:t>
            </a:r>
          </a:p>
        </p:txBody>
      </p:sp>
      <p:sp>
        <p:nvSpPr>
          <p:cNvPr id="36" name="TextBox 35"/>
          <p:cNvSpPr txBox="1"/>
          <p:nvPr/>
        </p:nvSpPr>
        <p:spPr>
          <a:xfrm>
            <a:off x="8412480" y="3849623"/>
            <a:ext cx="3383280" cy="594360"/>
          </a:xfrm>
          <a:prstGeom prst="rect">
            <a:avLst/>
          </a:prstGeom>
          <a:noFill/>
        </p:spPr>
        <p:txBody>
          <a:bodyPr wrap="square" lIns="0" tIns="0" rIns="0" bIns="0" anchor="t">
            <a:spAutoFit/>
          </a:bodyPr>
          <a:lstStyle/>
          <a:p>
            <a:pPr algn="l"/>
            <a:r>
              <a:rPr sz="1600" b="1">
                <a:solidFill>
                  <a:srgbClr val="E8641B"/>
                </a:solidFill>
                <a:latin typeface="Inter SemiBold"/>
              </a:rPr>
              <a:t>R-005  </a:t>
            </a:r>
            <a:r>
              <a:rPr sz="1600" b="1">
                <a:solidFill>
                  <a:srgbClr val="111111"/>
                </a:solidFill>
                <a:latin typeface="Inter SemiBold"/>
              </a:rPr>
              <a:t>Duplicados al reconectar</a:t>
            </a:r>
          </a:p>
        </p:txBody>
      </p:sp>
      <p:sp>
        <p:nvSpPr>
          <p:cNvPr id="37" name="TextBox 36"/>
          <p:cNvSpPr txBox="1"/>
          <p:nvPr/>
        </p:nvSpPr>
        <p:spPr>
          <a:xfrm>
            <a:off x="8412480" y="4535423"/>
            <a:ext cx="3383280" cy="292608"/>
          </a:xfrm>
          <a:prstGeom prst="rect">
            <a:avLst/>
          </a:prstGeom>
          <a:noFill/>
        </p:spPr>
        <p:txBody>
          <a:bodyPr wrap="square" lIns="0" tIns="0" rIns="0" bIns="0" anchor="t">
            <a:spAutoFit/>
          </a:bodyPr>
          <a:lstStyle/>
          <a:p>
            <a:pPr algn="l"/>
            <a:r>
              <a:rPr sz="1400" b="0">
                <a:solidFill>
                  <a:srgbClr val="606060"/>
                </a:solidFill>
                <a:latin typeface="Inter"/>
              </a:rPr>
              <a:t>T. Pérez</a:t>
            </a:r>
          </a:p>
        </p:txBody>
      </p:sp>
      <p:sp>
        <p:nvSpPr>
          <p:cNvPr id="38" name="TextBox 37"/>
          <p:cNvSpPr txBox="1"/>
          <p:nvPr/>
        </p:nvSpPr>
        <p:spPr>
          <a:xfrm>
            <a:off x="11932920" y="3758183"/>
            <a:ext cx="3566160" cy="1143000"/>
          </a:xfrm>
          <a:prstGeom prst="rect">
            <a:avLst/>
          </a:prstGeom>
          <a:noFill/>
        </p:spPr>
        <p:txBody>
          <a:bodyPr wrap="square" lIns="0" tIns="0" rIns="0" bIns="0" anchor="ctr">
            <a:spAutoFit/>
          </a:bodyPr>
          <a:lstStyle/>
          <a:p>
            <a:pPr algn="l"/>
            <a:r>
              <a:rPr sz="1600" b="0">
                <a:solidFill>
                  <a:srgbClr val="3C3C3C"/>
                </a:solidFill>
                <a:latin typeface="Inter"/>
              </a:rPr>
              <a:t>Inyección de fallas</a:t>
            </a:r>
          </a:p>
        </p:txBody>
      </p:sp>
      <p:sp>
        <p:nvSpPr>
          <p:cNvPr id="39" name="TextBox 38"/>
          <p:cNvSpPr txBox="1"/>
          <p:nvPr/>
        </p:nvSpPr>
        <p:spPr>
          <a:xfrm>
            <a:off x="15636240" y="3758183"/>
            <a:ext cx="1920240" cy="1143000"/>
          </a:xfrm>
          <a:prstGeom prst="rect">
            <a:avLst/>
          </a:prstGeom>
          <a:noFill/>
        </p:spPr>
        <p:txBody>
          <a:bodyPr wrap="square" lIns="0" tIns="0" rIns="0" bIns="0" anchor="ctr">
            <a:spAutoFit/>
          </a:bodyPr>
          <a:lstStyle/>
          <a:p>
            <a:pPr algn="l"/>
            <a:r>
              <a:rPr sz="2000" b="1">
                <a:solidFill>
                  <a:srgbClr val="9A9A9A"/>
                </a:solidFill>
                <a:latin typeface="Inter SemiBold"/>
              </a:rPr>
              <a:t>30 % → </a:t>
            </a:r>
            <a:r>
              <a:rPr sz="2000" b="1">
                <a:solidFill>
                  <a:srgbClr val="E8641B"/>
                </a:solidFill>
                <a:latin typeface="Inter SemiBold"/>
              </a:rPr>
              <a:t>10 %</a:t>
            </a:r>
          </a:p>
        </p:txBody>
      </p:sp>
      <p:sp>
        <p:nvSpPr>
          <p:cNvPr id="40" name="Rounded Rectangle 39"/>
          <p:cNvSpPr/>
          <p:nvPr/>
        </p:nvSpPr>
        <p:spPr>
          <a:xfrm>
            <a:off x="7589520" y="5020056"/>
            <a:ext cx="1001268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41" name="!!rama3"/>
          <p:cNvSpPr/>
          <p:nvPr/>
        </p:nvSpPr>
        <p:spPr>
          <a:xfrm>
            <a:off x="7680960" y="5294376"/>
            <a:ext cx="594360" cy="594360"/>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3</a:t>
            </a:r>
          </a:p>
        </p:txBody>
      </p:sp>
      <p:sp>
        <p:nvSpPr>
          <p:cNvPr id="42" name="TextBox 41"/>
          <p:cNvSpPr txBox="1"/>
          <p:nvPr/>
        </p:nvSpPr>
        <p:spPr>
          <a:xfrm>
            <a:off x="8412480" y="5111496"/>
            <a:ext cx="3383280" cy="594360"/>
          </a:xfrm>
          <a:prstGeom prst="rect">
            <a:avLst/>
          </a:prstGeom>
          <a:noFill/>
        </p:spPr>
        <p:txBody>
          <a:bodyPr wrap="square" lIns="0" tIns="0" rIns="0" bIns="0" anchor="t">
            <a:spAutoFit/>
          </a:bodyPr>
          <a:lstStyle/>
          <a:p>
            <a:pPr algn="l"/>
            <a:r>
              <a:rPr sz="1600" b="1">
                <a:solidFill>
                  <a:srgbClr val="E8641B"/>
                </a:solidFill>
                <a:latin typeface="Inter SemiBold"/>
              </a:rPr>
              <a:t>R-006  </a:t>
            </a:r>
            <a:r>
              <a:rPr sz="1600" b="1">
                <a:solidFill>
                  <a:srgbClr val="111111"/>
                </a:solidFill>
                <a:latin typeface="Inter SemiBold"/>
              </a:rPr>
              <a:t>Caída de enlaces Concepción</a:t>
            </a:r>
          </a:p>
        </p:txBody>
      </p:sp>
      <p:sp>
        <p:nvSpPr>
          <p:cNvPr id="43" name="TextBox 42"/>
          <p:cNvSpPr txBox="1"/>
          <p:nvPr/>
        </p:nvSpPr>
        <p:spPr>
          <a:xfrm>
            <a:off x="8412480" y="5797296"/>
            <a:ext cx="3383280" cy="292608"/>
          </a:xfrm>
          <a:prstGeom prst="rect">
            <a:avLst/>
          </a:prstGeom>
          <a:noFill/>
        </p:spPr>
        <p:txBody>
          <a:bodyPr wrap="square" lIns="0" tIns="0" rIns="0" bIns="0" anchor="t">
            <a:spAutoFit/>
          </a:bodyPr>
          <a:lstStyle/>
          <a:p>
            <a:pPr algn="l"/>
            <a:r>
              <a:rPr sz="1400" b="0">
                <a:solidFill>
                  <a:srgbClr val="606060"/>
                </a:solidFill>
                <a:latin typeface="Inter"/>
              </a:rPr>
              <a:t>G. Castillo</a:t>
            </a:r>
          </a:p>
        </p:txBody>
      </p:sp>
      <p:sp>
        <p:nvSpPr>
          <p:cNvPr id="44" name="TextBox 43"/>
          <p:cNvSpPr txBox="1"/>
          <p:nvPr/>
        </p:nvSpPr>
        <p:spPr>
          <a:xfrm>
            <a:off x="11932920" y="5020056"/>
            <a:ext cx="3566160" cy="1143000"/>
          </a:xfrm>
          <a:prstGeom prst="rect">
            <a:avLst/>
          </a:prstGeom>
          <a:noFill/>
        </p:spPr>
        <p:txBody>
          <a:bodyPr wrap="square" lIns="0" tIns="0" rIns="0" bIns="0" anchor="ctr">
            <a:spAutoFit/>
          </a:bodyPr>
          <a:lstStyle/>
          <a:p>
            <a:pPr algn="l"/>
            <a:r>
              <a:rPr sz="1600" b="0">
                <a:solidFill>
                  <a:srgbClr val="3C3C3C"/>
                </a:solidFill>
                <a:latin typeface="Inter"/>
              </a:rPr>
              <a:t>Simulacro de caída fibra y LTE</a:t>
            </a:r>
          </a:p>
        </p:txBody>
      </p:sp>
      <p:sp>
        <p:nvSpPr>
          <p:cNvPr id="45" name="TextBox 44"/>
          <p:cNvSpPr txBox="1"/>
          <p:nvPr/>
        </p:nvSpPr>
        <p:spPr>
          <a:xfrm>
            <a:off x="15636240" y="5020056"/>
            <a:ext cx="1920240" cy="1143000"/>
          </a:xfrm>
          <a:prstGeom prst="rect">
            <a:avLst/>
          </a:prstGeom>
          <a:noFill/>
        </p:spPr>
        <p:txBody>
          <a:bodyPr wrap="square" lIns="0" tIns="0" rIns="0" bIns="0" anchor="ctr">
            <a:spAutoFit/>
          </a:bodyPr>
          <a:lstStyle/>
          <a:p>
            <a:pPr algn="l"/>
            <a:r>
              <a:rPr sz="2000" b="1">
                <a:solidFill>
                  <a:srgbClr val="9A9A9A"/>
                </a:solidFill>
                <a:latin typeface="Inter SemiBold"/>
              </a:rPr>
              <a:t>25 % → </a:t>
            </a:r>
            <a:r>
              <a:rPr sz="2000" b="1">
                <a:solidFill>
                  <a:srgbClr val="E8641B"/>
                </a:solidFill>
                <a:latin typeface="Inter SemiBold"/>
              </a:rPr>
              <a:t>10 %</a:t>
            </a:r>
          </a:p>
        </p:txBody>
      </p:sp>
      <p:sp>
        <p:nvSpPr>
          <p:cNvPr id="46" name="Rounded Rectangle 45"/>
          <p:cNvSpPr/>
          <p:nvPr/>
        </p:nvSpPr>
        <p:spPr>
          <a:xfrm>
            <a:off x="7589520" y="6281927"/>
            <a:ext cx="1001268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47" name="Oval 46"/>
          <p:cNvSpPr/>
          <p:nvPr/>
        </p:nvSpPr>
        <p:spPr>
          <a:xfrm>
            <a:off x="7680960" y="6556247"/>
            <a:ext cx="594360" cy="59436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1</a:t>
            </a:r>
          </a:p>
        </p:txBody>
      </p:sp>
      <p:sp>
        <p:nvSpPr>
          <p:cNvPr id="48" name="TextBox 47"/>
          <p:cNvSpPr txBox="1"/>
          <p:nvPr/>
        </p:nvSpPr>
        <p:spPr>
          <a:xfrm>
            <a:off x="8412480" y="6373367"/>
            <a:ext cx="3383280" cy="594360"/>
          </a:xfrm>
          <a:prstGeom prst="rect">
            <a:avLst/>
          </a:prstGeom>
          <a:noFill/>
        </p:spPr>
        <p:txBody>
          <a:bodyPr wrap="square" lIns="0" tIns="0" rIns="0" bIns="0" anchor="t">
            <a:spAutoFit/>
          </a:bodyPr>
          <a:lstStyle/>
          <a:p>
            <a:pPr algn="l"/>
            <a:r>
              <a:rPr sz="1600" b="1">
                <a:solidFill>
                  <a:srgbClr val="E8641B"/>
                </a:solidFill>
                <a:latin typeface="Inter SemiBold"/>
              </a:rPr>
              <a:t>R-013  </a:t>
            </a:r>
            <a:r>
              <a:rPr sz="1600" b="1">
                <a:solidFill>
                  <a:srgbClr val="111111"/>
                </a:solidFill>
                <a:latin typeface="Inter SemiBold"/>
              </a:rPr>
              <a:t>Peak sin capacidad</a:t>
            </a:r>
          </a:p>
        </p:txBody>
      </p:sp>
      <p:sp>
        <p:nvSpPr>
          <p:cNvPr id="49" name="TextBox 48"/>
          <p:cNvSpPr txBox="1"/>
          <p:nvPr/>
        </p:nvSpPr>
        <p:spPr>
          <a:xfrm>
            <a:off x="8412480" y="7059167"/>
            <a:ext cx="3383280" cy="292608"/>
          </a:xfrm>
          <a:prstGeom prst="rect">
            <a:avLst/>
          </a:prstGeom>
          <a:noFill/>
        </p:spPr>
        <p:txBody>
          <a:bodyPr wrap="square" lIns="0" tIns="0" rIns="0" bIns="0" anchor="t">
            <a:spAutoFit/>
          </a:bodyPr>
          <a:lstStyle/>
          <a:p>
            <a:pPr algn="l"/>
            <a:r>
              <a:rPr sz="1400" b="0">
                <a:solidFill>
                  <a:srgbClr val="606060"/>
                </a:solidFill>
                <a:latin typeface="Inter"/>
              </a:rPr>
              <a:t>G. Castillo</a:t>
            </a:r>
          </a:p>
        </p:txBody>
      </p:sp>
      <p:sp>
        <p:nvSpPr>
          <p:cNvPr id="50" name="TextBox 49"/>
          <p:cNvSpPr txBox="1"/>
          <p:nvPr/>
        </p:nvSpPr>
        <p:spPr>
          <a:xfrm>
            <a:off x="11932920" y="6281927"/>
            <a:ext cx="3566160" cy="1143000"/>
          </a:xfrm>
          <a:prstGeom prst="rect">
            <a:avLst/>
          </a:prstGeom>
          <a:noFill/>
        </p:spPr>
        <p:txBody>
          <a:bodyPr wrap="square" lIns="0" tIns="0" rIns="0" bIns="0" anchor="ctr">
            <a:spAutoFit/>
          </a:bodyPr>
          <a:lstStyle/>
          <a:p>
            <a:pPr algn="l"/>
            <a:r>
              <a:rPr sz="1600" b="0">
                <a:solidFill>
                  <a:srgbClr val="3C3C3C"/>
                </a:solidFill>
                <a:latin typeface="Inter"/>
              </a:rPr>
              <a:t>Prueba de carga en despacho</a:t>
            </a:r>
          </a:p>
        </p:txBody>
      </p:sp>
      <p:sp>
        <p:nvSpPr>
          <p:cNvPr id="51" name="TextBox 50"/>
          <p:cNvSpPr txBox="1"/>
          <p:nvPr/>
        </p:nvSpPr>
        <p:spPr>
          <a:xfrm>
            <a:off x="15636240" y="6281927"/>
            <a:ext cx="1920240" cy="1143000"/>
          </a:xfrm>
          <a:prstGeom prst="rect">
            <a:avLst/>
          </a:prstGeom>
          <a:noFill/>
        </p:spPr>
        <p:txBody>
          <a:bodyPr wrap="square" lIns="0" tIns="0" rIns="0" bIns="0" anchor="ctr">
            <a:spAutoFit/>
          </a:bodyPr>
          <a:lstStyle/>
          <a:p>
            <a:pPr algn="l"/>
            <a:r>
              <a:rPr sz="2000" b="1">
                <a:solidFill>
                  <a:srgbClr val="9A9A9A"/>
                </a:solidFill>
                <a:latin typeface="Inter SemiBold"/>
              </a:rPr>
              <a:t>30 % → </a:t>
            </a:r>
            <a:r>
              <a:rPr sz="2000" b="1">
                <a:solidFill>
                  <a:srgbClr val="E8641B"/>
                </a:solidFill>
                <a:latin typeface="Inter SemiBold"/>
              </a:rPr>
              <a:t>10 %</a:t>
            </a:r>
          </a:p>
        </p:txBody>
      </p:sp>
      <p:sp>
        <p:nvSpPr>
          <p:cNvPr id="52" name="Rounded Rectangle 51"/>
          <p:cNvSpPr/>
          <p:nvPr/>
        </p:nvSpPr>
        <p:spPr>
          <a:xfrm>
            <a:off x="7589520" y="7543800"/>
            <a:ext cx="1001268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3" name="!!rama2"/>
          <p:cNvSpPr/>
          <p:nvPr/>
        </p:nvSpPr>
        <p:spPr>
          <a:xfrm>
            <a:off x="7680960" y="7818120"/>
            <a:ext cx="594360" cy="59436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2</a:t>
            </a:r>
          </a:p>
        </p:txBody>
      </p:sp>
      <p:sp>
        <p:nvSpPr>
          <p:cNvPr id="54" name="TextBox 53"/>
          <p:cNvSpPr txBox="1"/>
          <p:nvPr/>
        </p:nvSpPr>
        <p:spPr>
          <a:xfrm>
            <a:off x="8412480" y="7635240"/>
            <a:ext cx="3383280" cy="594360"/>
          </a:xfrm>
          <a:prstGeom prst="rect">
            <a:avLst/>
          </a:prstGeom>
          <a:noFill/>
        </p:spPr>
        <p:txBody>
          <a:bodyPr wrap="square" lIns="0" tIns="0" rIns="0" bIns="0" anchor="t">
            <a:spAutoFit/>
          </a:bodyPr>
          <a:lstStyle/>
          <a:p>
            <a:pPr algn="l"/>
            <a:r>
              <a:rPr sz="1600" b="1">
                <a:solidFill>
                  <a:srgbClr val="E8641B"/>
                </a:solidFill>
                <a:latin typeface="Inter SemiBold"/>
              </a:rPr>
              <a:t>R-001  </a:t>
            </a:r>
            <a:r>
              <a:rPr sz="1600" b="1">
                <a:solidFill>
                  <a:srgbClr val="111111"/>
                </a:solidFill>
                <a:latin typeface="Inter SemiBold"/>
              </a:rPr>
              <a:t>Interfaces ERP no utilizables</a:t>
            </a:r>
          </a:p>
        </p:txBody>
      </p:sp>
      <p:sp>
        <p:nvSpPr>
          <p:cNvPr id="55" name="TextBox 54"/>
          <p:cNvSpPr txBox="1"/>
          <p:nvPr/>
        </p:nvSpPr>
        <p:spPr>
          <a:xfrm>
            <a:off x="8412480" y="8321040"/>
            <a:ext cx="3383280" cy="292608"/>
          </a:xfrm>
          <a:prstGeom prst="rect">
            <a:avLst/>
          </a:prstGeom>
          <a:noFill/>
        </p:spPr>
        <p:txBody>
          <a:bodyPr wrap="square" lIns="0" tIns="0" rIns="0" bIns="0" anchor="t">
            <a:spAutoFit/>
          </a:bodyPr>
          <a:lstStyle/>
          <a:p>
            <a:pPr algn="l"/>
            <a:r>
              <a:rPr sz="1400" b="0">
                <a:solidFill>
                  <a:srgbClr val="606060"/>
                </a:solidFill>
                <a:latin typeface="Inter"/>
              </a:rPr>
              <a:t>B. Trejo</a:t>
            </a:r>
          </a:p>
        </p:txBody>
      </p:sp>
      <p:sp>
        <p:nvSpPr>
          <p:cNvPr id="56" name="TextBox 55"/>
          <p:cNvSpPr txBox="1"/>
          <p:nvPr/>
        </p:nvSpPr>
        <p:spPr>
          <a:xfrm>
            <a:off x="11932920" y="7543800"/>
            <a:ext cx="3566160" cy="1143000"/>
          </a:xfrm>
          <a:prstGeom prst="rect">
            <a:avLst/>
          </a:prstGeom>
          <a:noFill/>
        </p:spPr>
        <p:txBody>
          <a:bodyPr wrap="square" lIns="0" tIns="0" rIns="0" bIns="0" anchor="ctr">
            <a:spAutoFit/>
          </a:bodyPr>
          <a:lstStyle/>
          <a:p>
            <a:pPr algn="l"/>
            <a:r>
              <a:rPr sz="1600" b="0">
                <a:solidFill>
                  <a:srgbClr val="3C3C3C"/>
                </a:solidFill>
                <a:latin typeface="Inter"/>
              </a:rPr>
              <a:t>Contrato de interfaz probado</a:t>
            </a:r>
          </a:p>
        </p:txBody>
      </p:sp>
      <p:sp>
        <p:nvSpPr>
          <p:cNvPr id="57" name="TextBox 56"/>
          <p:cNvSpPr txBox="1"/>
          <p:nvPr/>
        </p:nvSpPr>
        <p:spPr>
          <a:xfrm>
            <a:off x="15636240" y="7543800"/>
            <a:ext cx="1920240" cy="1143000"/>
          </a:xfrm>
          <a:prstGeom prst="rect">
            <a:avLst/>
          </a:prstGeom>
          <a:noFill/>
        </p:spPr>
        <p:txBody>
          <a:bodyPr wrap="square" lIns="0" tIns="0" rIns="0" bIns="0" anchor="ctr">
            <a:spAutoFit/>
          </a:bodyPr>
          <a:lstStyle/>
          <a:p>
            <a:pPr algn="l"/>
            <a:r>
              <a:rPr sz="2000" b="1">
                <a:solidFill>
                  <a:srgbClr val="9A9A9A"/>
                </a:solidFill>
                <a:latin typeface="Inter SemiBold"/>
              </a:rPr>
              <a:t>45 % → </a:t>
            </a:r>
            <a:r>
              <a:rPr sz="2000" b="1">
                <a:solidFill>
                  <a:srgbClr val="E8641B"/>
                </a:solidFill>
                <a:latin typeface="Inter SemiBold"/>
              </a:rPr>
              <a:t>20 %</a:t>
            </a:r>
          </a:p>
        </p:txBody>
      </p:sp>
      <p:sp>
        <p:nvSpPr>
          <p:cNvPr id="58"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8" name="TextBox 8"/>
          <p:cNvSpPr txBox="1"/>
          <p:nvPr/>
        </p:nvSpPr>
        <p:spPr>
          <a:xfrm>
            <a:off x="9389512" y="1188720"/>
            <a:ext cx="5486400" cy="2377440"/>
          </a:xfrm>
          <a:prstGeom prst="rect">
            <a:avLst/>
          </a:prstGeom>
        </p:spPr>
        <p:txBody>
          <a:bodyPr lIns="0" tIns="0" rIns="0" bIns="0" rtlCol="0" anchor="t">
            <a:spAutoFit/>
          </a:bodyPr>
          <a:lstStyle/>
          <a:p>
            <a:pPr algn="l">
              <a:lnSpc>
                <a:spcPct val="90000"/>
              </a:lnSpc>
            </a:pPr>
            <a:r>
              <a:rPr lang="en-US" sz="6000" b="1">
                <a:solidFill>
                  <a:srgbClr val="111111"/>
                </a:solidFill>
                <a:latin typeface="Inter SemiBold"/>
                <a:ea typeface="Inter SemiBold"/>
                <a:cs typeface="Inter SemiBold"/>
                <a:sym typeface="Inter SemiBold"/>
              </a:rPr>
              <a:t>Normas y leyes</a:t>
            </a:r>
          </a:p>
        </p:txBody>
      </p:sp>
      <p:sp>
        <p:nvSpPr>
          <p:cNvPr id="11" name="!!brand"/>
          <p:cNvSpPr txBox="1"/>
          <p:nvPr/>
        </p:nvSpPr>
        <p:spPr>
          <a:xfrm>
            <a:off x="13217409" y="1000125"/>
            <a:ext cx="3328659" cy="297180"/>
          </a:xfrm>
          <a:prstGeom prst="rect">
            <a:avLst/>
          </a:prstGeom>
        </p:spPr>
        <p:txBody>
          <a:bodyPr lIns="0" tIns="0" rIns="0" bIns="0" rtlCol="0" anchor="t">
            <a:spAutoFit/>
          </a:bodyPr>
          <a:lstStyle/>
          <a:p>
            <a:pPr algn="r">
              <a:lnSpc>
                <a:spcPts val="2520"/>
              </a:lnSpc>
            </a:pPr>
            <a:r>
              <a:rPr lang="en-US" sz="1800" b="1">
                <a:solidFill>
                  <a:srgbClr val="000000"/>
                </a:solidFill>
                <a:latin typeface="Inter SemiBold"/>
                <a:ea typeface="Inter SemiBold"/>
                <a:cs typeface="Inter SemiBold"/>
                <a:sym typeface="Inter SemiBold"/>
              </a:rPr>
              <a:t>LafroX SpA</a:t>
            </a:r>
          </a:p>
        </p:txBody>
      </p:sp>
      <p:pic>
        <p:nvPicPr>
          <p:cNvPr id="12" name="!!logo" descr="Isotipo LafroX"/>
          <p:cNvPicPr>
            <a:picLocks noChangeAspect="1"/>
          </p:cNvPicPr>
          <p:nvPr/>
        </p:nvPicPr>
        <p:blipFill>
          <a:blip r:embed="rId5"/>
          <a:stretch>
            <a:fillRect/>
          </a:stretch>
        </p:blipFill>
        <p:spPr>
          <a:xfrm>
            <a:off x="16706088" y="850392"/>
            <a:ext cx="551723" cy="566928"/>
          </a:xfrm>
          <a:prstGeom prst="rect">
            <a:avLst/>
          </a:prstGeom>
        </p:spPr>
      </p:pic>
      <p:sp>
        <p:nvSpPr>
          <p:cNvPr id="13" name="TextBox 12"/>
          <p:cNvSpPr txBox="1"/>
          <p:nvPr/>
        </p:nvSpPr>
        <p:spPr>
          <a:xfrm>
            <a:off x="731520" y="1280160"/>
            <a:ext cx="8229600" cy="320040"/>
          </a:xfrm>
          <a:prstGeom prst="rect">
            <a:avLst/>
          </a:prstGeom>
          <a:noFill/>
        </p:spPr>
        <p:txBody>
          <a:bodyPr wrap="square" lIns="0" rIns="0" tIns="0" bIns="0" anchor="t">
            <a:spAutoFit/>
          </a:bodyPr>
          <a:lstStyle/>
          <a:p>
            <a:pPr algn="l"/>
            <a:r>
              <a:rPr sz="1600" b="1">
                <a:solidFill>
                  <a:srgbClr val="E8641B"/>
                </a:solidFill>
                <a:latin typeface="Inter SemiBold"/>
              </a:rPr>
              <a:t>NORMA → CÓMO SE ACREDITA</a:t>
            </a:r>
          </a:p>
        </p:txBody>
      </p:sp>
      <p:sp>
        <p:nvSpPr>
          <p:cNvPr id="14" name="Rounded Rectangle 13"/>
          <p:cNvSpPr/>
          <p:nvPr/>
        </p:nvSpPr>
        <p:spPr>
          <a:xfrm>
            <a:off x="731520" y="1691640"/>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5" name="TextBox 14"/>
          <p:cNvSpPr txBox="1"/>
          <p:nvPr/>
        </p:nvSpPr>
        <p:spPr>
          <a:xfrm>
            <a:off x="914400" y="1691640"/>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ISO/IEC 25010</a:t>
            </a:r>
          </a:p>
        </p:txBody>
      </p:sp>
      <p:sp>
        <p:nvSpPr>
          <p:cNvPr id="16" name="TextBox 15"/>
          <p:cNvSpPr txBox="1"/>
          <p:nvPr/>
        </p:nvSpPr>
        <p:spPr>
          <a:xfrm>
            <a:off x="3657600" y="1691640"/>
            <a:ext cx="5166360" cy="786384"/>
          </a:xfrm>
          <a:prstGeom prst="rect">
            <a:avLst/>
          </a:prstGeom>
          <a:noFill/>
        </p:spPr>
        <p:txBody>
          <a:bodyPr wrap="square" lIns="0" rIns="0" tIns="0" bIns="0" anchor="ctr">
            <a:spAutoFit/>
          </a:bodyPr>
          <a:lstStyle/>
          <a:p>
            <a:pPr algn="l"/>
            <a:r>
              <a:rPr sz="1700" b="0">
                <a:solidFill>
                  <a:srgbClr val="3C3C3C"/>
                </a:solidFill>
                <a:latin typeface="Inter"/>
              </a:rPr>
              <a:t>8 características con umbral</a:t>
            </a:r>
          </a:p>
        </p:txBody>
      </p:sp>
      <p:sp>
        <p:nvSpPr>
          <p:cNvPr id="17" name="Rounded Rectangle 16"/>
          <p:cNvSpPr/>
          <p:nvPr/>
        </p:nvSpPr>
        <p:spPr>
          <a:xfrm>
            <a:off x="731520" y="2587752"/>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 name="TextBox 17"/>
          <p:cNvSpPr txBox="1"/>
          <p:nvPr/>
        </p:nvSpPr>
        <p:spPr>
          <a:xfrm>
            <a:off x="914400" y="2587752"/>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ISO/IEC 25012</a:t>
            </a:r>
          </a:p>
        </p:txBody>
      </p:sp>
      <p:sp>
        <p:nvSpPr>
          <p:cNvPr id="19" name="TextBox 18"/>
          <p:cNvSpPr txBox="1"/>
          <p:nvPr/>
        </p:nvSpPr>
        <p:spPr>
          <a:xfrm>
            <a:off x="3657600" y="2587752"/>
            <a:ext cx="5166360" cy="786384"/>
          </a:xfrm>
          <a:prstGeom prst="rect">
            <a:avLst/>
          </a:prstGeom>
          <a:noFill/>
        </p:spPr>
        <p:txBody>
          <a:bodyPr wrap="square" lIns="0" rIns="0" tIns="0" bIns="0" anchor="ctr">
            <a:spAutoFit/>
          </a:bodyPr>
          <a:lstStyle/>
          <a:p>
            <a:pPr algn="l"/>
            <a:r>
              <a:rPr sz="1700" b="0">
                <a:solidFill>
                  <a:srgbClr val="3C3C3C"/>
                </a:solidFill>
                <a:latin typeface="Inter"/>
              </a:rPr>
              <a:t>Datos medidos y conciliados</a:t>
            </a:r>
          </a:p>
        </p:txBody>
      </p:sp>
      <p:sp>
        <p:nvSpPr>
          <p:cNvPr id="20" name="Rounded Rectangle 19"/>
          <p:cNvSpPr/>
          <p:nvPr/>
        </p:nvSpPr>
        <p:spPr>
          <a:xfrm>
            <a:off x="731520" y="3483864"/>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1" name="TextBox 20"/>
          <p:cNvSpPr txBox="1"/>
          <p:nvPr/>
        </p:nvSpPr>
        <p:spPr>
          <a:xfrm>
            <a:off x="914400" y="3483864"/>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ISO/IEC 29119</a:t>
            </a:r>
          </a:p>
        </p:txBody>
      </p:sp>
      <p:sp>
        <p:nvSpPr>
          <p:cNvPr id="22" name="TextBox 21"/>
          <p:cNvSpPr txBox="1"/>
          <p:nvPr/>
        </p:nvSpPr>
        <p:spPr>
          <a:xfrm>
            <a:off x="3657600" y="3483864"/>
            <a:ext cx="5166360" cy="786384"/>
          </a:xfrm>
          <a:prstGeom prst="rect">
            <a:avLst/>
          </a:prstGeom>
          <a:noFill/>
        </p:spPr>
        <p:txBody>
          <a:bodyPr wrap="square" lIns="0" rIns="0" tIns="0" bIns="0" anchor="ctr">
            <a:spAutoFit/>
          </a:bodyPr>
          <a:lstStyle/>
          <a:p>
            <a:pPr algn="l"/>
            <a:r>
              <a:rPr sz="1700" b="0">
                <a:solidFill>
                  <a:srgbClr val="3C3C3C"/>
                </a:solidFill>
                <a:latin typeface="Inter"/>
              </a:rPr>
              <a:t>Proceso de pruebas en 3 niveles</a:t>
            </a:r>
          </a:p>
        </p:txBody>
      </p:sp>
      <p:sp>
        <p:nvSpPr>
          <p:cNvPr id="23" name="Rounded Rectangle 22"/>
          <p:cNvSpPr/>
          <p:nvPr/>
        </p:nvSpPr>
        <p:spPr>
          <a:xfrm>
            <a:off x="731520" y="4379976"/>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4" name="TextBox 23"/>
          <p:cNvSpPr txBox="1"/>
          <p:nvPr/>
        </p:nvSpPr>
        <p:spPr>
          <a:xfrm>
            <a:off x="914400" y="4379976"/>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PMBOK cap. 8</a:t>
            </a:r>
          </a:p>
        </p:txBody>
      </p:sp>
      <p:sp>
        <p:nvSpPr>
          <p:cNvPr id="25" name="TextBox 24"/>
          <p:cNvSpPr txBox="1"/>
          <p:nvPr/>
        </p:nvSpPr>
        <p:spPr>
          <a:xfrm>
            <a:off x="3657600" y="4379976"/>
            <a:ext cx="5166360" cy="786384"/>
          </a:xfrm>
          <a:prstGeom prst="rect">
            <a:avLst/>
          </a:prstGeom>
          <a:noFill/>
        </p:spPr>
        <p:txBody>
          <a:bodyPr wrap="square" lIns="0" rIns="0" tIns="0" bIns="0" anchor="ctr">
            <a:spAutoFit/>
          </a:bodyPr>
          <a:lstStyle/>
          <a:p>
            <a:pPr algn="l"/>
            <a:r>
              <a:rPr sz="1700" b="0">
                <a:solidFill>
                  <a:srgbClr val="3C3C3C"/>
                </a:solidFill>
                <a:latin typeface="Inter"/>
              </a:rPr>
              <a:t>Planificar, gestionar y controlar</a:t>
            </a:r>
          </a:p>
        </p:txBody>
      </p:sp>
      <p:sp>
        <p:nvSpPr>
          <p:cNvPr id="26" name="Rounded Rectangle 25"/>
          <p:cNvSpPr/>
          <p:nvPr/>
        </p:nvSpPr>
        <p:spPr>
          <a:xfrm>
            <a:off x="731520" y="5276088"/>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7" name="TextBox 26"/>
          <p:cNvSpPr txBox="1"/>
          <p:nvPr/>
        </p:nvSpPr>
        <p:spPr>
          <a:xfrm>
            <a:off x="914400" y="5276088"/>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WCAG 2.2 AA</a:t>
            </a:r>
          </a:p>
        </p:txBody>
      </p:sp>
      <p:sp>
        <p:nvSpPr>
          <p:cNvPr id="28" name="TextBox 27"/>
          <p:cNvSpPr txBox="1"/>
          <p:nvPr/>
        </p:nvSpPr>
        <p:spPr>
          <a:xfrm>
            <a:off x="3657600" y="5276088"/>
            <a:ext cx="5166360" cy="786384"/>
          </a:xfrm>
          <a:prstGeom prst="rect">
            <a:avLst/>
          </a:prstGeom>
          <a:noFill/>
        </p:spPr>
        <p:txBody>
          <a:bodyPr wrap="square" lIns="0" rIns="0" tIns="0" bIns="0" anchor="ctr">
            <a:spAutoFit/>
          </a:bodyPr>
          <a:lstStyle/>
          <a:p>
            <a:pPr algn="l"/>
            <a:r>
              <a:rPr sz="1700" b="0">
                <a:solidFill>
                  <a:srgbClr val="3C3C3C"/>
                </a:solidFill>
                <a:latin typeface="Inter"/>
              </a:rPr>
              <a:t>Herramienta + revisión manual</a:t>
            </a:r>
          </a:p>
        </p:txBody>
      </p:sp>
      <p:sp>
        <p:nvSpPr>
          <p:cNvPr id="29" name="Rounded Rectangle 28"/>
          <p:cNvSpPr/>
          <p:nvPr/>
        </p:nvSpPr>
        <p:spPr>
          <a:xfrm>
            <a:off x="731520" y="6172200"/>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0" name="TextBox 29"/>
          <p:cNvSpPr txBox="1"/>
          <p:nvPr/>
        </p:nvSpPr>
        <p:spPr>
          <a:xfrm>
            <a:off x="914400" y="6172200"/>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OWASP</a:t>
            </a:r>
          </a:p>
        </p:txBody>
      </p:sp>
      <p:sp>
        <p:nvSpPr>
          <p:cNvPr id="31" name="TextBox 30"/>
          <p:cNvSpPr txBox="1"/>
          <p:nvPr/>
        </p:nvSpPr>
        <p:spPr>
          <a:xfrm>
            <a:off x="3657600" y="6172200"/>
            <a:ext cx="5166360" cy="786384"/>
          </a:xfrm>
          <a:prstGeom prst="rect">
            <a:avLst/>
          </a:prstGeom>
          <a:noFill/>
        </p:spPr>
        <p:txBody>
          <a:bodyPr wrap="square" lIns="0" rIns="0" tIns="0" bIns="0" anchor="ctr">
            <a:spAutoFit/>
          </a:bodyPr>
          <a:lstStyle/>
          <a:p>
            <a:pPr algn="l"/>
            <a:r>
              <a:rPr sz="1700" b="0">
                <a:solidFill>
                  <a:srgbClr val="3C3C3C"/>
                </a:solidFill>
                <a:latin typeface="Inter"/>
              </a:rPr>
              <a:t>Análisis estático y dinámico</a:t>
            </a:r>
          </a:p>
        </p:txBody>
      </p:sp>
      <p:sp>
        <p:nvSpPr>
          <p:cNvPr id="32" name="Rounded Rectangle 31"/>
          <p:cNvSpPr/>
          <p:nvPr/>
        </p:nvSpPr>
        <p:spPr>
          <a:xfrm>
            <a:off x="731520" y="7068312"/>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3" name="TextBox 32"/>
          <p:cNvSpPr txBox="1"/>
          <p:nvPr/>
        </p:nvSpPr>
        <p:spPr>
          <a:xfrm>
            <a:off x="914400" y="7068312"/>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 9001</a:t>
            </a:r>
          </a:p>
        </p:txBody>
      </p:sp>
      <p:sp>
        <p:nvSpPr>
          <p:cNvPr id="34" name="TextBox 33"/>
          <p:cNvSpPr txBox="1"/>
          <p:nvPr/>
        </p:nvSpPr>
        <p:spPr>
          <a:xfrm>
            <a:off x="3657600" y="7068312"/>
            <a:ext cx="5166360" cy="786384"/>
          </a:xfrm>
          <a:prstGeom prst="rect">
            <a:avLst/>
          </a:prstGeom>
          <a:noFill/>
        </p:spPr>
        <p:txBody>
          <a:bodyPr wrap="square" lIns="0" rIns="0" tIns="0" bIns="0" anchor="ctr">
            <a:spAutoFit/>
          </a:bodyPr>
          <a:lstStyle/>
          <a:p>
            <a:pPr algn="l"/>
            <a:r>
              <a:rPr sz="1700" b="0">
                <a:solidFill>
                  <a:srgbClr val="3C3C3C"/>
                </a:solidFill>
                <a:latin typeface="Inter"/>
              </a:rPr>
              <a:t>Marco de auditoría</a:t>
            </a:r>
          </a:p>
        </p:txBody>
      </p:sp>
      <p:sp>
        <p:nvSpPr>
          <p:cNvPr id="35" name="Rounded Rectangle 34"/>
          <p:cNvSpPr/>
          <p:nvPr/>
        </p:nvSpPr>
        <p:spPr>
          <a:xfrm>
            <a:off x="731520" y="7964423"/>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6" name="TextBox 35"/>
          <p:cNvSpPr txBox="1"/>
          <p:nvPr/>
        </p:nvSpPr>
        <p:spPr>
          <a:xfrm>
            <a:off x="914400" y="7964423"/>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CMMI-DEV N3</a:t>
            </a:r>
          </a:p>
        </p:txBody>
      </p:sp>
      <p:sp>
        <p:nvSpPr>
          <p:cNvPr id="37" name="TextBox 36"/>
          <p:cNvSpPr txBox="1"/>
          <p:nvPr/>
        </p:nvSpPr>
        <p:spPr>
          <a:xfrm>
            <a:off x="3657600" y="7964423"/>
            <a:ext cx="5166360" cy="786384"/>
          </a:xfrm>
          <a:prstGeom prst="rect">
            <a:avLst/>
          </a:prstGeom>
          <a:noFill/>
        </p:spPr>
        <p:txBody>
          <a:bodyPr wrap="square" lIns="0" rIns="0" tIns="0" bIns="0" anchor="ctr">
            <a:spAutoFit/>
          </a:bodyPr>
          <a:lstStyle/>
          <a:p>
            <a:pPr algn="l"/>
            <a:r>
              <a:rPr sz="1700" b="0">
                <a:solidFill>
                  <a:srgbClr val="3C3C3C"/>
                </a:solidFill>
                <a:latin typeface="Inter"/>
              </a:rPr>
              <a:t>Madurez del proceso</a:t>
            </a:r>
          </a:p>
        </p:txBody>
      </p:sp>
      <p:sp>
        <p:nvSpPr>
          <p:cNvPr id="38" name="TextBox 37"/>
          <p:cNvSpPr txBox="1"/>
          <p:nvPr/>
        </p:nvSpPr>
        <p:spPr>
          <a:xfrm>
            <a:off x="9390888" y="3657600"/>
            <a:ext cx="5303520" cy="320040"/>
          </a:xfrm>
          <a:prstGeom prst="rect">
            <a:avLst/>
          </a:prstGeom>
          <a:noFill/>
        </p:spPr>
        <p:txBody>
          <a:bodyPr wrap="square" lIns="0" rIns="0" tIns="0" bIns="0" anchor="t">
            <a:spAutoFit/>
          </a:bodyPr>
          <a:lstStyle/>
          <a:p>
            <a:pPr algn="l"/>
            <a:r>
              <a:rPr sz="1600" b="1">
                <a:solidFill>
                  <a:srgbClr val="E8641B"/>
                </a:solidFill>
                <a:latin typeface="Inter SemiBold"/>
              </a:rPr>
              <a:t>LEYES</a:t>
            </a:r>
          </a:p>
        </p:txBody>
      </p:sp>
      <p:sp>
        <p:nvSpPr>
          <p:cNvPr id="39" name="TextBox 38"/>
          <p:cNvSpPr txBox="1"/>
          <p:nvPr/>
        </p:nvSpPr>
        <p:spPr>
          <a:xfrm>
            <a:off x="9390888" y="40690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Decreto 977</a:t>
            </a:r>
          </a:p>
        </p:txBody>
      </p:sp>
      <p:sp>
        <p:nvSpPr>
          <p:cNvPr id="40" name="TextBox 39"/>
          <p:cNvSpPr txBox="1"/>
          <p:nvPr/>
        </p:nvSpPr>
        <p:spPr>
          <a:xfrm>
            <a:off x="9390888" y="4434840"/>
            <a:ext cx="5303520" cy="457200"/>
          </a:xfrm>
          <a:prstGeom prst="rect">
            <a:avLst/>
          </a:prstGeom>
          <a:noFill/>
        </p:spPr>
        <p:txBody>
          <a:bodyPr wrap="square" lIns="0" rIns="0" tIns="0" bIns="0" anchor="t">
            <a:spAutoFit/>
          </a:bodyPr>
          <a:lstStyle/>
          <a:p>
            <a:pPr algn="l"/>
            <a:r>
              <a:rPr sz="1600" b="0">
                <a:solidFill>
                  <a:srgbClr val="3C3C3C"/>
                </a:solidFill>
                <a:latin typeface="Inter"/>
              </a:rPr>
              <a:t>≤ −18 °C registrado y retiro expedito</a:t>
            </a:r>
          </a:p>
        </p:txBody>
      </p:sp>
      <p:sp>
        <p:nvSpPr>
          <p:cNvPr id="41" name="TextBox 40"/>
          <p:cNvSpPr txBox="1"/>
          <p:nvPr/>
        </p:nvSpPr>
        <p:spPr>
          <a:xfrm>
            <a:off x="9390888" y="49834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SII · DTE</a:t>
            </a:r>
          </a:p>
        </p:txBody>
      </p:sp>
      <p:sp>
        <p:nvSpPr>
          <p:cNvPr id="42" name="TextBox 41"/>
          <p:cNvSpPr txBox="1"/>
          <p:nvPr/>
        </p:nvSpPr>
        <p:spPr>
          <a:xfrm>
            <a:off x="9390888" y="5349240"/>
            <a:ext cx="5303520" cy="457200"/>
          </a:xfrm>
          <a:prstGeom prst="rect">
            <a:avLst/>
          </a:prstGeom>
          <a:noFill/>
        </p:spPr>
        <p:txBody>
          <a:bodyPr wrap="square" lIns="0" rIns="0" tIns="0" bIns="0" anchor="t">
            <a:spAutoFit/>
          </a:bodyPr>
          <a:lstStyle/>
          <a:p>
            <a:pPr algn="l"/>
            <a:r>
              <a:rPr sz="1600" b="0">
                <a:solidFill>
                  <a:srgbClr val="3C3C3C"/>
                </a:solidFill>
                <a:latin typeface="Inter"/>
              </a:rPr>
              <a:t>Guía electrónica y acuse de recibo</a:t>
            </a:r>
          </a:p>
        </p:txBody>
      </p:sp>
      <p:sp>
        <p:nvSpPr>
          <p:cNvPr id="43" name="TextBox 42"/>
          <p:cNvSpPr txBox="1"/>
          <p:nvPr/>
        </p:nvSpPr>
        <p:spPr>
          <a:xfrm>
            <a:off x="9390888" y="58978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Art. 25 bis</a:t>
            </a:r>
          </a:p>
        </p:txBody>
      </p:sp>
      <p:sp>
        <p:nvSpPr>
          <p:cNvPr id="44" name="TextBox 43"/>
          <p:cNvSpPr txBox="1"/>
          <p:nvPr/>
        </p:nvSpPr>
        <p:spPr>
          <a:xfrm>
            <a:off x="9390888" y="6263640"/>
            <a:ext cx="5303520" cy="457200"/>
          </a:xfrm>
          <a:prstGeom prst="rect">
            <a:avLst/>
          </a:prstGeom>
          <a:noFill/>
        </p:spPr>
        <p:txBody>
          <a:bodyPr wrap="square" lIns="0" rIns="0" tIns="0" bIns="0" anchor="t">
            <a:spAutoFit/>
          </a:bodyPr>
          <a:lstStyle/>
          <a:p>
            <a:pPr algn="l"/>
            <a:r>
              <a:rPr sz="1600" b="0">
                <a:solidFill>
                  <a:srgbClr val="3C3C3C"/>
                </a:solidFill>
                <a:latin typeface="Inter"/>
              </a:rPr>
              <a:t>Jornada de conductores en el ruteo</a:t>
            </a:r>
          </a:p>
        </p:txBody>
      </p:sp>
      <p:sp>
        <p:nvSpPr>
          <p:cNvPr id="45" name="TextBox 44"/>
          <p:cNvSpPr txBox="1"/>
          <p:nvPr/>
        </p:nvSpPr>
        <p:spPr>
          <a:xfrm>
            <a:off x="9390888" y="68122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Ley 21.719</a:t>
            </a:r>
          </a:p>
        </p:txBody>
      </p:sp>
      <p:sp>
        <p:nvSpPr>
          <p:cNvPr id="46" name="TextBox 45"/>
          <p:cNvSpPr txBox="1"/>
          <p:nvPr/>
        </p:nvSpPr>
        <p:spPr>
          <a:xfrm>
            <a:off x="9390888" y="7178040"/>
            <a:ext cx="5303520" cy="457200"/>
          </a:xfrm>
          <a:prstGeom prst="rect">
            <a:avLst/>
          </a:prstGeom>
          <a:noFill/>
        </p:spPr>
        <p:txBody>
          <a:bodyPr wrap="square" lIns="0" rIns="0" tIns="0" bIns="0" anchor="t">
            <a:spAutoFit/>
          </a:bodyPr>
          <a:lstStyle/>
          <a:p>
            <a:pPr algn="l"/>
            <a:r>
              <a:rPr sz="1600" b="0">
                <a:solidFill>
                  <a:srgbClr val="3C3C3C"/>
                </a:solidFill>
                <a:latin typeface="Inter"/>
              </a:rPr>
              <a:t>Datos personales, desde dic-2026</a:t>
            </a:r>
          </a:p>
        </p:txBody>
      </p:sp>
      <p:sp>
        <p:nvSpPr>
          <p:cNvPr id="47" name="TextBox 46"/>
          <p:cNvSpPr txBox="1"/>
          <p:nvPr/>
        </p:nvSpPr>
        <p:spPr>
          <a:xfrm>
            <a:off x="9390888" y="7726679"/>
            <a:ext cx="5303520" cy="347472"/>
          </a:xfrm>
          <a:prstGeom prst="rect">
            <a:avLst/>
          </a:prstGeom>
          <a:noFill/>
        </p:spPr>
        <p:txBody>
          <a:bodyPr wrap="square" lIns="0" rIns="0" tIns="0" bIns="0" anchor="t">
            <a:spAutoFit/>
          </a:bodyPr>
          <a:lstStyle/>
          <a:p>
            <a:pPr algn="l"/>
            <a:r>
              <a:rPr sz="1800" b="1">
                <a:solidFill>
                  <a:srgbClr val="111111"/>
                </a:solidFill>
                <a:latin typeface="Inter SemiBold"/>
              </a:rPr>
              <a:t>GS1 · EDI</a:t>
            </a:r>
          </a:p>
        </p:txBody>
      </p:sp>
      <p:sp>
        <p:nvSpPr>
          <p:cNvPr id="48" name="TextBox 47"/>
          <p:cNvSpPr txBox="1"/>
          <p:nvPr/>
        </p:nvSpPr>
        <p:spPr>
          <a:xfrm>
            <a:off x="9390888" y="8092440"/>
            <a:ext cx="5303520" cy="457200"/>
          </a:xfrm>
          <a:prstGeom prst="rect">
            <a:avLst/>
          </a:prstGeom>
          <a:noFill/>
        </p:spPr>
        <p:txBody>
          <a:bodyPr wrap="square" lIns="0" rIns="0" tIns="0" bIns="0" anchor="t">
            <a:spAutoFit/>
          </a:bodyPr>
          <a:lstStyle/>
          <a:p>
            <a:pPr algn="l"/>
            <a:r>
              <a:rPr sz="1600" b="0">
                <a:solidFill>
                  <a:srgbClr val="3C3C3C"/>
                </a:solidFill>
                <a:latin typeface="Inter"/>
              </a:rPr>
              <a:t>GTIN, GLN y SSCC</a:t>
            </a:r>
          </a:p>
        </p:txBody>
      </p:sp>
      <p:sp>
        <p:nvSpPr>
          <p:cNvPr id="4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FFFFFF"/>
                </a:solidFill>
                <a:latin typeface="Inter SemiBold"/>
              </a:rPr>
              <a:t>28</a:t>
            </a:r>
          </a:p>
        </p:txBody>
      </p:sp>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Calidad del producto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4 objetivos medibles · 8 características ISO/IEC 25010, cada una con su umbral</a:t>
            </a:r>
          </a:p>
        </p:txBody>
      </p:sp>
      <p:sp>
        <p:nvSpPr>
          <p:cNvPr id="51" name="Rounded Rectangle 50"/>
          <p:cNvSpPr/>
          <p:nvPr/>
        </p:nvSpPr>
        <p:spPr>
          <a:xfrm>
            <a:off x="914400"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100 %</a:t>
            </a:r>
          </a:p>
          <a:p>
            <a:pPr algn="l"/>
            <a:r>
              <a:rPr sz="1500" b="0">
                <a:solidFill>
                  <a:srgbClr val="FFFFFF"/>
                </a:solidFill>
                <a:latin typeface="Inter"/>
              </a:rPr>
              <a:t>requisitos con prueba aprobada</a:t>
            </a:r>
          </a:p>
        </p:txBody>
      </p:sp>
      <p:sp>
        <p:nvSpPr>
          <p:cNvPr id="52" name="Rounded Rectangle 51"/>
          <p:cNvSpPr/>
          <p:nvPr/>
        </p:nvSpPr>
        <p:spPr>
          <a:xfrm>
            <a:off x="5074920"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0</a:t>
            </a:r>
          </a:p>
          <a:p>
            <a:pPr algn="l"/>
            <a:r>
              <a:rPr sz="1500" b="0">
                <a:solidFill>
                  <a:srgbClr val="FFFFFF"/>
                </a:solidFill>
                <a:latin typeface="Inter"/>
              </a:rPr>
              <a:t>defectos críticos o altos al cierre</a:t>
            </a:r>
          </a:p>
        </p:txBody>
      </p:sp>
      <p:sp>
        <p:nvSpPr>
          <p:cNvPr id="53" name="Rounded Rectangle 52"/>
          <p:cNvSpPr/>
          <p:nvPr/>
        </p:nvSpPr>
        <p:spPr>
          <a:xfrm>
            <a:off x="9235440"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0 min</a:t>
            </a:r>
          </a:p>
          <a:p>
            <a:pPr algn="l"/>
            <a:r>
              <a:rPr sz="1500" b="0">
                <a:solidFill>
                  <a:srgbClr val="FFFFFF"/>
                </a:solidFill>
                <a:latin typeface="Inter"/>
              </a:rPr>
              <a:t>de caída entre 05:30 y 07:00</a:t>
            </a:r>
          </a:p>
        </p:txBody>
      </p:sp>
      <p:sp>
        <p:nvSpPr>
          <p:cNvPr id="54" name="Rounded Rectangle 53"/>
          <p:cNvSpPr/>
          <p:nvPr/>
        </p:nvSpPr>
        <p:spPr>
          <a:xfrm>
            <a:off x="13395959"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16 de 16</a:t>
            </a:r>
          </a:p>
          <a:p>
            <a:pPr algn="l"/>
            <a:r>
              <a:rPr sz="1500" b="0">
                <a:solidFill>
                  <a:srgbClr val="FFFFFF"/>
                </a:solidFill>
                <a:latin typeface="Inter"/>
              </a:rPr>
              <a:t>resultados del Caso</a:t>
            </a:r>
          </a:p>
        </p:txBody>
      </p:sp>
      <p:sp>
        <p:nvSpPr>
          <p:cNvPr id="55" name="Rounded Rectangle 54"/>
          <p:cNvSpPr/>
          <p:nvPr/>
        </p:nvSpPr>
        <p:spPr>
          <a:xfrm>
            <a:off x="914400" y="470916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6" name="TextBox 55"/>
          <p:cNvSpPr txBox="1"/>
          <p:nvPr/>
        </p:nvSpPr>
        <p:spPr>
          <a:xfrm>
            <a:off x="1143000" y="487375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Funcionalidad</a:t>
            </a:r>
          </a:p>
        </p:txBody>
      </p:sp>
      <p:sp>
        <p:nvSpPr>
          <p:cNvPr id="57" name="TextBox 56"/>
          <p:cNvSpPr txBox="1"/>
          <p:nvPr/>
        </p:nvSpPr>
        <p:spPr>
          <a:xfrm>
            <a:off x="1143000" y="5367528"/>
            <a:ext cx="3566160" cy="822960"/>
          </a:xfrm>
          <a:prstGeom prst="rect">
            <a:avLst/>
          </a:prstGeom>
          <a:noFill/>
        </p:spPr>
        <p:txBody>
          <a:bodyPr wrap="square" lIns="0" rIns="0" tIns="0" bIns="0" anchor="t">
            <a:spAutoFit/>
          </a:bodyPr>
          <a:lstStyle/>
          <a:p>
            <a:pPr algn="l"/>
            <a:r>
              <a:rPr sz="1600" b="0">
                <a:solidFill>
                  <a:srgbClr val="3C3C3C"/>
                </a:solidFill>
                <a:latin typeface="Inter"/>
              </a:rPr>
              <a:t>100 % de requisitos probados</a:t>
            </a:r>
          </a:p>
        </p:txBody>
      </p:sp>
      <p:sp>
        <p:nvSpPr>
          <p:cNvPr id="58" name="Rounded Rectangle 57"/>
          <p:cNvSpPr/>
          <p:nvPr/>
        </p:nvSpPr>
        <p:spPr>
          <a:xfrm>
            <a:off x="5074920" y="4709160"/>
            <a:ext cx="3977639" cy="160020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9" name="TextBox 58"/>
          <p:cNvSpPr txBox="1"/>
          <p:nvPr/>
        </p:nvSpPr>
        <p:spPr>
          <a:xfrm>
            <a:off x="5303520" y="4873752"/>
            <a:ext cx="3566160" cy="411480"/>
          </a:xfrm>
          <a:prstGeom prst="rect">
            <a:avLst/>
          </a:prstGeom>
          <a:noFill/>
        </p:spPr>
        <p:txBody>
          <a:bodyPr wrap="square" lIns="0" rIns="0" tIns="0" bIns="0" anchor="t">
            <a:spAutoFit/>
          </a:bodyPr>
          <a:lstStyle/>
          <a:p>
            <a:pPr algn="l"/>
            <a:r>
              <a:rPr sz="1900" b="1">
                <a:solidFill>
                  <a:srgbClr val="FFFFFF"/>
                </a:solidFill>
                <a:latin typeface="Inter SemiBold"/>
              </a:rPr>
              <a:t>Desempeño</a:t>
            </a:r>
          </a:p>
        </p:txBody>
      </p:sp>
      <p:sp>
        <p:nvSpPr>
          <p:cNvPr id="60" name="TextBox 59"/>
          <p:cNvSpPr txBox="1"/>
          <p:nvPr/>
        </p:nvSpPr>
        <p:spPr>
          <a:xfrm>
            <a:off x="5303520" y="5367528"/>
            <a:ext cx="3566160" cy="822960"/>
          </a:xfrm>
          <a:prstGeom prst="rect">
            <a:avLst/>
          </a:prstGeom>
          <a:noFill/>
        </p:spPr>
        <p:txBody>
          <a:bodyPr wrap="square" lIns="0" rIns="0" tIns="0" bIns="0" anchor="t">
            <a:spAutoFit/>
          </a:bodyPr>
          <a:lstStyle/>
          <a:p>
            <a:pPr algn="l"/>
            <a:r>
              <a:rPr sz="1600" b="0">
                <a:solidFill>
                  <a:srgbClr val="FFFFFF"/>
                </a:solidFill>
                <a:latin typeface="Inter"/>
              </a:rPr>
              <a:t>p95: preparación ≤ 1 s · preventa ≤ 1,5 s</a:t>
            </a:r>
          </a:p>
        </p:txBody>
      </p:sp>
      <p:sp>
        <p:nvSpPr>
          <p:cNvPr id="61" name="Rounded Rectangle 60"/>
          <p:cNvSpPr/>
          <p:nvPr/>
        </p:nvSpPr>
        <p:spPr>
          <a:xfrm>
            <a:off x="9235440" y="470916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2" name="TextBox 61"/>
          <p:cNvSpPr txBox="1"/>
          <p:nvPr/>
        </p:nvSpPr>
        <p:spPr>
          <a:xfrm>
            <a:off x="9464040" y="487375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Compatibilidad</a:t>
            </a:r>
          </a:p>
        </p:txBody>
      </p:sp>
      <p:sp>
        <p:nvSpPr>
          <p:cNvPr id="63" name="TextBox 62"/>
          <p:cNvSpPr txBox="1"/>
          <p:nvPr/>
        </p:nvSpPr>
        <p:spPr>
          <a:xfrm>
            <a:off x="9464040" y="5367528"/>
            <a:ext cx="3566160" cy="822960"/>
          </a:xfrm>
          <a:prstGeom prst="rect">
            <a:avLst/>
          </a:prstGeom>
          <a:noFill/>
        </p:spPr>
        <p:txBody>
          <a:bodyPr wrap="square" lIns="0" rIns="0" tIns="0" bIns="0" anchor="t">
            <a:spAutoFit/>
          </a:bodyPr>
          <a:lstStyle/>
          <a:p>
            <a:pPr algn="l"/>
            <a:r>
              <a:rPr sz="1600" b="0">
                <a:solidFill>
                  <a:srgbClr val="3C3C3C"/>
                </a:solidFill>
                <a:latin typeface="Inter"/>
              </a:rPr>
              <a:t>15 de 15 integraciones</a:t>
            </a:r>
          </a:p>
        </p:txBody>
      </p:sp>
      <p:sp>
        <p:nvSpPr>
          <p:cNvPr id="64" name="Rounded Rectangle 63"/>
          <p:cNvSpPr/>
          <p:nvPr/>
        </p:nvSpPr>
        <p:spPr>
          <a:xfrm>
            <a:off x="13395959" y="470916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 name="TextBox 64"/>
          <p:cNvSpPr txBox="1"/>
          <p:nvPr/>
        </p:nvSpPr>
        <p:spPr>
          <a:xfrm>
            <a:off x="13624559" y="487375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Usabilidad</a:t>
            </a:r>
          </a:p>
        </p:txBody>
      </p:sp>
      <p:sp>
        <p:nvSpPr>
          <p:cNvPr id="66" name="TextBox 65"/>
          <p:cNvSpPr txBox="1"/>
          <p:nvPr/>
        </p:nvSpPr>
        <p:spPr>
          <a:xfrm>
            <a:off x="13624559" y="5367528"/>
            <a:ext cx="3566160" cy="822960"/>
          </a:xfrm>
          <a:prstGeom prst="rect">
            <a:avLst/>
          </a:prstGeom>
          <a:noFill/>
        </p:spPr>
        <p:txBody>
          <a:bodyPr wrap="square" lIns="0" rIns="0" tIns="0" bIns="0" anchor="t">
            <a:spAutoFit/>
          </a:bodyPr>
          <a:lstStyle/>
          <a:p>
            <a:pPr algn="l"/>
            <a:r>
              <a:rPr sz="1600" b="0">
                <a:solidFill>
                  <a:srgbClr val="3C3C3C"/>
                </a:solidFill>
                <a:latin typeface="Inter"/>
              </a:rPr>
              <a:t>WCAG 2.2 AA · guantes a −22 °C</a:t>
            </a:r>
          </a:p>
        </p:txBody>
      </p:sp>
      <p:sp>
        <p:nvSpPr>
          <p:cNvPr id="67" name="Rounded Rectangle 66"/>
          <p:cNvSpPr/>
          <p:nvPr/>
        </p:nvSpPr>
        <p:spPr>
          <a:xfrm>
            <a:off x="914400" y="6492240"/>
            <a:ext cx="3977639" cy="160020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8" name="TextBox 67"/>
          <p:cNvSpPr txBox="1"/>
          <p:nvPr/>
        </p:nvSpPr>
        <p:spPr>
          <a:xfrm>
            <a:off x="1143000" y="6656832"/>
            <a:ext cx="3566160" cy="411480"/>
          </a:xfrm>
          <a:prstGeom prst="rect">
            <a:avLst/>
          </a:prstGeom>
          <a:noFill/>
        </p:spPr>
        <p:txBody>
          <a:bodyPr wrap="square" lIns="0" rIns="0" tIns="0" bIns="0" anchor="t">
            <a:spAutoFit/>
          </a:bodyPr>
          <a:lstStyle/>
          <a:p>
            <a:pPr algn="l"/>
            <a:r>
              <a:rPr sz="1900" b="1">
                <a:solidFill>
                  <a:srgbClr val="FFFFFF"/>
                </a:solidFill>
                <a:latin typeface="Inter SemiBold"/>
              </a:rPr>
              <a:t>Fiabilidad</a:t>
            </a:r>
          </a:p>
        </p:txBody>
      </p:sp>
      <p:sp>
        <p:nvSpPr>
          <p:cNvPr id="69" name="TextBox 68"/>
          <p:cNvSpPr txBox="1"/>
          <p:nvPr/>
        </p:nvSpPr>
        <p:spPr>
          <a:xfrm>
            <a:off x="1143000" y="7150608"/>
            <a:ext cx="3566160" cy="822960"/>
          </a:xfrm>
          <a:prstGeom prst="rect">
            <a:avLst/>
          </a:prstGeom>
          <a:noFill/>
        </p:spPr>
        <p:txBody>
          <a:bodyPr wrap="square" lIns="0" rIns="0" tIns="0" bIns="0" anchor="t">
            <a:spAutoFit/>
          </a:bodyPr>
          <a:lstStyle/>
          <a:p>
            <a:pPr algn="l"/>
            <a:r>
              <a:rPr sz="1600" b="0">
                <a:solidFill>
                  <a:srgbClr val="FFFFFF"/>
                </a:solidFill>
                <a:latin typeface="Inter"/>
              </a:rPr>
              <a:t>≥ 99,9 % · RTO ≤ 4 h · RPO ≤ 15 min</a:t>
            </a:r>
          </a:p>
        </p:txBody>
      </p:sp>
      <p:sp>
        <p:nvSpPr>
          <p:cNvPr id="70" name="Rounded Rectangle 69"/>
          <p:cNvSpPr/>
          <p:nvPr/>
        </p:nvSpPr>
        <p:spPr>
          <a:xfrm>
            <a:off x="5074920" y="649224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1" name="TextBox 70"/>
          <p:cNvSpPr txBox="1"/>
          <p:nvPr/>
        </p:nvSpPr>
        <p:spPr>
          <a:xfrm>
            <a:off x="5303520" y="665683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Seguridad</a:t>
            </a:r>
          </a:p>
        </p:txBody>
      </p:sp>
      <p:sp>
        <p:nvSpPr>
          <p:cNvPr id="72" name="TextBox 71"/>
          <p:cNvSpPr txBox="1"/>
          <p:nvPr/>
        </p:nvSpPr>
        <p:spPr>
          <a:xfrm>
            <a:off x="5303520" y="7150608"/>
            <a:ext cx="3566160" cy="822960"/>
          </a:xfrm>
          <a:prstGeom prst="rect">
            <a:avLst/>
          </a:prstGeom>
          <a:noFill/>
        </p:spPr>
        <p:txBody>
          <a:bodyPr wrap="square" lIns="0" rIns="0" tIns="0" bIns="0" anchor="t">
            <a:spAutoFit/>
          </a:bodyPr>
          <a:lstStyle/>
          <a:p>
            <a:pPr algn="l"/>
            <a:r>
              <a:rPr sz="1600" b="0">
                <a:solidFill>
                  <a:srgbClr val="3C3C3C"/>
                </a:solidFill>
                <a:latin typeface="Inter"/>
              </a:rPr>
              <a:t>0 hallazgos críticos o altos</a:t>
            </a:r>
          </a:p>
        </p:txBody>
      </p:sp>
      <p:sp>
        <p:nvSpPr>
          <p:cNvPr id="73" name="Rounded Rectangle 72"/>
          <p:cNvSpPr/>
          <p:nvPr/>
        </p:nvSpPr>
        <p:spPr>
          <a:xfrm>
            <a:off x="9235440" y="649224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4" name="TextBox 73"/>
          <p:cNvSpPr txBox="1"/>
          <p:nvPr/>
        </p:nvSpPr>
        <p:spPr>
          <a:xfrm>
            <a:off x="9464040" y="665683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Mantenibilidad</a:t>
            </a:r>
          </a:p>
        </p:txBody>
      </p:sp>
      <p:sp>
        <p:nvSpPr>
          <p:cNvPr id="75" name="TextBox 74"/>
          <p:cNvSpPr txBox="1"/>
          <p:nvPr/>
        </p:nvSpPr>
        <p:spPr>
          <a:xfrm>
            <a:off x="9464040" y="7150608"/>
            <a:ext cx="3566160" cy="822960"/>
          </a:xfrm>
          <a:prstGeom prst="rect">
            <a:avLst/>
          </a:prstGeom>
          <a:noFill/>
        </p:spPr>
        <p:txBody>
          <a:bodyPr wrap="square" lIns="0" rIns="0" tIns="0" bIns="0" anchor="t">
            <a:spAutoFit/>
          </a:bodyPr>
          <a:lstStyle/>
          <a:p>
            <a:pPr algn="l"/>
            <a:r>
              <a:rPr sz="1600" b="0">
                <a:solidFill>
                  <a:srgbClr val="3C3C3C"/>
                </a:solidFill>
                <a:latin typeface="Inter"/>
              </a:rPr>
              <a:t>Cobertura 70 % negocio · 80 % global</a:t>
            </a:r>
          </a:p>
        </p:txBody>
      </p:sp>
      <p:sp>
        <p:nvSpPr>
          <p:cNvPr id="76" name="Rounded Rectangle 75"/>
          <p:cNvSpPr/>
          <p:nvPr/>
        </p:nvSpPr>
        <p:spPr>
          <a:xfrm>
            <a:off x="13395959" y="649224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 name="TextBox 76"/>
          <p:cNvSpPr txBox="1"/>
          <p:nvPr/>
        </p:nvSpPr>
        <p:spPr>
          <a:xfrm>
            <a:off x="13624559" y="665683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Portabilidad</a:t>
            </a:r>
          </a:p>
        </p:txBody>
      </p:sp>
      <p:sp>
        <p:nvSpPr>
          <p:cNvPr id="78" name="TextBox 77"/>
          <p:cNvSpPr txBox="1"/>
          <p:nvPr/>
        </p:nvSpPr>
        <p:spPr>
          <a:xfrm>
            <a:off x="13624559" y="7150608"/>
            <a:ext cx="3566160" cy="822960"/>
          </a:xfrm>
          <a:prstGeom prst="rect">
            <a:avLst/>
          </a:prstGeom>
          <a:noFill/>
        </p:spPr>
        <p:txBody>
          <a:bodyPr wrap="square" lIns="0" rIns="0" tIns="0" bIns="0" anchor="t">
            <a:spAutoFit/>
          </a:bodyPr>
          <a:lstStyle/>
          <a:p>
            <a:pPr algn="l"/>
            <a:r>
              <a:rPr sz="1600" b="0">
                <a:solidFill>
                  <a:srgbClr val="3C3C3C"/>
                </a:solidFill>
                <a:latin typeface="Inter"/>
              </a:rPr>
              <a:t>Mismo artefacto de QA a Producción</a:t>
            </a:r>
          </a:p>
        </p:txBody>
      </p:sp>
      <p:sp>
        <p:nvSpPr>
          <p:cNvPr id="7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29</a:t>
            </a:r>
          </a:p>
        </p:txBody>
      </p:sp>
    </p:spTree>
  </p:cSld>
  <p:clrMapOvr>
    <a:masterClrMapping/>
  </p:clrMapOvr>
  <p:transition spd="med">
    <p:push dir="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p:spPr>
      </p:sp>
      <p:sp>
        <p:nvSpPr>
          <p:cNvPr id="10" name="Freeform 10"/>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431044" y="1908274"/>
            <a:ext cx="8336653" cy="2790501"/>
          </a:xfrm>
          <a:prstGeom prst="rect">
            <a:avLst/>
          </a:prstGeom>
        </p:spPr>
        <p:txBody>
          <a:bodyPr lIns="0" tIns="0" rIns="0" bIns="0" rtlCol="0" anchor="t">
            <a:spAutoFit/>
          </a:bodyPr>
          <a:lstStyle/>
          <a:p>
            <a:pPr algn="l">
              <a:lnSpc>
                <a:spcPts val="10404"/>
              </a:lnSpc>
            </a:pPr>
            <a:r>
              <a:rPr lang="en-US" sz="7926" b="1">
                <a:solidFill>
                  <a:srgbClr val="111111"/>
                </a:solidFill>
                <a:latin typeface="Inter SemiBold"/>
                <a:ea typeface="Inter SemiBold"/>
                <a:cs typeface="Inter SemiBold"/>
                <a:sym typeface="Inter SemiBold"/>
              </a:rPr>
              <a:t>Calidad que bloquea</a:t>
            </a:r>
          </a:p>
        </p:txBody>
      </p:sp>
      <p:sp>
        <p:nvSpPr>
          <p:cNvPr id="12" name="TextBox 11"/>
          <p:cNvSpPr txBox="1"/>
          <p:nvPr/>
        </p:nvSpPr>
        <p:spPr>
          <a:xfrm>
            <a:off x="1435608" y="4800600"/>
            <a:ext cx="7589520" cy="548640"/>
          </a:xfrm>
          <a:prstGeom prst="rect">
            <a:avLst/>
          </a:prstGeom>
          <a:noFill/>
        </p:spPr>
        <p:txBody>
          <a:bodyPr wrap="square" lIns="0" rIns="0" tIns="0" bIns="0" anchor="t">
            <a:spAutoFit/>
          </a:bodyPr>
          <a:lstStyle/>
          <a:p>
            <a:pPr algn="l"/>
            <a:r>
              <a:rPr sz="2800" b="1">
                <a:solidFill>
                  <a:srgbClr val="3C3C3C"/>
                </a:solidFill>
                <a:latin typeface="Inter SemiBold"/>
              </a:rPr>
              <a:t>7 puertas. Sin excepciones.</a:t>
            </a:r>
          </a:p>
        </p:txBody>
      </p:sp>
      <p:sp>
        <p:nvSpPr>
          <p:cNvPr id="13" name="TextBox 12"/>
          <p:cNvSpPr txBox="1"/>
          <p:nvPr/>
        </p:nvSpPr>
        <p:spPr>
          <a:xfrm>
            <a:off x="1435608" y="5394960"/>
            <a:ext cx="7589520" cy="411480"/>
          </a:xfrm>
          <a:prstGeom prst="rect">
            <a:avLst/>
          </a:prstGeom>
          <a:noFill/>
        </p:spPr>
        <p:txBody>
          <a:bodyPr wrap="square" lIns="0" rIns="0" tIns="0" bIns="0" anchor="t">
            <a:spAutoFit/>
          </a:bodyPr>
          <a:lstStyle/>
          <a:p>
            <a:pPr algn="l"/>
            <a:r>
              <a:rPr sz="1800" b="1">
                <a:solidFill>
                  <a:srgbClr val="E8641B"/>
                </a:solidFill>
                <a:latin typeface="Inter SemiBold"/>
              </a:rPr>
              <a:t>Calidad puede vetar una promoción</a:t>
            </a:r>
          </a:p>
        </p:txBody>
      </p:sp>
      <p:sp>
        <p:nvSpPr>
          <p:cNvPr id="14" name="TextBox 13"/>
          <p:cNvSpPr txBox="1"/>
          <p:nvPr/>
        </p:nvSpPr>
        <p:spPr>
          <a:xfrm>
            <a:off x="1435608" y="5943600"/>
            <a:ext cx="7680960" cy="320040"/>
          </a:xfrm>
          <a:prstGeom prst="rect">
            <a:avLst/>
          </a:prstGeom>
          <a:noFill/>
        </p:spPr>
        <p:txBody>
          <a:bodyPr wrap="square" lIns="0" rIns="0" tIns="0" bIns="0" anchor="t">
            <a:spAutoFit/>
          </a:bodyPr>
          <a:lstStyle/>
          <a:p>
            <a:pPr algn="l"/>
            <a:r>
              <a:rPr sz="1500" b="1">
                <a:solidFill>
                  <a:srgbClr val="E8641B"/>
                </a:solidFill>
                <a:latin typeface="Inter SemiBold"/>
              </a:rPr>
              <a:t>ART. 17.3 · 6 CONDICIONES PARA ACEPTAR</a:t>
            </a:r>
          </a:p>
        </p:txBody>
      </p:sp>
      <p:sp>
        <p:nvSpPr>
          <p:cNvPr id="15" name="Oval 14"/>
          <p:cNvSpPr/>
          <p:nvPr/>
        </p:nvSpPr>
        <p:spPr>
          <a:xfrm>
            <a:off x="1435608" y="6446520"/>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1</a:t>
            </a:r>
          </a:p>
        </p:txBody>
      </p:sp>
      <p:sp>
        <p:nvSpPr>
          <p:cNvPr id="16" name="TextBox 15"/>
          <p:cNvSpPr txBox="1"/>
          <p:nvPr/>
        </p:nvSpPr>
        <p:spPr>
          <a:xfrm>
            <a:off x="1984248" y="6355080"/>
            <a:ext cx="3291840" cy="603504"/>
          </a:xfrm>
          <a:prstGeom prst="rect">
            <a:avLst/>
          </a:prstGeom>
          <a:noFill/>
        </p:spPr>
        <p:txBody>
          <a:bodyPr wrap="square" lIns="0" rIns="0" tIns="0" bIns="0" anchor="ctr">
            <a:spAutoFit/>
          </a:bodyPr>
          <a:lstStyle/>
          <a:p>
            <a:pPr algn="l"/>
            <a:r>
              <a:rPr sz="1700" b="0">
                <a:solidFill>
                  <a:srgbClr val="3C3C3C"/>
                </a:solidFill>
                <a:latin typeface="Inter"/>
              </a:rPr>
              <a:t>0 incidentes críticos</a:t>
            </a:r>
          </a:p>
        </p:txBody>
      </p:sp>
      <p:sp>
        <p:nvSpPr>
          <p:cNvPr id="17" name="Oval 16"/>
          <p:cNvSpPr/>
          <p:nvPr/>
        </p:nvSpPr>
        <p:spPr>
          <a:xfrm>
            <a:off x="5367528" y="6446520"/>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2</a:t>
            </a:r>
          </a:p>
        </p:txBody>
      </p:sp>
      <p:sp>
        <p:nvSpPr>
          <p:cNvPr id="18" name="TextBox 17"/>
          <p:cNvSpPr txBox="1"/>
          <p:nvPr/>
        </p:nvSpPr>
        <p:spPr>
          <a:xfrm>
            <a:off x="5916168" y="6355080"/>
            <a:ext cx="3291840" cy="603504"/>
          </a:xfrm>
          <a:prstGeom prst="rect">
            <a:avLst/>
          </a:prstGeom>
          <a:noFill/>
        </p:spPr>
        <p:txBody>
          <a:bodyPr wrap="square" lIns="0" rIns="0" tIns="0" bIns="0" anchor="ctr">
            <a:spAutoFit/>
          </a:bodyPr>
          <a:lstStyle/>
          <a:p>
            <a:pPr algn="l"/>
            <a:r>
              <a:rPr sz="1700" b="0">
                <a:solidFill>
                  <a:srgbClr val="3C3C3C"/>
                </a:solidFill>
                <a:latin typeface="Inter"/>
              </a:rPr>
              <a:t>4 semanas de volumen real</a:t>
            </a:r>
          </a:p>
        </p:txBody>
      </p:sp>
      <p:sp>
        <p:nvSpPr>
          <p:cNvPr id="19" name="Oval 18"/>
          <p:cNvSpPr/>
          <p:nvPr/>
        </p:nvSpPr>
        <p:spPr>
          <a:xfrm>
            <a:off x="1435608" y="7104888"/>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3</a:t>
            </a:r>
          </a:p>
        </p:txBody>
      </p:sp>
      <p:sp>
        <p:nvSpPr>
          <p:cNvPr id="20" name="TextBox 19"/>
          <p:cNvSpPr txBox="1"/>
          <p:nvPr/>
        </p:nvSpPr>
        <p:spPr>
          <a:xfrm>
            <a:off x="1984248" y="7013448"/>
            <a:ext cx="3291840" cy="603504"/>
          </a:xfrm>
          <a:prstGeom prst="rect">
            <a:avLst/>
          </a:prstGeom>
          <a:noFill/>
        </p:spPr>
        <p:txBody>
          <a:bodyPr wrap="square" lIns="0" rIns="0" tIns="0" bIns="0" anchor="ctr">
            <a:spAutoFit/>
          </a:bodyPr>
          <a:lstStyle/>
          <a:p>
            <a:pPr algn="l"/>
            <a:r>
              <a:rPr sz="1700" b="0">
                <a:solidFill>
                  <a:srgbClr val="3C3C3C"/>
                </a:solidFill>
                <a:latin typeface="Inter"/>
              </a:rPr>
              <a:t>Sin caída en despacho</a:t>
            </a:r>
          </a:p>
        </p:txBody>
      </p:sp>
      <p:sp>
        <p:nvSpPr>
          <p:cNvPr id="21" name="Oval 20"/>
          <p:cNvSpPr/>
          <p:nvPr/>
        </p:nvSpPr>
        <p:spPr>
          <a:xfrm>
            <a:off x="5367528" y="7104888"/>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4</a:t>
            </a:r>
          </a:p>
        </p:txBody>
      </p:sp>
      <p:sp>
        <p:nvSpPr>
          <p:cNvPr id="22" name="TextBox 21"/>
          <p:cNvSpPr txBox="1"/>
          <p:nvPr/>
        </p:nvSpPr>
        <p:spPr>
          <a:xfrm>
            <a:off x="5916168" y="7013448"/>
            <a:ext cx="3291840" cy="603504"/>
          </a:xfrm>
          <a:prstGeom prst="rect">
            <a:avLst/>
          </a:prstGeom>
          <a:noFill/>
        </p:spPr>
        <p:txBody>
          <a:bodyPr wrap="square" lIns="0" rIns="0" tIns="0" bIns="0" anchor="ctr">
            <a:spAutoFit/>
          </a:bodyPr>
          <a:lstStyle/>
          <a:p>
            <a:pPr algn="l"/>
            <a:r>
              <a:rPr sz="1700" b="0">
                <a:solidFill>
                  <a:srgbClr val="3C3C3C"/>
                </a:solidFill>
                <a:latin typeface="Inter"/>
              </a:rPr>
              <a:t>Sin diferencias sin explicar</a:t>
            </a:r>
          </a:p>
        </p:txBody>
      </p:sp>
      <p:sp>
        <p:nvSpPr>
          <p:cNvPr id="23" name="Oval 22"/>
          <p:cNvSpPr/>
          <p:nvPr/>
        </p:nvSpPr>
        <p:spPr>
          <a:xfrm>
            <a:off x="1435608" y="7763256"/>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5</a:t>
            </a:r>
          </a:p>
        </p:txBody>
      </p:sp>
      <p:sp>
        <p:nvSpPr>
          <p:cNvPr id="24" name="TextBox 23"/>
          <p:cNvSpPr txBox="1"/>
          <p:nvPr/>
        </p:nvSpPr>
        <p:spPr>
          <a:xfrm>
            <a:off x="1984248" y="7671816"/>
            <a:ext cx="3291840" cy="603504"/>
          </a:xfrm>
          <a:prstGeom prst="rect">
            <a:avLst/>
          </a:prstGeom>
          <a:noFill/>
        </p:spPr>
        <p:txBody>
          <a:bodyPr wrap="square" lIns="0" rIns="0" tIns="0" bIns="0" anchor="ctr">
            <a:spAutoFit/>
          </a:bodyPr>
          <a:lstStyle/>
          <a:p>
            <a:pPr algn="l"/>
            <a:r>
              <a:rPr sz="1700" b="0">
                <a:solidFill>
                  <a:srgbClr val="3C3C3C"/>
                </a:solidFill>
                <a:latin typeface="Inter"/>
              </a:rPr>
              <a:t>100 % usuarios certificados</a:t>
            </a:r>
          </a:p>
        </p:txBody>
      </p:sp>
      <p:sp>
        <p:nvSpPr>
          <p:cNvPr id="25" name="Oval 24"/>
          <p:cNvSpPr/>
          <p:nvPr/>
        </p:nvSpPr>
        <p:spPr>
          <a:xfrm>
            <a:off x="5367528" y="7763256"/>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6</a:t>
            </a:r>
          </a:p>
        </p:txBody>
      </p:sp>
      <p:sp>
        <p:nvSpPr>
          <p:cNvPr id="26" name="TextBox 25"/>
          <p:cNvSpPr txBox="1"/>
          <p:nvPr/>
        </p:nvSpPr>
        <p:spPr>
          <a:xfrm>
            <a:off x="5916168" y="7671816"/>
            <a:ext cx="3291840" cy="603504"/>
          </a:xfrm>
          <a:prstGeom prst="rect">
            <a:avLst/>
          </a:prstGeom>
          <a:noFill/>
        </p:spPr>
        <p:txBody>
          <a:bodyPr wrap="square" lIns="0" rIns="0" tIns="0" bIns="0" anchor="ctr">
            <a:spAutoFit/>
          </a:bodyPr>
          <a:lstStyle/>
          <a:p>
            <a:pPr algn="l"/>
            <a:r>
              <a:rPr sz="1700" b="0">
                <a:solidFill>
                  <a:srgbClr val="3C3C3C"/>
                </a:solidFill>
                <a:latin typeface="Inter"/>
              </a:rPr>
              <a:t>Acta de la Contraparte</a:t>
            </a:r>
          </a:p>
        </p:txBody>
      </p:sp>
      <p:sp>
        <p:nvSpPr>
          <p:cNvPr id="27" name="Rounded Rectangle 26"/>
          <p:cNvSpPr/>
          <p:nvPr/>
        </p:nvSpPr>
        <p:spPr>
          <a:xfrm>
            <a:off x="9509760" y="91440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8" name="Rounded Rectangle 27"/>
          <p:cNvSpPr/>
          <p:nvPr/>
        </p:nvSpPr>
        <p:spPr>
          <a:xfrm>
            <a:off x="9646920" y="105156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G0</a:t>
            </a:r>
          </a:p>
        </p:txBody>
      </p:sp>
      <p:sp>
        <p:nvSpPr>
          <p:cNvPr id="29" name="TextBox 28"/>
          <p:cNvSpPr txBox="1"/>
          <p:nvPr/>
        </p:nvSpPr>
        <p:spPr>
          <a:xfrm>
            <a:off x="10561320" y="98755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Compromiso local</a:t>
            </a:r>
          </a:p>
        </p:txBody>
      </p:sp>
      <p:sp>
        <p:nvSpPr>
          <p:cNvPr id="30" name="TextBox 29"/>
          <p:cNvSpPr txBox="1"/>
          <p:nvPr/>
        </p:nvSpPr>
        <p:spPr>
          <a:xfrm>
            <a:off x="10561320" y="1417320"/>
            <a:ext cx="6675120" cy="384048"/>
          </a:xfrm>
          <a:prstGeom prst="rect">
            <a:avLst/>
          </a:prstGeom>
          <a:noFill/>
        </p:spPr>
        <p:txBody>
          <a:bodyPr wrap="square" lIns="0" rIns="0" tIns="0" bIns="0" anchor="t">
            <a:spAutoFit/>
          </a:bodyPr>
          <a:lstStyle/>
          <a:p>
            <a:pPr algn="l"/>
            <a:r>
              <a:rPr sz="1600" b="0">
                <a:solidFill>
                  <a:srgbClr val="606060"/>
                </a:solidFill>
                <a:latin typeface="Inter"/>
              </a:rPr>
              <a:t>Formato y pruebas del módulo</a:t>
            </a:r>
          </a:p>
        </p:txBody>
      </p:sp>
      <p:sp>
        <p:nvSpPr>
          <p:cNvPr id="31" name="Rounded Rectangle 30"/>
          <p:cNvSpPr/>
          <p:nvPr/>
        </p:nvSpPr>
        <p:spPr>
          <a:xfrm>
            <a:off x="9509760" y="201168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2" name="Rounded Rectangle 31"/>
          <p:cNvSpPr/>
          <p:nvPr/>
        </p:nvSpPr>
        <p:spPr>
          <a:xfrm>
            <a:off x="9646920" y="214884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G1</a:t>
            </a:r>
          </a:p>
        </p:txBody>
      </p:sp>
      <p:sp>
        <p:nvSpPr>
          <p:cNvPr id="33" name="TextBox 32"/>
          <p:cNvSpPr txBox="1"/>
          <p:nvPr/>
        </p:nvSpPr>
        <p:spPr>
          <a:xfrm>
            <a:off x="10561320" y="208483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Solicitud de fusión</a:t>
            </a:r>
          </a:p>
        </p:txBody>
      </p:sp>
      <p:sp>
        <p:nvSpPr>
          <p:cNvPr id="34" name="TextBox 33"/>
          <p:cNvSpPr txBox="1"/>
          <p:nvPr/>
        </p:nvSpPr>
        <p:spPr>
          <a:xfrm>
            <a:off x="10561320" y="2514600"/>
            <a:ext cx="6675120" cy="384048"/>
          </a:xfrm>
          <a:prstGeom prst="rect">
            <a:avLst/>
          </a:prstGeom>
          <a:noFill/>
        </p:spPr>
        <p:txBody>
          <a:bodyPr wrap="square" lIns="0" rIns="0" tIns="0" bIns="0" anchor="t">
            <a:spAutoFit/>
          </a:bodyPr>
          <a:lstStyle/>
          <a:p>
            <a:pPr algn="l"/>
            <a:r>
              <a:rPr sz="1600" b="0">
                <a:solidFill>
                  <a:srgbClr val="606060"/>
                </a:solidFill>
                <a:latin typeface="Inter"/>
              </a:rPr>
              <a:t>Revisión por pares · secretos</a:t>
            </a:r>
          </a:p>
        </p:txBody>
      </p:sp>
      <p:sp>
        <p:nvSpPr>
          <p:cNvPr id="35" name="Rounded Rectangle 34"/>
          <p:cNvSpPr/>
          <p:nvPr/>
        </p:nvSpPr>
        <p:spPr>
          <a:xfrm>
            <a:off x="9509760" y="310896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6" name="Rounded Rectangle 35"/>
          <p:cNvSpPr/>
          <p:nvPr/>
        </p:nvSpPr>
        <p:spPr>
          <a:xfrm>
            <a:off x="9646920" y="324612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G2</a:t>
            </a:r>
          </a:p>
        </p:txBody>
      </p:sp>
      <p:sp>
        <p:nvSpPr>
          <p:cNvPr id="37" name="TextBox 36"/>
          <p:cNvSpPr txBox="1"/>
          <p:nvPr/>
        </p:nvSpPr>
        <p:spPr>
          <a:xfrm>
            <a:off x="10561320" y="318211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Integración continua</a:t>
            </a:r>
          </a:p>
        </p:txBody>
      </p:sp>
      <p:sp>
        <p:nvSpPr>
          <p:cNvPr id="38" name="TextBox 37"/>
          <p:cNvSpPr txBox="1"/>
          <p:nvPr/>
        </p:nvSpPr>
        <p:spPr>
          <a:xfrm>
            <a:off x="10561320" y="3611880"/>
            <a:ext cx="6675120" cy="384048"/>
          </a:xfrm>
          <a:prstGeom prst="rect">
            <a:avLst/>
          </a:prstGeom>
          <a:noFill/>
        </p:spPr>
        <p:txBody>
          <a:bodyPr wrap="square" lIns="0" rIns="0" tIns="0" bIns="0" anchor="t">
            <a:spAutoFit/>
          </a:bodyPr>
          <a:lstStyle/>
          <a:p>
            <a:pPr algn="l"/>
            <a:r>
              <a:rPr sz="1500" b="0">
                <a:solidFill>
                  <a:srgbClr val="606060"/>
                </a:solidFill>
                <a:latin typeface="Inter"/>
              </a:rPr>
              <a:t>Cobertura ≥ 70/80 % · complejidad ≤ 10 · duplicación ≤ 3 %</a:t>
            </a:r>
          </a:p>
        </p:txBody>
      </p:sp>
      <p:sp>
        <p:nvSpPr>
          <p:cNvPr id="39" name="Rounded Rectangle 38"/>
          <p:cNvSpPr/>
          <p:nvPr/>
        </p:nvSpPr>
        <p:spPr>
          <a:xfrm>
            <a:off x="9509760" y="420624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0" name="Rounded Rectangle 39"/>
          <p:cNvSpPr/>
          <p:nvPr/>
        </p:nvSpPr>
        <p:spPr>
          <a:xfrm>
            <a:off x="9646920" y="434340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G3</a:t>
            </a:r>
          </a:p>
        </p:txBody>
      </p:sp>
      <p:sp>
        <p:nvSpPr>
          <p:cNvPr id="41" name="TextBox 40"/>
          <p:cNvSpPr txBox="1"/>
          <p:nvPr/>
        </p:nvSpPr>
        <p:spPr>
          <a:xfrm>
            <a:off x="10561320" y="427939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Promoción a QA</a:t>
            </a:r>
          </a:p>
        </p:txBody>
      </p:sp>
      <p:sp>
        <p:nvSpPr>
          <p:cNvPr id="42" name="TextBox 41"/>
          <p:cNvSpPr txBox="1"/>
          <p:nvPr/>
        </p:nvSpPr>
        <p:spPr>
          <a:xfrm>
            <a:off x="10561320" y="4709159"/>
            <a:ext cx="6675120" cy="384048"/>
          </a:xfrm>
          <a:prstGeom prst="rect">
            <a:avLst/>
          </a:prstGeom>
          <a:noFill/>
        </p:spPr>
        <p:txBody>
          <a:bodyPr wrap="square" lIns="0" rIns="0" tIns="0" bIns="0" anchor="t">
            <a:spAutoFit/>
          </a:bodyPr>
          <a:lstStyle/>
          <a:p>
            <a:pPr algn="l"/>
            <a:r>
              <a:rPr sz="1600" b="0">
                <a:solidFill>
                  <a:srgbClr val="606060"/>
                </a:solidFill>
                <a:latin typeface="Inter"/>
              </a:rPr>
              <a:t>Sin vulnerabilidades altas ni regresión de p95</a:t>
            </a:r>
          </a:p>
        </p:txBody>
      </p:sp>
      <p:sp>
        <p:nvSpPr>
          <p:cNvPr id="43" name="Rounded Rectangle 42"/>
          <p:cNvSpPr/>
          <p:nvPr/>
        </p:nvSpPr>
        <p:spPr>
          <a:xfrm>
            <a:off x="9509760" y="530352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4" name="Rounded Rectangle 43"/>
          <p:cNvSpPr/>
          <p:nvPr/>
        </p:nvSpPr>
        <p:spPr>
          <a:xfrm>
            <a:off x="9646920" y="544068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G4</a:t>
            </a:r>
          </a:p>
        </p:txBody>
      </p:sp>
      <p:sp>
        <p:nvSpPr>
          <p:cNvPr id="45" name="TextBox 44"/>
          <p:cNvSpPr txBox="1"/>
          <p:nvPr/>
        </p:nvSpPr>
        <p:spPr>
          <a:xfrm>
            <a:off x="10561320" y="537667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Preproducción</a:t>
            </a:r>
          </a:p>
        </p:txBody>
      </p:sp>
      <p:sp>
        <p:nvSpPr>
          <p:cNvPr id="46" name="TextBox 45"/>
          <p:cNvSpPr txBox="1"/>
          <p:nvPr/>
        </p:nvSpPr>
        <p:spPr>
          <a:xfrm>
            <a:off x="10561320" y="5806440"/>
            <a:ext cx="6675120" cy="384048"/>
          </a:xfrm>
          <a:prstGeom prst="rect">
            <a:avLst/>
          </a:prstGeom>
          <a:noFill/>
        </p:spPr>
        <p:txBody>
          <a:bodyPr wrap="square" lIns="0" rIns="0" tIns="0" bIns="0" anchor="t">
            <a:spAutoFit/>
          </a:bodyPr>
          <a:lstStyle/>
          <a:p>
            <a:pPr algn="l"/>
            <a:r>
              <a:rPr sz="1600" b="0">
                <a:solidFill>
                  <a:srgbClr val="606060"/>
                </a:solidFill>
                <a:latin typeface="Inter"/>
              </a:rPr>
              <a:t>Regresión · DAST · WCAG</a:t>
            </a:r>
          </a:p>
        </p:txBody>
      </p:sp>
      <p:sp>
        <p:nvSpPr>
          <p:cNvPr id="47" name="Rounded Rectangle 46"/>
          <p:cNvSpPr/>
          <p:nvPr/>
        </p:nvSpPr>
        <p:spPr>
          <a:xfrm>
            <a:off x="9509760" y="6400800"/>
            <a:ext cx="7863840" cy="96012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8" name="Rounded Rectangle 47"/>
          <p:cNvSpPr/>
          <p:nvPr/>
        </p:nvSpPr>
        <p:spPr>
          <a:xfrm>
            <a:off x="9646920" y="653796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G5</a:t>
            </a:r>
          </a:p>
        </p:txBody>
      </p:sp>
      <p:sp>
        <p:nvSpPr>
          <p:cNvPr id="49" name="TextBox 48"/>
          <p:cNvSpPr txBox="1"/>
          <p:nvPr/>
        </p:nvSpPr>
        <p:spPr>
          <a:xfrm>
            <a:off x="10561320" y="6473952"/>
            <a:ext cx="6675120" cy="411480"/>
          </a:xfrm>
          <a:prstGeom prst="rect">
            <a:avLst/>
          </a:prstGeom>
          <a:noFill/>
        </p:spPr>
        <p:txBody>
          <a:bodyPr wrap="square" lIns="0" rIns="0" tIns="0" bIns="0" anchor="t">
            <a:spAutoFit/>
          </a:bodyPr>
          <a:lstStyle/>
          <a:p>
            <a:pPr algn="l"/>
            <a:r>
              <a:rPr sz="1900" b="1">
                <a:solidFill>
                  <a:srgbClr val="FFFFFF"/>
                </a:solidFill>
                <a:latin typeface="Inter SemiBold"/>
              </a:rPr>
              <a:t>Entrada a Producción</a:t>
            </a:r>
          </a:p>
        </p:txBody>
      </p:sp>
      <p:sp>
        <p:nvSpPr>
          <p:cNvPr id="50" name="TextBox 49"/>
          <p:cNvSpPr txBox="1"/>
          <p:nvPr/>
        </p:nvSpPr>
        <p:spPr>
          <a:xfrm>
            <a:off x="10561320" y="6903720"/>
            <a:ext cx="6675120" cy="384048"/>
          </a:xfrm>
          <a:prstGeom prst="rect">
            <a:avLst/>
          </a:prstGeom>
          <a:noFill/>
        </p:spPr>
        <p:txBody>
          <a:bodyPr wrap="square" lIns="0" rIns="0" tIns="0" bIns="0" anchor="t">
            <a:spAutoFit/>
          </a:bodyPr>
          <a:lstStyle/>
          <a:p>
            <a:pPr algn="l"/>
            <a:r>
              <a:rPr sz="1600" b="0">
                <a:solidFill>
                  <a:srgbClr val="C7C7C7"/>
                </a:solidFill>
                <a:latin typeface="Inter"/>
              </a:rPr>
              <a:t>Pruebas habilitantes · reversión ensayada</a:t>
            </a:r>
          </a:p>
        </p:txBody>
      </p:sp>
      <p:sp>
        <p:nvSpPr>
          <p:cNvPr id="51" name="Rounded Rectangle 50"/>
          <p:cNvSpPr/>
          <p:nvPr/>
        </p:nvSpPr>
        <p:spPr>
          <a:xfrm>
            <a:off x="9509760" y="7498079"/>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 name="Rounded Rectangle 51"/>
          <p:cNvSpPr/>
          <p:nvPr/>
        </p:nvSpPr>
        <p:spPr>
          <a:xfrm>
            <a:off x="9646920" y="763524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G6</a:t>
            </a:r>
          </a:p>
        </p:txBody>
      </p:sp>
      <p:sp>
        <p:nvSpPr>
          <p:cNvPr id="53" name="TextBox 52"/>
          <p:cNvSpPr txBox="1"/>
          <p:nvPr/>
        </p:nvSpPr>
        <p:spPr>
          <a:xfrm>
            <a:off x="10561320" y="7571231"/>
            <a:ext cx="6675120" cy="411480"/>
          </a:xfrm>
          <a:prstGeom prst="rect">
            <a:avLst/>
          </a:prstGeom>
          <a:noFill/>
        </p:spPr>
        <p:txBody>
          <a:bodyPr wrap="square" lIns="0" rIns="0" tIns="0" bIns="0" anchor="t">
            <a:spAutoFit/>
          </a:bodyPr>
          <a:lstStyle/>
          <a:p>
            <a:pPr algn="l"/>
            <a:r>
              <a:rPr sz="1900" b="1">
                <a:solidFill>
                  <a:srgbClr val="111111"/>
                </a:solidFill>
                <a:latin typeface="Inter SemiBold"/>
              </a:rPr>
              <a:t>Producción supervisada</a:t>
            </a:r>
          </a:p>
        </p:txBody>
      </p:sp>
      <p:sp>
        <p:nvSpPr>
          <p:cNvPr id="54" name="TextBox 53"/>
          <p:cNvSpPr txBox="1"/>
          <p:nvPr/>
        </p:nvSpPr>
        <p:spPr>
          <a:xfrm>
            <a:off x="10561320" y="8001000"/>
            <a:ext cx="6675120" cy="384048"/>
          </a:xfrm>
          <a:prstGeom prst="rect">
            <a:avLst/>
          </a:prstGeom>
          <a:noFill/>
        </p:spPr>
        <p:txBody>
          <a:bodyPr wrap="square" lIns="0" rIns="0" tIns="0" bIns="0" anchor="t">
            <a:spAutoFit/>
          </a:bodyPr>
          <a:lstStyle/>
          <a:p>
            <a:pPr algn="l"/>
            <a:r>
              <a:rPr sz="1600" b="0">
                <a:solidFill>
                  <a:srgbClr val="606060"/>
                </a:solidFill>
                <a:latin typeface="Inter"/>
              </a:rPr>
              <a:t>Canario · presupuesto de error</a:t>
            </a:r>
          </a:p>
        </p:txBody>
      </p:sp>
      <p:sp>
        <p:nvSpPr>
          <p:cNvPr id="5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30</a:t>
            </a:r>
          </a:p>
        </p:txBody>
      </p:sp>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Pruebas: del código al terreno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12 tipos de prueba · todas terminan en un número o en una firma</a:t>
            </a:r>
          </a:p>
        </p:txBody>
      </p:sp>
      <p:sp>
        <p:nvSpPr>
          <p:cNvPr id="51" name="Rounded Rectangle 50"/>
          <p:cNvSpPr/>
          <p:nvPr/>
        </p:nvSpPr>
        <p:spPr>
          <a:xfrm>
            <a:off x="914400" y="3246120"/>
            <a:ext cx="3154680" cy="56692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Desarrollo</a:t>
            </a:r>
          </a:p>
        </p:txBody>
      </p:sp>
      <p:sp>
        <p:nvSpPr>
          <p:cNvPr id="52" name="Rounded Rectangle 51"/>
          <p:cNvSpPr/>
          <p:nvPr/>
        </p:nvSpPr>
        <p:spPr>
          <a:xfrm>
            <a:off x="914400"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Unitarias y componente</a:t>
            </a:r>
          </a:p>
        </p:txBody>
      </p:sp>
      <p:sp>
        <p:nvSpPr>
          <p:cNvPr id="53" name="Rounded Rectangle 52"/>
          <p:cNvSpPr/>
          <p:nvPr/>
        </p:nvSpPr>
        <p:spPr>
          <a:xfrm>
            <a:off x="914400"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Contratos de API</a:t>
            </a:r>
          </a:p>
        </p:txBody>
      </p:sp>
      <p:cxnSp>
        <p:nvCxnSpPr>
          <p:cNvPr id="54" name="Connector 53"/>
          <p:cNvCxnSpPr/>
          <p:nvPr/>
        </p:nvCxnSpPr>
        <p:spPr>
          <a:xfrm>
            <a:off x="4069080"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4242816" y="3246120"/>
            <a:ext cx="3154680" cy="566928"/>
          </a:xfrm>
          <a:prstGeom prst="roundRect">
            <a:avLst>
              <a:gd name="adj" fmla="val 2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QA</a:t>
            </a:r>
          </a:p>
        </p:txBody>
      </p:sp>
      <p:sp>
        <p:nvSpPr>
          <p:cNvPr id="56" name="Rounded Rectangle 55"/>
          <p:cNvSpPr/>
          <p:nvPr/>
        </p:nvSpPr>
        <p:spPr>
          <a:xfrm>
            <a:off x="4242816"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Integración de 15 flujos</a:t>
            </a:r>
          </a:p>
        </p:txBody>
      </p:sp>
      <p:sp>
        <p:nvSpPr>
          <p:cNvPr id="57" name="Rounded Rectangle 56"/>
          <p:cNvSpPr/>
          <p:nvPr/>
        </p:nvSpPr>
        <p:spPr>
          <a:xfrm>
            <a:off x="4242816"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Sistema y regresión</a:t>
            </a:r>
          </a:p>
        </p:txBody>
      </p:sp>
      <p:sp>
        <p:nvSpPr>
          <p:cNvPr id="58" name="Rounded Rectangle 57"/>
          <p:cNvSpPr/>
          <p:nvPr/>
        </p:nvSpPr>
        <p:spPr>
          <a:xfrm>
            <a:off x="4242816" y="521207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DAST y accesibilidad</a:t>
            </a:r>
          </a:p>
        </p:txBody>
      </p:sp>
      <p:cxnSp>
        <p:nvCxnSpPr>
          <p:cNvPr id="59" name="Connector 58"/>
          <p:cNvCxnSpPr/>
          <p:nvPr/>
        </p:nvCxnSpPr>
        <p:spPr>
          <a:xfrm>
            <a:off x="7397496"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7571232" y="3246120"/>
            <a:ext cx="3154680" cy="566928"/>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Preproducción</a:t>
            </a:r>
          </a:p>
        </p:txBody>
      </p:sp>
      <p:sp>
        <p:nvSpPr>
          <p:cNvPr id="61" name="Rounded Rectangle 60"/>
          <p:cNvSpPr/>
          <p:nvPr/>
        </p:nvSpPr>
        <p:spPr>
          <a:xfrm>
            <a:off x="7571232"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Aceptación de usuario</a:t>
            </a:r>
          </a:p>
        </p:txBody>
      </p:sp>
      <p:sp>
        <p:nvSpPr>
          <p:cNvPr id="62" name="Rounded Rectangle 61"/>
          <p:cNvSpPr/>
          <p:nvPr/>
        </p:nvSpPr>
        <p:spPr>
          <a:xfrm>
            <a:off x="7571232"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Carga 1,5× y estrés</a:t>
            </a:r>
          </a:p>
        </p:txBody>
      </p:sp>
      <p:sp>
        <p:nvSpPr>
          <p:cNvPr id="63" name="Rounded Rectangle 62"/>
          <p:cNvSpPr/>
          <p:nvPr/>
        </p:nvSpPr>
        <p:spPr>
          <a:xfrm>
            <a:off x="7571232" y="521207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Resiliencia: sitios 24 h</a:t>
            </a:r>
          </a:p>
        </p:txBody>
      </p:sp>
      <p:sp>
        <p:nvSpPr>
          <p:cNvPr id="64" name="Rounded Rectangle 63"/>
          <p:cNvSpPr/>
          <p:nvPr/>
        </p:nvSpPr>
        <p:spPr>
          <a:xfrm>
            <a:off x="7571232" y="585215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Migración y despliegue</a:t>
            </a:r>
          </a:p>
        </p:txBody>
      </p:sp>
      <p:sp>
        <p:nvSpPr>
          <p:cNvPr id="65" name="Rounded Rectangle 64"/>
          <p:cNvSpPr/>
          <p:nvPr/>
        </p:nvSpPr>
        <p:spPr>
          <a:xfrm>
            <a:off x="7571232" y="649224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Intrusión por un tercero</a:t>
            </a:r>
          </a:p>
        </p:txBody>
      </p:sp>
      <p:cxnSp>
        <p:nvCxnSpPr>
          <p:cNvPr id="66" name="Connector 65"/>
          <p:cNvCxnSpPr/>
          <p:nvPr/>
        </p:nvCxnSpPr>
        <p:spPr>
          <a:xfrm>
            <a:off x="10725912"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10899648" y="3246120"/>
            <a:ext cx="3154680" cy="566928"/>
          </a:xfrm>
          <a:prstGeom prst="roundRect">
            <a:avLst>
              <a:gd name="adj" fmla="val 2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Terreno</a:t>
            </a:r>
          </a:p>
        </p:txBody>
      </p:sp>
      <p:sp>
        <p:nvSpPr>
          <p:cNvPr id="68" name="Rounded Rectangle 67"/>
          <p:cNvSpPr/>
          <p:nvPr/>
        </p:nvSpPr>
        <p:spPr>
          <a:xfrm>
            <a:off x="10899648"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14 h sin señal</a:t>
            </a:r>
          </a:p>
        </p:txBody>
      </p:sp>
      <p:sp>
        <p:nvSpPr>
          <p:cNvPr id="69" name="Rounded Rectangle 68"/>
          <p:cNvSpPr/>
          <p:nvPr/>
        </p:nvSpPr>
        <p:spPr>
          <a:xfrm>
            <a:off x="10899648"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−22 °C con guantes</a:t>
            </a:r>
          </a:p>
        </p:txBody>
      </p:sp>
      <p:sp>
        <p:nvSpPr>
          <p:cNvPr id="70" name="Rounded Rectangle 69"/>
          <p:cNvSpPr/>
          <p:nvPr/>
        </p:nvSpPr>
        <p:spPr>
          <a:xfrm>
            <a:off x="10899648" y="521207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Lluvia · &gt; 34 °C · una mano</a:t>
            </a:r>
          </a:p>
        </p:txBody>
      </p:sp>
      <p:cxnSp>
        <p:nvCxnSpPr>
          <p:cNvPr id="71" name="Connector 70"/>
          <p:cNvCxnSpPr/>
          <p:nvPr/>
        </p:nvCxnSpPr>
        <p:spPr>
          <a:xfrm>
            <a:off x="14054328"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14228064" y="3246120"/>
            <a:ext cx="3154680" cy="566928"/>
          </a:xfrm>
          <a:prstGeom prst="roundRect">
            <a:avLst>
              <a:gd name="adj" fmla="val 2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Producción</a:t>
            </a:r>
          </a:p>
        </p:txBody>
      </p:sp>
      <p:sp>
        <p:nvSpPr>
          <p:cNvPr id="73" name="Rounded Rectangle 72"/>
          <p:cNvSpPr/>
          <p:nvPr/>
        </p:nvSpPr>
        <p:spPr>
          <a:xfrm>
            <a:off x="14228064"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Recuperación: RTO ≤ 4 h</a:t>
            </a:r>
          </a:p>
        </p:txBody>
      </p:sp>
      <p:sp>
        <p:nvSpPr>
          <p:cNvPr id="74" name="Rounded Rectangle 73"/>
          <p:cNvSpPr/>
          <p:nvPr/>
        </p:nvSpPr>
        <p:spPr>
          <a:xfrm>
            <a:off x="14228064"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Marcha blanca: indicadores diarios</a:t>
            </a:r>
          </a:p>
        </p:txBody>
      </p:sp>
      <p:sp>
        <p:nvSpPr>
          <p:cNvPr id="75" name="Rounded Rectangle 74"/>
          <p:cNvSpPr/>
          <p:nvPr/>
        </p:nvSpPr>
        <p:spPr>
          <a:xfrm>
            <a:off x="914400"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1.316 casos</a:t>
            </a:r>
          </a:p>
          <a:p>
            <a:pPr algn="l"/>
            <a:r>
              <a:rPr sz="1500" b="0">
                <a:solidFill>
                  <a:srgbClr val="3C3C3C"/>
                </a:solidFill>
                <a:latin typeface="Inter"/>
              </a:rPr>
              <a:t>80 % automatizados</a:t>
            </a:r>
          </a:p>
        </p:txBody>
      </p:sp>
      <p:sp>
        <p:nvSpPr>
          <p:cNvPr id="76" name="Rounded Rectangle 75"/>
          <p:cNvSpPr/>
          <p:nvPr/>
        </p:nvSpPr>
        <p:spPr>
          <a:xfrm>
            <a:off x="5074920"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21,99 TPS</a:t>
            </a:r>
          </a:p>
          <a:p>
            <a:pPr algn="l"/>
            <a:r>
              <a:rPr sz="1500" b="0">
                <a:solidFill>
                  <a:srgbClr val="3C3C3C"/>
                </a:solidFill>
                <a:latin typeface="Inter"/>
              </a:rPr>
              <a:t>carga = 1,5 × peak de septiembre</a:t>
            </a:r>
          </a:p>
        </p:txBody>
      </p:sp>
      <p:sp>
        <p:nvSpPr>
          <p:cNvPr id="77" name="Rounded Rectangle 76"/>
          <p:cNvSpPr/>
          <p:nvPr/>
        </p:nvSpPr>
        <p:spPr>
          <a:xfrm>
            <a:off x="9235440"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4,4 h</a:t>
            </a:r>
          </a:p>
          <a:p>
            <a:pPr algn="l"/>
            <a:r>
              <a:rPr sz="1500" b="0">
                <a:solidFill>
                  <a:srgbClr val="3C3C3C"/>
                </a:solidFill>
                <a:latin typeface="Inter"/>
              </a:rPr>
              <a:t>regresión completa, en una noche</a:t>
            </a:r>
          </a:p>
        </p:txBody>
      </p:sp>
      <p:sp>
        <p:nvSpPr>
          <p:cNvPr id="78" name="Rounded Rectangle 77"/>
          <p:cNvSpPr/>
          <p:nvPr/>
        </p:nvSpPr>
        <p:spPr>
          <a:xfrm>
            <a:off x="13395959"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0 datos reales</a:t>
            </a:r>
          </a:p>
          <a:p>
            <a:pPr algn="l"/>
            <a:r>
              <a:rPr sz="1500" b="0">
                <a:solidFill>
                  <a:srgbClr val="3C3C3C"/>
                </a:solidFill>
                <a:latin typeface="Inter"/>
              </a:rPr>
              <a:t>en pruebas sin anonimizar</a:t>
            </a:r>
          </a:p>
        </p:txBody>
      </p:sp>
      <p:sp>
        <p:nvSpPr>
          <p:cNvPr id="7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31</a:t>
            </a:r>
          </a:p>
        </p:txBody>
      </p:sp>
    </p:spTree>
  </p:cSld>
  <p:clrMapOvr>
    <a:masterClrMapping/>
  </p:clrMapOvr>
  <p:transition spd="med">
    <p:push dir="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p:spPr>
      </p:sp>
      <p:sp>
        <p:nvSpPr>
          <p:cNvPr id="10" name="Freeform 10"/>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431044" y="1908274"/>
            <a:ext cx="8336653" cy="2790501"/>
          </a:xfrm>
          <a:prstGeom prst="rect">
            <a:avLst/>
          </a:prstGeom>
        </p:spPr>
        <p:txBody>
          <a:bodyPr lIns="0" tIns="0" rIns="0" bIns="0" rtlCol="0" anchor="t">
            <a:spAutoFit/>
          </a:bodyPr>
          <a:lstStyle/>
          <a:p>
            <a:pPr algn="l">
              <a:lnSpc>
                <a:spcPts val="10404"/>
              </a:lnSpc>
            </a:pPr>
            <a:r>
              <a:rPr lang="en-US" sz="7926" b="1">
                <a:solidFill>
                  <a:srgbClr val="111111"/>
                </a:solidFill>
                <a:latin typeface="Inter SemiBold"/>
                <a:ea typeface="Inter SemiBold"/>
                <a:cs typeface="Inter SemiBold"/>
                <a:sym typeface="Inter SemiBold"/>
              </a:rPr>
              <a:t>Trazabilidad y mejora</a:t>
            </a:r>
          </a:p>
        </p:txBody>
      </p:sp>
      <p:sp>
        <p:nvSpPr>
          <p:cNvPr id="12" name="TextBox 11"/>
          <p:cNvSpPr txBox="1"/>
          <p:nvPr/>
        </p:nvSpPr>
        <p:spPr>
          <a:xfrm>
            <a:off x="9418320" y="457200"/>
            <a:ext cx="8138160" cy="320040"/>
          </a:xfrm>
          <a:prstGeom prst="rect">
            <a:avLst/>
          </a:prstGeom>
          <a:noFill/>
        </p:spPr>
        <p:txBody>
          <a:bodyPr wrap="square" lIns="0" rIns="0" tIns="0" bIns="0" anchor="t">
            <a:spAutoFit/>
          </a:bodyPr>
          <a:lstStyle/>
          <a:p>
            <a:pPr algn="l"/>
            <a:r>
              <a:rPr sz="1400" b="1">
                <a:solidFill>
                  <a:srgbClr val="E8641B"/>
                </a:solidFill>
                <a:latin typeface="Inter SemiBold"/>
              </a:rPr>
              <a:t>DE EXTREMO A EXTREMO · EJEMPLO: RETIRO EN &lt; 2 H</a:t>
            </a:r>
          </a:p>
        </p:txBody>
      </p:sp>
      <p:sp>
        <p:nvSpPr>
          <p:cNvPr id="13" name="Rounded Rectangle 12"/>
          <p:cNvSpPr/>
          <p:nvPr/>
        </p:nvSpPr>
        <p:spPr>
          <a:xfrm>
            <a:off x="9418320" y="868680"/>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Origen</a:t>
            </a:r>
          </a:p>
        </p:txBody>
      </p:sp>
      <p:sp>
        <p:nvSpPr>
          <p:cNvPr id="14" name="Rounded Rectangle 13"/>
          <p:cNvSpPr/>
          <p:nvPr/>
        </p:nvSpPr>
        <p:spPr>
          <a:xfrm>
            <a:off x="11932920" y="868680"/>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Retiro sanitario en &lt; 2 h</a:t>
            </a:r>
          </a:p>
        </p:txBody>
      </p:sp>
      <p:cxnSp>
        <p:nvCxnSpPr>
          <p:cNvPr id="15" name="Connector 14"/>
          <p:cNvCxnSpPr/>
          <p:nvPr/>
        </p:nvCxnSpPr>
        <p:spPr>
          <a:xfrm>
            <a:off x="10607040" y="1618488"/>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418320" y="1856232"/>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Requisito</a:t>
            </a:r>
          </a:p>
        </p:txBody>
      </p:sp>
      <p:sp>
        <p:nvSpPr>
          <p:cNvPr id="17" name="Rounded Rectangle 16"/>
          <p:cNvSpPr/>
          <p:nvPr/>
        </p:nvSpPr>
        <p:spPr>
          <a:xfrm>
            <a:off x="11932920" y="1856232"/>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RF-09.01 trazabilidad</a:t>
            </a:r>
          </a:p>
        </p:txBody>
      </p:sp>
      <p:cxnSp>
        <p:nvCxnSpPr>
          <p:cNvPr id="18" name="Connector 17"/>
          <p:cNvCxnSpPr/>
          <p:nvPr/>
        </p:nvCxnSpPr>
        <p:spPr>
          <a:xfrm>
            <a:off x="10607040" y="2606040"/>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418320" y="2843784"/>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Componente</a:t>
            </a:r>
          </a:p>
        </p:txBody>
      </p:sp>
      <p:sp>
        <p:nvSpPr>
          <p:cNvPr id="20" name="Rounded Rectangle 19"/>
          <p:cNvSpPr/>
          <p:nvPr/>
        </p:nvSpPr>
        <p:spPr>
          <a:xfrm>
            <a:off x="11932920" y="2843784"/>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M9 Calidad y trazabilidad</a:t>
            </a:r>
          </a:p>
        </p:txBody>
      </p:sp>
      <p:cxnSp>
        <p:nvCxnSpPr>
          <p:cNvPr id="21" name="Connector 20"/>
          <p:cNvCxnSpPr/>
          <p:nvPr/>
        </p:nvCxnSpPr>
        <p:spPr>
          <a:xfrm>
            <a:off x="10607040" y="3593592"/>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418320" y="3831336"/>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Paquete EDT</a:t>
            </a:r>
          </a:p>
        </p:txBody>
      </p:sp>
      <p:sp>
        <p:nvSpPr>
          <p:cNvPr id="23" name="Rounded Rectangle 22"/>
          <p:cNvSpPr/>
          <p:nvPr/>
        </p:nvSpPr>
        <p:spPr>
          <a:xfrm>
            <a:off x="11932920" y="3831336"/>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3.4.4 Cadena de frío y retiro</a:t>
            </a:r>
          </a:p>
        </p:txBody>
      </p:sp>
      <p:cxnSp>
        <p:nvCxnSpPr>
          <p:cNvPr id="24" name="Connector 23"/>
          <p:cNvCxnSpPr/>
          <p:nvPr/>
        </p:nvCxnSpPr>
        <p:spPr>
          <a:xfrm>
            <a:off x="10607040" y="4581144"/>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418320" y="4818888"/>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Prueba</a:t>
            </a:r>
          </a:p>
        </p:txBody>
      </p:sp>
      <p:sp>
        <p:nvSpPr>
          <p:cNvPr id="26" name="Rounded Rectangle 25"/>
          <p:cNvSpPr/>
          <p:nvPr/>
        </p:nvSpPr>
        <p:spPr>
          <a:xfrm>
            <a:off x="11932920" y="4818888"/>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Simulacro de retiro</a:t>
            </a:r>
          </a:p>
        </p:txBody>
      </p:sp>
      <p:cxnSp>
        <p:nvCxnSpPr>
          <p:cNvPr id="27" name="Connector 26"/>
          <p:cNvCxnSpPr/>
          <p:nvPr/>
        </p:nvCxnSpPr>
        <p:spPr>
          <a:xfrm>
            <a:off x="10607040" y="5568696"/>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418320" y="5806440"/>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Código</a:t>
            </a:r>
          </a:p>
        </p:txBody>
      </p:sp>
      <p:sp>
        <p:nvSpPr>
          <p:cNvPr id="29" name="Rounded Rectangle 28"/>
          <p:cNvSpPr/>
          <p:nvPr/>
        </p:nvSpPr>
        <p:spPr>
          <a:xfrm>
            <a:off x="11932920" y="5806440"/>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Fusión con el ID del requisito</a:t>
            </a:r>
          </a:p>
        </p:txBody>
      </p:sp>
      <p:cxnSp>
        <p:nvCxnSpPr>
          <p:cNvPr id="30" name="Connector 29"/>
          <p:cNvCxnSpPr/>
          <p:nvPr/>
        </p:nvCxnSpPr>
        <p:spPr>
          <a:xfrm>
            <a:off x="10607040" y="6556248"/>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18320" y="6793992"/>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Despliegue</a:t>
            </a:r>
          </a:p>
        </p:txBody>
      </p:sp>
      <p:sp>
        <p:nvSpPr>
          <p:cNvPr id="32" name="Rounded Rectangle 31"/>
          <p:cNvSpPr/>
          <p:nvPr/>
        </p:nvSpPr>
        <p:spPr>
          <a:xfrm>
            <a:off x="11932920" y="6793992"/>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Digest de la imagen firmada</a:t>
            </a:r>
          </a:p>
        </p:txBody>
      </p:sp>
      <p:cxnSp>
        <p:nvCxnSpPr>
          <p:cNvPr id="33" name="Connector 32"/>
          <p:cNvCxnSpPr/>
          <p:nvPr/>
        </p:nvCxnSpPr>
        <p:spPr>
          <a:xfrm>
            <a:off x="10607040" y="7543800"/>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418320" y="7781544"/>
            <a:ext cx="2377440" cy="749808"/>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Aceptación</a:t>
            </a:r>
          </a:p>
        </p:txBody>
      </p:sp>
      <p:sp>
        <p:nvSpPr>
          <p:cNvPr id="35" name="Rounded Rectangle 34"/>
          <p:cNvSpPr/>
          <p:nvPr/>
        </p:nvSpPr>
        <p:spPr>
          <a:xfrm>
            <a:off x="11932920" y="7781544"/>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Acta del H7</a:t>
            </a:r>
          </a:p>
        </p:txBody>
      </p:sp>
      <p:sp>
        <p:nvSpPr>
          <p:cNvPr id="36" name="TextBox 35"/>
          <p:cNvSpPr txBox="1"/>
          <p:nvPr/>
        </p:nvSpPr>
        <p:spPr>
          <a:xfrm>
            <a:off x="1435608" y="4572000"/>
            <a:ext cx="7589520" cy="320040"/>
          </a:xfrm>
          <a:prstGeom prst="rect">
            <a:avLst/>
          </a:prstGeom>
          <a:noFill/>
        </p:spPr>
        <p:txBody>
          <a:bodyPr wrap="square" lIns="0" rIns="0" tIns="0" bIns="0" anchor="t">
            <a:spAutoFit/>
          </a:bodyPr>
          <a:lstStyle/>
          <a:p>
            <a:pPr algn="l"/>
            <a:r>
              <a:rPr sz="1400" b="1">
                <a:solidFill>
                  <a:srgbClr val="E8641B"/>
                </a:solidFill>
                <a:latin typeface="Inter SemiBold"/>
              </a:rPr>
              <a:t>MEJORA CONTINUA · PDCA</a:t>
            </a:r>
          </a:p>
        </p:txBody>
      </p:sp>
      <p:sp>
        <p:nvSpPr>
          <p:cNvPr id="37" name="Rounded Rectangle 36"/>
          <p:cNvSpPr/>
          <p:nvPr/>
        </p:nvSpPr>
        <p:spPr>
          <a:xfrm>
            <a:off x="1435608" y="4937760"/>
            <a:ext cx="2011680" cy="960120"/>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Planificar</a:t>
            </a:r>
          </a:p>
          <a:p>
            <a:pPr algn="ctr"/>
            <a:r>
              <a:rPr sz="1400" b="0">
                <a:solidFill>
                  <a:srgbClr val="FFFFFF"/>
                </a:solidFill>
                <a:latin typeface="Inter"/>
              </a:rPr>
              <a:t>causa raíz y dueño</a:t>
            </a:r>
          </a:p>
        </p:txBody>
      </p:sp>
      <p:sp>
        <p:nvSpPr>
          <p:cNvPr id="38" name="Rounded Rectangle 37"/>
          <p:cNvSpPr/>
          <p:nvPr/>
        </p:nvSpPr>
        <p:spPr>
          <a:xfrm>
            <a:off x="3584448" y="4937760"/>
            <a:ext cx="2011680" cy="960120"/>
          </a:xfrm>
          <a:prstGeom prst="roundRect">
            <a:avLst>
              <a:gd name="adj" fmla="val 12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Hacer</a:t>
            </a:r>
          </a:p>
          <a:p>
            <a:pPr algn="ctr"/>
            <a:r>
              <a:rPr sz="1400" b="0">
                <a:solidFill>
                  <a:srgbClr val="FFFFFF"/>
                </a:solidFill>
                <a:latin typeface="Inter"/>
              </a:rPr>
              <a:t>corregir proceso</a:t>
            </a:r>
          </a:p>
        </p:txBody>
      </p:sp>
      <p:sp>
        <p:nvSpPr>
          <p:cNvPr id="39" name="Rounded Rectangle 38"/>
          <p:cNvSpPr/>
          <p:nvPr/>
        </p:nvSpPr>
        <p:spPr>
          <a:xfrm>
            <a:off x="1435608" y="6035040"/>
            <a:ext cx="2011680" cy="960120"/>
          </a:xfrm>
          <a:prstGeom prst="roundRect">
            <a:avLst>
              <a:gd name="adj" fmla="val 12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Actuar</a:t>
            </a:r>
          </a:p>
          <a:p>
            <a:pPr algn="ctr"/>
            <a:r>
              <a:rPr sz="1400" b="0">
                <a:solidFill>
                  <a:srgbClr val="FFFFFF"/>
                </a:solidFill>
                <a:latin typeface="Inter"/>
              </a:rPr>
              <a:t>cerrar o escalar</a:t>
            </a:r>
          </a:p>
        </p:txBody>
      </p:sp>
      <p:sp>
        <p:nvSpPr>
          <p:cNvPr id="40" name="Rounded Rectangle 39"/>
          <p:cNvSpPr/>
          <p:nvPr/>
        </p:nvSpPr>
        <p:spPr>
          <a:xfrm>
            <a:off x="3584448" y="6035040"/>
            <a:ext cx="2011680" cy="960120"/>
          </a:xfrm>
          <a:prstGeom prst="roundRect">
            <a:avLst>
              <a:gd name="adj" fmla="val 12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Verificar</a:t>
            </a:r>
          </a:p>
          <a:p>
            <a:pPr algn="ctr"/>
            <a:r>
              <a:rPr sz="1400" b="0">
                <a:solidFill>
                  <a:srgbClr val="FFFFFF"/>
                </a:solidFill>
                <a:latin typeface="Inter"/>
              </a:rPr>
              <a:t>mismo criterio</a:t>
            </a:r>
          </a:p>
        </p:txBody>
      </p:sp>
      <p:sp>
        <p:nvSpPr>
          <p:cNvPr id="41" name="TextBox 40"/>
          <p:cNvSpPr txBox="1"/>
          <p:nvPr/>
        </p:nvSpPr>
        <p:spPr>
          <a:xfrm>
            <a:off x="1435608" y="7086600"/>
            <a:ext cx="4206240" cy="731520"/>
          </a:xfrm>
          <a:prstGeom prst="rect">
            <a:avLst/>
          </a:prstGeom>
          <a:noFill/>
        </p:spPr>
        <p:txBody>
          <a:bodyPr wrap="square" lIns="0" rIns="0" tIns="0" bIns="0" anchor="t">
            <a:spAutoFit/>
          </a:bodyPr>
          <a:lstStyle/>
          <a:p>
            <a:pPr algn="l"/>
            <a:r>
              <a:rPr sz="1600" b="0">
                <a:solidFill>
                  <a:srgbClr val="606060"/>
                </a:solidFill>
                <a:latin typeface="Inter"/>
              </a:rPr>
              <a:t>Diagramas de control · Pareto · causa raíz</a:t>
            </a:r>
          </a:p>
        </p:txBody>
      </p:sp>
      <p:sp>
        <p:nvSpPr>
          <p:cNvPr id="42" name="TextBox 41"/>
          <p:cNvSpPr txBox="1"/>
          <p:nvPr/>
        </p:nvSpPr>
        <p:spPr>
          <a:xfrm>
            <a:off x="5943600" y="4572000"/>
            <a:ext cx="3108960" cy="320040"/>
          </a:xfrm>
          <a:prstGeom prst="rect">
            <a:avLst/>
          </a:prstGeom>
          <a:noFill/>
        </p:spPr>
        <p:txBody>
          <a:bodyPr wrap="square" lIns="0" rIns="0" tIns="0" bIns="0" anchor="t">
            <a:spAutoFit/>
          </a:bodyPr>
          <a:lstStyle/>
          <a:p>
            <a:pPr algn="l"/>
            <a:r>
              <a:rPr sz="1400" b="1">
                <a:solidFill>
                  <a:srgbClr val="E8641B"/>
                </a:solidFill>
                <a:latin typeface="Inter SemiBold"/>
              </a:rPr>
              <a:t>COSTO DE LA CALIDAD</a:t>
            </a:r>
          </a:p>
        </p:txBody>
      </p:sp>
      <p:sp>
        <p:nvSpPr>
          <p:cNvPr id="43" name="TextBox 42"/>
          <p:cNvSpPr txBox="1"/>
          <p:nvPr/>
        </p:nvSpPr>
        <p:spPr>
          <a:xfrm>
            <a:off x="5943600" y="4937760"/>
            <a:ext cx="3108960" cy="548640"/>
          </a:xfrm>
          <a:prstGeom prst="rect">
            <a:avLst/>
          </a:prstGeom>
          <a:noFill/>
        </p:spPr>
        <p:txBody>
          <a:bodyPr wrap="square" lIns="0" rIns="0" tIns="0" bIns="0" anchor="t">
            <a:spAutoFit/>
          </a:bodyPr>
          <a:lstStyle/>
          <a:p>
            <a:pPr algn="l"/>
            <a:r>
              <a:rPr sz="3000" b="1">
                <a:solidFill>
                  <a:srgbClr val="E8641B"/>
                </a:solidFill>
                <a:latin typeface="Inter SemiBold"/>
              </a:rPr>
              <a:t>11.136 HH</a:t>
            </a:r>
          </a:p>
        </p:txBody>
      </p:sp>
      <p:sp>
        <p:nvSpPr>
          <p:cNvPr id="44" name="TextBox 43"/>
          <p:cNvSpPr txBox="1"/>
          <p:nvPr/>
        </p:nvSpPr>
        <p:spPr>
          <a:xfrm>
            <a:off x="5943600" y="5532120"/>
            <a:ext cx="3108960" cy="365760"/>
          </a:xfrm>
          <a:prstGeom prst="rect">
            <a:avLst/>
          </a:prstGeom>
          <a:noFill/>
        </p:spPr>
        <p:txBody>
          <a:bodyPr wrap="square" lIns="0" rIns="0" tIns="0" bIns="0" anchor="t">
            <a:spAutoFit/>
          </a:bodyPr>
          <a:lstStyle/>
          <a:p>
            <a:pPr algn="l"/>
            <a:r>
              <a:rPr sz="1600" b="0">
                <a:solidFill>
                  <a:srgbClr val="606060"/>
                </a:solidFill>
                <a:latin typeface="Inter"/>
              </a:rPr>
              <a:t>5,1 % del total</a:t>
            </a:r>
          </a:p>
        </p:txBody>
      </p:sp>
      <p:sp>
        <p:nvSpPr>
          <p:cNvPr id="45" name="Rectangle 44"/>
          <p:cNvSpPr/>
          <p:nvPr/>
        </p:nvSpPr>
        <p:spPr>
          <a:xfrm>
            <a:off x="5943600" y="6035040"/>
            <a:ext cx="1108984" cy="45720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6" name="Rectangle 45"/>
          <p:cNvSpPr/>
          <p:nvPr/>
        </p:nvSpPr>
        <p:spPr>
          <a:xfrm>
            <a:off x="7052584" y="6035040"/>
            <a:ext cx="1817095" cy="4572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7" name="TextBox 46"/>
          <p:cNvSpPr txBox="1"/>
          <p:nvPr/>
        </p:nvSpPr>
        <p:spPr>
          <a:xfrm>
            <a:off x="5943600" y="6583680"/>
            <a:ext cx="3108960" cy="365760"/>
          </a:xfrm>
          <a:prstGeom prst="rect">
            <a:avLst/>
          </a:prstGeom>
          <a:noFill/>
        </p:spPr>
        <p:txBody>
          <a:bodyPr wrap="square" lIns="0" rIns="0" tIns="0" bIns="0" anchor="t">
            <a:spAutoFit/>
          </a:bodyPr>
          <a:lstStyle/>
          <a:p>
            <a:pPr algn="l"/>
            <a:r>
              <a:rPr sz="1500" b="0">
                <a:solidFill>
                  <a:srgbClr val="F29A5E"/>
                </a:solidFill>
                <a:latin typeface="Inter"/>
              </a:rPr>
              <a:t>■ </a:t>
            </a:r>
            <a:r>
              <a:rPr sz="1500" b="0">
                <a:solidFill>
                  <a:srgbClr val="3C3C3C"/>
                </a:solidFill>
                <a:latin typeface="Inter"/>
              </a:rPr>
              <a:t>Prevención 37,9 %</a:t>
            </a:r>
          </a:p>
        </p:txBody>
      </p:sp>
      <p:sp>
        <p:nvSpPr>
          <p:cNvPr id="48" name="TextBox 47"/>
          <p:cNvSpPr txBox="1"/>
          <p:nvPr/>
        </p:nvSpPr>
        <p:spPr>
          <a:xfrm>
            <a:off x="5943600" y="6949440"/>
            <a:ext cx="3108960" cy="365760"/>
          </a:xfrm>
          <a:prstGeom prst="rect">
            <a:avLst/>
          </a:prstGeom>
          <a:noFill/>
        </p:spPr>
        <p:txBody>
          <a:bodyPr wrap="square" lIns="0" rIns="0" tIns="0" bIns="0" anchor="t">
            <a:spAutoFit/>
          </a:bodyPr>
          <a:lstStyle/>
          <a:p>
            <a:pPr algn="l"/>
            <a:r>
              <a:rPr sz="1500" b="0">
                <a:solidFill>
                  <a:srgbClr val="111111"/>
                </a:solidFill>
                <a:latin typeface="Inter"/>
              </a:rPr>
              <a:t>■ </a:t>
            </a:r>
            <a:r>
              <a:rPr sz="1500" b="0">
                <a:solidFill>
                  <a:srgbClr val="3C3C3C"/>
                </a:solidFill>
                <a:latin typeface="Inter"/>
              </a:rPr>
              <a:t>Evaluación 62,1 %</a:t>
            </a:r>
          </a:p>
        </p:txBody>
      </p:sp>
      <p:sp>
        <p:nvSpPr>
          <p:cNvPr id="4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32</a:t>
            </a:r>
          </a:p>
        </p:txBody>
      </p:sp>
    </p:spTree>
  </p:cSld>
  <p:clrMapOvr>
    <a:masterClrMapping/>
  </p:clrMapOvr>
  <p:transition spd="med">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5318360"/>
            <a:ext cx="8326675" cy="2579594"/>
          </a:xfrm>
          <a:prstGeom prst="rect">
            <a:avLst/>
          </a:prstGeom>
        </p:spPr>
        <p:txBody>
          <a:bodyPr lIns="0" tIns="0" rIns="0" bIns="0" rtlCol="0" anchor="t">
            <a:spAutoFit/>
          </a:bodyPr>
          <a:lstStyle/>
          <a:p>
            <a:pPr algn="l">
              <a:lnSpc>
                <a:spcPts val="9625"/>
              </a:lnSpc>
            </a:pPr>
            <a:r>
              <a:rPr lang="en-US" sz="7333" b="1">
                <a:solidFill>
                  <a:srgbClr val="111111"/>
                </a:solidFill>
                <a:latin typeface="Inter SemiBold"/>
                <a:ea typeface="Inter SemiBold"/>
                <a:cs typeface="Inter SemiBold"/>
                <a:sym typeface="Inter SemiBold"/>
              </a:rPr>
              <a:t>5 innovaciones</a:t>
            </a:r>
          </a:p>
        </p:txBody>
      </p:sp>
      <p:sp>
        <p:nvSpPr>
          <p:cNvPr id="13" name="Freeform 13"/>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14" name="Freeform 14"/>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Freeform 15"/>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543274" y="8926358"/>
            <a:ext cx="157271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17" name="TextBox 16"/>
          <p:cNvSpPr txBox="1"/>
          <p:nvPr/>
        </p:nvSpPr>
        <p:spPr>
          <a:xfrm>
            <a:off x="1024128" y="6720840"/>
            <a:ext cx="8686800" cy="548640"/>
          </a:xfrm>
          <a:prstGeom prst="rect">
            <a:avLst/>
          </a:prstGeom>
          <a:noFill/>
        </p:spPr>
        <p:txBody>
          <a:bodyPr wrap="square" lIns="0" tIns="0" rIns="0" bIns="0" anchor="t">
            <a:spAutoFit/>
          </a:bodyPr>
          <a:lstStyle/>
          <a:p>
            <a:pPr algn="l"/>
            <a:r>
              <a:rPr sz="2200" b="0">
                <a:solidFill>
                  <a:srgbClr val="606060"/>
                </a:solidFill>
                <a:latin typeface="Inter"/>
              </a:rPr>
              <a:t>Sin hardware nuevo · TRL 2 → 4 → 6</a:t>
            </a:r>
          </a:p>
        </p:txBody>
      </p:sp>
      <p:sp>
        <p:nvSpPr>
          <p:cNvPr id="18" name="TextBox 17"/>
          <p:cNvSpPr txBox="1"/>
          <p:nvPr/>
        </p:nvSpPr>
        <p:spPr>
          <a:xfrm>
            <a:off x="10058400" y="868680"/>
            <a:ext cx="1280160" cy="822960"/>
          </a:xfrm>
          <a:prstGeom prst="rect">
            <a:avLst/>
          </a:prstGeom>
          <a:noFill/>
        </p:spPr>
        <p:txBody>
          <a:bodyPr wrap="square" lIns="0" tIns="0" rIns="0" bIns="0" anchor="t">
            <a:spAutoFit/>
          </a:bodyPr>
          <a:lstStyle/>
          <a:p>
            <a:pPr algn="l"/>
            <a:r>
              <a:rPr sz="4600" b="1">
                <a:solidFill>
                  <a:srgbClr val="E8641B"/>
                </a:solidFill>
                <a:latin typeface="Inter SemiBold"/>
              </a:rPr>
              <a:t>01</a:t>
            </a:r>
          </a:p>
        </p:txBody>
      </p:sp>
      <p:sp>
        <p:nvSpPr>
          <p:cNvPr id="19" name="TextBox 18"/>
          <p:cNvSpPr txBox="1"/>
          <p:nvPr/>
        </p:nvSpPr>
        <p:spPr>
          <a:xfrm>
            <a:off x="11430000" y="868680"/>
            <a:ext cx="6217920" cy="292608"/>
          </a:xfrm>
          <a:prstGeom prst="rect">
            <a:avLst/>
          </a:prstGeom>
          <a:noFill/>
        </p:spPr>
        <p:txBody>
          <a:bodyPr wrap="square" lIns="0" tIns="0" rIns="0" bIns="0" anchor="t">
            <a:spAutoFit/>
          </a:bodyPr>
          <a:lstStyle/>
          <a:p>
            <a:pPr algn="l"/>
            <a:r>
              <a:rPr sz="1400" b="1">
                <a:solidFill>
                  <a:srgbClr val="E8641B"/>
                </a:solidFill>
                <a:latin typeface="Inter SemiBold"/>
              </a:rPr>
              <a:t>PRODUCTO</a:t>
            </a:r>
          </a:p>
        </p:txBody>
      </p:sp>
      <p:sp>
        <p:nvSpPr>
          <p:cNvPr id="20" name="TextBox 19"/>
          <p:cNvSpPr txBox="1"/>
          <p:nvPr/>
        </p:nvSpPr>
        <p:spPr>
          <a:xfrm>
            <a:off x="11430000" y="1188719"/>
            <a:ext cx="6217920" cy="457200"/>
          </a:xfrm>
          <a:prstGeom prst="rect">
            <a:avLst/>
          </a:prstGeom>
          <a:noFill/>
        </p:spPr>
        <p:txBody>
          <a:bodyPr wrap="square" lIns="0" tIns="0" rIns="0" bIns="0" anchor="t">
            <a:spAutoFit/>
          </a:bodyPr>
          <a:lstStyle/>
          <a:p>
            <a:pPr algn="l"/>
            <a:r>
              <a:rPr sz="2200" b="1">
                <a:solidFill>
                  <a:srgbClr val="111111"/>
                </a:solidFill>
                <a:latin typeface="Inter SemiBold"/>
              </a:rPr>
              <a:t>Vencimiento posentrega</a:t>
            </a:r>
          </a:p>
        </p:txBody>
      </p:sp>
      <p:sp>
        <p:nvSpPr>
          <p:cNvPr id="21" name="TextBox 20"/>
          <p:cNvSpPr txBox="1"/>
          <p:nvPr/>
        </p:nvSpPr>
        <p:spPr>
          <a:xfrm>
            <a:off x="11430000" y="1691640"/>
            <a:ext cx="6217920" cy="411480"/>
          </a:xfrm>
          <a:prstGeom prst="rect">
            <a:avLst/>
          </a:prstGeom>
          <a:noFill/>
        </p:spPr>
        <p:txBody>
          <a:bodyPr wrap="square" lIns="0" tIns="0" rIns="0" bIns="0" anchor="t">
            <a:spAutoFit/>
          </a:bodyPr>
          <a:lstStyle/>
          <a:p>
            <a:pPr algn="l"/>
            <a:r>
              <a:rPr sz="1700" b="0">
                <a:solidFill>
                  <a:srgbClr val="606060"/>
                </a:solidFill>
                <a:latin typeface="Inter"/>
              </a:rPr>
              <a:t>Meta: −25 % de vencido</a:t>
            </a:r>
          </a:p>
        </p:txBody>
      </p:sp>
      <p:sp>
        <p:nvSpPr>
          <p:cNvPr id="22" name="TextBox 21"/>
          <p:cNvSpPr txBox="1"/>
          <p:nvPr/>
        </p:nvSpPr>
        <p:spPr>
          <a:xfrm>
            <a:off x="10058400" y="2468880"/>
            <a:ext cx="1280160" cy="822960"/>
          </a:xfrm>
          <a:prstGeom prst="rect">
            <a:avLst/>
          </a:prstGeom>
          <a:noFill/>
        </p:spPr>
        <p:txBody>
          <a:bodyPr wrap="square" lIns="0" tIns="0" rIns="0" bIns="0" anchor="t">
            <a:spAutoFit/>
          </a:bodyPr>
          <a:lstStyle/>
          <a:p>
            <a:pPr algn="l"/>
            <a:r>
              <a:rPr sz="4600" b="1">
                <a:solidFill>
                  <a:srgbClr val="E8641B"/>
                </a:solidFill>
                <a:latin typeface="Inter SemiBold"/>
              </a:rPr>
              <a:t>02</a:t>
            </a:r>
          </a:p>
        </p:txBody>
      </p:sp>
      <p:sp>
        <p:nvSpPr>
          <p:cNvPr id="23" name="TextBox 22"/>
          <p:cNvSpPr txBox="1"/>
          <p:nvPr/>
        </p:nvSpPr>
        <p:spPr>
          <a:xfrm>
            <a:off x="11430000" y="2468880"/>
            <a:ext cx="6217920" cy="292608"/>
          </a:xfrm>
          <a:prstGeom prst="rect">
            <a:avLst/>
          </a:prstGeom>
          <a:noFill/>
        </p:spPr>
        <p:txBody>
          <a:bodyPr wrap="square" lIns="0" tIns="0" rIns="0" bIns="0" anchor="t">
            <a:spAutoFit/>
          </a:bodyPr>
          <a:lstStyle/>
          <a:p>
            <a:pPr algn="l"/>
            <a:r>
              <a:rPr sz="1400" b="1">
                <a:solidFill>
                  <a:srgbClr val="E8641B"/>
                </a:solidFill>
                <a:latin typeface="Inter SemiBold"/>
              </a:rPr>
              <a:t>PROCESO</a:t>
            </a:r>
          </a:p>
        </p:txBody>
      </p:sp>
      <p:sp>
        <p:nvSpPr>
          <p:cNvPr id="24" name="TextBox 23"/>
          <p:cNvSpPr txBox="1"/>
          <p:nvPr/>
        </p:nvSpPr>
        <p:spPr>
          <a:xfrm>
            <a:off x="11430000" y="2788920"/>
            <a:ext cx="6217920" cy="457200"/>
          </a:xfrm>
          <a:prstGeom prst="rect">
            <a:avLst/>
          </a:prstGeom>
          <a:noFill/>
        </p:spPr>
        <p:txBody>
          <a:bodyPr wrap="square" lIns="0" tIns="0" rIns="0" bIns="0" anchor="t">
            <a:spAutoFit/>
          </a:bodyPr>
          <a:lstStyle/>
          <a:p>
            <a:pPr algn="l"/>
            <a:r>
              <a:rPr sz="2200" b="1">
                <a:solidFill>
                  <a:srgbClr val="111111"/>
                </a:solidFill>
                <a:latin typeface="Inter SemiBold"/>
              </a:rPr>
              <a:t>Reproducción de incidentes</a:t>
            </a:r>
          </a:p>
        </p:txBody>
      </p:sp>
      <p:sp>
        <p:nvSpPr>
          <p:cNvPr id="25" name="TextBox 24"/>
          <p:cNvSpPr txBox="1"/>
          <p:nvPr/>
        </p:nvSpPr>
        <p:spPr>
          <a:xfrm>
            <a:off x="11430000" y="3291840"/>
            <a:ext cx="6217920" cy="411480"/>
          </a:xfrm>
          <a:prstGeom prst="rect">
            <a:avLst/>
          </a:prstGeom>
          <a:noFill/>
        </p:spPr>
        <p:txBody>
          <a:bodyPr wrap="square" lIns="0" tIns="0" rIns="0" bIns="0" anchor="t">
            <a:spAutoFit/>
          </a:bodyPr>
          <a:lstStyle/>
          <a:p>
            <a:pPr algn="l"/>
            <a:r>
              <a:rPr sz="1700" b="0">
                <a:solidFill>
                  <a:srgbClr val="606060"/>
                </a:solidFill>
                <a:latin typeface="Inter"/>
              </a:rPr>
              <a:t>Meta: −30 % horas de diagnóstico</a:t>
            </a:r>
          </a:p>
        </p:txBody>
      </p:sp>
      <p:sp>
        <p:nvSpPr>
          <p:cNvPr id="26" name="TextBox 25"/>
          <p:cNvSpPr txBox="1"/>
          <p:nvPr/>
        </p:nvSpPr>
        <p:spPr>
          <a:xfrm>
            <a:off x="10058400" y="4069080"/>
            <a:ext cx="1280160" cy="822960"/>
          </a:xfrm>
          <a:prstGeom prst="rect">
            <a:avLst/>
          </a:prstGeom>
          <a:noFill/>
        </p:spPr>
        <p:txBody>
          <a:bodyPr wrap="square" lIns="0" tIns="0" rIns="0" bIns="0" anchor="t">
            <a:spAutoFit/>
          </a:bodyPr>
          <a:lstStyle/>
          <a:p>
            <a:pPr algn="l"/>
            <a:r>
              <a:rPr sz="4600" b="1">
                <a:solidFill>
                  <a:srgbClr val="E8641B"/>
                </a:solidFill>
                <a:latin typeface="Inter SemiBold"/>
              </a:rPr>
              <a:t>03</a:t>
            </a:r>
          </a:p>
        </p:txBody>
      </p:sp>
      <p:sp>
        <p:nvSpPr>
          <p:cNvPr id="27" name="TextBox 26"/>
          <p:cNvSpPr txBox="1"/>
          <p:nvPr/>
        </p:nvSpPr>
        <p:spPr>
          <a:xfrm>
            <a:off x="11430000" y="4069080"/>
            <a:ext cx="6217920" cy="292608"/>
          </a:xfrm>
          <a:prstGeom prst="rect">
            <a:avLst/>
          </a:prstGeom>
          <a:noFill/>
        </p:spPr>
        <p:txBody>
          <a:bodyPr wrap="square" lIns="0" tIns="0" rIns="0" bIns="0" anchor="t">
            <a:spAutoFit/>
          </a:bodyPr>
          <a:lstStyle/>
          <a:p>
            <a:pPr algn="l"/>
            <a:r>
              <a:rPr sz="1400" b="1">
                <a:solidFill>
                  <a:srgbClr val="E8641B"/>
                </a:solidFill>
                <a:latin typeface="Inter SemiBold"/>
              </a:rPr>
              <a:t>TECNOLÓGICA</a:t>
            </a:r>
          </a:p>
        </p:txBody>
      </p:sp>
      <p:sp>
        <p:nvSpPr>
          <p:cNvPr id="28" name="TextBox 27"/>
          <p:cNvSpPr txBox="1"/>
          <p:nvPr/>
        </p:nvSpPr>
        <p:spPr>
          <a:xfrm>
            <a:off x="11430000" y="4389120"/>
            <a:ext cx="6217920" cy="457200"/>
          </a:xfrm>
          <a:prstGeom prst="rect">
            <a:avLst/>
          </a:prstGeom>
          <a:noFill/>
        </p:spPr>
        <p:txBody>
          <a:bodyPr wrap="square" lIns="0" tIns="0" rIns="0" bIns="0" anchor="t">
            <a:spAutoFit/>
          </a:bodyPr>
          <a:lstStyle/>
          <a:p>
            <a:pPr algn="l"/>
            <a:r>
              <a:rPr sz="2200" b="1">
                <a:solidFill>
                  <a:srgbClr val="111111"/>
                </a:solidFill>
                <a:latin typeface="Inter SemiBold"/>
              </a:rPr>
              <a:t>Vida útil por historia térmica</a:t>
            </a:r>
          </a:p>
        </p:txBody>
      </p:sp>
      <p:sp>
        <p:nvSpPr>
          <p:cNvPr id="29" name="TextBox 28"/>
          <p:cNvSpPr txBox="1"/>
          <p:nvPr/>
        </p:nvSpPr>
        <p:spPr>
          <a:xfrm>
            <a:off x="11430000" y="4892040"/>
            <a:ext cx="6217920" cy="261610"/>
          </a:xfrm>
          <a:prstGeom prst="rect">
            <a:avLst/>
          </a:prstGeom>
          <a:noFill/>
        </p:spPr>
        <p:txBody>
          <a:bodyPr wrap="square" lIns="0" tIns="0" rIns="0" bIns="0" anchor="t">
            <a:spAutoFit/>
          </a:bodyPr>
          <a:lstStyle/>
          <a:p>
            <a:pPr algn="l"/>
            <a:r>
              <a:rPr sz="1700" b="0">
                <a:solidFill>
                  <a:srgbClr val="606060"/>
                </a:solidFill>
                <a:latin typeface="Inter"/>
              </a:rPr>
              <a:t>Meta: ±15 % en </a:t>
            </a:r>
            <a:r>
              <a:rPr lang="es-CL" sz="1700" b="0">
                <a:solidFill>
                  <a:srgbClr val="606060"/>
                </a:solidFill>
                <a:latin typeface="Inter"/>
              </a:rPr>
              <a:t>≥80 % de los lotes</a:t>
            </a:r>
            <a:endParaRPr sz="1700" b="0">
              <a:solidFill>
                <a:srgbClr val="606060"/>
              </a:solidFill>
              <a:latin typeface="Inter"/>
            </a:endParaRPr>
          </a:p>
        </p:txBody>
      </p:sp>
      <p:sp>
        <p:nvSpPr>
          <p:cNvPr id="30" name="TextBox 29"/>
          <p:cNvSpPr txBox="1"/>
          <p:nvPr/>
        </p:nvSpPr>
        <p:spPr>
          <a:xfrm>
            <a:off x="10058400" y="5669280"/>
            <a:ext cx="1280160" cy="822960"/>
          </a:xfrm>
          <a:prstGeom prst="rect">
            <a:avLst/>
          </a:prstGeom>
          <a:noFill/>
        </p:spPr>
        <p:txBody>
          <a:bodyPr wrap="square" lIns="0" tIns="0" rIns="0" bIns="0" anchor="t">
            <a:spAutoFit/>
          </a:bodyPr>
          <a:lstStyle/>
          <a:p>
            <a:pPr algn="l"/>
            <a:r>
              <a:rPr sz="4600" b="1">
                <a:solidFill>
                  <a:srgbClr val="E8641B"/>
                </a:solidFill>
                <a:latin typeface="Inter SemiBold"/>
              </a:rPr>
              <a:t>04</a:t>
            </a:r>
          </a:p>
        </p:txBody>
      </p:sp>
      <p:sp>
        <p:nvSpPr>
          <p:cNvPr id="31" name="TextBox 30"/>
          <p:cNvSpPr txBox="1"/>
          <p:nvPr/>
        </p:nvSpPr>
        <p:spPr>
          <a:xfrm>
            <a:off x="11430000" y="5669280"/>
            <a:ext cx="6217920" cy="292608"/>
          </a:xfrm>
          <a:prstGeom prst="rect">
            <a:avLst/>
          </a:prstGeom>
          <a:noFill/>
        </p:spPr>
        <p:txBody>
          <a:bodyPr wrap="square" lIns="0" tIns="0" rIns="0" bIns="0" anchor="t">
            <a:spAutoFit/>
          </a:bodyPr>
          <a:lstStyle/>
          <a:p>
            <a:pPr algn="l"/>
            <a:r>
              <a:rPr sz="1400" b="1">
                <a:solidFill>
                  <a:srgbClr val="E8641B"/>
                </a:solidFill>
                <a:latin typeface="Inter SemiBold"/>
              </a:rPr>
              <a:t>MODELO DE NEGOCIO</a:t>
            </a:r>
          </a:p>
        </p:txBody>
      </p:sp>
      <p:sp>
        <p:nvSpPr>
          <p:cNvPr id="32" name="TextBox 31"/>
          <p:cNvSpPr txBox="1"/>
          <p:nvPr/>
        </p:nvSpPr>
        <p:spPr>
          <a:xfrm>
            <a:off x="11430000" y="5989320"/>
            <a:ext cx="6217920" cy="457200"/>
          </a:xfrm>
          <a:prstGeom prst="rect">
            <a:avLst/>
          </a:prstGeom>
          <a:noFill/>
        </p:spPr>
        <p:txBody>
          <a:bodyPr wrap="square" lIns="0" tIns="0" rIns="0" bIns="0" anchor="t">
            <a:spAutoFit/>
          </a:bodyPr>
          <a:lstStyle/>
          <a:p>
            <a:pPr algn="l"/>
            <a:r>
              <a:rPr sz="2200" b="1">
                <a:solidFill>
                  <a:srgbClr val="111111"/>
                </a:solidFill>
                <a:latin typeface="Inter SemiBold"/>
              </a:rPr>
              <a:t>Pago ligado al costo de servir</a:t>
            </a:r>
          </a:p>
        </p:txBody>
      </p:sp>
      <p:sp>
        <p:nvSpPr>
          <p:cNvPr id="33" name="TextBox 32"/>
          <p:cNvSpPr txBox="1"/>
          <p:nvPr/>
        </p:nvSpPr>
        <p:spPr>
          <a:xfrm>
            <a:off x="11430000" y="6492240"/>
            <a:ext cx="6217920" cy="411480"/>
          </a:xfrm>
          <a:prstGeom prst="rect">
            <a:avLst/>
          </a:prstGeom>
          <a:noFill/>
        </p:spPr>
        <p:txBody>
          <a:bodyPr wrap="square" lIns="0" tIns="0" rIns="0" bIns="0" anchor="t">
            <a:spAutoFit/>
          </a:bodyPr>
          <a:lstStyle/>
          <a:p>
            <a:pPr algn="l"/>
            <a:r>
              <a:rPr sz="1700" b="0">
                <a:solidFill>
                  <a:srgbClr val="606060"/>
                </a:solidFill>
                <a:latin typeface="Inter"/>
              </a:rPr>
              <a:t>Meta: ≥5 % menos costo, OTIF ≥95 %</a:t>
            </a:r>
          </a:p>
        </p:txBody>
      </p:sp>
      <p:sp>
        <p:nvSpPr>
          <p:cNvPr id="34" name="TextBox 33"/>
          <p:cNvSpPr txBox="1"/>
          <p:nvPr/>
        </p:nvSpPr>
        <p:spPr>
          <a:xfrm>
            <a:off x="10058400" y="7269480"/>
            <a:ext cx="1280160" cy="822960"/>
          </a:xfrm>
          <a:prstGeom prst="rect">
            <a:avLst/>
          </a:prstGeom>
          <a:noFill/>
        </p:spPr>
        <p:txBody>
          <a:bodyPr wrap="square" lIns="0" tIns="0" rIns="0" bIns="0" anchor="t">
            <a:spAutoFit/>
          </a:bodyPr>
          <a:lstStyle/>
          <a:p>
            <a:pPr algn="l"/>
            <a:r>
              <a:rPr sz="4600" b="1">
                <a:solidFill>
                  <a:srgbClr val="E8641B"/>
                </a:solidFill>
                <a:latin typeface="Inter SemiBold"/>
              </a:rPr>
              <a:t>05</a:t>
            </a:r>
          </a:p>
        </p:txBody>
      </p:sp>
      <p:sp>
        <p:nvSpPr>
          <p:cNvPr id="35" name="TextBox 34"/>
          <p:cNvSpPr txBox="1"/>
          <p:nvPr/>
        </p:nvSpPr>
        <p:spPr>
          <a:xfrm>
            <a:off x="11430000" y="7269480"/>
            <a:ext cx="6217920" cy="292608"/>
          </a:xfrm>
          <a:prstGeom prst="rect">
            <a:avLst/>
          </a:prstGeom>
          <a:noFill/>
        </p:spPr>
        <p:txBody>
          <a:bodyPr wrap="square" lIns="0" tIns="0" rIns="0" bIns="0" anchor="t">
            <a:spAutoFit/>
          </a:bodyPr>
          <a:lstStyle/>
          <a:p>
            <a:pPr algn="l"/>
            <a:r>
              <a:rPr sz="1400" b="1">
                <a:solidFill>
                  <a:srgbClr val="E8641B"/>
                </a:solidFill>
                <a:latin typeface="Inter SemiBold"/>
              </a:rPr>
              <a:t>IMPACTO SOCIAL</a:t>
            </a:r>
          </a:p>
        </p:txBody>
      </p:sp>
      <p:sp>
        <p:nvSpPr>
          <p:cNvPr id="36" name="TextBox 35"/>
          <p:cNvSpPr txBox="1"/>
          <p:nvPr/>
        </p:nvSpPr>
        <p:spPr>
          <a:xfrm>
            <a:off x="11430000" y="7589520"/>
            <a:ext cx="6217920" cy="457200"/>
          </a:xfrm>
          <a:prstGeom prst="rect">
            <a:avLst/>
          </a:prstGeom>
          <a:noFill/>
        </p:spPr>
        <p:txBody>
          <a:bodyPr wrap="square" lIns="0" tIns="0" rIns="0" bIns="0" anchor="t">
            <a:spAutoFit/>
          </a:bodyPr>
          <a:lstStyle/>
          <a:p>
            <a:pPr algn="l"/>
            <a:r>
              <a:rPr sz="2200" b="1">
                <a:solidFill>
                  <a:srgbClr val="111111"/>
                </a:solidFill>
                <a:latin typeface="Inter SemiBold"/>
              </a:rPr>
              <a:t>Hoja del almacenero</a:t>
            </a:r>
          </a:p>
        </p:txBody>
      </p:sp>
      <p:sp>
        <p:nvSpPr>
          <p:cNvPr id="37" name="TextBox 36"/>
          <p:cNvSpPr txBox="1"/>
          <p:nvPr/>
        </p:nvSpPr>
        <p:spPr>
          <a:xfrm>
            <a:off x="11430000" y="8092440"/>
            <a:ext cx="6217920" cy="411480"/>
          </a:xfrm>
          <a:prstGeom prst="rect">
            <a:avLst/>
          </a:prstGeom>
          <a:noFill/>
        </p:spPr>
        <p:txBody>
          <a:bodyPr wrap="square" lIns="0" tIns="0" rIns="0" bIns="0" anchor="t">
            <a:spAutoFit/>
          </a:bodyPr>
          <a:lstStyle/>
          <a:p>
            <a:pPr algn="l"/>
            <a:r>
              <a:rPr sz="1700" b="0">
                <a:solidFill>
                  <a:srgbClr val="606060"/>
                </a:solidFill>
                <a:latin typeface="Inter"/>
              </a:rPr>
              <a:t>Sin internet: pantalla o impresa</a:t>
            </a:r>
          </a:p>
        </p:txBody>
      </p:sp>
      <p:sp>
        <p:nvSpPr>
          <p:cNvPr id="38"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33</a:t>
            </a:r>
          </a:p>
        </p:txBody>
      </p:sp>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1231420" y="4072951"/>
            <a:ext cx="7960220" cy="1632652"/>
          </a:xfrm>
          <a:prstGeom prst="rect">
            <a:avLst/>
          </a:prstGeom>
        </p:spPr>
        <p:txBody>
          <a:bodyPr lIns="0" tIns="0" rIns="0" bIns="0" rtlCol="0" anchor="t">
            <a:spAutoFit/>
          </a:bodyPr>
          <a:lstStyle/>
          <a:p>
            <a:pPr algn="l">
              <a:lnSpc>
                <a:spcPts val="11532"/>
              </a:lnSpc>
            </a:pPr>
            <a:r>
              <a:rPr lang="en-US" sz="8786" b="1">
                <a:solidFill>
                  <a:srgbClr val="111111"/>
                </a:solidFill>
                <a:latin typeface="Inter SemiBold"/>
                <a:ea typeface="Inter SemiBold"/>
                <a:cs typeface="Inter SemiBold"/>
                <a:sym typeface="Inter SemiBold"/>
              </a:rPr>
              <a:t>El Equipo</a:t>
            </a:r>
          </a:p>
        </p:txBody>
      </p:sp>
      <p:sp>
        <p:nvSpPr>
          <p:cNvPr id="25" name="Freeform 25"/>
          <p:cNvSpPr/>
          <p:nvPr/>
        </p:nvSpPr>
        <p:spPr>
          <a:xfrm flipH="1" flipV="1">
            <a:off x="2876576"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4"/>
                </a:ext>
              </a:extLst>
            </a:blip>
            <a:stretch>
              <a:fillRect/>
            </a:stretch>
          </a:blipFill>
        </p:spPr>
      </p:sp>
      <p:sp>
        <p:nvSpPr>
          <p:cNvPr id="26" name="Freeform 26"/>
          <p:cNvSpPr/>
          <p:nvPr/>
        </p:nvSpPr>
        <p:spPr>
          <a:xfrm flipH="1" flipV="1">
            <a:off x="-413735"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5"/>
                </a:ext>
              </a:extLst>
            </a:blip>
            <a:stretch>
              <a:fillRect/>
            </a:stretch>
          </a:blipFill>
        </p:spPr>
      </p:sp>
      <p:sp>
        <p:nvSpPr>
          <p:cNvPr id="27" name="Freeform 27"/>
          <p:cNvSpPr/>
          <p:nvPr/>
        </p:nvSpPr>
        <p:spPr>
          <a:xfrm rot="-1072477" flipV="1">
            <a:off x="118443" y="7662818"/>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6"/>
                </a:ext>
              </a:extLst>
            </a:blip>
            <a:stretch>
              <a:fillRect/>
            </a:stretch>
          </a:blipFill>
        </p:spPr>
      </p:sp>
      <p:sp>
        <p:nvSpPr>
          <p:cNvPr id="28" name="TextBox 27"/>
          <p:cNvSpPr txBox="1"/>
          <p:nvPr/>
        </p:nvSpPr>
        <p:spPr>
          <a:xfrm>
            <a:off x="1234440" y="5760720"/>
            <a:ext cx="7772400" cy="548640"/>
          </a:xfrm>
          <a:prstGeom prst="rect">
            <a:avLst/>
          </a:prstGeom>
          <a:noFill/>
        </p:spPr>
        <p:txBody>
          <a:bodyPr wrap="square" lIns="0" tIns="0" rIns="0" bIns="0" anchor="t">
            <a:spAutoFit/>
          </a:bodyPr>
          <a:lstStyle/>
          <a:p>
            <a:pPr algn="l"/>
            <a:r>
              <a:rPr sz="2800" b="1">
                <a:solidFill>
                  <a:srgbClr val="3C3C3C"/>
                </a:solidFill>
                <a:latin typeface="Inter SemiBold"/>
              </a:rPr>
              <a:t>8 personas · 10 roles</a:t>
            </a:r>
          </a:p>
        </p:txBody>
      </p:sp>
      <p:sp>
        <p:nvSpPr>
          <p:cNvPr id="29" name="TextBox 28"/>
          <p:cNvSpPr txBox="1"/>
          <p:nvPr/>
        </p:nvSpPr>
        <p:spPr>
          <a:xfrm>
            <a:off x="1234440" y="6400800"/>
            <a:ext cx="7772400" cy="457200"/>
          </a:xfrm>
          <a:prstGeom prst="rect">
            <a:avLst/>
          </a:prstGeom>
          <a:noFill/>
        </p:spPr>
        <p:txBody>
          <a:bodyPr wrap="square" lIns="0" tIns="0" rIns="0" bIns="0" anchor="t">
            <a:spAutoFit/>
          </a:bodyPr>
          <a:lstStyle/>
          <a:p>
            <a:pPr algn="l"/>
            <a:r>
              <a:rPr sz="2000" b="0">
                <a:solidFill>
                  <a:srgbClr val="606060"/>
                </a:solidFill>
                <a:latin typeface="Inter"/>
              </a:rPr>
              <a:t>7 líderes reportan al Jefe de Proyecto</a:t>
            </a:r>
          </a:p>
        </p:txBody>
      </p:sp>
      <p:sp>
        <p:nvSpPr>
          <p:cNvPr id="30" name="Rounded Rectangle 29"/>
          <p:cNvSpPr/>
          <p:nvPr/>
        </p:nvSpPr>
        <p:spPr>
          <a:xfrm>
            <a:off x="9509760" y="914400"/>
            <a:ext cx="7863840" cy="14630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1" name="Oval 30"/>
          <p:cNvSpPr/>
          <p:nvPr/>
        </p:nvSpPr>
        <p:spPr>
          <a:xfrm>
            <a:off x="9738360" y="1143000"/>
            <a:ext cx="1005840" cy="10058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200" b="1">
                <a:solidFill>
                  <a:srgbClr val="FFFFFF"/>
                </a:solidFill>
                <a:latin typeface="Inter SemiBold"/>
              </a:rPr>
              <a:t>AA</a:t>
            </a:r>
          </a:p>
        </p:txBody>
      </p:sp>
      <p:sp>
        <p:nvSpPr>
          <p:cNvPr id="32" name="TextBox 31"/>
          <p:cNvSpPr txBox="1"/>
          <p:nvPr/>
        </p:nvSpPr>
        <p:spPr>
          <a:xfrm>
            <a:off x="10972800" y="1143000"/>
            <a:ext cx="6217920" cy="502920"/>
          </a:xfrm>
          <a:prstGeom prst="rect">
            <a:avLst/>
          </a:prstGeom>
          <a:noFill/>
        </p:spPr>
        <p:txBody>
          <a:bodyPr wrap="square" lIns="0" tIns="0" rIns="0" bIns="0" anchor="t">
            <a:spAutoFit/>
          </a:bodyPr>
          <a:lstStyle/>
          <a:p>
            <a:pPr algn="l"/>
            <a:r>
              <a:rPr sz="2600" b="1">
                <a:solidFill>
                  <a:srgbClr val="FFFFFF"/>
                </a:solidFill>
                <a:latin typeface="Inter SemiBold"/>
              </a:rPr>
              <a:t>Alex Aravena</a:t>
            </a:r>
          </a:p>
        </p:txBody>
      </p:sp>
      <p:sp>
        <p:nvSpPr>
          <p:cNvPr id="33" name="TextBox 32"/>
          <p:cNvSpPr txBox="1"/>
          <p:nvPr/>
        </p:nvSpPr>
        <p:spPr>
          <a:xfrm>
            <a:off x="10972800" y="1691640"/>
            <a:ext cx="6217920" cy="457200"/>
          </a:xfrm>
          <a:prstGeom prst="rect">
            <a:avLst/>
          </a:prstGeom>
          <a:noFill/>
        </p:spPr>
        <p:txBody>
          <a:bodyPr wrap="square" lIns="0" tIns="0" rIns="0" bIns="0" anchor="t">
            <a:spAutoFit/>
          </a:bodyPr>
          <a:lstStyle/>
          <a:p>
            <a:pPr algn="l"/>
            <a:r>
              <a:rPr sz="1800" b="0">
                <a:solidFill>
                  <a:srgbClr val="C7C7C7"/>
                </a:solidFill>
                <a:latin typeface="Inter"/>
              </a:rPr>
              <a:t>Jefe de Proyecto</a:t>
            </a:r>
          </a:p>
        </p:txBody>
      </p:sp>
      <p:sp>
        <p:nvSpPr>
          <p:cNvPr id="34" name="Rounded Rectangle 33"/>
          <p:cNvSpPr/>
          <p:nvPr/>
        </p:nvSpPr>
        <p:spPr>
          <a:xfrm>
            <a:off x="9509760" y="2697480"/>
            <a:ext cx="3794760" cy="1325880"/>
          </a:xfrm>
          <a:prstGeom prst="roundRect">
            <a:avLst>
              <a:gd name="adj" fmla="val 10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5" name="Oval 34"/>
          <p:cNvSpPr/>
          <p:nvPr/>
        </p:nvSpPr>
        <p:spPr>
          <a:xfrm>
            <a:off x="9692640" y="2944368"/>
            <a:ext cx="822960" cy="82296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BT</a:t>
            </a:r>
          </a:p>
        </p:txBody>
      </p:sp>
      <p:sp>
        <p:nvSpPr>
          <p:cNvPr id="36" name="TextBox 35"/>
          <p:cNvSpPr txBox="1"/>
          <p:nvPr/>
        </p:nvSpPr>
        <p:spPr>
          <a:xfrm>
            <a:off x="10698480" y="2926080"/>
            <a:ext cx="2560320" cy="411480"/>
          </a:xfrm>
          <a:prstGeom prst="rect">
            <a:avLst/>
          </a:prstGeom>
          <a:noFill/>
        </p:spPr>
        <p:txBody>
          <a:bodyPr wrap="square" lIns="0" tIns="0" rIns="0" bIns="0" anchor="t">
            <a:spAutoFit/>
          </a:bodyPr>
          <a:lstStyle/>
          <a:p>
            <a:pPr algn="l"/>
            <a:r>
              <a:rPr sz="1800" b="1">
                <a:solidFill>
                  <a:srgbClr val="111111"/>
                </a:solidFill>
                <a:latin typeface="Inter SemiBold"/>
              </a:rPr>
              <a:t>Bastián Trejo</a:t>
            </a:r>
          </a:p>
        </p:txBody>
      </p:sp>
      <p:sp>
        <p:nvSpPr>
          <p:cNvPr id="37" name="TextBox 36"/>
          <p:cNvSpPr txBox="1"/>
          <p:nvPr/>
        </p:nvSpPr>
        <p:spPr>
          <a:xfrm>
            <a:off x="10698480" y="3383280"/>
            <a:ext cx="2560320" cy="548640"/>
          </a:xfrm>
          <a:prstGeom prst="rect">
            <a:avLst/>
          </a:prstGeom>
          <a:noFill/>
        </p:spPr>
        <p:txBody>
          <a:bodyPr wrap="square" lIns="0" tIns="0" rIns="0" bIns="0" anchor="t">
            <a:spAutoFit/>
          </a:bodyPr>
          <a:lstStyle/>
          <a:p>
            <a:pPr algn="l"/>
            <a:r>
              <a:rPr sz="1500" b="0">
                <a:solidFill>
                  <a:srgbClr val="606060"/>
                </a:solidFill>
                <a:latin typeface="Inter"/>
              </a:rPr>
              <a:t>Arquitectura e Integración</a:t>
            </a:r>
          </a:p>
        </p:txBody>
      </p:sp>
      <p:sp>
        <p:nvSpPr>
          <p:cNvPr id="38" name="Rounded Rectangle 37"/>
          <p:cNvSpPr/>
          <p:nvPr/>
        </p:nvSpPr>
        <p:spPr>
          <a:xfrm>
            <a:off x="13578840" y="2697480"/>
            <a:ext cx="3794760" cy="1325880"/>
          </a:xfrm>
          <a:prstGeom prst="roundRect">
            <a:avLst>
              <a:gd name="adj" fmla="val 10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39" name="Oval 38"/>
          <p:cNvSpPr/>
          <p:nvPr/>
        </p:nvSpPr>
        <p:spPr>
          <a:xfrm>
            <a:off x="13761720" y="2944368"/>
            <a:ext cx="822960" cy="82296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ÁC</a:t>
            </a:r>
          </a:p>
        </p:txBody>
      </p:sp>
      <p:sp>
        <p:nvSpPr>
          <p:cNvPr id="40" name="TextBox 39"/>
          <p:cNvSpPr txBox="1"/>
          <p:nvPr/>
        </p:nvSpPr>
        <p:spPr>
          <a:xfrm>
            <a:off x="14767560" y="2926080"/>
            <a:ext cx="2560320" cy="411480"/>
          </a:xfrm>
          <a:prstGeom prst="rect">
            <a:avLst/>
          </a:prstGeom>
          <a:noFill/>
        </p:spPr>
        <p:txBody>
          <a:bodyPr wrap="square" lIns="0" tIns="0" rIns="0" bIns="0" anchor="t">
            <a:spAutoFit/>
          </a:bodyPr>
          <a:lstStyle/>
          <a:p>
            <a:pPr algn="l"/>
            <a:r>
              <a:rPr sz="1800" b="1">
                <a:solidFill>
                  <a:srgbClr val="111111"/>
                </a:solidFill>
                <a:latin typeface="Inter SemiBold"/>
              </a:rPr>
              <a:t>Álvaro Catalán</a:t>
            </a:r>
          </a:p>
        </p:txBody>
      </p:sp>
      <p:sp>
        <p:nvSpPr>
          <p:cNvPr id="41" name="TextBox 40"/>
          <p:cNvSpPr txBox="1"/>
          <p:nvPr/>
        </p:nvSpPr>
        <p:spPr>
          <a:xfrm>
            <a:off x="14767560" y="3383280"/>
            <a:ext cx="2560320" cy="548640"/>
          </a:xfrm>
          <a:prstGeom prst="rect">
            <a:avLst/>
          </a:prstGeom>
          <a:noFill/>
        </p:spPr>
        <p:txBody>
          <a:bodyPr wrap="square" lIns="0" tIns="0" rIns="0" bIns="0" anchor="t">
            <a:spAutoFit/>
          </a:bodyPr>
          <a:lstStyle/>
          <a:p>
            <a:pPr algn="l"/>
            <a:r>
              <a:rPr sz="1500" b="0">
                <a:solidFill>
                  <a:srgbClr val="606060"/>
                </a:solidFill>
                <a:latin typeface="Inter"/>
              </a:rPr>
              <a:t>Seguridad</a:t>
            </a:r>
          </a:p>
        </p:txBody>
      </p:sp>
      <p:sp>
        <p:nvSpPr>
          <p:cNvPr id="42" name="Rounded Rectangle 41"/>
          <p:cNvSpPr/>
          <p:nvPr/>
        </p:nvSpPr>
        <p:spPr>
          <a:xfrm>
            <a:off x="9509760" y="4251960"/>
            <a:ext cx="3794760" cy="1325880"/>
          </a:xfrm>
          <a:prstGeom prst="roundRect">
            <a:avLst>
              <a:gd name="adj" fmla="val 10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43" name="Oval 42"/>
          <p:cNvSpPr/>
          <p:nvPr/>
        </p:nvSpPr>
        <p:spPr>
          <a:xfrm>
            <a:off x="9692640" y="4498848"/>
            <a:ext cx="822960" cy="82296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LC</a:t>
            </a:r>
          </a:p>
        </p:txBody>
      </p:sp>
      <p:sp>
        <p:nvSpPr>
          <p:cNvPr id="44" name="TextBox 43"/>
          <p:cNvSpPr txBox="1"/>
          <p:nvPr/>
        </p:nvSpPr>
        <p:spPr>
          <a:xfrm>
            <a:off x="10698480" y="4480560"/>
            <a:ext cx="2560320" cy="411480"/>
          </a:xfrm>
          <a:prstGeom prst="rect">
            <a:avLst/>
          </a:prstGeom>
          <a:noFill/>
        </p:spPr>
        <p:txBody>
          <a:bodyPr wrap="square" lIns="0" tIns="0" rIns="0" bIns="0" anchor="t">
            <a:spAutoFit/>
          </a:bodyPr>
          <a:lstStyle/>
          <a:p>
            <a:pPr algn="l"/>
            <a:r>
              <a:rPr sz="1800" b="1">
                <a:solidFill>
                  <a:srgbClr val="111111"/>
                </a:solidFill>
                <a:latin typeface="Inter SemiBold"/>
              </a:rPr>
              <a:t>Leandro Chamorro</a:t>
            </a:r>
          </a:p>
        </p:txBody>
      </p:sp>
      <p:sp>
        <p:nvSpPr>
          <p:cNvPr id="45" name="TextBox 44"/>
          <p:cNvSpPr txBox="1"/>
          <p:nvPr/>
        </p:nvSpPr>
        <p:spPr>
          <a:xfrm>
            <a:off x="10698480" y="4937760"/>
            <a:ext cx="2560320" cy="548640"/>
          </a:xfrm>
          <a:prstGeom prst="rect">
            <a:avLst/>
          </a:prstGeom>
          <a:noFill/>
        </p:spPr>
        <p:txBody>
          <a:bodyPr wrap="square" lIns="0" tIns="0" rIns="0" bIns="0" anchor="t">
            <a:spAutoFit/>
          </a:bodyPr>
          <a:lstStyle/>
          <a:p>
            <a:pPr algn="l"/>
            <a:r>
              <a:rPr sz="1500" b="0">
                <a:solidFill>
                  <a:srgbClr val="606060"/>
                </a:solidFill>
                <a:latin typeface="Inter"/>
              </a:rPr>
              <a:t>Datos</a:t>
            </a:r>
          </a:p>
        </p:txBody>
      </p:sp>
      <p:sp>
        <p:nvSpPr>
          <p:cNvPr id="46" name="Rounded Rectangle 45"/>
          <p:cNvSpPr/>
          <p:nvPr/>
        </p:nvSpPr>
        <p:spPr>
          <a:xfrm>
            <a:off x="13578840" y="4251960"/>
            <a:ext cx="3794760" cy="1325880"/>
          </a:xfrm>
          <a:prstGeom prst="roundRect">
            <a:avLst>
              <a:gd name="adj" fmla="val 10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47" name="Oval 46"/>
          <p:cNvSpPr/>
          <p:nvPr/>
        </p:nvSpPr>
        <p:spPr>
          <a:xfrm>
            <a:off x="13761720" y="4498848"/>
            <a:ext cx="822960" cy="82296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TP</a:t>
            </a:r>
          </a:p>
        </p:txBody>
      </p:sp>
      <p:sp>
        <p:nvSpPr>
          <p:cNvPr id="48" name="TextBox 47"/>
          <p:cNvSpPr txBox="1"/>
          <p:nvPr/>
        </p:nvSpPr>
        <p:spPr>
          <a:xfrm>
            <a:off x="14767560" y="4480560"/>
            <a:ext cx="2560320" cy="411480"/>
          </a:xfrm>
          <a:prstGeom prst="rect">
            <a:avLst/>
          </a:prstGeom>
          <a:noFill/>
        </p:spPr>
        <p:txBody>
          <a:bodyPr wrap="square" lIns="0" tIns="0" rIns="0" bIns="0" anchor="t">
            <a:spAutoFit/>
          </a:bodyPr>
          <a:lstStyle/>
          <a:p>
            <a:pPr algn="l"/>
            <a:r>
              <a:rPr sz="1800" b="1">
                <a:solidFill>
                  <a:srgbClr val="111111"/>
                </a:solidFill>
                <a:latin typeface="Inter SemiBold"/>
              </a:rPr>
              <a:t>Tomás Pérez</a:t>
            </a:r>
          </a:p>
        </p:txBody>
      </p:sp>
      <p:sp>
        <p:nvSpPr>
          <p:cNvPr id="49" name="TextBox 48"/>
          <p:cNvSpPr txBox="1"/>
          <p:nvPr/>
        </p:nvSpPr>
        <p:spPr>
          <a:xfrm>
            <a:off x="14767560" y="4937760"/>
            <a:ext cx="2560320" cy="548640"/>
          </a:xfrm>
          <a:prstGeom prst="rect">
            <a:avLst/>
          </a:prstGeom>
          <a:noFill/>
        </p:spPr>
        <p:txBody>
          <a:bodyPr wrap="square" lIns="0" tIns="0" rIns="0" bIns="0" anchor="t">
            <a:spAutoFit/>
          </a:bodyPr>
          <a:lstStyle/>
          <a:p>
            <a:pPr algn="l"/>
            <a:r>
              <a:rPr sz="1500" b="0">
                <a:solidFill>
                  <a:srgbClr val="606060"/>
                </a:solidFill>
                <a:latin typeface="Inter"/>
              </a:rPr>
              <a:t>Desarrollo</a:t>
            </a:r>
          </a:p>
        </p:txBody>
      </p:sp>
      <p:sp>
        <p:nvSpPr>
          <p:cNvPr id="50" name="Rounded Rectangle 49"/>
          <p:cNvSpPr/>
          <p:nvPr/>
        </p:nvSpPr>
        <p:spPr>
          <a:xfrm>
            <a:off x="9509760" y="5806440"/>
            <a:ext cx="3794760" cy="1325880"/>
          </a:xfrm>
          <a:prstGeom prst="roundRect">
            <a:avLst>
              <a:gd name="adj" fmla="val 10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1" name="Oval 50"/>
          <p:cNvSpPr/>
          <p:nvPr/>
        </p:nvSpPr>
        <p:spPr>
          <a:xfrm>
            <a:off x="9692640" y="6053327"/>
            <a:ext cx="822960" cy="82296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MM</a:t>
            </a:r>
          </a:p>
        </p:txBody>
      </p:sp>
      <p:sp>
        <p:nvSpPr>
          <p:cNvPr id="52" name="TextBox 51"/>
          <p:cNvSpPr txBox="1"/>
          <p:nvPr/>
        </p:nvSpPr>
        <p:spPr>
          <a:xfrm>
            <a:off x="10698480" y="6035040"/>
            <a:ext cx="2560320" cy="411480"/>
          </a:xfrm>
          <a:prstGeom prst="rect">
            <a:avLst/>
          </a:prstGeom>
          <a:noFill/>
        </p:spPr>
        <p:txBody>
          <a:bodyPr wrap="square" lIns="0" tIns="0" rIns="0" bIns="0" anchor="t">
            <a:spAutoFit/>
          </a:bodyPr>
          <a:lstStyle/>
          <a:p>
            <a:pPr algn="l"/>
            <a:r>
              <a:rPr sz="1800" b="1">
                <a:solidFill>
                  <a:srgbClr val="111111"/>
                </a:solidFill>
                <a:latin typeface="Inter SemiBold"/>
              </a:rPr>
              <a:t>Maximiliano Miño</a:t>
            </a:r>
          </a:p>
        </p:txBody>
      </p:sp>
      <p:sp>
        <p:nvSpPr>
          <p:cNvPr id="53" name="TextBox 52"/>
          <p:cNvSpPr txBox="1"/>
          <p:nvPr/>
        </p:nvSpPr>
        <p:spPr>
          <a:xfrm>
            <a:off x="10698480" y="6492240"/>
            <a:ext cx="2560320" cy="548640"/>
          </a:xfrm>
          <a:prstGeom prst="rect">
            <a:avLst/>
          </a:prstGeom>
          <a:noFill/>
        </p:spPr>
        <p:txBody>
          <a:bodyPr wrap="square" lIns="0" tIns="0" rIns="0" bIns="0" anchor="t">
            <a:spAutoFit/>
          </a:bodyPr>
          <a:lstStyle/>
          <a:p>
            <a:pPr algn="l"/>
            <a:r>
              <a:rPr sz="1500" b="0">
                <a:solidFill>
                  <a:srgbClr val="606060"/>
                </a:solidFill>
                <a:latin typeface="Inter"/>
              </a:rPr>
              <a:t>Calidad y Pruebas</a:t>
            </a:r>
          </a:p>
        </p:txBody>
      </p:sp>
      <p:sp>
        <p:nvSpPr>
          <p:cNvPr id="54" name="Rounded Rectangle 53"/>
          <p:cNvSpPr/>
          <p:nvPr/>
        </p:nvSpPr>
        <p:spPr>
          <a:xfrm>
            <a:off x="13578840" y="5806440"/>
            <a:ext cx="3794760" cy="1325880"/>
          </a:xfrm>
          <a:prstGeom prst="roundRect">
            <a:avLst>
              <a:gd name="adj" fmla="val 10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5" name="Oval 54"/>
          <p:cNvSpPr/>
          <p:nvPr/>
        </p:nvSpPr>
        <p:spPr>
          <a:xfrm>
            <a:off x="13761720" y="6053327"/>
            <a:ext cx="822960" cy="82296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GC</a:t>
            </a:r>
          </a:p>
        </p:txBody>
      </p:sp>
      <p:sp>
        <p:nvSpPr>
          <p:cNvPr id="56" name="TextBox 55"/>
          <p:cNvSpPr txBox="1"/>
          <p:nvPr/>
        </p:nvSpPr>
        <p:spPr>
          <a:xfrm>
            <a:off x="14767560" y="6035040"/>
            <a:ext cx="2560320" cy="411480"/>
          </a:xfrm>
          <a:prstGeom prst="rect">
            <a:avLst/>
          </a:prstGeom>
          <a:noFill/>
        </p:spPr>
        <p:txBody>
          <a:bodyPr wrap="square" lIns="0" tIns="0" rIns="0" bIns="0" anchor="t">
            <a:spAutoFit/>
          </a:bodyPr>
          <a:lstStyle/>
          <a:p>
            <a:pPr algn="l"/>
            <a:r>
              <a:rPr sz="1800" b="1">
                <a:solidFill>
                  <a:srgbClr val="111111"/>
                </a:solidFill>
                <a:latin typeface="Inter SemiBold"/>
              </a:rPr>
              <a:t>Guillermo Castillo</a:t>
            </a:r>
          </a:p>
        </p:txBody>
      </p:sp>
      <p:sp>
        <p:nvSpPr>
          <p:cNvPr id="57" name="TextBox 56"/>
          <p:cNvSpPr txBox="1"/>
          <p:nvPr/>
        </p:nvSpPr>
        <p:spPr>
          <a:xfrm>
            <a:off x="14767560" y="6492240"/>
            <a:ext cx="2560320" cy="548640"/>
          </a:xfrm>
          <a:prstGeom prst="rect">
            <a:avLst/>
          </a:prstGeom>
          <a:noFill/>
        </p:spPr>
        <p:txBody>
          <a:bodyPr wrap="square" lIns="0" tIns="0" rIns="0" bIns="0" anchor="t">
            <a:spAutoFit/>
          </a:bodyPr>
          <a:lstStyle/>
          <a:p>
            <a:pPr algn="l"/>
            <a:r>
              <a:rPr sz="1500" b="0">
                <a:solidFill>
                  <a:srgbClr val="606060"/>
                </a:solidFill>
                <a:latin typeface="Inter"/>
              </a:rPr>
              <a:t>Operación / SRE</a:t>
            </a:r>
          </a:p>
        </p:txBody>
      </p:sp>
      <p:sp>
        <p:nvSpPr>
          <p:cNvPr id="58" name="Rounded Rectangle 57"/>
          <p:cNvSpPr/>
          <p:nvPr/>
        </p:nvSpPr>
        <p:spPr>
          <a:xfrm>
            <a:off x="9509760" y="7360920"/>
            <a:ext cx="3794760" cy="1325880"/>
          </a:xfrm>
          <a:prstGeom prst="roundRect">
            <a:avLst>
              <a:gd name="adj" fmla="val 10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59" name="Oval 58"/>
          <p:cNvSpPr/>
          <p:nvPr/>
        </p:nvSpPr>
        <p:spPr>
          <a:xfrm>
            <a:off x="9692640" y="7607808"/>
            <a:ext cx="822960" cy="82296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700" b="1">
                <a:solidFill>
                  <a:srgbClr val="FFFFFF"/>
                </a:solidFill>
                <a:latin typeface="Inter SemiBold"/>
              </a:rPr>
              <a:t>PH</a:t>
            </a:r>
          </a:p>
        </p:txBody>
      </p:sp>
      <p:sp>
        <p:nvSpPr>
          <p:cNvPr id="60" name="TextBox 59"/>
          <p:cNvSpPr txBox="1"/>
          <p:nvPr/>
        </p:nvSpPr>
        <p:spPr>
          <a:xfrm>
            <a:off x="10698480" y="7589520"/>
            <a:ext cx="2560320" cy="411480"/>
          </a:xfrm>
          <a:prstGeom prst="rect">
            <a:avLst/>
          </a:prstGeom>
          <a:noFill/>
        </p:spPr>
        <p:txBody>
          <a:bodyPr wrap="square" lIns="0" tIns="0" rIns="0" bIns="0" anchor="t">
            <a:spAutoFit/>
          </a:bodyPr>
          <a:lstStyle/>
          <a:p>
            <a:pPr algn="l"/>
            <a:r>
              <a:rPr sz="1800" b="1">
                <a:solidFill>
                  <a:srgbClr val="111111"/>
                </a:solidFill>
                <a:latin typeface="Inter SemiBold"/>
              </a:rPr>
              <a:t>Patricio Henríquez</a:t>
            </a:r>
          </a:p>
        </p:txBody>
      </p:sp>
      <p:sp>
        <p:nvSpPr>
          <p:cNvPr id="61" name="TextBox 60"/>
          <p:cNvSpPr txBox="1"/>
          <p:nvPr/>
        </p:nvSpPr>
        <p:spPr>
          <a:xfrm>
            <a:off x="10698480" y="8046720"/>
            <a:ext cx="2560320" cy="548640"/>
          </a:xfrm>
          <a:prstGeom prst="rect">
            <a:avLst/>
          </a:prstGeom>
          <a:noFill/>
        </p:spPr>
        <p:txBody>
          <a:bodyPr wrap="square" lIns="0" tIns="0" rIns="0" bIns="0" anchor="t">
            <a:spAutoFit/>
          </a:bodyPr>
          <a:lstStyle/>
          <a:p>
            <a:pPr algn="l"/>
            <a:r>
              <a:rPr sz="1500" b="0">
                <a:solidFill>
                  <a:srgbClr val="606060"/>
                </a:solidFill>
                <a:latin typeface="Inter"/>
              </a:rPr>
              <a:t>Funcional e Implantación</a:t>
            </a:r>
          </a:p>
        </p:txBody>
      </p:sp>
      <p:sp>
        <p:nvSpPr>
          <p:cNvPr id="62" name="Rounded Rectangle 61"/>
          <p:cNvSpPr/>
          <p:nvPr/>
        </p:nvSpPr>
        <p:spPr>
          <a:xfrm>
            <a:off x="13578840" y="7360920"/>
            <a:ext cx="3794760" cy="13258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a:p>
        </p:txBody>
      </p:sp>
      <p:sp>
        <p:nvSpPr>
          <p:cNvPr id="63" name="TextBox 62"/>
          <p:cNvSpPr txBox="1"/>
          <p:nvPr/>
        </p:nvSpPr>
        <p:spPr>
          <a:xfrm>
            <a:off x="13761720" y="7360920"/>
            <a:ext cx="1097280" cy="1325880"/>
          </a:xfrm>
          <a:prstGeom prst="rect">
            <a:avLst/>
          </a:prstGeom>
          <a:noFill/>
        </p:spPr>
        <p:txBody>
          <a:bodyPr wrap="square" lIns="0" tIns="0" rIns="0" bIns="0" anchor="ctr">
            <a:spAutoFit/>
          </a:bodyPr>
          <a:lstStyle/>
          <a:p>
            <a:pPr algn="l"/>
            <a:r>
              <a:rPr sz="3400" b="1">
                <a:solidFill>
                  <a:srgbClr val="E8641B"/>
                </a:solidFill>
                <a:latin typeface="Inter SemiBold"/>
              </a:rPr>
              <a:t>69</a:t>
            </a:r>
          </a:p>
        </p:txBody>
      </p:sp>
      <p:sp>
        <p:nvSpPr>
          <p:cNvPr id="64" name="TextBox 63"/>
          <p:cNvSpPr txBox="1"/>
          <p:nvPr/>
        </p:nvSpPr>
        <p:spPr>
          <a:xfrm>
            <a:off x="14859000" y="7777639"/>
            <a:ext cx="2468880" cy="492443"/>
          </a:xfrm>
          <a:prstGeom prst="rect">
            <a:avLst/>
          </a:prstGeom>
          <a:noFill/>
        </p:spPr>
        <p:txBody>
          <a:bodyPr wrap="square" lIns="0" tIns="0" rIns="0" bIns="0" anchor="ctr">
            <a:spAutoFit/>
          </a:bodyPr>
          <a:lstStyle/>
          <a:p>
            <a:pPr algn="l"/>
            <a:r>
              <a:rPr lang="es-MX" sz="1600" b="0">
                <a:solidFill>
                  <a:srgbClr val="3C3C3C"/>
                </a:solidFill>
                <a:latin typeface="Inter"/>
              </a:rPr>
              <a:t>personas equivalentes en el peak (mes 15)</a:t>
            </a:r>
            <a:endParaRPr sz="1600" b="0">
              <a:solidFill>
                <a:srgbClr val="3C3C3C"/>
              </a:solidFill>
              <a:latin typeface="Inter"/>
            </a:endParaRPr>
          </a:p>
        </p:txBody>
      </p:sp>
      <p:sp>
        <p:nvSpPr>
          <p:cNvPr id="6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34</a:t>
            </a: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3"/>
            <a:stretch>
              <a:fillRect b="-18444"/>
            </a:stretch>
          </a:blipFill>
        </p:spPr>
        <p:txBody>
          <a:bodyPr/>
          <a:lstStyle/>
          <a:p>
            <a:endParaRPr/>
          </a:p>
        </p:txBody>
      </p:sp>
      <p:sp>
        <p:nvSpPr>
          <p:cNvPr id="5" name="Freeform 5"/>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6" name="Freeform 6"/>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5" name="Freeform 15"/>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6" name="Freeform 16"/>
          <p:cNvSpPr/>
          <p:nvPr/>
        </p:nvSpPr>
        <p:spPr>
          <a:xfrm flipV="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7" name="Freeform 17"/>
          <p:cNvSpPr/>
          <p:nvPr/>
        </p:nvSpPr>
        <p:spPr>
          <a:xfrm flipV="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8" name="Freeform 18"/>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9" name="!!brand"/>
          <p:cNvSpPr txBox="1"/>
          <p:nvPr/>
        </p:nvSpPr>
        <p:spPr>
          <a:xfrm>
            <a:off x="7123055" y="987552"/>
            <a:ext cx="4041891" cy="339725"/>
          </a:xfrm>
          <a:prstGeom prst="rect">
            <a:avLst/>
          </a:prstGeom>
        </p:spPr>
        <p:txBody>
          <a:bodyPr lIns="0" tIns="0" rIns="0" bIns="0" rtlCol="0" anchor="t">
            <a:spAutoFit/>
          </a:bodyPr>
          <a:lstStyle/>
          <a:p>
            <a:pPr algn="ctr">
              <a:lnSpc>
                <a:spcPts val="2799"/>
              </a:lnSpc>
            </a:pPr>
            <a:r>
              <a:rPr lang="en-US" sz="1999" b="1">
                <a:solidFill>
                  <a:srgbClr val="FFFFFF"/>
                </a:solidFill>
                <a:latin typeface="Inter SemiBold"/>
                <a:ea typeface="Inter SemiBold"/>
                <a:cs typeface="Inter SemiBold"/>
                <a:sym typeface="Inter SemiBold"/>
              </a:rPr>
              <a:t>LafroX SpA</a:t>
            </a:r>
          </a:p>
        </p:txBody>
      </p:sp>
      <p:pic>
        <p:nvPicPr>
          <p:cNvPr id="21" name="!!logo" descr="Isotipo LafroX"/>
          <p:cNvPicPr>
            <a:picLocks noChangeAspect="1"/>
          </p:cNvPicPr>
          <p:nvPr/>
        </p:nvPicPr>
        <p:blipFill>
          <a:blip r:embed="rId7"/>
          <a:stretch>
            <a:fillRect/>
          </a:stretch>
        </p:blipFill>
        <p:spPr>
          <a:xfrm>
            <a:off x="8814816" y="228600"/>
            <a:ext cx="658508" cy="676656"/>
          </a:xfrm>
          <a:prstGeom prst="rect">
            <a:avLst/>
          </a:prstGeom>
        </p:spPr>
      </p:pic>
      <p:sp>
        <p:nvSpPr>
          <p:cNvPr id="22" name="!!reloj"/>
          <p:cNvSpPr txBox="1"/>
          <p:nvPr/>
        </p:nvSpPr>
        <p:spPr>
          <a:xfrm>
            <a:off x="1828800" y="2377440"/>
            <a:ext cx="14630400" cy="3566160"/>
          </a:xfrm>
          <a:prstGeom prst="rect">
            <a:avLst/>
          </a:prstGeom>
          <a:noFill/>
        </p:spPr>
        <p:txBody>
          <a:bodyPr wrap="square" lIns="0" tIns="0" rIns="0" bIns="0" anchor="ctr">
            <a:spAutoFit/>
          </a:bodyPr>
          <a:lstStyle/>
          <a:p>
            <a:pPr algn="ctr"/>
            <a:r>
              <a:rPr sz="23000" b="1">
                <a:solidFill>
                  <a:srgbClr val="FFFFFF"/>
                </a:solidFill>
                <a:latin typeface="Inter SemiBold"/>
              </a:rPr>
              <a:t>9 días</a:t>
            </a:r>
          </a:p>
        </p:txBody>
      </p:sp>
      <p:sp>
        <p:nvSpPr>
          <p:cNvPr id="23"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FFFFFF"/>
                </a:solidFill>
                <a:latin typeface="Inter SemiBold"/>
              </a:rPr>
              <a:t>35</a:t>
            </a:r>
          </a:p>
        </p:txBody>
      </p:sp>
    </p:spTree>
  </p:cSld>
  <p:clrMapOvr>
    <a:masterClrMapping/>
  </p:clrMapOvr>
  <p:transition spd="med" advTm="1500">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3"/>
            <a:stretch>
              <a:fillRect b="-18444"/>
            </a:stretch>
          </a:blipFill>
        </p:spPr>
        <p:txBody>
          <a:bodyPr/>
          <a:lstStyle/>
          <a:p>
            <a:endParaRPr/>
          </a:p>
        </p:txBody>
      </p:sp>
      <p:sp>
        <p:nvSpPr>
          <p:cNvPr id="5" name="Freeform 5"/>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6" name="Freeform 6"/>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7" name="Freeform 7"/>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8" name="TextBox 8"/>
          <p:cNvSpPr txBox="1"/>
          <p:nvPr/>
        </p:nvSpPr>
        <p:spPr>
          <a:xfrm>
            <a:off x="5747919" y="6690083"/>
            <a:ext cx="2794872" cy="293057"/>
          </a:xfrm>
          <a:prstGeom prst="rect">
            <a:avLst/>
          </a:prstGeom>
        </p:spPr>
        <p:txBody>
          <a:bodyPr lIns="0" tIns="0" rIns="0" bIns="0" rtlCol="0" anchor="t">
            <a:spAutoFit/>
          </a:bodyPr>
          <a:lstStyle/>
          <a:p>
            <a:pPr marL="0" lvl="0" indent="0" algn="l">
              <a:lnSpc>
                <a:spcPts val="2470"/>
              </a:lnSpc>
              <a:spcBef>
                <a:spcPct val="0"/>
              </a:spcBef>
            </a:pPr>
            <a:r>
              <a:rPr lang="en-US" sz="1764" spc="-61">
                <a:solidFill>
                  <a:srgbClr val="FFFFFF"/>
                </a:solidFill>
                <a:latin typeface="Inter"/>
                <a:ea typeface="Inter"/>
                <a:cs typeface="Inter"/>
                <a:sym typeface="Inter"/>
              </a:rPr>
              <a:t>contacto@lafrox.cl</a:t>
            </a:r>
          </a:p>
        </p:txBody>
      </p:sp>
      <p:sp>
        <p:nvSpPr>
          <p:cNvPr id="9" name="Freeform 9"/>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6"/>
                </a:ext>
              </a:extLst>
            </a:blip>
            <a:stretch>
              <a:fillRect t="-800" b="-800"/>
            </a:stretch>
          </a:blipFill>
        </p:spPr>
        <p:txBody>
          <a:bodyPr/>
          <a:lstStyle/>
          <a:p>
            <a:endParaRPr/>
          </a:p>
        </p:txBody>
      </p:sp>
      <p:sp>
        <p:nvSpPr>
          <p:cNvPr id="10" name="Freeform 10"/>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a:p>
        </p:txBody>
      </p:sp>
      <p:sp>
        <p:nvSpPr>
          <p:cNvPr id="11" name="TextBox 11"/>
          <p:cNvSpPr txBox="1"/>
          <p:nvPr/>
        </p:nvSpPr>
        <p:spPr>
          <a:xfrm>
            <a:off x="5747919" y="7268144"/>
            <a:ext cx="2794872" cy="293057"/>
          </a:xfrm>
          <a:prstGeom prst="rect">
            <a:avLst/>
          </a:prstGeom>
        </p:spPr>
        <p:txBody>
          <a:bodyPr lIns="0" tIns="0" rIns="0" bIns="0" rtlCol="0" anchor="t">
            <a:spAutoFit/>
          </a:bodyPr>
          <a:lstStyle/>
          <a:p>
            <a:pPr marL="0" lvl="0" indent="0" algn="l">
              <a:lnSpc>
                <a:spcPts val="2470"/>
              </a:lnSpc>
              <a:spcBef>
                <a:spcPct val="0"/>
              </a:spcBef>
            </a:pPr>
            <a:r>
              <a:rPr lang="en-US" sz="1764" spc="-61">
                <a:solidFill>
                  <a:srgbClr val="FFFFFF"/>
                </a:solidFill>
                <a:latin typeface="Inter"/>
                <a:ea typeface="Inter"/>
                <a:cs typeface="Inter"/>
                <a:sym typeface="Inter"/>
              </a:rPr>
              <a:t>Av. Brasil 2241, Valparaíso</a:t>
            </a:r>
          </a:p>
        </p:txBody>
      </p:sp>
      <p:sp>
        <p:nvSpPr>
          <p:cNvPr id="12" name="TextBox 12"/>
          <p:cNvSpPr txBox="1"/>
          <p:nvPr/>
        </p:nvSpPr>
        <p:spPr>
          <a:xfrm>
            <a:off x="10736647" y="7329375"/>
            <a:ext cx="2823062" cy="300147"/>
          </a:xfrm>
          <a:prstGeom prst="rect">
            <a:avLst/>
          </a:prstGeom>
        </p:spPr>
        <p:txBody>
          <a:bodyPr lIns="0" tIns="0" rIns="0" bIns="0" rtlCol="0" anchor="t">
            <a:spAutoFit/>
          </a:bodyPr>
          <a:lstStyle/>
          <a:p>
            <a:pPr marL="0" lvl="0" indent="0" algn="l">
              <a:lnSpc>
                <a:spcPts val="2470"/>
              </a:lnSpc>
              <a:spcBef>
                <a:spcPct val="0"/>
              </a:spcBef>
            </a:pPr>
            <a:r>
              <a:rPr lang="en-US" sz="1764" u="none" spc="-61">
                <a:solidFill>
                  <a:srgbClr val="FFFFFF"/>
                </a:solidFill>
                <a:latin typeface="Inter"/>
                <a:ea typeface="Inter"/>
                <a:cs typeface="Inter"/>
                <a:sym typeface="Inter"/>
              </a:rPr>
              <a:t>lafrox.github.io</a:t>
            </a:r>
          </a:p>
        </p:txBody>
      </p:sp>
      <p:sp>
        <p:nvSpPr>
          <p:cNvPr id="13" name="Freeform 13"/>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a:p>
        </p:txBody>
      </p:sp>
      <p:sp>
        <p:nvSpPr>
          <p:cNvPr id="14" name="TextBox 14"/>
          <p:cNvSpPr txBox="1"/>
          <p:nvPr/>
        </p:nvSpPr>
        <p:spPr>
          <a:xfrm>
            <a:off x="10758453" y="6734346"/>
            <a:ext cx="2801256" cy="293057"/>
          </a:xfrm>
          <a:prstGeom prst="rect">
            <a:avLst/>
          </a:prstGeom>
        </p:spPr>
        <p:txBody>
          <a:bodyPr lIns="0" tIns="0" rIns="0" bIns="0" rtlCol="0" anchor="t">
            <a:spAutoFit/>
          </a:bodyPr>
          <a:lstStyle/>
          <a:p>
            <a:pPr marL="0" lvl="0" indent="0" algn="l">
              <a:lnSpc>
                <a:spcPts val="2470"/>
              </a:lnSpc>
              <a:spcBef>
                <a:spcPct val="0"/>
              </a:spcBef>
            </a:pPr>
            <a:r>
              <a:rPr lang="en-US" sz="1764" u="none" spc="-61">
                <a:solidFill>
                  <a:srgbClr val="FFFFFF"/>
                </a:solidFill>
                <a:latin typeface="Inter"/>
                <a:ea typeface="Inter"/>
                <a:cs typeface="Inter"/>
                <a:sym typeface="Inter"/>
              </a:rPr>
              <a:t>+56 32 250 4100</a:t>
            </a:r>
          </a:p>
        </p:txBody>
      </p:sp>
      <p:sp>
        <p:nvSpPr>
          <p:cNvPr id="15" name="Freeform 15"/>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a:p>
        </p:txBody>
      </p:sp>
      <p:sp>
        <p:nvSpPr>
          <p:cNvPr id="16" name="Freeform 16"/>
          <p:cNvSpPr/>
          <p:nvPr/>
        </p:nvSpPr>
        <p:spPr>
          <a:xfrm flipV="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a:p>
        </p:txBody>
      </p:sp>
      <p:sp>
        <p:nvSpPr>
          <p:cNvPr id="17" name="Freeform 17"/>
          <p:cNvSpPr/>
          <p:nvPr/>
        </p:nvSpPr>
        <p:spPr>
          <a:xfrm flipV="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a:p>
        </p:txBody>
      </p:sp>
      <p:sp>
        <p:nvSpPr>
          <p:cNvPr id="18" name="Freeform 18"/>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a:p>
        </p:txBody>
      </p:sp>
      <p:sp>
        <p:nvSpPr>
          <p:cNvPr id="19" name="!!brand"/>
          <p:cNvSpPr txBox="1"/>
          <p:nvPr/>
        </p:nvSpPr>
        <p:spPr>
          <a:xfrm>
            <a:off x="7123055" y="987552"/>
            <a:ext cx="4041891" cy="339725"/>
          </a:xfrm>
          <a:prstGeom prst="rect">
            <a:avLst/>
          </a:prstGeom>
        </p:spPr>
        <p:txBody>
          <a:bodyPr lIns="0" tIns="0" rIns="0" bIns="0" rtlCol="0" anchor="t">
            <a:spAutoFit/>
          </a:bodyPr>
          <a:lstStyle/>
          <a:p>
            <a:pPr algn="ctr">
              <a:lnSpc>
                <a:spcPts val="2799"/>
              </a:lnSpc>
            </a:pPr>
            <a:r>
              <a:rPr lang="en-US" sz="1999" b="1">
                <a:solidFill>
                  <a:srgbClr val="FFFFFF"/>
                </a:solidFill>
                <a:latin typeface="Inter SemiBold"/>
                <a:ea typeface="Inter SemiBold"/>
                <a:cs typeface="Inter SemiBold"/>
                <a:sym typeface="Inter SemiBold"/>
              </a:rPr>
              <a:t>LafroX SpA</a:t>
            </a:r>
          </a:p>
        </p:txBody>
      </p:sp>
      <p:sp>
        <p:nvSpPr>
          <p:cNvPr id="20" name="TextBox 20"/>
          <p:cNvSpPr txBox="1"/>
          <p:nvPr/>
        </p:nvSpPr>
        <p:spPr>
          <a:xfrm>
            <a:off x="2743200" y="8850630"/>
            <a:ext cx="12801600" cy="407670"/>
          </a:xfrm>
          <a:prstGeom prst="rect">
            <a:avLst/>
          </a:prstGeom>
        </p:spPr>
        <p:txBody>
          <a:bodyPr lIns="0" tIns="0" rIns="0" bIns="0" rtlCol="0" anchor="t">
            <a:spAutoFit/>
          </a:bodyPr>
          <a:lstStyle/>
          <a:p>
            <a:pPr algn="ctr">
              <a:lnSpc>
                <a:spcPts val="1679"/>
              </a:lnSpc>
            </a:pPr>
            <a:r>
              <a:rPr lang="en-US" sz="1600">
                <a:solidFill>
                  <a:srgbClr val="FFFFFF"/>
                </a:solidFill>
                <a:latin typeface="Inter"/>
                <a:ea typeface="Inter"/>
                <a:cs typeface="Inter"/>
                <a:sym typeface="Inter"/>
              </a:rPr>
              <a:t>Sistema Integral de Gestión Logística Puelche · LafroX SpA</a:t>
            </a:r>
          </a:p>
        </p:txBody>
      </p:sp>
      <p:pic>
        <p:nvPicPr>
          <p:cNvPr id="21" name="!!logo" descr="Isotipo LafroX"/>
          <p:cNvPicPr>
            <a:picLocks noChangeAspect="1"/>
          </p:cNvPicPr>
          <p:nvPr/>
        </p:nvPicPr>
        <p:blipFill>
          <a:blip r:embed="rId11"/>
          <a:stretch>
            <a:fillRect/>
          </a:stretch>
        </p:blipFill>
        <p:spPr>
          <a:xfrm>
            <a:off x="8814816" y="228600"/>
            <a:ext cx="658508" cy="676656"/>
          </a:xfrm>
          <a:prstGeom prst="rect">
            <a:avLst/>
          </a:prstGeom>
        </p:spPr>
      </p:pic>
      <p:sp>
        <p:nvSpPr>
          <p:cNvPr id="22" name="!!pre"/>
          <p:cNvSpPr txBox="1"/>
          <p:nvPr/>
        </p:nvSpPr>
        <p:spPr>
          <a:xfrm>
            <a:off x="1828800" y="1600200"/>
            <a:ext cx="14630400" cy="1005840"/>
          </a:xfrm>
          <a:prstGeom prst="rect">
            <a:avLst/>
          </a:prstGeom>
          <a:noFill/>
        </p:spPr>
        <p:txBody>
          <a:bodyPr wrap="square" lIns="0" tIns="0" rIns="0" bIns="0" anchor="t">
            <a:spAutoFit/>
          </a:bodyPr>
          <a:lstStyle/>
          <a:p>
            <a:pPr algn="ctr"/>
            <a:r>
              <a:rPr sz="6000" b="0">
                <a:solidFill>
                  <a:srgbClr val="FFFFFF"/>
                </a:solidFill>
                <a:latin typeface="Inter Light"/>
              </a:rPr>
              <a:t>De 9 días a</a:t>
            </a:r>
          </a:p>
        </p:txBody>
      </p:sp>
      <p:sp>
        <p:nvSpPr>
          <p:cNvPr id="23" name="!!reloj"/>
          <p:cNvSpPr txBox="1"/>
          <p:nvPr/>
        </p:nvSpPr>
        <p:spPr>
          <a:xfrm>
            <a:off x="1828800" y="2514600"/>
            <a:ext cx="14630400" cy="3017520"/>
          </a:xfrm>
          <a:prstGeom prst="rect">
            <a:avLst/>
          </a:prstGeom>
          <a:noFill/>
        </p:spPr>
        <p:txBody>
          <a:bodyPr wrap="square" lIns="0" tIns="0" rIns="0" bIns="0" anchor="ctr">
            <a:spAutoFit/>
          </a:bodyPr>
          <a:lstStyle/>
          <a:p>
            <a:pPr algn="ctr"/>
            <a:r>
              <a:rPr sz="19000" b="1">
                <a:solidFill>
                  <a:srgbClr val="E8641B"/>
                </a:solidFill>
                <a:latin typeface="Inter SemiBold"/>
              </a:rPr>
              <a:t>&lt; 2 horas</a:t>
            </a:r>
          </a:p>
        </p:txBody>
      </p:sp>
      <p:sp>
        <p:nvSpPr>
          <p:cNvPr id="24" name="TextBox 23"/>
          <p:cNvSpPr txBox="1"/>
          <p:nvPr/>
        </p:nvSpPr>
        <p:spPr>
          <a:xfrm>
            <a:off x="1828800" y="5669280"/>
            <a:ext cx="14630400" cy="548640"/>
          </a:xfrm>
          <a:prstGeom prst="rect">
            <a:avLst/>
          </a:prstGeom>
          <a:noFill/>
        </p:spPr>
        <p:txBody>
          <a:bodyPr wrap="square" lIns="0" tIns="0" rIns="0" bIns="0" anchor="t">
            <a:spAutoFit/>
          </a:bodyPr>
          <a:lstStyle/>
          <a:p>
            <a:pPr algn="ctr"/>
            <a:r>
              <a:rPr sz="2400" b="0">
                <a:solidFill>
                  <a:srgbClr val="FFFFFF"/>
                </a:solidFill>
                <a:latin typeface="Inter Light"/>
              </a:rPr>
              <a:t>para identificar a los clientes afectados</a:t>
            </a:r>
          </a:p>
        </p:txBody>
      </p:sp>
      <p:sp>
        <p:nvSpPr>
          <p:cNvPr id="2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FFFFFF"/>
                </a:solidFill>
                <a:latin typeface="Inter SemiBold"/>
              </a:rPr>
              <a:t>35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theme/theme1.xml><?xml version="1.0" encoding="utf-8"?>
<a:theme xmlns:a="http://schemas.openxmlformats.org/drawingml/2006/main" name="Office Theme">
  <a:themeElements>
    <a:clrScheme name="LafroX">
      <a:dk1>
        <a:srgbClr val="111111"/>
      </a:dk1>
      <a:lt1>
        <a:sysClr val="window" lastClr="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LafroX">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5380</Words>
  <Application>Microsoft Office PowerPoint</Application>
  <PresentationFormat>Personalizado</PresentationFormat>
  <Paragraphs>1121</Paragraphs>
  <Slides>35</Slides>
  <Notes>35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35</vt:i4>
      </vt:variant>
    </vt:vector>
  </HeadingPairs>
  <TitlesOfParts>
    <vt:vector size="40" baseType="lpstr">
      <vt:lpstr>Inter Light</vt:lpstr>
      <vt:lpstr>Inter</vt:lpstr>
      <vt:lpstr>Inter SemiBold</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LafroX - Plantilla de Presentación</dc:title>
  <cp:lastModifiedBy>Alex Aravena</cp:lastModifiedBy>
  <cp:revision>5</cp:revision>
  <dcterms:created xsi:type="dcterms:W3CDTF">2006-08-16T00:00:00Z</dcterms:created>
  <dcterms:modified xsi:type="dcterms:W3CDTF">2026-10-19T23:44:38Z</dcterms:modified>
  <dc:identifier>DAHYeykrAKU</dc:identifier>
</cp:coreProperties>
</file>