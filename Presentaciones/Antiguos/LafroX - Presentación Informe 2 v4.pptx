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65" r:id="rId3"/>
    <p:sldId id="257" r:id="rId4"/>
    <p:sldId id="262" r:id="rId5"/>
    <p:sldId id="260" r:id="rId6"/>
    <p:sldId id="258" r:id="rId7"/>
    <p:sldId id="288" r:id="rId8"/>
    <p:sldId id="263" r:id="rId9"/>
    <p:sldId id="289" r:id="rId10"/>
    <p:sldId id="290" r:id="rId11"/>
    <p:sldId id="25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61" r:id="rId33"/>
    <p:sldId id="264" r:id="rId34"/>
    <p:sldId id="286" r:id="rId35"/>
    <p:sldId id="287" r:id="rId3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sz="1800" b="1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4640.8599999999997</c:v>
                </c:pt>
                <c:pt idx="8">
                  <c:v>3151.92</c:v>
                </c:pt>
                <c:pt idx="9">
                  <c:v>2060.5700000000002</c:v>
                </c:pt>
                <c:pt idx="10">
                  <c:v>1676.35</c:v>
                </c:pt>
                <c:pt idx="11">
                  <c:v>1299.1400000000001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548.57000000000005</c:v>
                </c:pt>
                <c:pt idx="13">
                  <c:v>571.42999999999995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59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días. Somos LafroX SpA y presentamos nuestra Propuesta Técnica para la Licitación TFEP-01/2026 de Distribuidora Puelche: el Sistema Integral de Gestión Logística Puelche.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problemas que parecen distintos: habilitación sanitaria comprometida </a:t>
            </a:r>
            <a:r>
              <a:rPr lang="es-MX"/>
              <a:t>(41 % de recepciones sin lote en el producto del retiro)</a:t>
            </a:r>
            <a:r>
              <a:t>, servicio que pierde competitividad (OTIF 82,4 %, 4,2 % de reentregas) y un costo de servir calculado con un prorrateo de 2016 ($4,2 M/mes en diferencias de rendición). La misma causa: el dato no se registra donde ocurre. (SD2)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números con que nos van a medir: OTIF de 82,4 % a sobre 95 %; reentregas de 4,2 % a menos de 1 %; </a:t>
            </a:r>
            <a:r>
              <a:rPr lang="es-MX"/>
              <a:t>ninguna recepción sin lote en los productos que lo requieren</a:t>
            </a:r>
            <a:r>
              <a:t>; merma de 1,7 % a 1 %; rendición cuadrada el mismo día; y el retiro, de nueve días a menos de dos horas. (SD2, Tabla 2.1)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Ya resolvimos este problema a mayor escala: LogiNacional opera 420 camiones y 22.000 entregas diarias; Puelche, 96 camiones y unas 1.400. Somos 124 especialistas, con NOC 24×7 y </a:t>
            </a:r>
            <a:r>
              <a:rPr lang="es-MX"/>
              <a:t>certificaciones ISO 9001, 27001 y 20000-1, y evaluación CMMI-DEV nivel 3. (SD1 y Formulario T-6)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Dos etapas. La Etapa 1 captura el dato donde nace —preventa, recepción con lote, bodega FEFO, rutas, frío, entrega y efectivo— y entra a producción en el mes 16. La Etapa 2 lo explota —portal, canal moderno EDI y costo de servir— en el mes 21. El ERP sigue siendo el emisor tributario. (SD3)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/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mapa del sistema: siete interfaces, doce módulos agrupados por frente </a:t>
            </a:r>
            <a:r>
              <a:rPr lang="es-MX"/>
              <a:t>y los tres sistemas externos: ERP, Transbank y geolocalización; las cadenas se integran por EDI en la Etapa 2.</a:t>
            </a:r>
            <a:r>
              <a:t>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/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/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Arquitectura híbrida: núcleo en AWS São Paulo (2 zonas) con recuperación en Virginia; cómputo local en cada CD y cross-docking. Sin enlace, la bodega opera 24 h y la preventa y el reparto 14 h sin señal; al volver todo se reconcilia sin duplicados (UUID). </a:t>
            </a:r>
            <a:r>
              <a:rPr lang="es-MX"/>
              <a:t>En los CD, tres caminos: fibra, LTE y Starlink; en los cross-docking, Starlink con respaldo LTE.</a:t>
            </a:r>
            <a:r>
              <a:t> RTO 4 h, RPO 15 min. Monolito modular en Laravel para que el equipo de TI de Puelche (4 personas) lo sostenga. (SD4, 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dato tiene una sola fuente que puede escribirlo. El lote se sigue de punta a punta con EPCIS 2.0: recepción, lote con historia térmica, unidad, ruta y entrega con evidencia. La decisión sanitaria la toma Calidad. </a:t>
            </a:r>
            <a:r>
              <a:rPr lang="es-MX"/>
              <a:t>Migramos unos 16 GB de origen (32 GB estimados en destino) con cero diferencias sin explicar</a:t>
            </a:r>
            <a:r>
              <a:t>, en la ventana 22:00–06:00. (SD5)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Elaboración: arquitectura, seguridad, diseño de la sala técnica, validación, continuidad y experiencia de usuario. </a:t>
            </a:r>
            <a:r>
              <a:rPr lang="es-MX"/>
              <a:t>Cierra con el H2 en el mes 4 y, en la Etapa 2, con el H8 en el mes 14.</a:t>
            </a:r>
            <a:r>
              <a:t>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Capacitación y gestión del cambio: capacitación por rol, </a:t>
            </a:r>
            <a:r>
              <a:rPr lang="es-MX"/>
              <a:t>gestión del cambio con las cadenas y los transportistas</a:t>
            </a:r>
            <a:r>
              <a:t>, y certificación de usuarios.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Dos niveles: tres bloques contractuales —Etapa 1, Etapa 2 y Operación, solapados en los meses 13–15 y 19–20— y ocho frentes con un responsable nominado cada uno. (T-14 Tabla 7.52, T-15 Tabla 7.1)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(Transición automática.)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Gantt mes a mes. En gris, los congelamientos de septiembre y diciembre: no se despliega nada. Migración en los meses 7 a 12; la Etapa 1 entra en tres olas y pasa a producción en el H7 (mes 16), la Etapa 2 en el H12 (mes 21); cada paso tiene su reversión. Abajo, los riesgos principales en su mes estimado: se concentran en el mes 11. (T-14, T-15, T-18, SD8 Anexo 8.B)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esfuerzo sube con la construcción de la Etapa 1, baja hacia la certificación y vuelve a subir cuando se solapan la marcha blanca E1 y el desarrollo E2: máximo de 8.106 HH en el mes 15, </a:t>
            </a:r>
            <a:r>
              <a:rPr lang="es-CL"/>
              <a:t>con 69 personas equivalentes</a:t>
            </a:r>
            <a:r>
              <a:t>. Desde el mes 21 la operación se estabiliza entre 3.200 y 3.900 HH. Total: 217.543 HH. (T-15 Tablas 7.5 y 7.6)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/>
              <a:t>Seis de los diez riesgos de mayor exposición</a:t>
            </a:r>
            <a:r>
              <a:t>, con el color de su rama. Todos con respuesta de mitigación, responsable y disparador. Ej.: el retiro sin trazabilidad (R-012) se ataca con un retiro simulado de punta a punta: probabilidad de 35 % a 10 % objetivo. Contingencia de 2.058 HH más 1.600 HH de reserva de gestión. (SD8 Tabla 8.4, T-16, Anexo 8.B)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norma con la regla que nos impone: </a:t>
            </a:r>
            <a:r>
              <a:rPr lang="es-MX"/>
              <a:t>ISO 25010 ordena las características con su umbral (preparación p95 ≤ 1 s, transacción crítica ≥ 99,9 %)</a:t>
            </a:r>
            <a:r>
              <a:t>; ISO 25012 la calidad de datos; 29119 el proceso de pruebas; PMBOK </a:t>
            </a:r>
            <a:r>
              <a:rPr lang="es-MX"/>
              <a:t>el costo de calidad (11.136 HH de conformidad programada, 5,1 %)</a:t>
            </a:r>
            <a:r>
              <a:t>; WCAG y OWASP bloquean la puerta G4. Leyes: Decreto 977 (registro inviolable ≤ −18 °C y retiro expedito), SII/DTE (guía y acuse con mérito ejecutivo), Art. 25 bis (jornada de conductores), Ley 21.719 (datos personales desde el 1-dic-2026) y GS1/EDI. </a:t>
            </a:r>
            <a:r>
              <a:rPr lang="es-MX"/>
              <a:t>(SD9 Tablas 9.2 y 9.3, SD2 §2.2.2)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calidad se previene: siete puertas, de G0 a G6, y nadie puede levantar un bloqueo. La aceptación exige las seis condiciones copulativas del Art. 17.3: ninguna compensa a otra. Además 1.316 casos de prueba (80 % automatizados) y pruebas a −22 °C. (SD9, SD7)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Cinco innovaciones, una por tipo del Art. 28: seguimiento del vencimiento posentrega, reproducción de incidentes de terreno, vida útil según historia térmica (EPCIS 2.0 + Arrhenius/Q10), pago ligado al costo de servir y hoja de negocio del almacenero sin internet. Sin hardware nuevo ni modelos de IA aprendidos. (SD13)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dirige Alex Aravena, Jefe de Proyecto e interlocutor único. Siete líderes cubren arquitectura e integración, seguridad, datos, desarrollo, calidad, operación e implantación: ocho personas para los diez roles mínimos. </a:t>
            </a:r>
            <a:r>
              <a:rPr lang="es-MX"/>
              <a:t>Peak de 69 personas equivalentes. (SD1 Tabla 1.6; SD7 T-15)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(Transición automática.)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 nueve días a menos de dos horas: el dato capturado donde ocurre, trazable de punta a punta, aun sin señal. Gracias;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2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2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5.png"/><Relationship Id="rId5" Type="http://schemas.openxmlformats.org/officeDocument/2006/relationships/image" Target="../media/image25.svg"/><Relationship Id="rId10" Type="http://schemas.openxmlformats.org/officeDocument/2006/relationships/image" Target="../media/image2.svg"/><Relationship Id="rId4" Type="http://schemas.openxmlformats.org/officeDocument/2006/relationships/image" Target="../media/image6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b="-18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flipV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0"/>
              </a:lnSpc>
            </a:pPr>
            <a:r>
              <a:rPr lang="en-US" sz="1069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6"/>
              </a:lnSpc>
            </a:pPr>
            <a:r>
              <a:rPr lang="en-US" sz="10494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</a:p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5324" y="8961120"/>
            <a:ext cx="4041891" cy="30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</a:p>
        </p:txBody>
      </p:sp>
      <p:sp>
        <p:nvSpPr>
          <p:cNvPr id="11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3761" y="8961120"/>
            <a:ext cx="404189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pic>
        <p:nvPicPr>
          <p:cNvPr id="13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b="-18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 flipV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 flipV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29A5E"/>
                </a:solidFill>
                <a:latin typeface="Inter SemiBold"/>
              </a:rPr>
              <a:t>MARZO 2026 · RETIRO SANITARIO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Inter Light"/>
              </a:rPr>
              <a:t>para identificar a los clientes afectados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F29A5E"/>
                </a:solidFill>
                <a:latin typeface="Inter SemiBold"/>
              </a:rPr>
              <a:t>4.800 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retirados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F29A5E"/>
                </a:solidFill>
                <a:latin typeface="Inter SemiBold"/>
              </a:rPr>
              <a:t>6 meses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de suspensión del proveedor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F29A5E"/>
                </a:solidFill>
                <a:latin typeface="Inter SemiBold"/>
              </a:rPr>
              <a:t>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de las ventas en riesgo</a:t>
            </a:r>
          </a:p>
        </p:txBody>
      </p:sp>
      <p:sp>
        <p:nvSpPr>
          <p:cNvPr id="31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FFFFFF"/>
                </a:solidFill>
                <a:latin typeface="Inter SemiBold"/>
              </a:rPr>
              <a:t>01</a:t>
            </a:r>
            <a:endParaRPr sz="1600" b="1">
              <a:solidFill>
                <a:srgbClr val="FFFFFF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11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Tres problemas, una sola causa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l"/>
            <a:r>
              <a:rPr sz="1800" b="1">
                <a:solidFill>
                  <a:srgbClr val="F29A5E"/>
                </a:solidFill>
                <a:latin typeface="Inter SemiBold"/>
              </a:rPr>
              <a:t>CAUSA RAÍZ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Inter SemiBold"/>
              </a:rPr>
              <a:t>El dato no se registra donde ocurre el hecho.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173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29800" y="16916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10312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Habilitación sanitaria en riesgo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0" y="17373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A9A9A"/>
                </a:solidFill>
                <a:latin typeface="Inter"/>
              </a:rPr>
              <a:t>retiro</a:t>
            </a:r>
          </a:p>
        </p:txBody>
      </p:sp>
      <p:sp>
        <p:nvSpPr>
          <p:cNvPr id="19" name="!!reloj"/>
          <p:cNvSpPr txBox="1"/>
          <p:nvPr/>
        </p:nvSpPr>
        <p:spPr>
          <a:xfrm>
            <a:off x="12801600" y="210312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400" b="1">
                <a:solidFill>
                  <a:srgbClr val="E8641B"/>
                </a:solidFill>
                <a:latin typeface="Inter SemiBold"/>
              </a:rPr>
              <a:t>9 días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787384" y="2331720"/>
            <a:ext cx="722376" cy="315468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60" y="356616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3840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25196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Servicio que pierde competitividad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0" y="38862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A9A9A"/>
                </a:solidFill>
                <a:latin typeface="Inter"/>
              </a:rPr>
              <a:t>OTIF</a:t>
            </a:r>
          </a:p>
        </p:txBody>
      </p:sp>
      <p:sp>
        <p:nvSpPr>
          <p:cNvPr id="25" name="!!otif"/>
          <p:cNvSpPr txBox="1"/>
          <p:nvPr/>
        </p:nvSpPr>
        <p:spPr>
          <a:xfrm>
            <a:off x="12801600" y="425196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400" b="1">
                <a:solidFill>
                  <a:srgbClr val="E8641B"/>
                </a:solidFill>
                <a:latin typeface="Inter SemiBold"/>
              </a:rPr>
              <a:t>82,4 %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787384" y="4480560"/>
            <a:ext cx="722376" cy="100584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9760" y="5715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9800" y="5989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640080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Costo de servir desconocido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0" y="60350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A9A9A"/>
                </a:solidFill>
                <a:latin typeface="Inter"/>
              </a:rPr>
              <a:t>prorrateo de</a:t>
            </a:r>
          </a:p>
        </p:txBody>
      </p:sp>
      <p:sp>
        <p:nvSpPr>
          <p:cNvPr id="31" name="!!costo"/>
          <p:cNvSpPr txBox="1"/>
          <p:nvPr/>
        </p:nvSpPr>
        <p:spPr>
          <a:xfrm>
            <a:off x="12801600" y="64008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400" b="1">
                <a:solidFill>
                  <a:srgbClr val="E8641B"/>
                </a:solidFill>
                <a:latin typeface="Inter SemiBold"/>
              </a:rPr>
              <a:t>2016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87384" y="5486400"/>
            <a:ext cx="722376" cy="114300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02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3838" y="1280160"/>
            <a:ext cx="6643896" cy="2579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Clave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9616" y="393192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606060"/>
                </a:solidFill>
                <a:latin typeface="Inter SemiBold"/>
              </a:rPr>
              <a:t>Hoy → meta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13716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Retiro sanitario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286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16" name="!!reloj"/>
          <p:cNvSpPr txBox="1"/>
          <p:nvPr/>
        </p:nvSpPr>
        <p:spPr>
          <a:xfrm>
            <a:off x="7955280" y="257860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9 días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80" y="333756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55280" y="34930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79476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&lt; 2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47120" y="13716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OTIF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2286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23" name="!!otif"/>
          <p:cNvSpPr txBox="1"/>
          <p:nvPr/>
        </p:nvSpPr>
        <p:spPr>
          <a:xfrm>
            <a:off x="11247120" y="257860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82,4 %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247120" y="333756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247120" y="34930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379476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&gt; 95 %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26464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538960" y="1371600"/>
            <a:ext cx="24688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900" b="1">
                <a:solidFill>
                  <a:srgbClr val="3C3C3C"/>
                </a:solidFill>
                <a:latin typeface="Inter SemiBold"/>
              </a:rPr>
              <a:t>Sin lote (prod. retirado)</a:t>
            </a:r>
            <a:endParaRPr sz="1900" b="1">
              <a:solidFill>
                <a:srgbClr val="3C3C3C"/>
              </a:solidFill>
              <a:latin typeface="Inter SemiBol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538960" y="2286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60" y="257860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41 %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538960" y="333756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4538960" y="34930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38960" y="379476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0 %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80" y="53949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Reentregas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6309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660196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4,2 %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55280" y="736092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55280" y="75163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78181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E8641B"/>
                </a:solidFill>
                <a:latin typeface="Inter SemiBold"/>
              </a:rPr>
              <a:t>&lt; 1 %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47120" y="53949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Merma por vencimiento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309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60196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>
                <a:solidFill>
                  <a:srgbClr val="606060"/>
                </a:solidFill>
                <a:latin typeface="Inter"/>
              </a:rPr>
              <a:t>1,7 %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247120" y="736092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247120" y="75163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78181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≤ 1,0 %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26464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4538960" y="53949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C3C3C"/>
                </a:solidFill>
                <a:latin typeface="Inter SemiBold"/>
              </a:rPr>
              <a:t>Diferencias de rendición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538960" y="6309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538960" y="660196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606060"/>
                </a:solidFill>
                <a:latin typeface="Inter"/>
              </a:rPr>
              <a:t>$4,2 M/mes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4538960" y="736092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4538960" y="75163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538960" y="78181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Mismo día</a:t>
            </a:r>
          </a:p>
        </p:txBody>
      </p:sp>
      <p:sp>
        <p:nvSpPr>
          <p:cNvPr id="55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03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9389512" y="1280160"/>
            <a:ext cx="548640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Quiénes somos</a:t>
            </a:r>
          </a:p>
        </p:txBody>
      </p:sp>
      <p:sp>
        <p:nvSpPr>
          <p:cNvPr id="1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411480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124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4187952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Inter"/>
              </a:rPr>
              <a:t>especialistas desde 2012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548640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24×7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5559552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Inter"/>
              </a:rPr>
              <a:t>NOC, SOC y Mesa de 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685800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931152"/>
            <a:ext cx="34747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>
                <a:solidFill>
                  <a:srgbClr val="3C3C3C"/>
                </a:solidFill>
                <a:latin typeface="Inter"/>
              </a:rPr>
              <a:t>credenciales: ISO 9001</a:t>
            </a:r>
            <a:r>
              <a:rPr sz="1800" b="0">
                <a:solidFill>
                  <a:srgbClr val="3C3C3C"/>
                </a:solidFill>
                <a:latin typeface="Inter"/>
              </a:rPr>
              <a:t> · 27001 · 20000-1 · CMMI N3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4630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Inter SemiBold"/>
              </a:rPr>
              <a:t>Ya operamos a mayor 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1031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  <a:latin typeface="Inter"/>
              </a:rPr>
              <a:t>Puelche vs. nuestros proyectos de referencia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Camiones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11880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r"/>
            <a:r>
              <a:rPr sz="1600" b="0">
                <a:solidFill>
                  <a:srgbClr val="111111"/>
                </a:solidFill>
                <a:latin typeface="Inter"/>
              </a:rPr>
              <a:t>420 · LogiNacional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06240"/>
            <a:ext cx="1672045" cy="5029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23605" y="42062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96 · Puelche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79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Entregas diarias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486399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r"/>
            <a:r>
              <a:rPr sz="1600" b="0">
                <a:solidFill>
                  <a:srgbClr val="111111"/>
                </a:solidFill>
                <a:latin typeface="Inter"/>
              </a:rPr>
              <a:t>22.000 · LogiNacional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6080759"/>
            <a:ext cx="465512" cy="5029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17072" y="6080759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≈1.400 · Puelche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8580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Preventistas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7360920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r"/>
            <a:r>
              <a:rPr sz="1600" b="0">
                <a:solidFill>
                  <a:srgbClr val="111111"/>
                </a:solidFill>
                <a:latin typeface="Inter"/>
              </a:rPr>
              <a:t>280 · Lácteos del Sur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7955279"/>
            <a:ext cx="1619794" cy="5029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71354" y="7955279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62 · Puelche</a:t>
            </a:r>
          </a:p>
        </p:txBody>
      </p:sp>
      <p:sp>
        <p:nvSpPr>
          <p:cNvPr id="33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FFFFFF"/>
                </a:solidFill>
                <a:latin typeface="Inter SemiBold"/>
              </a:rPr>
              <a:t>04</a:t>
            </a:r>
            <a:endParaRPr sz="1600" b="1">
              <a:solidFill>
                <a:srgbClr val="FFFFFF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25509" y="-8090895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92402" y="798726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965602" y="798726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619980"/>
            <a:ext cx="5153525" cy="5344669"/>
            <a:chOff x="0" y="0"/>
            <a:chExt cx="1357307" cy="14076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7307" cy="1407650"/>
            </a:xfrm>
            <a:custGeom>
              <a:avLst/>
              <a:gdLst/>
              <a:ahLst/>
              <a:cxnLst/>
              <a:rect l="l" t="t" r="r" b="b"/>
              <a:pathLst>
                <a:path w="1357307" h="1407650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70156" y="7182945"/>
            <a:ext cx="7547688" cy="207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39"/>
              </a:lnSpc>
            </a:pPr>
            <a:r>
              <a:rPr lang="en-US" sz="11153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105775" y="1619980"/>
            <a:ext cx="5153525" cy="5344669"/>
            <a:chOff x="0" y="0"/>
            <a:chExt cx="1357307" cy="14076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57307" cy="1407650"/>
            </a:xfrm>
            <a:custGeom>
              <a:avLst/>
              <a:gdLst/>
              <a:ahLst/>
              <a:cxnLst/>
              <a:rect l="l" t="t" r="r" b="b"/>
              <a:pathLst>
                <a:path w="1357307" h="1407650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E8641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01050" y="2894964"/>
            <a:ext cx="4285901" cy="325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8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Capturar → Explotar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ERP sigue emitiendo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documentos tributarios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83067" y="2460411"/>
            <a:ext cx="3244790" cy="70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60143" y="2460411"/>
            <a:ext cx="3244790" cy="70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1640" y="3875794"/>
            <a:ext cx="3907644" cy="252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Preventa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Recepción con lote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Bodega FEFO y rutas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Frío, entrega y efectivo</a:t>
            </a:r>
          </a:p>
          <a:p>
            <a:pPr algn="l">
              <a:lnSpc>
                <a:spcPts val="2856"/>
              </a:lnSpc>
            </a:pPr>
            <a:r>
              <a:rPr lang="en-US" sz="20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16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28715" y="3875794"/>
            <a:ext cx="3907644" cy="252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Portal de clientes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Canal moderno (EDI)</a:t>
            </a:r>
          </a:p>
          <a:p>
            <a:pPr algn="l">
              <a:lnSpc>
                <a:spcPts val="2856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Costo de servir</a:t>
            </a:r>
          </a:p>
          <a:p>
            <a:pPr algn="l">
              <a:lnSpc>
                <a:spcPts val="2856"/>
              </a:lnSpc>
            </a:pPr>
            <a:r>
              <a:rPr lang="en-US" sz="20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21</a:t>
            </a:r>
          </a:p>
        </p:txBody>
      </p:sp>
      <p:sp>
        <p:nvSpPr>
          <p:cNvPr id="17" name="Freeform 17"/>
          <p:cNvSpPr/>
          <p:nvPr/>
        </p:nvSpPr>
        <p:spPr>
          <a:xfrm flipH="1">
            <a:off x="2322398" y="798726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850802" y="798726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111111"/>
                </a:solidFill>
                <a:latin typeface="Inter SemiBold"/>
              </a:rPr>
              <a:t>05</a:t>
            </a:r>
            <a:endParaRPr sz="1600" b="1">
              <a:solidFill>
                <a:srgbClr val="111111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9"/>
          <p:cNvSpPr txBox="1"/>
          <p:nvPr/>
        </p:nvSpPr>
        <p:spPr>
          <a:xfrm>
            <a:off x="2286000" y="1226844"/>
            <a:ext cx="13716000" cy="1192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</a:p>
        </p:txBody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30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s-MX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Subdocumento 3 · ciclo logístico, trazabilidad del lote y continuidad sin conexión</a:t>
            </a:r>
            <a:endParaRPr lang="en-US"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31520" y="3246120"/>
            <a:ext cx="5394960" cy="5577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3355848"/>
            <a:ext cx="5120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500" b="1">
                <a:solidFill>
                  <a:srgbClr val="E8641B"/>
                </a:solidFill>
                <a:latin typeface="Inter SemiBold"/>
              </a:rPr>
              <a:t>Figura 3.1</a:t>
            </a:r>
            <a:r>
              <a:rPr lang="es-MX" sz="1500" b="1">
                <a:solidFill>
                  <a:srgbClr val="111111"/>
                </a:solidFill>
                <a:latin typeface="Inter SemiBold"/>
              </a:rPr>
              <a:t> · Ciclo logístico de la solución</a:t>
            </a:r>
            <a:endParaRPr sz="1500" b="1">
              <a:solidFill>
                <a:srgbClr val="111111"/>
              </a:solidFill>
              <a:latin typeface="Inter SemiBold"/>
            </a:endParaRPr>
          </a:p>
        </p:txBody>
      </p:sp>
      <p:sp>
        <p:nvSpPr>
          <p:cNvPr id="13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06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  <p:pic>
        <p:nvPicPr>
          <p:cNvPr id="3" name="Imagen 2" descr="Figura 3.1. Ciclo logístico de la solución (Subdocumento 3)">
            <a:extLst>
              <a:ext uri="{FF2B5EF4-FFF2-40B4-BE49-F238E27FC236}">
                <a16:creationId xmlns:a16="http://schemas.microsoft.com/office/drawing/2014/main" id="{D72B3F25-5A7A-C400-CB14-B1094A8AD9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125982"/>
            <a:ext cx="5029200" cy="4275316"/>
          </a:xfrm>
          <a:prstGeom prst="rect">
            <a:avLst/>
          </a:prstGeom>
        </p:spPr>
      </p:pic>
      <p:sp>
        <p:nvSpPr>
          <p:cNvPr id="4" name="Rounded Rectangle 59">
            <a:extLst>
              <a:ext uri="{FF2B5EF4-FFF2-40B4-BE49-F238E27FC236}">
                <a16:creationId xmlns:a16="http://schemas.microsoft.com/office/drawing/2014/main" id="{787044DC-A86F-E15B-8BAC-1D67D1983847}"/>
              </a:ext>
            </a:extLst>
          </p:cNvPr>
          <p:cNvSpPr/>
          <p:nvPr/>
        </p:nvSpPr>
        <p:spPr>
          <a:xfrm>
            <a:off x="6446520" y="3246120"/>
            <a:ext cx="5394960" cy="5577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" name="TextBox 60">
            <a:extLst>
              <a:ext uri="{FF2B5EF4-FFF2-40B4-BE49-F238E27FC236}">
                <a16:creationId xmlns:a16="http://schemas.microsoft.com/office/drawing/2014/main" id="{074CA3D9-ED57-33D3-EACA-F6D0A464873A}"/>
              </a:ext>
            </a:extLst>
          </p:cNvPr>
          <p:cNvSpPr txBox="1"/>
          <p:nvPr/>
        </p:nvSpPr>
        <p:spPr>
          <a:xfrm>
            <a:off x="6583680" y="3355848"/>
            <a:ext cx="5120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500" b="1">
                <a:solidFill>
                  <a:srgbClr val="E8641B"/>
                </a:solidFill>
                <a:latin typeface="Inter SemiBold"/>
              </a:rPr>
              <a:t>Figura 3.2</a:t>
            </a:r>
            <a:r>
              <a:rPr lang="es-MX" sz="1500" b="1">
                <a:solidFill>
                  <a:srgbClr val="111111"/>
                </a:solidFill>
                <a:latin typeface="Inter SemiBold"/>
              </a:rPr>
              <a:t> · Trazabilidad y cadena de frío</a:t>
            </a:r>
            <a:endParaRPr sz="1500" b="1">
              <a:solidFill>
                <a:srgbClr val="111111"/>
              </a:solidFill>
              <a:latin typeface="Inter SemiBold"/>
            </a:endParaRPr>
          </a:p>
        </p:txBody>
      </p:sp>
      <p:pic>
        <p:nvPicPr>
          <p:cNvPr id="7" name="Imagen 6" descr="Figura 3.2. Trazabilidad y cadena de frío (Subdocumento 3)">
            <a:extLst>
              <a:ext uri="{FF2B5EF4-FFF2-40B4-BE49-F238E27FC236}">
                <a16:creationId xmlns:a16="http://schemas.microsoft.com/office/drawing/2014/main" id="{80A3D5D0-F4CA-94AF-28AD-942CA781A5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037973"/>
            <a:ext cx="5029200" cy="4451335"/>
          </a:xfrm>
          <a:prstGeom prst="rect">
            <a:avLst/>
          </a:prstGeom>
        </p:spPr>
      </p:pic>
      <p:sp>
        <p:nvSpPr>
          <p:cNvPr id="8" name="Rounded Rectangle 59">
            <a:extLst>
              <a:ext uri="{FF2B5EF4-FFF2-40B4-BE49-F238E27FC236}">
                <a16:creationId xmlns:a16="http://schemas.microsoft.com/office/drawing/2014/main" id="{E5F0E500-C855-DECC-6BFC-71A2AE57B23F}"/>
              </a:ext>
            </a:extLst>
          </p:cNvPr>
          <p:cNvSpPr/>
          <p:nvPr/>
        </p:nvSpPr>
        <p:spPr>
          <a:xfrm>
            <a:off x="12161520" y="3246120"/>
            <a:ext cx="5394960" cy="5577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ABE91C2D-E5B7-0671-1030-F6F0E08974C1}"/>
              </a:ext>
            </a:extLst>
          </p:cNvPr>
          <p:cNvSpPr txBox="1"/>
          <p:nvPr/>
        </p:nvSpPr>
        <p:spPr>
          <a:xfrm>
            <a:off x="12298680" y="3355848"/>
            <a:ext cx="5120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500" b="1">
                <a:solidFill>
                  <a:srgbClr val="E8641B"/>
                </a:solidFill>
                <a:latin typeface="Inter SemiBold"/>
              </a:rPr>
              <a:t>Figura 3.3</a:t>
            </a:r>
            <a:r>
              <a:rPr lang="es-MX" sz="1500" b="1">
                <a:solidFill>
                  <a:srgbClr val="111111"/>
                </a:solidFill>
                <a:latin typeface="Inter SemiBold"/>
              </a:rPr>
              <a:t> · Continuidad durante cortes</a:t>
            </a:r>
            <a:endParaRPr sz="1500" b="1">
              <a:solidFill>
                <a:srgbClr val="111111"/>
              </a:solidFill>
              <a:latin typeface="Inter SemiBold"/>
            </a:endParaRPr>
          </a:p>
        </p:txBody>
      </p:sp>
      <p:pic>
        <p:nvPicPr>
          <p:cNvPr id="11" name="Imagen 10" descr="Figura 3.3. Continuidad durante cortes (Subdocumento 3)">
            <a:extLst>
              <a:ext uri="{FF2B5EF4-FFF2-40B4-BE49-F238E27FC236}">
                <a16:creationId xmlns:a16="http://schemas.microsoft.com/office/drawing/2014/main" id="{E85E8279-F015-96A5-C1B9-455E8CCC43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5587163"/>
            <a:ext cx="5029200" cy="135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39904"/>
      </p:ext>
    </p:extLst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módulos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Interfaces → módulos → sistemas externos · la etiqueta indica la etapa de producción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2461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INTERFACES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611880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App Preventa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233672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App Reparto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855464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App Bodega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477256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Portal Clientes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6099048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Portal Transportistas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6720840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Portal Proveedores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7342632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111111"/>
                </a:solidFill>
                <a:latin typeface="Inter SemiBold"/>
              </a:rPr>
              <a:t>Consolas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017520" y="5760720"/>
            <a:ext cx="228600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291840" y="3246120"/>
            <a:ext cx="75895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429000" y="33192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Bodega y calidad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29000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20440" y="3758183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0440" y="4050791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Recepción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20440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10328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01768" y="3758183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01768" y="4050791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Inventario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01768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91656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83096" y="3758183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4050791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Preparación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83096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872983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964423" y="3758183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M9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64423" y="4050791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 SemiBold"/>
              </a:rPr>
              <a:t>Calidad y trazabilidad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64423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354312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45752" y="3758183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45752" y="4050791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Telemetría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445752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064240" y="3246120"/>
            <a:ext cx="320040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1201400" y="3319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Canal moderno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201400" y="3685031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292840" y="3758183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292840" y="4050791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EDI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1292840" y="49286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82728" y="3749039"/>
            <a:ext cx="1444751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Pedido electrónico → M3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91840" y="5596128"/>
            <a:ext cx="61264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429000" y="566928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Preventa, rutas y reparto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429000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520440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20440" y="640080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Preventa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20440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910328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001768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01768" y="640080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Rutas + GIS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01768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91656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483096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83096" y="640080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Reparto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83096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872983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64423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64423" y="640080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Devoluciones y envases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64423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601200" y="5596128"/>
            <a:ext cx="466344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38360" y="56692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C3C3C"/>
                </a:solidFill>
                <a:latin typeface="Inter SemiBold"/>
              </a:rPr>
              <a:t>Datos y rendición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738360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829800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29800" y="640080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Cobranza y rendición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829800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219688" y="6035040"/>
            <a:ext cx="1371600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1311128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M10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311128" y="640080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Analítica BI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311128" y="72786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Etapa 1 y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701016" y="6099048"/>
            <a:ext cx="1426463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OTIF y costo de servir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4800600" y="4462271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281928" y="4462271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800600" y="6812279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281928" y="6812279"/>
            <a:ext cx="109728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763256" y="6812279"/>
            <a:ext cx="109727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077456" y="5312664"/>
            <a:ext cx="0" cy="722376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3291840" y="7973568"/>
            <a:ext cx="10972800" cy="621792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500" b="1">
                <a:solidFill>
                  <a:srgbClr val="F29A5E"/>
                </a:solidFill>
                <a:latin typeface="Inter SemiBold"/>
              </a:rPr>
              <a:t>BASE COMÚN  </a:t>
            </a:r>
            <a:r>
              <a:rPr sz="1500" b="0">
                <a:solidFill>
                  <a:srgbClr val="FFFFFF"/>
                </a:solidFill>
                <a:latin typeface="Inter"/>
              </a:rPr>
              <a:t>identidad · integración · auditoría · sin conexión · observabilidad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584680" y="32461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SISTEMAS EXTERNOS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584680" y="361188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t"/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ERP 2017</a:t>
            </a:r>
          </a:p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Único emisor tributario · vía ACL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282928" y="416052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14584680" y="594360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t"/>
          <a:lstStyle/>
          <a:p>
            <a:pPr algn="l"/>
            <a:r>
              <a:rPr lang="es-CL" sz="1700" b="1">
                <a:solidFill>
                  <a:srgbClr val="111111"/>
                </a:solidFill>
                <a:latin typeface="Inter SemiBold"/>
              </a:rPr>
              <a:t>Geolocalización</a:t>
            </a:r>
            <a:endParaRPr sz="1700" b="1">
              <a:solidFill>
                <a:srgbClr val="111111"/>
              </a:solidFill>
              <a:latin typeface="Inter SemiBold"/>
            </a:endParaRPr>
          </a:p>
          <a:p>
            <a:pPr algn="l"/>
            <a:r>
              <a:rPr lang="es-MX" sz="1400" b="0">
                <a:solidFill>
                  <a:srgbClr val="606060"/>
                </a:solidFill>
                <a:latin typeface="Inter"/>
              </a:rPr>
              <a:t>Mapas y posición para rutas</a:t>
            </a:r>
            <a:endParaRPr sz="1400" b="0">
              <a:solidFill>
                <a:srgbClr val="606060"/>
              </a:solidFill>
              <a:latin typeface="Inter"/>
            </a:endParaRPr>
          </a:p>
        </p:txBody>
      </p:sp>
      <p:cxnSp>
        <p:nvCxnSpPr>
          <p:cNvPr id="129" name="Connector 128"/>
          <p:cNvCxnSpPr/>
          <p:nvPr/>
        </p:nvCxnSpPr>
        <p:spPr>
          <a:xfrm>
            <a:off x="14282928" y="532638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14584680" y="76352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t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Cadenas</a:t>
            </a:r>
          </a:p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EDI con el canal moderno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4282928" y="642366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07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  <p:sp>
        <p:nvSpPr>
          <p:cNvPr id="2" name="Rounded Rectangle 127">
            <a:extLst>
              <a:ext uri="{FF2B5EF4-FFF2-40B4-BE49-F238E27FC236}">
                <a16:creationId xmlns:a16="http://schemas.microsoft.com/office/drawing/2014/main" id="{83B7A63E-0EB2-6B53-B3C3-0413D294B947}"/>
              </a:ext>
            </a:extLst>
          </p:cNvPr>
          <p:cNvSpPr/>
          <p:nvPr/>
        </p:nvSpPr>
        <p:spPr>
          <a:xfrm>
            <a:off x="14584680" y="484632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t"/>
          <a:lstStyle/>
          <a:p>
            <a:pPr algn="l"/>
            <a:r>
              <a:rPr lang="es-CL" sz="1700" b="1">
                <a:solidFill>
                  <a:srgbClr val="111111"/>
                </a:solidFill>
                <a:latin typeface="Inter SemiBold"/>
              </a:rPr>
              <a:t>Transbank</a:t>
            </a:r>
            <a:endParaRPr sz="1700" b="1">
              <a:solidFill>
                <a:srgbClr val="111111"/>
              </a:solidFill>
              <a:latin typeface="Inter SemiBold"/>
            </a:endParaRPr>
          </a:p>
          <a:p>
            <a:pPr algn="l"/>
            <a:r>
              <a:rPr lang="es-CL" sz="1400" b="0">
                <a:solidFill>
                  <a:srgbClr val="606060"/>
                </a:solidFill>
                <a:latin typeface="Inter"/>
              </a:rPr>
              <a:t>Pagos</a:t>
            </a:r>
            <a:endParaRPr sz="1400" b="0">
              <a:solidFill>
                <a:srgbClr val="606060"/>
              </a:solidFill>
              <a:latin typeface="Inter"/>
            </a:endParaRPr>
          </a:p>
        </p:txBody>
      </p:sp>
      <p:sp>
        <p:nvSpPr>
          <p:cNvPr id="3" name="TextBox 124">
            <a:extLst>
              <a:ext uri="{FF2B5EF4-FFF2-40B4-BE49-F238E27FC236}">
                <a16:creationId xmlns:a16="http://schemas.microsoft.com/office/drawing/2014/main" id="{BEF8B961-6C94-E561-576F-2789F9EC6507}"/>
              </a:ext>
            </a:extLst>
          </p:cNvPr>
          <p:cNvSpPr txBox="1"/>
          <p:nvPr/>
        </p:nvSpPr>
        <p:spPr>
          <a:xfrm>
            <a:off x="14584680" y="7315200"/>
            <a:ext cx="3200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>
                <a:solidFill>
                  <a:srgbClr val="E8641B"/>
                </a:solidFill>
                <a:latin typeface="Inter SemiBold"/>
              </a:rPr>
              <a:t>INTEGRACIÓN · ETAPA 2</a:t>
            </a:r>
            <a:endParaRPr sz="1400" b="1">
              <a:solidFill>
                <a:srgbClr val="E8641B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9"/>
          <p:cNvSpPr txBox="1"/>
          <p:nvPr/>
        </p:nvSpPr>
        <p:spPr>
          <a:xfrm>
            <a:off x="2286000" y="1226844"/>
            <a:ext cx="13716000" cy="1192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</a:p>
        </p:txBody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30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Subdocumento 4 · Figura 1 · Vista general completa de la arquitectura lógica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6640" y="3246120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1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Presentación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captura y muestra la información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  <p:sp>
        <p:nvSpPr>
          <p:cNvPr id="13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08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  <p:pic>
        <p:nvPicPr>
          <p:cNvPr id="3" name="Imagen 2" descr="Figura 1. Vista general completa de la arquitectura lógica (Subdocumento 4)">
            <a:extLst>
              <a:ext uri="{FF2B5EF4-FFF2-40B4-BE49-F238E27FC236}">
                <a16:creationId xmlns:a16="http://schemas.microsoft.com/office/drawing/2014/main" id="{8B0E9AC3-2B04-16BA-E861-E6D251A9A6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05" y="3200399"/>
            <a:ext cx="6161591" cy="5669281"/>
          </a:xfrm>
          <a:prstGeom prst="rect">
            <a:avLst/>
          </a:prstGeom>
        </p:spPr>
      </p:pic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A071E6CE-3613-943D-AD6F-01EF6BB30A0A}"/>
              </a:ext>
            </a:extLst>
          </p:cNvPr>
          <p:cNvSpPr/>
          <p:nvPr/>
        </p:nvSpPr>
        <p:spPr>
          <a:xfrm>
            <a:off x="7406640" y="3945636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2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Borde y exposición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protege la entrada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  <p:sp>
        <p:nvSpPr>
          <p:cNvPr id="5" name="Rounded Rectangle 51">
            <a:extLst>
              <a:ext uri="{FF2B5EF4-FFF2-40B4-BE49-F238E27FC236}">
                <a16:creationId xmlns:a16="http://schemas.microsoft.com/office/drawing/2014/main" id="{2DB65F97-E746-1BB1-07F5-75A66EC042FC}"/>
              </a:ext>
            </a:extLst>
          </p:cNvPr>
          <p:cNvSpPr/>
          <p:nvPr/>
        </p:nvSpPr>
        <p:spPr>
          <a:xfrm>
            <a:off x="7406640" y="4645152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3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Puerta de enlace de servicios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valida las solicitudes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  <p:sp>
        <p:nvSpPr>
          <p:cNvPr id="6" name="Rounded Rectangle 51">
            <a:extLst>
              <a:ext uri="{FF2B5EF4-FFF2-40B4-BE49-F238E27FC236}">
                <a16:creationId xmlns:a16="http://schemas.microsoft.com/office/drawing/2014/main" id="{75EA3206-DAB6-427F-E838-EA0BB7349D6C}"/>
              </a:ext>
            </a:extLst>
          </p:cNvPr>
          <p:cNvSpPr/>
          <p:nvPr/>
        </p:nvSpPr>
        <p:spPr>
          <a:xfrm>
            <a:off x="7406640" y="5344668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4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Lógica de negocio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aplica las reglas de M1–M12 en Laravel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  <p:sp>
        <p:nvSpPr>
          <p:cNvPr id="7" name="Rounded Rectangle 51">
            <a:extLst>
              <a:ext uri="{FF2B5EF4-FFF2-40B4-BE49-F238E27FC236}">
                <a16:creationId xmlns:a16="http://schemas.microsoft.com/office/drawing/2014/main" id="{F47F1314-6339-551E-D0E5-8B235187A62D}"/>
              </a:ext>
            </a:extLst>
          </p:cNvPr>
          <p:cNvSpPr/>
          <p:nvPr/>
        </p:nvSpPr>
        <p:spPr>
          <a:xfrm>
            <a:off x="7406640" y="6044184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5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Integración y eventos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conserva y distribuye eventos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  <p:sp>
        <p:nvSpPr>
          <p:cNvPr id="8" name="Rounded Rectangle 51">
            <a:extLst>
              <a:ext uri="{FF2B5EF4-FFF2-40B4-BE49-F238E27FC236}">
                <a16:creationId xmlns:a16="http://schemas.microsoft.com/office/drawing/2014/main" id="{E75A937F-18E1-B13E-A6FD-85075ACECFB8}"/>
              </a:ext>
            </a:extLst>
          </p:cNvPr>
          <p:cNvSpPr/>
          <p:nvPr/>
        </p:nvSpPr>
        <p:spPr>
          <a:xfrm>
            <a:off x="7406640" y="6743700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6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Acceso a datos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administra la persistencia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  <p:sp>
        <p:nvSpPr>
          <p:cNvPr id="9" name="Rounded Rectangle 51">
            <a:extLst>
              <a:ext uri="{FF2B5EF4-FFF2-40B4-BE49-F238E27FC236}">
                <a16:creationId xmlns:a16="http://schemas.microsoft.com/office/drawing/2014/main" id="{86F9CAAF-5FAF-A911-87AA-8358C9456C01}"/>
              </a:ext>
            </a:extLst>
          </p:cNvPr>
          <p:cNvSpPr/>
          <p:nvPr/>
        </p:nvSpPr>
        <p:spPr>
          <a:xfrm>
            <a:off x="7406640" y="7443216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7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Seguridad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transversal a todas las capas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  <p:sp>
        <p:nvSpPr>
          <p:cNvPr id="10" name="Rounded Rectangle 51">
            <a:extLst>
              <a:ext uri="{FF2B5EF4-FFF2-40B4-BE49-F238E27FC236}">
                <a16:creationId xmlns:a16="http://schemas.microsoft.com/office/drawing/2014/main" id="{69302AE0-7C9B-12A3-5AEF-8D2AB7065835}"/>
              </a:ext>
            </a:extLst>
          </p:cNvPr>
          <p:cNvSpPr/>
          <p:nvPr/>
        </p:nvSpPr>
        <p:spPr>
          <a:xfrm>
            <a:off x="7406640" y="8142732"/>
            <a:ext cx="10149840" cy="621792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45720" rtlCol="0" anchor="ctr"/>
          <a:lstStyle/>
          <a:p>
            <a:r>
              <a:rPr lang="es-MX" sz="1600" b="1">
                <a:solidFill>
                  <a:srgbClr val="E8641B"/>
                </a:solidFill>
                <a:latin typeface="Inter SemiBold"/>
              </a:rPr>
              <a:t>8   </a:t>
            </a:r>
            <a:r>
              <a:rPr lang="es-MX" sz="1600" b="1">
                <a:solidFill>
                  <a:srgbClr val="111111"/>
                </a:solidFill>
                <a:latin typeface="Inter SemiBold"/>
              </a:rPr>
              <a:t>Observabilidad</a:t>
            </a:r>
            <a:r>
              <a:rPr lang="es-MX" sz="1400" b="1">
                <a:solidFill>
                  <a:srgbClr val="606060"/>
                </a:solidFill>
                <a:latin typeface="Inter"/>
              </a:rPr>
              <a:t>  ·  transversal a todas las capas</a:t>
            </a:r>
            <a:endParaRPr sz="1400" b="1">
              <a:solidFill>
                <a:srgbClr val="60606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91336835"/>
      </p:ext>
    </p:extLst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9"/>
          <p:cNvSpPr txBox="1"/>
          <p:nvPr/>
        </p:nvSpPr>
        <p:spPr>
          <a:xfrm>
            <a:off x="2286000" y="1226844"/>
            <a:ext cx="13716000" cy="1192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</a:p>
        </p:txBody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30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Subdocumento 4 · Figura 14 · Vista general de la arquitectura física híbrida</a:t>
            </a:r>
          </a:p>
        </p:txBody>
      </p:sp>
      <p:sp>
        <p:nvSpPr>
          <p:cNvPr id="13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09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  <p:pic>
        <p:nvPicPr>
          <p:cNvPr id="3" name="Imagen 2" descr="Figura 14. Vista general de la arquitectura física híbrida (Subdocumento 4)">
            <a:extLst>
              <a:ext uri="{FF2B5EF4-FFF2-40B4-BE49-F238E27FC236}">
                <a16:creationId xmlns:a16="http://schemas.microsoft.com/office/drawing/2014/main" id="{EF9446A1-10A4-C09C-7DF8-0CC532732B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940" y="3200400"/>
            <a:ext cx="11370121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17709"/>
      </p:ext>
    </p:extLst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31044" y="1908274"/>
            <a:ext cx="8336653" cy="279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híbrida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3C3C3C"/>
                </a:solidFill>
                <a:latin typeface="Inter"/>
              </a:rPr>
              <a:t>La nube coordina; la bodega no se detiene.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8" y="630936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RTO ≤ 4 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630936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RPO ≤ 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6309360"/>
            <a:ext cx="237744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≥ 99,9 %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35608" y="7269480"/>
            <a:ext cx="3749039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14 h sin señal en terreno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7528" y="7269480"/>
            <a:ext cx="3749039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24 h sin enlace en el 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914400"/>
            <a:ext cx="5120640" cy="1463040"/>
          </a:xfrm>
          <a:prstGeom prst="roundRect">
            <a:avLst>
              <a:gd name="adj" fmla="val 1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Inter SemiBold"/>
              </a:rPr>
              <a:t>AWS São Paulo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Núcleo · 2 zonas de disponibilidad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59000" y="91440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DR Virginia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activo-pasivo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9264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E8641B"/>
                </a:solidFill>
                <a:latin typeface="Inter SemiBold"/>
              </a:rPr>
              <a:t>Fibra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88136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53312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34440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E8641B"/>
                </a:solidFill>
                <a:latin typeface="Inter SemiBold"/>
              </a:rPr>
              <a:t>LTE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2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18488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996159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800" b="1">
                <a:solidFill>
                  <a:srgbClr val="E8641B"/>
                </a:solidFill>
                <a:latin typeface="Inter SemiBold"/>
              </a:rPr>
              <a:t>Starlink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18488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0976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Inter SemiBold"/>
              </a:rPr>
              <a:t>CD Talca</a:t>
            </a:r>
          </a:p>
          <a:p>
            <a:pPr algn="l"/>
            <a:r>
              <a:rPr sz="1600" b="0">
                <a:solidFill>
                  <a:srgbClr val="C7C7C7"/>
                </a:solidFill>
                <a:latin typeface="Inter"/>
              </a:rPr>
              <a:t>Clúster de 3 nodos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7028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Inter SemiBold"/>
              </a:rPr>
              <a:t>CD Concepción</a:t>
            </a:r>
          </a:p>
          <a:p>
            <a:pPr algn="l"/>
            <a:r>
              <a:rPr sz="1600" b="0">
                <a:solidFill>
                  <a:srgbClr val="C7C7C7"/>
                </a:solidFill>
                <a:latin typeface="Inter"/>
              </a:rPr>
              <a:t>2 servidores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XD Curicó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2 mini-PC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9868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XD Chillán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2 mini-PC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08760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XD Los Ángeles</a:t>
            </a:r>
          </a:p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2 mini-PC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77724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  <a:latin typeface="Inter"/>
              </a:rPr>
              <a:t>Monolito modular Laravel · 8 capas · 22 ADR</a:t>
            </a:r>
          </a:p>
        </p:txBody>
      </p:sp>
      <p:sp>
        <p:nvSpPr>
          <p:cNvPr id="35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10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1131" y="5377797"/>
            <a:ext cx="1975674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046339" y="5230464"/>
            <a:ext cx="294667" cy="2946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24391" y="5211414"/>
            <a:ext cx="294667" cy="29466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02443" y="5192364"/>
            <a:ext cx="294667" cy="2946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68287" y="5230464"/>
            <a:ext cx="294667" cy="29466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90235" y="5230464"/>
            <a:ext cx="294667" cy="29466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9989" y="5829931"/>
            <a:ext cx="2719575" cy="2347765"/>
            <a:chOff x="0" y="0"/>
            <a:chExt cx="716267" cy="6183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6267" cy="618341"/>
            </a:xfrm>
            <a:custGeom>
              <a:avLst/>
              <a:gdLst/>
              <a:ahLst/>
              <a:cxnLst/>
              <a:rect l="l" t="t" r="r" b="b"/>
              <a:pathLst>
                <a:path w="716267" h="618341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28825" y="6148634"/>
            <a:ext cx="2421977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Lote y vencimiento al ingresar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55754" y="6148634"/>
            <a:ext cx="2421977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Historia térmica; decide Calidad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82684" y="6148634"/>
            <a:ext cx="2421977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Pallet o canastillo con su lote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4632" y="6166883"/>
            <a:ext cx="2421977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Paradas y temperatura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31484" y="6166883"/>
            <a:ext cx="2421977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Firma, foto o QR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511937" y="5811682"/>
            <a:ext cx="2719575" cy="2347765"/>
            <a:chOff x="0" y="0"/>
            <a:chExt cx="716267" cy="6183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267" cy="618341"/>
            </a:xfrm>
            <a:custGeom>
              <a:avLst/>
              <a:gdLst/>
              <a:ahLst/>
              <a:cxnLst/>
              <a:rect l="l" t="t" r="r" b="b"/>
              <a:pathLst>
                <a:path w="716267" h="618341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833885" y="5793433"/>
            <a:ext cx="2719575" cy="2347765"/>
            <a:chOff x="0" y="0"/>
            <a:chExt cx="716267" cy="61834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6267" cy="618341"/>
            </a:xfrm>
            <a:custGeom>
              <a:avLst/>
              <a:gdLst/>
              <a:ahLst/>
              <a:cxnLst/>
              <a:rect l="l" t="t" r="r" b="b"/>
              <a:pathLst>
                <a:path w="716267" h="618341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155833" y="5775184"/>
            <a:ext cx="2719575" cy="2347765"/>
            <a:chOff x="0" y="0"/>
            <a:chExt cx="716267" cy="61834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6267" cy="618341"/>
            </a:xfrm>
            <a:custGeom>
              <a:avLst/>
              <a:gdLst/>
              <a:ahLst/>
              <a:cxnLst/>
              <a:rect l="l" t="t" r="r" b="b"/>
              <a:pathLst>
                <a:path w="716267" h="618341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477781" y="5756936"/>
            <a:ext cx="2719575" cy="2347765"/>
            <a:chOff x="0" y="0"/>
            <a:chExt cx="716267" cy="61834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16267" cy="618341"/>
            </a:xfrm>
            <a:custGeom>
              <a:avLst/>
              <a:gdLst/>
              <a:ahLst/>
              <a:cxnLst/>
              <a:rect l="l" t="t" r="r" b="b"/>
              <a:pathLst>
                <a:path w="716267" h="618341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60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con una sola verdad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38788" y="4251679"/>
            <a:ext cx="2421977" cy="6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60736" y="4251679"/>
            <a:ext cx="2421977" cy="6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Lote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2684" y="4251679"/>
            <a:ext cx="2421977" cy="6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Unidad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4632" y="4251679"/>
            <a:ext cx="2421977" cy="6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626580" y="4251679"/>
            <a:ext cx="2421977" cy="6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Entrega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15 dominios · una sola fuente por dato · custodia EPCIS 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8321040"/>
            <a:ext cx="12801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MX" sz="2000" b="1">
                <a:solidFill>
                  <a:srgbClr val="3C3C3C"/>
                </a:solidFill>
                <a:latin typeface="Inter SemiBold"/>
              </a:rPr>
              <a:t>Migración: 16 GB de origen</a:t>
            </a:r>
            <a:r>
              <a:rPr sz="2000" b="1">
                <a:solidFill>
                  <a:srgbClr val="3C3C3C"/>
                </a:solidFill>
                <a:latin typeface="Inter SemiBold"/>
              </a:rPr>
              <a:t> · 0 diferencias sin explicar</a:t>
            </a:r>
          </a:p>
        </p:txBody>
      </p:sp>
      <p:sp>
        <p:nvSpPr>
          <p:cNvPr id="5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11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11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E8641B"/>
                </a:solidFill>
                <a:latin typeface="Inter SemiBold"/>
              </a:rPr>
              <a:t>PMBOK + RUP + DevSecOps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931920"/>
            <a:ext cx="73152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Valor ganado: alerta si SPI/CPI &lt; 0,90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Iteraciones de 2 semanas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Compuertas que bloquean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3C3C3C"/>
                </a:solidFill>
                <a:latin typeface="Inter"/>
              </a:rPr>
              <a:t>Sin despliegues en sep. y dic.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Ritmo de gobierno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82880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32920" y="182880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Seguimiento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92608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32920" y="29260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Comité de 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02336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32920" y="40233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Ejecutivo y Arquitectura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5120640"/>
            <a:ext cx="2194560" cy="82296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32920" y="512064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Inter"/>
              </a:rPr>
              <a:t>Comité de Operación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3550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06060"/>
                </a:solidFill>
                <a:latin typeface="Inter SemiBold"/>
              </a:rPr>
              <a:t>Fases RUP</a:t>
            </a:r>
          </a:p>
        </p:txBody>
      </p:sp>
      <p:sp>
        <p:nvSpPr>
          <p:cNvPr id="25" name="Chevron 24"/>
          <p:cNvSpPr/>
          <p:nvPr/>
        </p:nvSpPr>
        <p:spPr>
          <a:xfrm>
            <a:off x="9509760" y="6812280"/>
            <a:ext cx="2194560" cy="868680"/>
          </a:xfrm>
          <a:prstGeom prst="chevron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26" name="Chevron 25"/>
          <p:cNvSpPr/>
          <p:nvPr/>
        </p:nvSpPr>
        <p:spPr>
          <a:xfrm>
            <a:off x="11475720" y="6812280"/>
            <a:ext cx="2194560" cy="868680"/>
          </a:xfrm>
          <a:prstGeom prst="chevron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27" name="Chevron 26"/>
          <p:cNvSpPr/>
          <p:nvPr/>
        </p:nvSpPr>
        <p:spPr>
          <a:xfrm>
            <a:off x="13441680" y="6812280"/>
            <a:ext cx="2194560" cy="868680"/>
          </a:xfrm>
          <a:prstGeom prst="chevron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28" name="Chevron 27"/>
          <p:cNvSpPr/>
          <p:nvPr/>
        </p:nvSpPr>
        <p:spPr>
          <a:xfrm>
            <a:off x="15407640" y="6812280"/>
            <a:ext cx="2194560" cy="868680"/>
          </a:xfrm>
          <a:prstGeom prst="chevron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29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12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8641B"/>
                </a:solidFill>
                <a:latin typeface="Inter SemiBold"/>
              </a:rPr>
              <a:t>320 HH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7086600"/>
            <a:ext cx="8138160" cy="86868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Las fases 1 a 4 se repiten en cada etapa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235440" y="7086600"/>
            <a:ext cx="8138160" cy="8686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Operación concentra 129.879 HH</a:t>
            </a:r>
          </a:p>
        </p:txBody>
      </p:sp>
      <p:sp>
        <p:nvSpPr>
          <p:cNvPr id="110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13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77724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886968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886968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886968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886968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1.1 Definición inicial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178807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1.2 Alcance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534655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1.3 Planificación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890503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1.4 Interesados y comunicaciones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4246351" y="7360920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1.5 Gestión de calidad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22960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1.6 Gestión de riesgos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78807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1.7 Plan de reversibilidad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34655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1.8 Gobierno y control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890503" y="8129016"/>
            <a:ext cx="3218687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1.9 Cumplimiento normativo</a:t>
            </a:r>
          </a:p>
        </p:txBody>
      </p:sp>
      <p:sp>
        <p:nvSpPr>
          <p:cNvPr id="118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14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2890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38628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38628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38628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38628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2.1 Arquitectura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19499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2.2 Seguridad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1604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2.3 Sala técnica y racks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1258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2.4 Validación de diseños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200912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2.5 Continuidad del negocio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8056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2.6 Experiencia de usuario</a:t>
            </a:r>
          </a:p>
        </p:txBody>
      </p:sp>
      <p:sp>
        <p:nvSpPr>
          <p:cNvPr id="115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15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48056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590288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590288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590288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590288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3.1 Ambientes y CI/CD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19499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3.2 Servicios de nube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1604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3.3 Base compartida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1258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3.4 Módulos Etapa 1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200912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3.5 Módulos Etapa 2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805660" y="7360920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3.6 Integraciones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2296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3.7 Migración de datos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619499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3.8 Pruebas Etapa 1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1604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3.9 Pruebas Etapa 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21258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3.10 Innovaciones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2009120" y="8129016"/>
            <a:ext cx="265938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3.11 Documentación</a:t>
            </a:r>
          </a:p>
        </p:txBody>
      </p:sp>
      <p:sp>
        <p:nvSpPr>
          <p:cNvPr id="120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16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3222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41948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41948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41948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41948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4.1 Plan de implantación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1604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4.2 Marcha blanca y producción E1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200912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4.3 Marcha blanca y producción E2</a:t>
            </a:r>
          </a:p>
        </p:txBody>
      </p:sp>
      <p:sp>
        <p:nvSpPr>
          <p:cNvPr id="11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17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18387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293607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293607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293607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293607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5.1 Hardware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1777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5.2 Nube y licencias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21258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5.3 Enlaces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3407390" y="7360920"/>
            <a:ext cx="405765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5.4 Acuerdos con terceros</a:t>
            </a:r>
          </a:p>
        </p:txBody>
      </p:sp>
      <p:sp>
        <p:nvSpPr>
          <p:cNvPr id="113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18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35540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45267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45267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45267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45267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6.1 Sala técnica Talca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19499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6.2 Cableado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1604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6.3 Racks y gabinetes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1258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6.4 Seguridad física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200912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6.5 Equipamiento de campo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805660" y="7360920"/>
            <a:ext cx="26593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6.6 Configuración de sitios</a:t>
            </a:r>
          </a:p>
        </p:txBody>
      </p:sp>
      <p:sp>
        <p:nvSpPr>
          <p:cNvPr id="115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19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88719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1996927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1996927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1996927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1996927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7.1 Capacitación por roles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1604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7.2 Gestión del cambio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2009120" y="7360920"/>
            <a:ext cx="5455919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7.3 Evaluaciones y certificaciones</a:t>
            </a:r>
          </a:p>
        </p:txBody>
      </p:sp>
      <p:sp>
        <p:nvSpPr>
          <p:cNvPr id="11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20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3885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48587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48587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48587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48587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63623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4596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4596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4596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4596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8.1 Servicios de operación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178807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8.2 Mantenimiento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534655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8.3 Innovaciones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890503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8.4 Informes periódicos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4246351" y="7360920"/>
            <a:ext cx="3218687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8.5 Transferencia</a:t>
            </a:r>
          </a:p>
        </p:txBody>
      </p:sp>
      <p:sp>
        <p:nvSpPr>
          <p:cNvPr id="114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21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</a:t>
            </a:r>
          </a:p>
        </p:txBody>
      </p:sp>
      <p:sp>
        <p:nvSpPr>
          <p:cNvPr id="51" name="!!edt_root"/>
          <p:cNvSpPr/>
          <p:nvPr/>
        </p:nvSpPr>
        <p:spPr>
          <a:xfrm>
            <a:off x="6400800" y="3200400"/>
            <a:ext cx="54864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3977639"/>
            <a:ext cx="0" cy="246889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14500" y="4224528"/>
            <a:ext cx="1481328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145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ph1"/>
          <p:cNvSpPr/>
          <p:nvPr/>
        </p:nvSpPr>
        <p:spPr>
          <a:xfrm>
            <a:off x="8229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!!ph1a"/>
          <p:cNvSpPr txBox="1"/>
          <p:nvPr/>
        </p:nvSpPr>
        <p:spPr>
          <a:xfrm>
            <a:off x="9326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1</a:t>
            </a:r>
          </a:p>
        </p:txBody>
      </p:sp>
      <p:sp>
        <p:nvSpPr>
          <p:cNvPr id="57" name="!!ph1b"/>
          <p:cNvSpPr txBox="1"/>
          <p:nvPr/>
        </p:nvSpPr>
        <p:spPr>
          <a:xfrm>
            <a:off x="9326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58" name="!!ph1c"/>
          <p:cNvSpPr txBox="1"/>
          <p:nvPr/>
        </p:nvSpPr>
        <p:spPr>
          <a:xfrm>
            <a:off x="9326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sp>
        <p:nvSpPr>
          <p:cNvPr id="59" name="!!ph1d"/>
          <p:cNvSpPr txBox="1"/>
          <p:nvPr/>
        </p:nvSpPr>
        <p:spPr>
          <a:xfrm>
            <a:off x="9326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56616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!!ph2"/>
          <p:cNvSpPr/>
          <p:nvPr/>
        </p:nvSpPr>
        <p:spPr>
          <a:xfrm>
            <a:off x="267462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!!ph2a"/>
          <p:cNvSpPr txBox="1"/>
          <p:nvPr/>
        </p:nvSpPr>
        <p:spPr>
          <a:xfrm>
            <a:off x="278434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2</a:t>
            </a:r>
          </a:p>
        </p:txBody>
      </p:sp>
      <p:sp>
        <p:nvSpPr>
          <p:cNvPr id="63" name="!!ph2b"/>
          <p:cNvSpPr txBox="1"/>
          <p:nvPr/>
        </p:nvSpPr>
        <p:spPr>
          <a:xfrm>
            <a:off x="278434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!!ph2c"/>
          <p:cNvSpPr txBox="1"/>
          <p:nvPr/>
        </p:nvSpPr>
        <p:spPr>
          <a:xfrm>
            <a:off x="278434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sp>
        <p:nvSpPr>
          <p:cNvPr id="65" name="!!ph2d"/>
          <p:cNvSpPr txBox="1"/>
          <p:nvPr/>
        </p:nvSpPr>
        <p:spPr>
          <a:xfrm>
            <a:off x="278434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178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ph3"/>
          <p:cNvSpPr/>
          <p:nvPr/>
        </p:nvSpPr>
        <p:spPr>
          <a:xfrm>
            <a:off x="45262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!!ph3a"/>
          <p:cNvSpPr txBox="1"/>
          <p:nvPr/>
        </p:nvSpPr>
        <p:spPr>
          <a:xfrm>
            <a:off x="463600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3</a:t>
            </a:r>
          </a:p>
        </p:txBody>
      </p:sp>
      <p:sp>
        <p:nvSpPr>
          <p:cNvPr id="69" name="!!ph3b"/>
          <p:cNvSpPr txBox="1"/>
          <p:nvPr/>
        </p:nvSpPr>
        <p:spPr>
          <a:xfrm>
            <a:off x="463600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!!ph3c"/>
          <p:cNvSpPr txBox="1"/>
          <p:nvPr/>
        </p:nvSpPr>
        <p:spPr>
          <a:xfrm>
            <a:off x="463600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sp>
        <p:nvSpPr>
          <p:cNvPr id="71" name="!!ph3d"/>
          <p:cNvSpPr txBox="1"/>
          <p:nvPr/>
        </p:nvSpPr>
        <p:spPr>
          <a:xfrm>
            <a:off x="463600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26947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ph4"/>
          <p:cNvSpPr/>
          <p:nvPr/>
        </p:nvSpPr>
        <p:spPr>
          <a:xfrm>
            <a:off x="637794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!!ph4a"/>
          <p:cNvSpPr txBox="1"/>
          <p:nvPr/>
        </p:nvSpPr>
        <p:spPr>
          <a:xfrm>
            <a:off x="648766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4</a:t>
            </a:r>
          </a:p>
        </p:txBody>
      </p:sp>
      <p:sp>
        <p:nvSpPr>
          <p:cNvPr id="75" name="!!ph4b"/>
          <p:cNvSpPr txBox="1"/>
          <p:nvPr/>
        </p:nvSpPr>
        <p:spPr>
          <a:xfrm>
            <a:off x="648766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!!ph4c"/>
          <p:cNvSpPr txBox="1"/>
          <p:nvPr/>
        </p:nvSpPr>
        <p:spPr>
          <a:xfrm>
            <a:off x="648766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sp>
        <p:nvSpPr>
          <p:cNvPr id="77" name="!!ph4d"/>
          <p:cNvSpPr txBox="1"/>
          <p:nvPr/>
        </p:nvSpPr>
        <p:spPr>
          <a:xfrm>
            <a:off x="648766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2114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ph5"/>
          <p:cNvSpPr/>
          <p:nvPr/>
        </p:nvSpPr>
        <p:spPr>
          <a:xfrm>
            <a:off x="822960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0" name="!!ph5a"/>
          <p:cNvSpPr txBox="1"/>
          <p:nvPr/>
        </p:nvSpPr>
        <p:spPr>
          <a:xfrm>
            <a:off x="833932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5</a:t>
            </a:r>
          </a:p>
        </p:txBody>
      </p:sp>
      <p:sp>
        <p:nvSpPr>
          <p:cNvPr id="81" name="!!ph5b"/>
          <p:cNvSpPr txBox="1"/>
          <p:nvPr/>
        </p:nvSpPr>
        <p:spPr>
          <a:xfrm>
            <a:off x="833932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!!ph5c"/>
          <p:cNvSpPr txBox="1"/>
          <p:nvPr/>
        </p:nvSpPr>
        <p:spPr>
          <a:xfrm>
            <a:off x="833932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sp>
        <p:nvSpPr>
          <p:cNvPr id="83" name="!!ph5d"/>
          <p:cNvSpPr txBox="1"/>
          <p:nvPr/>
        </p:nvSpPr>
        <p:spPr>
          <a:xfrm>
            <a:off x="833932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97280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!!ph6"/>
          <p:cNvSpPr/>
          <p:nvPr/>
        </p:nvSpPr>
        <p:spPr>
          <a:xfrm>
            <a:off x="1008126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86" name="!!ph6a"/>
          <p:cNvSpPr txBox="1"/>
          <p:nvPr/>
        </p:nvSpPr>
        <p:spPr>
          <a:xfrm>
            <a:off x="10190988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6</a:t>
            </a:r>
          </a:p>
        </p:txBody>
      </p:sp>
      <p:sp>
        <p:nvSpPr>
          <p:cNvPr id="87" name="!!ph6b"/>
          <p:cNvSpPr txBox="1"/>
          <p:nvPr/>
        </p:nvSpPr>
        <p:spPr>
          <a:xfrm>
            <a:off x="10190988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88" name="!!ph6c"/>
          <p:cNvSpPr txBox="1"/>
          <p:nvPr/>
        </p:nvSpPr>
        <p:spPr>
          <a:xfrm>
            <a:off x="10190988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sp>
        <p:nvSpPr>
          <p:cNvPr id="89" name="!!ph6d"/>
          <p:cNvSpPr txBox="1"/>
          <p:nvPr/>
        </p:nvSpPr>
        <p:spPr>
          <a:xfrm>
            <a:off x="10190988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24459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!!ph7"/>
          <p:cNvSpPr/>
          <p:nvPr/>
        </p:nvSpPr>
        <p:spPr>
          <a:xfrm>
            <a:off x="11932919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2" name="!!ph7a"/>
          <p:cNvSpPr txBox="1"/>
          <p:nvPr/>
        </p:nvSpPr>
        <p:spPr>
          <a:xfrm>
            <a:off x="1204264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7</a:t>
            </a:r>
          </a:p>
        </p:txBody>
      </p:sp>
      <p:sp>
        <p:nvSpPr>
          <p:cNvPr id="93" name="!!ph7b"/>
          <p:cNvSpPr txBox="1"/>
          <p:nvPr/>
        </p:nvSpPr>
        <p:spPr>
          <a:xfrm>
            <a:off x="1204264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!!ph7c"/>
          <p:cNvSpPr txBox="1"/>
          <p:nvPr/>
        </p:nvSpPr>
        <p:spPr>
          <a:xfrm>
            <a:off x="1204264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sp>
        <p:nvSpPr>
          <p:cNvPr id="95" name="!!ph7d"/>
          <p:cNvSpPr txBox="1"/>
          <p:nvPr/>
        </p:nvSpPr>
        <p:spPr>
          <a:xfrm>
            <a:off x="1204264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67612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!!ph8"/>
          <p:cNvSpPr/>
          <p:nvPr/>
        </p:nvSpPr>
        <p:spPr>
          <a:xfrm>
            <a:off x="13784580" y="4434840"/>
            <a:ext cx="1783080" cy="21945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98" name="!!ph8a"/>
          <p:cNvSpPr txBox="1"/>
          <p:nvPr/>
        </p:nvSpPr>
        <p:spPr>
          <a:xfrm>
            <a:off x="13894307" y="4544568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7C7C7"/>
                </a:solidFill>
                <a:latin typeface="Inter SemiBold"/>
              </a:rPr>
              <a:t>Fase 8</a:t>
            </a:r>
          </a:p>
        </p:txBody>
      </p:sp>
      <p:sp>
        <p:nvSpPr>
          <p:cNvPr id="99" name="!!ph8b"/>
          <p:cNvSpPr txBox="1"/>
          <p:nvPr/>
        </p:nvSpPr>
        <p:spPr>
          <a:xfrm>
            <a:off x="13894307" y="4846320"/>
            <a:ext cx="156362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!!ph8c"/>
          <p:cNvSpPr txBox="1"/>
          <p:nvPr/>
        </p:nvSpPr>
        <p:spPr>
          <a:xfrm>
            <a:off x="13894307" y="5577840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sp>
        <p:nvSpPr>
          <p:cNvPr id="101" name="!!ph8d"/>
          <p:cNvSpPr txBox="1"/>
          <p:nvPr/>
        </p:nvSpPr>
        <p:spPr>
          <a:xfrm>
            <a:off x="13894307" y="5989320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27780" y="4224528"/>
            <a:ext cx="0" cy="210312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!!ph9"/>
          <p:cNvSpPr/>
          <p:nvPr/>
        </p:nvSpPr>
        <p:spPr>
          <a:xfrm>
            <a:off x="15590519" y="4325112"/>
            <a:ext cx="1874519" cy="2414015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4" name="!!ph9a"/>
          <p:cNvSpPr txBox="1"/>
          <p:nvPr/>
        </p:nvSpPr>
        <p:spPr>
          <a:xfrm>
            <a:off x="15700247" y="44348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Fase 9</a:t>
            </a:r>
          </a:p>
        </p:txBody>
      </p:sp>
      <p:sp>
        <p:nvSpPr>
          <p:cNvPr id="105" name="!!ph9b"/>
          <p:cNvSpPr txBox="1"/>
          <p:nvPr/>
        </p:nvSpPr>
        <p:spPr>
          <a:xfrm>
            <a:off x="15700247" y="4736592"/>
            <a:ext cx="16550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06" name="!!ph9c"/>
          <p:cNvSpPr txBox="1"/>
          <p:nvPr/>
        </p:nvSpPr>
        <p:spPr>
          <a:xfrm>
            <a:off x="15700247" y="5468112"/>
            <a:ext cx="16550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07" name="!!ph9d"/>
          <p:cNvSpPr txBox="1"/>
          <p:nvPr/>
        </p:nvSpPr>
        <p:spPr>
          <a:xfrm>
            <a:off x="15700247" y="5879592"/>
            <a:ext cx="165506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7360920"/>
            <a:ext cx="825246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9.1 Cierre de la implementación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212580" y="7360920"/>
            <a:ext cx="825246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111111"/>
                </a:solidFill>
                <a:latin typeface="Inter SemiBold"/>
              </a:rPr>
              <a:t>9.2 Salida al término del contrato</a:t>
            </a:r>
          </a:p>
        </p:txBody>
      </p:sp>
      <p:sp>
        <p:nvSpPr>
          <p:cNvPr id="111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22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3838" y="1097280"/>
            <a:ext cx="6035040" cy="265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2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606060"/>
                </a:solidFill>
                <a:latin typeface="Inter"/>
              </a:rPr>
              <a:t>2 etapas + operación
8 frentes con 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8641B"/>
                </a:solidFill>
                <a:latin typeface="Inter SemiBold"/>
              </a:rPr>
              <a:t>Solapes: meses 13–15 y 19–20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BLOQUES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Etapa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m1–16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Etapa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m13–21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Operación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m21–56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FRENTES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F1 Dirección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Jefe de Proyecto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F2 Arquitectura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Arquitecto de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F3 Construcción E1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Desarrollo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F4 Construcción E2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Desarrollo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F5 Plataforma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Operación/SRE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F6 Calidad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Calidad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F7 Implantación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Implantación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F8 Operación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Líder de Operación/SRE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  <a:latin typeface="Inter"/>
              </a:rPr>
              <a:t>m56</a:t>
            </a:r>
          </a:p>
        </p:txBody>
      </p:sp>
      <p:sp>
        <p:nvSpPr>
          <p:cNvPr id="5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23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reversión y riesgos a la vista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6097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69530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4118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49740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8180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4390369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16201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6070579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01752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Gris = congelamiento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338328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Diseño e infraestructura</a:t>
            </a:r>
          </a:p>
        </p:txBody>
      </p:sp>
      <p:sp>
        <p:nvSpPr>
          <p:cNvPr id="61" name="!!gv_0"/>
          <p:cNvSpPr/>
          <p:nvPr/>
        </p:nvSpPr>
        <p:spPr>
          <a:xfrm>
            <a:off x="3840480" y="3383280"/>
            <a:ext cx="18288" cy="310896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378561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E1</a:t>
            </a:r>
          </a:p>
        </p:txBody>
      </p:sp>
      <p:sp>
        <p:nvSpPr>
          <p:cNvPr id="63" name="!!gv_1"/>
          <p:cNvSpPr/>
          <p:nvPr/>
        </p:nvSpPr>
        <p:spPr>
          <a:xfrm>
            <a:off x="6080760" y="3785616"/>
            <a:ext cx="18288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418795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65" name="!!gv_2"/>
          <p:cNvSpPr/>
          <p:nvPr/>
        </p:nvSpPr>
        <p:spPr>
          <a:xfrm>
            <a:off x="7200900" y="4187952"/>
            <a:ext cx="18288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1520" y="459028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E1</a:t>
            </a:r>
          </a:p>
        </p:txBody>
      </p:sp>
      <p:sp>
        <p:nvSpPr>
          <p:cNvPr id="67" name="!!gv_3"/>
          <p:cNvSpPr/>
          <p:nvPr/>
        </p:nvSpPr>
        <p:spPr>
          <a:xfrm>
            <a:off x="10561320" y="4590288"/>
            <a:ext cx="18288" cy="310896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499262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E2</a:t>
            </a:r>
          </a:p>
        </p:txBody>
      </p:sp>
      <p:sp>
        <p:nvSpPr>
          <p:cNvPr id="69" name="!!gv_4"/>
          <p:cNvSpPr/>
          <p:nvPr/>
        </p:nvSpPr>
        <p:spPr>
          <a:xfrm>
            <a:off x="10561320" y="4992624"/>
            <a:ext cx="18288" cy="310896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1520" y="539496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E2</a:t>
            </a:r>
          </a:p>
        </p:txBody>
      </p:sp>
      <p:sp>
        <p:nvSpPr>
          <p:cNvPr id="71" name="!!gv_5"/>
          <p:cNvSpPr/>
          <p:nvPr/>
        </p:nvSpPr>
        <p:spPr>
          <a:xfrm>
            <a:off x="13921739" y="5394960"/>
            <a:ext cx="18288" cy="310896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31520" y="579729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73" name="!!gv_6"/>
          <p:cNvSpPr/>
          <p:nvPr/>
        </p:nvSpPr>
        <p:spPr>
          <a:xfrm>
            <a:off x="4400550" y="5797296"/>
            <a:ext cx="18288" cy="310896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61996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Operación → m56</a:t>
            </a:r>
          </a:p>
        </p:txBody>
      </p:sp>
      <p:sp>
        <p:nvSpPr>
          <p:cNvPr id="75" name="!!gv_7"/>
          <p:cNvSpPr/>
          <p:nvPr/>
        </p:nvSpPr>
        <p:spPr>
          <a:xfrm>
            <a:off x="15041880" y="6199632"/>
            <a:ext cx="18288" cy="310896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60196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Cambios de software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700430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75712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Riesgos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840480" y="7991856"/>
            <a:ext cx="13441680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84048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0055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062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2069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8076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4082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0090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6097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8110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4118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125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2139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68145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24153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0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36167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92173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48180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04188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60195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16201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72208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24</a:t>
            </a:r>
          </a:p>
        </p:txBody>
      </p:sp>
      <p:sp>
        <p:nvSpPr>
          <p:cNvPr id="104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24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 advTm="100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8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286000" y="1226844"/>
            <a:ext cx="13716000" cy="147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56791" y="8961120"/>
            <a:ext cx="19488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28800" y="2579477"/>
            <a:ext cx="146304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reversión y riesgos a la vista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6097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69530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41180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49740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8180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4390369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162019" y="3337560"/>
            <a:ext cx="560069" cy="459028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6070579" y="3017520"/>
            <a:ext cx="7429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01752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Gris = congelamiento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338328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Diseño e infraestructura</a:t>
            </a:r>
          </a:p>
        </p:txBody>
      </p:sp>
      <p:sp>
        <p:nvSpPr>
          <p:cNvPr id="61" name="!!gv_0"/>
          <p:cNvSpPr/>
          <p:nvPr/>
        </p:nvSpPr>
        <p:spPr>
          <a:xfrm>
            <a:off x="3840480" y="3383280"/>
            <a:ext cx="6720840" cy="310896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378561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E1</a:t>
            </a:r>
          </a:p>
        </p:txBody>
      </p:sp>
      <p:sp>
        <p:nvSpPr>
          <p:cNvPr id="63" name="!!gv_1"/>
          <p:cNvSpPr/>
          <p:nvPr/>
        </p:nvSpPr>
        <p:spPr>
          <a:xfrm>
            <a:off x="6080760" y="3785616"/>
            <a:ext cx="3360420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418795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65" name="!!gv_2"/>
          <p:cNvSpPr/>
          <p:nvPr/>
        </p:nvSpPr>
        <p:spPr>
          <a:xfrm>
            <a:off x="7200900" y="4187952"/>
            <a:ext cx="3360420" cy="310896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1520" y="459028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E1</a:t>
            </a:r>
          </a:p>
        </p:txBody>
      </p:sp>
      <p:sp>
        <p:nvSpPr>
          <p:cNvPr id="67" name="!!gv_3"/>
          <p:cNvSpPr/>
          <p:nvPr/>
        </p:nvSpPr>
        <p:spPr>
          <a:xfrm>
            <a:off x="10561320" y="4590288"/>
            <a:ext cx="1680210" cy="310896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561320" y="4590288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Olas 1·2·3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99262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Construcción y pruebas E2</a:t>
            </a:r>
          </a:p>
        </p:txBody>
      </p:sp>
      <p:sp>
        <p:nvSpPr>
          <p:cNvPr id="70" name="!!gv_4"/>
          <p:cNvSpPr/>
          <p:nvPr/>
        </p:nvSpPr>
        <p:spPr>
          <a:xfrm>
            <a:off x="10561320" y="4992624"/>
            <a:ext cx="3360420" cy="310896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1520" y="539496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Marcha blanca E2</a:t>
            </a:r>
          </a:p>
        </p:txBody>
      </p:sp>
      <p:sp>
        <p:nvSpPr>
          <p:cNvPr id="72" name="!!gv_5"/>
          <p:cNvSpPr/>
          <p:nvPr/>
        </p:nvSpPr>
        <p:spPr>
          <a:xfrm>
            <a:off x="13921739" y="5394960"/>
            <a:ext cx="1120139" cy="310896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1520" y="579729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74" name="!!gv_6"/>
          <p:cNvSpPr/>
          <p:nvPr/>
        </p:nvSpPr>
        <p:spPr>
          <a:xfrm>
            <a:off x="4400550" y="5797296"/>
            <a:ext cx="11201399" cy="310896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1520" y="61996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Operación → m56</a:t>
            </a:r>
          </a:p>
        </p:txBody>
      </p:sp>
      <p:sp>
        <p:nvSpPr>
          <p:cNvPr id="76" name="!!gv_7"/>
          <p:cNvSpPr/>
          <p:nvPr/>
        </p:nvSpPr>
        <p:spPr>
          <a:xfrm>
            <a:off x="15041880" y="6199632"/>
            <a:ext cx="2240279" cy="310896"/>
          </a:xfrm>
          <a:prstGeom prst="homePlate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1520" y="660196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Cambios de software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700430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75712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Riesgos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840480" y="7991856"/>
            <a:ext cx="13441680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84048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0055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6062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2069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8076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4082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090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6097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8110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4118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0125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2139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68145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24153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80160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36167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92173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48180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04188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601950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16201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722089" y="802843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Inter"/>
              </a:rPr>
              <a:t>24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441180" y="6601968"/>
            <a:ext cx="156819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↺ Reversión E1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2801600" y="6601968"/>
            <a:ext cx="156819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↺ Reversión E2</a:t>
            </a:r>
          </a:p>
        </p:txBody>
      </p:sp>
      <p:sp>
        <p:nvSpPr>
          <p:cNvPr id="107" name="Diamond 106"/>
          <p:cNvSpPr/>
          <p:nvPr/>
        </p:nvSpPr>
        <p:spPr>
          <a:xfrm>
            <a:off x="457085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40055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H1</a:t>
            </a:r>
          </a:p>
        </p:txBody>
      </p:sp>
      <p:sp>
        <p:nvSpPr>
          <p:cNvPr id="109" name="Diamond 108"/>
          <p:cNvSpPr/>
          <p:nvPr/>
        </p:nvSpPr>
        <p:spPr>
          <a:xfrm>
            <a:off x="569099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2069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H2</a:t>
            </a:r>
          </a:p>
        </p:txBody>
      </p:sp>
      <p:sp>
        <p:nvSpPr>
          <p:cNvPr id="111" name="Diamond 110"/>
          <p:cNvSpPr/>
          <p:nvPr/>
        </p:nvSpPr>
        <p:spPr>
          <a:xfrm>
            <a:off x="681113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40829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H3</a:t>
            </a:r>
          </a:p>
        </p:txBody>
      </p:sp>
      <p:sp>
        <p:nvSpPr>
          <p:cNvPr id="113" name="Diamond 112"/>
          <p:cNvSpPr/>
          <p:nvPr/>
        </p:nvSpPr>
        <p:spPr>
          <a:xfrm>
            <a:off x="905141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881109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H4</a:t>
            </a:r>
          </a:p>
        </p:txBody>
      </p:sp>
      <p:sp>
        <p:nvSpPr>
          <p:cNvPr id="115" name="Diamond 114"/>
          <p:cNvSpPr/>
          <p:nvPr/>
        </p:nvSpPr>
        <p:spPr>
          <a:xfrm>
            <a:off x="1017155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00125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H5</a:t>
            </a:r>
          </a:p>
        </p:txBody>
      </p:sp>
      <p:sp>
        <p:nvSpPr>
          <p:cNvPr id="117" name="Diamond 116"/>
          <p:cNvSpPr/>
          <p:nvPr/>
        </p:nvSpPr>
        <p:spPr>
          <a:xfrm>
            <a:off x="1073162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056132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H6</a:t>
            </a:r>
          </a:p>
        </p:txBody>
      </p:sp>
      <p:sp>
        <p:nvSpPr>
          <p:cNvPr id="119" name="Diamond 118"/>
          <p:cNvSpPr/>
          <p:nvPr/>
        </p:nvSpPr>
        <p:spPr>
          <a:xfrm>
            <a:off x="1129169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12139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H8</a:t>
            </a:r>
          </a:p>
        </p:txBody>
      </p:sp>
      <p:sp>
        <p:nvSpPr>
          <p:cNvPr id="121" name="Diamond 120"/>
          <p:cNvSpPr/>
          <p:nvPr/>
        </p:nvSpPr>
        <p:spPr>
          <a:xfrm>
            <a:off x="12411837" y="7022592"/>
            <a:ext cx="219456" cy="219456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224153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8641B"/>
                </a:solidFill>
                <a:latin typeface="Inter SemiBold"/>
              </a:rPr>
              <a:t>H7</a:t>
            </a:r>
          </a:p>
        </p:txBody>
      </p:sp>
      <p:sp>
        <p:nvSpPr>
          <p:cNvPr id="123" name="Diamond 122"/>
          <p:cNvSpPr/>
          <p:nvPr/>
        </p:nvSpPr>
        <p:spPr>
          <a:xfrm>
            <a:off x="1297190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280160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H9</a:t>
            </a:r>
          </a:p>
        </p:txBody>
      </p:sp>
      <p:sp>
        <p:nvSpPr>
          <p:cNvPr id="125" name="Diamond 124"/>
          <p:cNvSpPr/>
          <p:nvPr/>
        </p:nvSpPr>
        <p:spPr>
          <a:xfrm>
            <a:off x="1353197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336167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H10</a:t>
            </a:r>
          </a:p>
        </p:txBody>
      </p:sp>
      <p:sp>
        <p:nvSpPr>
          <p:cNvPr id="127" name="Diamond 126"/>
          <p:cNvSpPr/>
          <p:nvPr/>
        </p:nvSpPr>
        <p:spPr>
          <a:xfrm>
            <a:off x="14092047" y="7022592"/>
            <a:ext cx="219456" cy="219456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3921739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Inter SemiBold"/>
              </a:rPr>
              <a:t>H11</a:t>
            </a:r>
          </a:p>
        </p:txBody>
      </p:sp>
      <p:sp>
        <p:nvSpPr>
          <p:cNvPr id="129" name="Diamond 128"/>
          <p:cNvSpPr/>
          <p:nvPr/>
        </p:nvSpPr>
        <p:spPr>
          <a:xfrm>
            <a:off x="15212186" y="7022592"/>
            <a:ext cx="219456" cy="219456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5041880" y="7251192"/>
            <a:ext cx="5600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8641B"/>
                </a:solidFill>
                <a:latin typeface="Inter SemiBold"/>
              </a:rPr>
              <a:t>H12</a:t>
            </a:r>
          </a:p>
        </p:txBody>
      </p:sp>
      <p:sp>
        <p:nvSpPr>
          <p:cNvPr id="131" name="Oval 130"/>
          <p:cNvSpPr/>
          <p:nvPr/>
        </p:nvSpPr>
        <p:spPr>
          <a:xfrm>
            <a:off x="453428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2" name="Oval 131"/>
          <p:cNvSpPr/>
          <p:nvPr/>
        </p:nvSpPr>
        <p:spPr>
          <a:xfrm>
            <a:off x="565442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3" name="Oval 132"/>
          <p:cNvSpPr/>
          <p:nvPr/>
        </p:nvSpPr>
        <p:spPr>
          <a:xfrm>
            <a:off x="677456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4" name="Oval 133"/>
          <p:cNvSpPr/>
          <p:nvPr/>
        </p:nvSpPr>
        <p:spPr>
          <a:xfrm>
            <a:off x="789470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35" name="Oval 134"/>
          <p:cNvSpPr/>
          <p:nvPr/>
        </p:nvSpPr>
        <p:spPr>
          <a:xfrm>
            <a:off x="957491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36" name="Oval 135"/>
          <p:cNvSpPr/>
          <p:nvPr/>
        </p:nvSpPr>
        <p:spPr>
          <a:xfrm>
            <a:off x="10134981" y="7580376"/>
            <a:ext cx="292608" cy="29260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840480" y="8357616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Riesgos: m2 R-001 · m4 R-014 · m6 R-006 · m8 R-005, R-011 · m11 R-003, R-013, R-015, R-016 · m12 R-012</a:t>
            </a:r>
          </a:p>
        </p:txBody>
      </p:sp>
      <p:sp>
        <p:nvSpPr>
          <p:cNvPr id="138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24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</a:p>
        </p:txBody>
      </p:sp>
      <p:sp>
        <p:nvSpPr>
          <p:cNvPr id="1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8.106 HH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máximo mensual · mes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69 personas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1700" b="0">
                <a:solidFill>
                  <a:srgbClr val="606060"/>
                </a:solidFill>
                <a:latin typeface="Inter"/>
              </a:rPr>
              <a:t>equivalentes · peak del mes 15</a:t>
            </a:r>
            <a:endParaRPr sz="1700" b="0">
              <a:solidFill>
                <a:srgbClr val="606060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≈3.200–3.900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HH/mes en operación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217.543 HH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programadas en total</a:t>
            </a:r>
          </a:p>
        </p:txBody>
      </p:sp>
      <p:graphicFrame>
        <p:nvGraphicFramePr>
          <p:cNvPr id="21" name="Esfuerzo mensual"/>
          <p:cNvGraphicFramePr>
            <a:graphicFrameLocks noGrp="1"/>
          </p:cNvGraphicFramePr>
          <p:nvPr/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FFFFFF"/>
                </a:solidFill>
                <a:latin typeface="Inter SemiBold"/>
              </a:rPr>
              <a:t>25</a:t>
            </a:r>
            <a:endParaRPr sz="1600" b="1">
              <a:solidFill>
                <a:srgbClr val="FFFFFF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31044" y="1908274"/>
            <a:ext cx="7589520" cy="310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2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3C3C3C"/>
                </a:solidFill>
                <a:latin typeface="Inter"/>
              </a:rPr>
              <a:t>7 ramas · 45 riesgos · ISO 31000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35608" y="5760720"/>
            <a:ext cx="325120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60728" y="5760720"/>
            <a:ext cx="3738879" cy="5029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99608" y="5760720"/>
            <a:ext cx="3088640" cy="5029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88248" y="5760720"/>
            <a:ext cx="162560" cy="502920"/>
          </a:xfrm>
          <a:prstGeom prst="rect">
            <a:avLst/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5608" y="640080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C3C3C"/>
                </a:solidFill>
                <a:latin typeface="Inter"/>
              </a:rPr>
              <a:t>2 críticos · 23 altos · 19 medios · 1 bajo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914400"/>
            <a:ext cx="1737360" cy="7370064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Inter SemiBold"/>
              </a:rPr>
              <a:t>45</a:t>
            </a:r>
          </a:p>
          <a:p>
            <a:pPr algn="ctr"/>
            <a:r>
              <a:rPr sz="1700" b="0">
                <a:solidFill>
                  <a:srgbClr val="C7C7C7"/>
                </a:solidFill>
                <a:latin typeface="Inter"/>
              </a:rPr>
              <a:t>riesgos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064240" y="1362456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0" y="914400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1" name="!!rama1"/>
          <p:cNvSpPr/>
          <p:nvPr/>
        </p:nvSpPr>
        <p:spPr>
          <a:xfrm>
            <a:off x="11567160" y="1042416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90120" y="9875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1 · Solución y tecnología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0120" y="138988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R-012 Retiro · R-015 RTO/RPO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064240" y="2441448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430000" y="1993391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6" name="!!rama2"/>
          <p:cNvSpPr/>
          <p:nvPr/>
        </p:nvSpPr>
        <p:spPr>
          <a:xfrm>
            <a:off x="11567160" y="2121408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90120" y="2066543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2 · Integración y legado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90120" y="2468879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R-001 Interfaces ERP · R-003 WMS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064240" y="3520439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30000" y="3072384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1" name="!!rama3"/>
          <p:cNvSpPr/>
          <p:nvPr/>
        </p:nvSpPr>
        <p:spPr>
          <a:xfrm>
            <a:off x="11567160" y="3200400"/>
            <a:ext cx="640080" cy="640080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90120" y="3145536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3 · Operación del cliente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90120" y="3547872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R-006 Enlaces · R-014 Sala y energía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064240" y="4599432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1430000" y="4151376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6" name="!!rama4"/>
          <p:cNvSpPr/>
          <p:nvPr/>
        </p:nvSpPr>
        <p:spPr>
          <a:xfrm>
            <a:off x="11567160" y="4279392"/>
            <a:ext cx="640080" cy="640080"/>
          </a:xfrm>
          <a:prstGeom prst="ellipse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90120" y="4224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4 · Personas y adopción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90120" y="4626864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R-017 Sindicato · R-021 Rutas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064240" y="5678424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1430000" y="5230368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1" name="!!rama5"/>
          <p:cNvSpPr/>
          <p:nvPr/>
        </p:nvSpPr>
        <p:spPr>
          <a:xfrm>
            <a:off x="11567160" y="5358383"/>
            <a:ext cx="640080" cy="6400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90120" y="53035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5 · Contrato y licitación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90120" y="5705856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R-026 Aceptación · R-027 Alcance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064240" y="6757416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1430000" y="6309359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6" name="!!rama6"/>
          <p:cNvSpPr/>
          <p:nvPr/>
        </p:nvSpPr>
        <p:spPr>
          <a:xfrm>
            <a:off x="11567160" y="6437375"/>
            <a:ext cx="640080" cy="640080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90120" y="63825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6 · Regulatorio y externo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90120" y="6784848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R-029 Evidencia · R-042 Normativa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064240" y="7836408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1430000" y="7388352"/>
            <a:ext cx="630936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1" name="!!rama7"/>
          <p:cNvSpPr/>
          <p:nvPr/>
        </p:nvSpPr>
        <p:spPr>
          <a:xfrm>
            <a:off x="11567160" y="7516368"/>
            <a:ext cx="640080" cy="640080"/>
          </a:xfrm>
          <a:prstGeom prst="ellipse">
            <a:avLst/>
          </a:prstGeom>
          <a:solidFill>
            <a:srgbClr val="B84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90120" y="746150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7 · Empresa proveedora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90120" y="786384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R-025 Dotación · R-034 Mesa y NOC</a:t>
            </a:r>
          </a:p>
        </p:txBody>
      </p:sp>
      <p:sp>
        <p:nvSpPr>
          <p:cNvPr id="54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26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3838" y="1097280"/>
            <a:ext cx="603504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6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9616" y="3657600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06060"/>
                </a:solidFill>
                <a:latin typeface="Inter"/>
              </a:rPr>
              <a:t>Respuesta: mitigar
Probabilidad inicial → 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2120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E8641B"/>
                </a:solidFill>
                <a:latin typeface="Inter SemiBold"/>
              </a:rPr>
              <a:t>2.058 HH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577900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de contingencia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63093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E8641B"/>
                </a:solidFill>
                <a:latin typeface="Inter SemiBold"/>
              </a:rPr>
              <a:t>1.600 HH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6876288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de reserva de gestión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763524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A9A9A"/>
                </a:solidFill>
                <a:latin typeface="Inter"/>
              </a:rPr>
              <a:t>Objetivo condicionado a validación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8686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8686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32920" y="868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MITIGACIÓN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0" y="8686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A9A9A"/>
                </a:solidFill>
                <a:latin typeface="Inter SemiBold"/>
              </a:rPr>
              <a:t>PROB.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234440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3" name="!!rama1"/>
          <p:cNvSpPr/>
          <p:nvPr/>
        </p:nvSpPr>
        <p:spPr>
          <a:xfrm>
            <a:off x="7680960" y="1508760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32588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R-012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01168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M. Miño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32920" y="123444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Retiro simulado de punta a punta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36240" y="1234440"/>
            <a:ext cx="1920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35 %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496312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80960" y="2770632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587752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R-015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Recuperación fuera de RTO/RPO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7355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G. Castillo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2920" y="2496312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Ensayo de desastre 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6240" y="2496312"/>
            <a:ext cx="1920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35 %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758183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680960" y="4032503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849623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R-005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Duplicados al reconectar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535423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T. Pérez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932920" y="3758183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Inyección de fallas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636240" y="3758183"/>
            <a:ext cx="1920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30 %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5020056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1" name="!!rama3"/>
          <p:cNvSpPr/>
          <p:nvPr/>
        </p:nvSpPr>
        <p:spPr>
          <a:xfrm>
            <a:off x="7680960" y="5294376"/>
            <a:ext cx="594360" cy="594360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111496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R-006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Caída de enlaces Concepción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797296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G. Castillo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32920" y="5020056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Simulacro de caída fibra y LTE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36240" y="5020056"/>
            <a:ext cx="1920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25 %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6281927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680960" y="6556247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373367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R-013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7059167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G. Castillo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32920" y="6281927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Prueba de carga en despacho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36240" y="6281927"/>
            <a:ext cx="1920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30 %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0" y="7543800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3" name="!!rama2"/>
          <p:cNvSpPr/>
          <p:nvPr/>
        </p:nvSpPr>
        <p:spPr>
          <a:xfrm>
            <a:off x="7680960" y="7818120"/>
            <a:ext cx="594360" cy="59436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763524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R-001  </a:t>
            </a:r>
            <a:r>
              <a:rPr sz="1600" b="1">
                <a:solidFill>
                  <a:srgbClr val="111111"/>
                </a:solidFill>
                <a:latin typeface="Inter SemiBold"/>
              </a:rPr>
              <a:t>Interfaces ERP no utilizables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8321040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B. Trejo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932920" y="75438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Contrato de interfaz probado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636240" y="7543800"/>
            <a:ext cx="1920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9A9A9A"/>
                </a:solidFill>
                <a:latin typeface="Inter SemiBold"/>
              </a:rPr>
              <a:t>45 % → </a:t>
            </a:r>
            <a:r>
              <a:rPr sz="2000" b="1">
                <a:solidFill>
                  <a:srgbClr val="E8641B"/>
                </a:solidFill>
                <a:latin typeface="Inter SemiBold"/>
              </a:rPr>
              <a:t>20 %</a:t>
            </a:r>
          </a:p>
        </p:txBody>
      </p:sp>
      <p:sp>
        <p:nvSpPr>
          <p:cNvPr id="58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27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9389512" y="1188720"/>
            <a:ext cx="5486400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y leyes</a:t>
            </a:r>
          </a:p>
        </p:txBody>
      </p:sp>
      <p:sp>
        <p:nvSpPr>
          <p:cNvPr id="1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1280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NORMAS DE CALIDAD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2651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ISO/IEC 25010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954027"/>
            <a:ext cx="51663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1700" b="0">
                <a:solidFill>
                  <a:srgbClr val="3C3C3C"/>
                </a:solidFill>
                <a:latin typeface="Inter"/>
              </a:rPr>
              <a:t>Preparación p95 ≤ 1 s · ≥ 99,9 % disponible</a:t>
            </a:r>
            <a:endParaRPr sz="1700" b="0">
              <a:solidFill>
                <a:srgbClr val="3C3C3C"/>
              </a:solidFill>
              <a:latin typeface="Inter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2587752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587752"/>
            <a:ext cx="2651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ISO/IEC 25012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87752"/>
            <a:ext cx="5166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Datos completos y conciliados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83864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46251"/>
            <a:ext cx="26517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1">
                <a:solidFill>
                  <a:srgbClr val="111111"/>
                </a:solidFill>
                <a:latin typeface="Inter SemiBold"/>
              </a:rPr>
              <a:t>ISO/IEC/IEEE 29119</a:t>
            </a:r>
            <a:endParaRPr sz="1700" b="1">
              <a:solidFill>
                <a:srgbClr val="111111"/>
              </a:solidFill>
              <a:latin typeface="Inter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3483864"/>
            <a:ext cx="5166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Pruebas en tres niveles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79976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379976"/>
            <a:ext cx="2651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PMBOK cap.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642363"/>
            <a:ext cx="516636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700" b="0">
                <a:solidFill>
                  <a:srgbClr val="3C3C3C"/>
                </a:solidFill>
                <a:latin typeface="Inter"/>
              </a:rPr>
              <a:t>Conformidad programada: 11.136 HH</a:t>
            </a:r>
            <a:endParaRPr sz="1700" b="0">
              <a:solidFill>
                <a:srgbClr val="3C3C3C"/>
              </a:solidFill>
              <a:latin typeface="Inte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5276088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276088"/>
            <a:ext cx="2651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WCAG 2.2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276088"/>
            <a:ext cx="5166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0 incumplimientos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172200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2651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OWASP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172200"/>
            <a:ext cx="5166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0 hallazgos críticos o altos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7068312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7068312"/>
            <a:ext cx="2651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ISO 9001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7068312"/>
            <a:ext cx="5166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Auditoría del sistema de calidad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7964423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7964423"/>
            <a:ext cx="2651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CMMI-DEV N3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7964423"/>
            <a:ext cx="5166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Revisión por pares y auditorías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36576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LEYES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406908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Decreto 977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4348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≤ −18 °C registrado y retiro expedito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498348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SII · DTE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53492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Guía electrónica y acuse de recibo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589788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Art. 25 bis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62636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Jornada de conductores en el ruteo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681228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Ley 21.719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71780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Datos personales, desde dic-2026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7726679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GS1 · EDI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0888" y="8092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GTIN, GLN y SSCC</a:t>
            </a:r>
          </a:p>
        </p:txBody>
      </p:sp>
      <p:sp>
        <p:nvSpPr>
          <p:cNvPr id="49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FFFFFF"/>
                </a:solidFill>
                <a:latin typeface="Inter SemiBold"/>
              </a:rPr>
              <a:t>28</a:t>
            </a:r>
            <a:endParaRPr sz="1600" b="1">
              <a:solidFill>
                <a:srgbClr val="FFFFFF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31044" y="1908274"/>
            <a:ext cx="8336653" cy="279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que bloquea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3C3C3C"/>
                </a:solidFill>
                <a:latin typeface="Inter SemiBold"/>
              </a:rPr>
              <a:t>7 puertas. Sin excepciones.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576072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ART. 17.3 · 6 CONDICIONES PARA ACEPTAR</a:t>
            </a:r>
          </a:p>
        </p:txBody>
      </p:sp>
      <p:sp>
        <p:nvSpPr>
          <p:cNvPr id="14" name="Oval 13"/>
          <p:cNvSpPr/>
          <p:nvPr/>
        </p:nvSpPr>
        <p:spPr>
          <a:xfrm>
            <a:off x="1435608" y="6309359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6398011"/>
            <a:ext cx="329184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700" b="0">
                <a:solidFill>
                  <a:srgbClr val="3C3C3C"/>
                </a:solidFill>
                <a:latin typeface="Inter"/>
              </a:rPr>
              <a:t>0 incidentes críticos o altos</a:t>
            </a:r>
            <a:endParaRPr sz="1700" b="0">
              <a:solidFill>
                <a:srgbClr val="3C3C3C"/>
              </a:solidFill>
              <a:latin typeface="Inter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367528" y="6309359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6217920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4 semanas de volumen real</a:t>
            </a:r>
          </a:p>
        </p:txBody>
      </p:sp>
      <p:sp>
        <p:nvSpPr>
          <p:cNvPr id="18" name="Oval 17"/>
          <p:cNvSpPr/>
          <p:nvPr/>
        </p:nvSpPr>
        <p:spPr>
          <a:xfrm>
            <a:off x="1435608" y="7022592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8" y="6931152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Sin caída en despacho</a:t>
            </a:r>
          </a:p>
        </p:txBody>
      </p:sp>
      <p:sp>
        <p:nvSpPr>
          <p:cNvPr id="20" name="Oval 19"/>
          <p:cNvSpPr/>
          <p:nvPr/>
        </p:nvSpPr>
        <p:spPr>
          <a:xfrm>
            <a:off x="5367528" y="7022592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6931152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Sin diferencias sin explicar</a:t>
            </a:r>
          </a:p>
        </p:txBody>
      </p:sp>
      <p:sp>
        <p:nvSpPr>
          <p:cNvPr id="22" name="Oval 21"/>
          <p:cNvSpPr/>
          <p:nvPr/>
        </p:nvSpPr>
        <p:spPr>
          <a:xfrm>
            <a:off x="1435608" y="7735823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7644383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100 % usuarios certificados</a:t>
            </a:r>
          </a:p>
        </p:txBody>
      </p:sp>
      <p:sp>
        <p:nvSpPr>
          <p:cNvPr id="24" name="Oval 23"/>
          <p:cNvSpPr/>
          <p:nvPr/>
        </p:nvSpPr>
        <p:spPr>
          <a:xfrm>
            <a:off x="5367528" y="7735823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7644383"/>
            <a:ext cx="32918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Inter"/>
              </a:rPr>
              <a:t>Acta de la Contraparte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9144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646920" y="10515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987552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Compromiso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17320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Formato y pruebas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01168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46920" y="21488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084832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2514600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Revisión por pares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10896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646920" y="3246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3182112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3611880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Cobertura · complejidad · contratos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420624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646920" y="43434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4279392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4709159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>
                <a:solidFill>
                  <a:srgbClr val="606060"/>
                </a:solidFill>
                <a:latin typeface="Inter"/>
              </a:rPr>
              <a:t>Sin vulnerabilidades críticas o altas</a:t>
            </a:r>
            <a:endParaRPr sz="1600" b="0">
              <a:solidFill>
                <a:srgbClr val="606060"/>
              </a:solidFill>
              <a:latin typeface="Inter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509760" y="530352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46920" y="54406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5376672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Preproducción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5806440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Regresión · DAST · WCAG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64008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646920" y="65379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6473952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Inter SemiBold"/>
              </a:rPr>
              <a:t>Entrada a Producción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903720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7C7C7"/>
                </a:solidFill>
                <a:latin typeface="Inter"/>
              </a:rPr>
              <a:t>Pruebas habilitantes · reversión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09760" y="7498079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646920" y="76352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7571231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111"/>
                </a:solidFill>
                <a:latin typeface="Inter SemiBold"/>
              </a:rPr>
              <a:t>Producción supervisada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1320" y="8001000"/>
            <a:ext cx="6675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Canario · presupuesto de error</a:t>
            </a:r>
          </a:p>
        </p:txBody>
      </p:sp>
      <p:sp>
        <p:nvSpPr>
          <p:cNvPr id="54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29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318360"/>
            <a:ext cx="8326675" cy="2579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innovaciones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2365909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2213227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43274" y="8926358"/>
            <a:ext cx="15727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672084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06060"/>
                </a:solidFill>
                <a:latin typeface="Inter"/>
              </a:rPr>
              <a:t>Sin hardware nuevo · TRL 2 → 4 →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86868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PRODUCTO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Vencimiento posentrega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169164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−25 % de vencido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246888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PROCESO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Reproducción de incidentes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329184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−30 % horas de diagnóstico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406908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TECNOLÓGICA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Vida útil por historia térmica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4892040"/>
            <a:ext cx="62179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±15 % en </a:t>
            </a:r>
            <a:r>
              <a:rPr lang="es-CL" sz="1700" b="0">
                <a:solidFill>
                  <a:srgbClr val="606060"/>
                </a:solidFill>
                <a:latin typeface="Inter"/>
              </a:rPr>
              <a:t>≥80 % de los lotes</a:t>
            </a:r>
            <a:endParaRPr sz="1700" b="0">
              <a:solidFill>
                <a:srgbClr val="606060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566928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MODELO DE NEGOCIO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Pago ligado al costo de servir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Meta: ≥5 % menos costo, OTIF ≥95 %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E8641B"/>
                </a:solidFill>
                <a:latin typeface="Inter SemiBol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726948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641B"/>
                </a:solidFill>
                <a:latin typeface="Inter SemiBold"/>
              </a:rPr>
              <a:t>IMPACTO SOCIAL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Inter SemiBold"/>
              </a:rPr>
              <a:t>Hoja del almacenero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809244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  <a:latin typeface="Inter"/>
              </a:rPr>
              <a:t>Sin internet: pantalla o impresa</a:t>
            </a:r>
          </a:p>
        </p:txBody>
      </p:sp>
      <p:sp>
        <p:nvSpPr>
          <p:cNvPr id="38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30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31420" y="4072951"/>
            <a:ext cx="7960220" cy="1632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8786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</a:p>
        </p:txBody>
      </p:sp>
      <p:sp>
        <p:nvSpPr>
          <p:cNvPr id="25" name="Freeform 25"/>
          <p:cNvSpPr/>
          <p:nvPr/>
        </p:nvSpPr>
        <p:spPr>
          <a:xfrm flipH="1" flipV="1">
            <a:off x="2876576" y="-1904501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 flipV="1">
            <a:off x="-413735" y="-1904501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072477" flipV="1">
            <a:off x="118443" y="766281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7"/>
          <p:cNvSpPr txBox="1"/>
          <p:nvPr/>
        </p:nvSpPr>
        <p:spPr>
          <a:xfrm>
            <a:off x="1234440" y="57607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3C3C3C"/>
                </a:solidFill>
                <a:latin typeface="Inter SemiBold"/>
              </a:rPr>
              <a:t>8 personas · 10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4008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06060"/>
                </a:solidFill>
                <a:latin typeface="Inter"/>
              </a:rPr>
              <a:t>7 líderes reportan al Jefe de Proyecto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 SemiBold"/>
              </a:rPr>
              <a:t>AA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Inter SemiBold"/>
              </a:rPr>
              <a:t>Alex Aravena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7C7C7"/>
                </a:solidFill>
                <a:latin typeface="Inter"/>
              </a:rPr>
              <a:t>Jefe de Proyecto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BT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Bastián Trejo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Arquitectura e Integración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ÁC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Álvaro Catalán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Seguridad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Leandro Chamorro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Datos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TP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Tomás Pérez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Desarrollo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MM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Maximiliano Miño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Calidad y Pruebas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GC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Guillermo Castillo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Operación / SRE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PH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Patricio Henríquez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Funcional e Implantación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57884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761720" y="7360920"/>
            <a:ext cx="109728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E8641B"/>
                </a:solidFill>
                <a:latin typeface="Inter SemiBold"/>
              </a:rPr>
              <a:t>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59000" y="7777639"/>
            <a:ext cx="24688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1600" b="0">
                <a:solidFill>
                  <a:srgbClr val="3C3C3C"/>
                </a:solidFill>
                <a:latin typeface="Inter"/>
              </a:rPr>
              <a:t>personas equivalentes en el peak (mes 15)</a:t>
            </a:r>
            <a:endParaRPr sz="1600" b="0">
              <a:solidFill>
                <a:srgbClr val="3C3C3C"/>
              </a:solidFill>
              <a:latin typeface="Inter"/>
            </a:endParaRPr>
          </a:p>
        </p:txBody>
      </p:sp>
      <p:sp>
        <p:nvSpPr>
          <p:cNvPr id="65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606060"/>
                </a:solidFill>
                <a:latin typeface="Inter SemiBold"/>
              </a:rPr>
              <a:t>31</a:t>
            </a:r>
            <a:endParaRPr sz="1600" b="1">
              <a:solidFill>
                <a:srgbClr val="606060"/>
              </a:solidFill>
              <a:latin typeface="Inter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b="-18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 flipV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 flipV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  <p:sp>
        <p:nvSpPr>
          <p:cNvPr id="23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FFFFFF"/>
                </a:solidFill>
                <a:latin typeface="Inter SemiBold"/>
              </a:rPr>
              <a:t>32</a:t>
            </a:r>
            <a:endParaRPr sz="1600" b="1">
              <a:solidFill>
                <a:srgbClr val="FFFFFF"/>
              </a:solidFill>
              <a:latin typeface="Inter SemiBold"/>
            </a:endParaRPr>
          </a:p>
        </p:txBody>
      </p:sp>
    </p:spTree>
  </p:cSld>
  <p:clrMapOvr>
    <a:masterClrMapping/>
  </p:clrMapOvr>
  <p:transition spd="med" advTm="15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b="-18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</a:p>
        </p:txBody>
      </p:sp>
      <p:sp>
        <p:nvSpPr>
          <p:cNvPr id="9" name="Freeform 9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0"/>
              </a:lnSpc>
              <a:spcBef>
                <a:spcPct val="0"/>
              </a:spcBef>
            </a:pPr>
            <a:r>
              <a:rPr lang="en-US" sz="1764" u="none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</a:p>
        </p:txBody>
      </p:sp>
      <p:sp>
        <p:nvSpPr>
          <p:cNvPr id="13" name="Freeform 13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0"/>
              </a:lnSpc>
              <a:spcBef>
                <a:spcPct val="0"/>
              </a:spcBef>
            </a:pPr>
            <a:r>
              <a:rPr lang="en-US" sz="1764" u="none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</a:p>
        </p:txBody>
      </p:sp>
      <p:sp>
        <p:nvSpPr>
          <p:cNvPr id="15" name="Freeform 15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 flipV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 flipV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Inter Light"/>
              </a:rPr>
              <a:t>De 9 días a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0" b="1">
                <a:solidFill>
                  <a:srgbClr val="E8641B"/>
                </a:solidFill>
                <a:latin typeface="Inter SemiBold"/>
              </a:rPr>
              <a:t>&lt; 2 horas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Inter Light"/>
              </a:rPr>
              <a:t>para identificar a los clientes afectados</a:t>
            </a:r>
          </a:p>
        </p:txBody>
      </p:sp>
      <p:sp>
        <p:nvSpPr>
          <p:cNvPr id="25" name="!!slidenum"/>
          <p:cNvSpPr txBox="1"/>
          <p:nvPr/>
        </p:nvSpPr>
        <p:spPr>
          <a:xfrm>
            <a:off x="16733520" y="9601200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>
                <a:solidFill>
                  <a:srgbClr val="FFFFFF"/>
                </a:solidFill>
                <a:latin typeface="Inter SemiBold"/>
              </a:rPr>
              <a:t>32</a:t>
            </a:r>
            <a:endParaRPr sz="1600" b="1">
              <a:solidFill>
                <a:srgbClr val="FFFFFF"/>
              </a:solidFill>
              <a:latin typeface="Inter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 xmlns:p14="http://schemas.microsoft.com/office/powerpoint/2010/main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ysClr val="window" lastClr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LafroX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5380</Words>
  <Application>Microsoft Office PowerPoint</Application>
  <PresentationFormat>Personalizado</PresentationFormat>
  <Paragraphs>1121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Inter Light</vt:lpstr>
      <vt:lpstr>Inter</vt:lpstr>
      <vt:lpstr>Inter SemiBold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LafroX - Plantilla de Presentación</dc:title>
  <cp:lastModifiedBy>Alex Aravena</cp:lastModifiedBy>
  <cp:revision>5</cp:revision>
  <dcterms:created xsi:type="dcterms:W3CDTF">2006-08-16T00:00:00Z</dcterms:created>
  <dcterms:modified xsi:type="dcterms:W3CDTF">2026-10-19T23:44:38Z</dcterms:modified>
  <dc:identifier>DAHYeykrAKU</dc:identifier>
</cp:coreProperties>
</file>