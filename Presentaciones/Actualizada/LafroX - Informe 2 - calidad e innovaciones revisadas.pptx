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1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6"/>
  </p:notesMasterIdLst>
  <p:sldIdLst>
    <p:sldId id="256" r:id="rId4"/>
    <p:sldId id="30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6" r:id="rId21"/>
    <p:sldId id="287" r:id="rId22"/>
    <p:sldId id="288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9" r:id="rId36"/>
    <p:sldId id="294" r:id="rId37"/>
    <p:sldId id="295" r:id="rId38"/>
    <p:sldId id="296" r:id="rId39"/>
    <p:sldId id="297" r:id="rId40"/>
    <p:sldId id="298" r:id="rId41"/>
    <p:sldId id="291" r:id="rId42"/>
    <p:sldId id="290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292" r:id="rId51"/>
    <p:sldId id="293" r:id="rId52"/>
    <p:sldId id="299" r:id="rId53"/>
    <p:sldId id="301" r:id="rId54"/>
    <p:sldId id="302" r:id="rId55"/>
  </p:sldIdLst>
  <p:sldSz cx="18288000" cy="10287000"/>
  <p:notesSz cx="6858000" cy="9144000"/>
  <p:embeddedFontLst>
    <p:embeddedFont>
      <p:font typeface="Inter" panose="020B0604020202020204" charset="0"/>
      <p:regular r:id="rId57"/>
      <p:bold r:id="rId58"/>
      <p:italic r:id="rId59"/>
      <p:boldItalic r:id="rId60"/>
    </p:embeddedFont>
    <p:embeddedFont>
      <p:font typeface="Inter Light" panose="020B0604020202020204" charset="0"/>
      <p:regular r:id="rId61"/>
      <p:bold r:id="rId62"/>
      <p:italic r:id="rId63"/>
      <p:boldItalic r:id="rId64"/>
    </p:embeddedFont>
    <p:embeddedFont>
      <p:font typeface="Inter SemiBold" panose="020B060402020202020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09D02B70-182A-7A0A-56DE-9E4175509914}" v="91" dt="2026-10-21T00:05:56.530"/>
    <p1510:client id="{3AE63D20-A9F5-5E5D-053C-132AC028C5F5}" v="4" dt="2026-10-21T00:34:02.467"/>
    <p1510:client id="{4DC9CC42-96D1-0F39-9CCE-B2860139B7D5}" v="99" dt="2026-10-20T22:38:54.804"/>
    <p1510:client id="{5B1773B1-B5EB-4255-A691-4E8544E67803}" v="295" dt="2026-10-21T01:15:34.265"/>
    <p1510:client id="{6E77489C-9C97-D8B2-E502-9AD454A1A150}" v="183" dt="2026-10-21T01:26:52.020"/>
    <p1510:client id="{B4D353A1-8446-1601-325E-45018A9A3BA4}" v="683" dt="2026-10-22T00:58:37.339"/>
    <p1510:client id="{E66A248C-3EB0-2D62-97BD-B389C63C57A7}" v="1" dt="2026-10-20T22:33:34.384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5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6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1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1T01:15:34.265" v="294" actId="20577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5:34.265" v="294" actId="20577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4640.86</c:v>
                </c:pt>
                <c:pt idx="8">
                  <c:v>3151.92</c:v>
                </c:pt>
                <c:pt idx="9">
                  <c:v>2060.57</c:v>
                </c:pt>
                <c:pt idx="10">
                  <c:v>1676.35</c:v>
                </c:pt>
                <c:pt idx="11">
                  <c:v>1299.14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548.5700000000001</c:v>
                </c:pt>
                <c:pt idx="13">
                  <c:v>571.4299999999999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c7cc306779174be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hc7cc306779174be_12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números con que nos van a medir: OTIF de 82,4 % a sobre 95 %; reentregas de 4,2 % a menos de 1 %; ninguna recepción sin lote en los productos que lo requieren; merma de 1,7 % a 1 %; rendición cuadrada el mismo día; y el retiro, de nueve días a menos de dos horas. (SD2, Tabla 2.1)</a:t>
            </a:r>
            <a:endParaRPr/>
          </a:p>
        </p:txBody>
      </p:sp>
      <p:sp>
        <p:nvSpPr>
          <p:cNvPr id="308" name="Google Shape;308;hc7cc306779174be_12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la Etapa 2 en el H12 (mes 21); cada paso tiene su reversión. Abajo, los riesgos principales en su mes estimado: se concentran en el mes 11. (T-14, T-15, T-18, SD8 Anexo 8.B)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No basta con mencionar normas: debemos demostrar cómo las aplicamos. Para calidad del producto usamos criterios comprobables; para los datos, mediciones y conciliaciones; y para las pruebas, un proceso documentado. Accesibilidad combina herramientas y revisión manual. Seguridad se revisa en el código y en la aplicación funcionando. Distinguimos normas técnicas, obligaciones legales y estándares de intercambio porque cumplen funciones diferentes.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Evaluamos requisitos, respuesta bajo carga, integraciones y uso en las condiciones de Puelche. También comprobamos seguridad, recuperación y facilidad de mantenimiento. Estos son criterios con los que se evaluará la solución, no resultados ya alcanzados. Los resultados del negocio se verifican en operación y en el momento previsto para cada uno.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Distinguimos controles técnicos y aceptación contractual. Los controles deciden si un cambio puede avanzar. Aceptar la marcha blanca exige además volumen real, disponibilidad y respuesta, conciliación, usuarios certificados y acta. Todas las condiciones son conjuntas. Entrar al ambiente de Producción para iniciar la marcha blanca no equivale a la aceptación contractual. El plan exige corregir los bloqueos y acreditar cumplimiento: un acta no reemplaza una prueba fallida.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pruebas avanzan desde el código hacia escenarios de operación real. Comprobamos reglas, componentes, integraciones y regresión. En preproducción evaluamos carga, fallas, migración y reversión. En terreno comprobamos trabajo sin señal, con guantes y bajo condiciones ambientales exigentes. La carga se deriva del dimensionamiento documentado. Automatizamos lo repetible; las pruebas que necesitan juicio humano o condiciones físicas se planifican aparte.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hc7cc306779174be_4_10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2012" name="Google Shape;2012;hc7cc306779174be_4_1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7.sv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8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9.png"/><Relationship Id="rId4" Type="http://schemas.openxmlformats.org/officeDocument/2006/relationships/image" Target="../media/image17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6.svg"/><Relationship Id="rId4" Type="http://schemas.openxmlformats.org/officeDocument/2006/relationships/image" Target="../media/image31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.svg"/><Relationship Id="rId5" Type="http://schemas.openxmlformats.org/officeDocument/2006/relationships/image" Target="../media/image6.svg"/><Relationship Id="rId4" Type="http://schemas.openxmlformats.org/officeDocument/2006/relationships/image" Target="../media/image31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6.svg"/><Relationship Id="rId4" Type="http://schemas.openxmlformats.org/officeDocument/2006/relationships/image" Target="../media/image31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3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1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11" Type="http://schemas.openxmlformats.org/officeDocument/2006/relationships/image" Target="../media/image5.png"/><Relationship Id="rId5" Type="http://schemas.openxmlformats.org/officeDocument/2006/relationships/image" Target="../media/image34.svg"/><Relationship Id="rId10" Type="http://schemas.openxmlformats.org/officeDocument/2006/relationships/image" Target="../media/image2.svg"/><Relationship Id="rId4" Type="http://schemas.openxmlformats.org/officeDocument/2006/relationships/image" Target="../media/image33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!!deco_21515bef_2"/>
          <p:cNvSpPr/>
          <p:nvPr/>
        </p:nvSpPr>
        <p:spPr>
          <a:xfrm flipH="1">
            <a:off x="20870738" y="6538304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45" name="Google Shape;245;p1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2134" name="Google Shape;2134;p33"/>
          <p:cNvSpPr/>
          <p:nvPr/>
        </p:nvSpPr>
        <p:spPr>
          <a:xfrm>
            <a:off x="1357884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5" name="Google Shape;2135;p33"/>
          <p:cNvSpPr txBox="1"/>
          <p:nvPr/>
        </p:nvSpPr>
        <p:spPr>
          <a:xfrm>
            <a:off x="13761720" y="7360920"/>
            <a:ext cx="10972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</a:t>
            </a:r>
            <a:endParaRPr lang="es-CL" noProof="0"/>
          </a:p>
        </p:txBody>
      </p:sp>
      <p:sp>
        <p:nvSpPr>
          <p:cNvPr id="2136" name="Google Shape;2136;p33"/>
          <p:cNvSpPr txBox="1"/>
          <p:nvPr/>
        </p:nvSpPr>
        <p:spPr>
          <a:xfrm>
            <a:off x="14859000" y="7777639"/>
            <a:ext cx="24688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personas equivalentes en el </a:t>
            </a:r>
            <a:r>
              <a:rPr lang="es-CL" sz="1600" b="0" noProof="0" err="1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 (mes 15)</a:t>
            </a:r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89" name="Google Shape;289;p3"/>
          <p:cNvSpPr txBox="1"/>
          <p:nvPr/>
        </p:nvSpPr>
        <p:spPr>
          <a:xfrm>
            <a:off x="13167360" y="2651760"/>
            <a:ext cx="2468880" cy="24622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deco_1438196a_1">
            <a:extLst>
              <a:ext uri="{FF2B5EF4-FFF2-40B4-BE49-F238E27FC236}">
                <a16:creationId xmlns:a16="http://schemas.microsoft.com/office/drawing/2014/main" id="{EA4DD31C-A1CC-DACB-7E23-56602E67C400}"/>
              </a:ext>
            </a:extLst>
          </p:cNvPr>
          <p:cNvSpPr/>
          <p:nvPr/>
        </p:nvSpPr>
        <p:spPr>
          <a:xfrm>
            <a:off x="-1044678" y="75438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10" name="!!title"/>
          <p:cNvSpPr txBox="1"/>
          <p:nvPr/>
        </p:nvSpPr>
        <p:spPr>
          <a:xfrm>
            <a:off x="3429000" y="685800"/>
            <a:ext cx="11430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Clave</a:t>
            </a:r>
            <a:endParaRPr lang="es-CL" noProof="0"/>
          </a:p>
        </p:txBody>
      </p:sp>
      <p:sp>
        <p:nvSpPr>
          <p:cNvPr id="311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hc7cc306779174be_12_0"/>
          <p:cNvSpPr txBox="1"/>
          <p:nvPr/>
        </p:nvSpPr>
        <p:spPr>
          <a:xfrm>
            <a:off x="5334000" y="1962150"/>
            <a:ext cx="7620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 que hay y la meta a la cuál llegar</a:t>
            </a:r>
            <a:endParaRPr lang="es-CL" noProof="0"/>
          </a:p>
        </p:txBody>
      </p:sp>
      <p:sp>
        <p:nvSpPr>
          <p:cNvPr id="313" name="Google Shape;313;hc7cc306779174be_12_0"/>
          <p:cNvSpPr/>
          <p:nvPr/>
        </p:nvSpPr>
        <p:spPr>
          <a:xfrm>
            <a:off x="1333500" y="3000375"/>
            <a:ext cx="4572000" cy="2476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9050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  <a:effectLst>
            <a:outerShdw blurRad="95250" dist="47625" dir="5400000" algn="ctr" rotWithShape="0">
              <a:srgbClr val="000000">
                <a:alpha val="2392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hc7cc306779174be_12_0"/>
          <p:cNvSpPr txBox="1"/>
          <p:nvPr/>
        </p:nvSpPr>
        <p:spPr>
          <a:xfrm>
            <a:off x="1524000" y="3219450"/>
            <a:ext cx="419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Retiro sanitario</a:t>
            </a:r>
            <a:endParaRPr lang="es-CL" noProof="0"/>
          </a:p>
        </p:txBody>
      </p:sp>
      <p:sp>
        <p:nvSpPr>
          <p:cNvPr id="315" name="Google Shape;315;hc7cc306779174be_12_0"/>
          <p:cNvSpPr txBox="1"/>
          <p:nvPr/>
        </p:nvSpPr>
        <p:spPr>
          <a:xfrm>
            <a:off x="1714500" y="39909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HOY</a:t>
            </a:r>
            <a:endParaRPr lang="es-CL" noProof="0"/>
          </a:p>
        </p:txBody>
      </p:sp>
      <p:sp>
        <p:nvSpPr>
          <p:cNvPr id="316" name="!!reloj"/>
          <p:cNvSpPr txBox="1"/>
          <p:nvPr/>
        </p:nvSpPr>
        <p:spPr>
          <a:xfrm>
            <a:off x="1714500" y="4438650"/>
            <a:ext cx="204787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9 días</a:t>
            </a:r>
            <a:endParaRPr lang="es-CL" noProof="0"/>
          </a:p>
        </p:txBody>
      </p:sp>
      <p:sp>
        <p:nvSpPr>
          <p:cNvPr id="317" name="Google Shape;317;hc7cc306779174be_12_0"/>
          <p:cNvSpPr txBox="1"/>
          <p:nvPr/>
        </p:nvSpPr>
        <p:spPr>
          <a:xfrm>
            <a:off x="3714750" y="39909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</a:t>
            </a:r>
            <a:endParaRPr lang="es-CL" noProof="0"/>
          </a:p>
        </p:txBody>
      </p:sp>
      <p:sp>
        <p:nvSpPr>
          <p:cNvPr id="318" name="Google Shape;318;hc7cc306779174be_12_0"/>
          <p:cNvSpPr txBox="1"/>
          <p:nvPr/>
        </p:nvSpPr>
        <p:spPr>
          <a:xfrm>
            <a:off x="3714750" y="4371975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</a:t>
            </a:r>
            <a:endParaRPr lang="es-CL" noProof="0"/>
          </a:p>
        </p:txBody>
      </p:sp>
      <p:sp>
        <p:nvSpPr>
          <p:cNvPr id="319" name="Google Shape;319;hc7cc306779174be_12_0"/>
          <p:cNvSpPr/>
          <p:nvPr/>
        </p:nvSpPr>
        <p:spPr>
          <a:xfrm>
            <a:off x="6858000" y="3000375"/>
            <a:ext cx="4572000" cy="2476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9050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  <a:effectLst>
            <a:outerShdw blurRad="95250" dist="47625" dir="5400000" algn="ctr" rotWithShape="0">
              <a:srgbClr val="000000">
                <a:alpha val="2392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hc7cc306779174be_12_0"/>
          <p:cNvSpPr txBox="1"/>
          <p:nvPr/>
        </p:nvSpPr>
        <p:spPr>
          <a:xfrm>
            <a:off x="7048500" y="3219450"/>
            <a:ext cx="419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OTIF</a:t>
            </a:r>
            <a:endParaRPr lang="es-CL" noProof="0"/>
          </a:p>
        </p:txBody>
      </p:sp>
      <p:sp>
        <p:nvSpPr>
          <p:cNvPr id="321" name="Google Shape;321;hc7cc306779174be_12_0"/>
          <p:cNvSpPr txBox="1"/>
          <p:nvPr/>
        </p:nvSpPr>
        <p:spPr>
          <a:xfrm>
            <a:off x="7239000" y="39909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HOY</a:t>
            </a:r>
            <a:endParaRPr lang="es-CL" noProof="0"/>
          </a:p>
        </p:txBody>
      </p:sp>
      <p:sp>
        <p:nvSpPr>
          <p:cNvPr id="322" name="!!otif"/>
          <p:cNvSpPr txBox="1"/>
          <p:nvPr/>
        </p:nvSpPr>
        <p:spPr>
          <a:xfrm>
            <a:off x="7239000" y="4438650"/>
            <a:ext cx="204787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82,4 %</a:t>
            </a:r>
            <a:endParaRPr lang="es-CL" noProof="0"/>
          </a:p>
        </p:txBody>
      </p:sp>
      <p:sp>
        <p:nvSpPr>
          <p:cNvPr id="323" name="Google Shape;323;hc7cc306779174be_12_0"/>
          <p:cNvSpPr txBox="1"/>
          <p:nvPr/>
        </p:nvSpPr>
        <p:spPr>
          <a:xfrm>
            <a:off x="9239250" y="39909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</a:t>
            </a:r>
            <a:endParaRPr lang="es-CL" noProof="0"/>
          </a:p>
        </p:txBody>
      </p:sp>
      <p:sp>
        <p:nvSpPr>
          <p:cNvPr id="324" name="Google Shape;324;hc7cc306779174be_12_0"/>
          <p:cNvSpPr txBox="1"/>
          <p:nvPr/>
        </p:nvSpPr>
        <p:spPr>
          <a:xfrm>
            <a:off x="9239250" y="4371975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&gt; 95 %</a:t>
            </a:r>
            <a:endParaRPr lang="es-CL" noProof="0"/>
          </a:p>
        </p:txBody>
      </p:sp>
      <p:sp>
        <p:nvSpPr>
          <p:cNvPr id="325" name="Google Shape;325;hc7cc306779174be_12_0"/>
          <p:cNvSpPr/>
          <p:nvPr/>
        </p:nvSpPr>
        <p:spPr>
          <a:xfrm>
            <a:off x="12382500" y="3000375"/>
            <a:ext cx="4572000" cy="2476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9050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  <a:effectLst>
            <a:outerShdw blurRad="95250" dist="47625" dir="5400000" algn="ctr" rotWithShape="0">
              <a:srgbClr val="000000">
                <a:alpha val="2392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hc7cc306779174be_12_0"/>
          <p:cNvSpPr txBox="1"/>
          <p:nvPr/>
        </p:nvSpPr>
        <p:spPr>
          <a:xfrm>
            <a:off x="12482763" y="3219450"/>
            <a:ext cx="43714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 lote (</a:t>
            </a:r>
            <a:r>
              <a:rPr lang="es-CL" sz="2600" b="1"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r>
              <a:rPr lang="es-CL" sz="26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retirado)</a:t>
            </a:r>
            <a:endParaRPr lang="es-CL" sz="2400" b="1" noProof="0">
              <a:solidFill>
                <a:srgbClr val="3C3C3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27" name="Google Shape;327;hc7cc306779174be_12_0"/>
          <p:cNvSpPr txBox="1"/>
          <p:nvPr/>
        </p:nvSpPr>
        <p:spPr>
          <a:xfrm>
            <a:off x="12763500" y="39909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HOY</a:t>
            </a:r>
            <a:endParaRPr lang="es-CL" noProof="0"/>
          </a:p>
        </p:txBody>
      </p:sp>
      <p:sp>
        <p:nvSpPr>
          <p:cNvPr id="328" name="Google Shape;328;hc7cc306779174be_12_0"/>
          <p:cNvSpPr txBox="1"/>
          <p:nvPr/>
        </p:nvSpPr>
        <p:spPr>
          <a:xfrm>
            <a:off x="12763500" y="4438650"/>
            <a:ext cx="204787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41 %</a:t>
            </a:r>
            <a:endParaRPr lang="es-CL" noProof="0"/>
          </a:p>
        </p:txBody>
      </p:sp>
      <p:sp>
        <p:nvSpPr>
          <p:cNvPr id="329" name="Google Shape;329;hc7cc306779174be_12_0"/>
          <p:cNvSpPr txBox="1"/>
          <p:nvPr/>
        </p:nvSpPr>
        <p:spPr>
          <a:xfrm>
            <a:off x="14763750" y="39909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</a:t>
            </a:r>
            <a:endParaRPr lang="es-CL" noProof="0"/>
          </a:p>
        </p:txBody>
      </p:sp>
      <p:sp>
        <p:nvSpPr>
          <p:cNvPr id="330" name="Google Shape;330;hc7cc306779174be_12_0"/>
          <p:cNvSpPr txBox="1"/>
          <p:nvPr/>
        </p:nvSpPr>
        <p:spPr>
          <a:xfrm>
            <a:off x="14763750" y="4371975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0 %</a:t>
            </a:r>
            <a:endParaRPr lang="es-CL" noProof="0"/>
          </a:p>
        </p:txBody>
      </p:sp>
      <p:sp>
        <p:nvSpPr>
          <p:cNvPr id="331" name="Google Shape;331;hc7cc306779174be_12_0"/>
          <p:cNvSpPr/>
          <p:nvPr/>
        </p:nvSpPr>
        <p:spPr>
          <a:xfrm>
            <a:off x="1333500" y="6238875"/>
            <a:ext cx="4572000" cy="2476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9050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  <a:effectLst>
            <a:outerShdw blurRad="95250" dist="47625" dir="5400000" algn="ctr" rotWithShape="0">
              <a:srgbClr val="000000">
                <a:alpha val="2392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hc7cc306779174be_12_0"/>
          <p:cNvSpPr txBox="1"/>
          <p:nvPr/>
        </p:nvSpPr>
        <p:spPr>
          <a:xfrm>
            <a:off x="1524000" y="6457950"/>
            <a:ext cx="419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Reentregas</a:t>
            </a:r>
            <a:endParaRPr lang="es-CL" noProof="0"/>
          </a:p>
        </p:txBody>
      </p:sp>
      <p:sp>
        <p:nvSpPr>
          <p:cNvPr id="333" name="Google Shape;333;hc7cc306779174be_12_0"/>
          <p:cNvSpPr txBox="1"/>
          <p:nvPr/>
        </p:nvSpPr>
        <p:spPr>
          <a:xfrm>
            <a:off x="1714500" y="72294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HOY</a:t>
            </a:r>
            <a:endParaRPr lang="es-CL" noProof="0"/>
          </a:p>
        </p:txBody>
      </p:sp>
      <p:sp>
        <p:nvSpPr>
          <p:cNvPr id="334" name="Google Shape;334;hc7cc306779174be_12_0"/>
          <p:cNvSpPr txBox="1"/>
          <p:nvPr/>
        </p:nvSpPr>
        <p:spPr>
          <a:xfrm>
            <a:off x="1714500" y="7677150"/>
            <a:ext cx="204787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4,2 %</a:t>
            </a:r>
            <a:endParaRPr lang="es-CL" noProof="0"/>
          </a:p>
        </p:txBody>
      </p:sp>
      <p:sp>
        <p:nvSpPr>
          <p:cNvPr id="335" name="Google Shape;335;hc7cc306779174be_12_0"/>
          <p:cNvSpPr txBox="1"/>
          <p:nvPr/>
        </p:nvSpPr>
        <p:spPr>
          <a:xfrm>
            <a:off x="3714750" y="72294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</a:t>
            </a:r>
            <a:endParaRPr lang="es-CL" noProof="0"/>
          </a:p>
        </p:txBody>
      </p:sp>
      <p:sp>
        <p:nvSpPr>
          <p:cNvPr id="336" name="Google Shape;336;hc7cc306779174be_12_0"/>
          <p:cNvSpPr txBox="1"/>
          <p:nvPr/>
        </p:nvSpPr>
        <p:spPr>
          <a:xfrm>
            <a:off x="3714750" y="7610475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1 %</a:t>
            </a:r>
            <a:endParaRPr lang="es-CL" noProof="0"/>
          </a:p>
        </p:txBody>
      </p:sp>
      <p:sp>
        <p:nvSpPr>
          <p:cNvPr id="337" name="Google Shape;337;hc7cc306779174be_12_0"/>
          <p:cNvSpPr/>
          <p:nvPr/>
        </p:nvSpPr>
        <p:spPr>
          <a:xfrm>
            <a:off x="6858000" y="6238875"/>
            <a:ext cx="4572000" cy="2476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9050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  <a:effectLst>
            <a:outerShdw blurRad="95250" dist="47625" dir="5400000" algn="ctr" rotWithShape="0">
              <a:srgbClr val="000000">
                <a:alpha val="2392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hc7cc306779174be_12_0"/>
          <p:cNvSpPr txBox="1"/>
          <p:nvPr/>
        </p:nvSpPr>
        <p:spPr>
          <a:xfrm>
            <a:off x="7048500" y="6457950"/>
            <a:ext cx="419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Merma por vencimiento</a:t>
            </a:r>
            <a:endParaRPr lang="es-CL" noProof="0"/>
          </a:p>
        </p:txBody>
      </p:sp>
      <p:sp>
        <p:nvSpPr>
          <p:cNvPr id="339" name="Google Shape;339;hc7cc306779174be_12_0"/>
          <p:cNvSpPr txBox="1"/>
          <p:nvPr/>
        </p:nvSpPr>
        <p:spPr>
          <a:xfrm>
            <a:off x="7239000" y="72294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HOY</a:t>
            </a:r>
            <a:endParaRPr lang="es-CL" noProof="0"/>
          </a:p>
        </p:txBody>
      </p:sp>
      <p:sp>
        <p:nvSpPr>
          <p:cNvPr id="340" name="Google Shape;340;hc7cc306779174be_12_0"/>
          <p:cNvSpPr txBox="1"/>
          <p:nvPr/>
        </p:nvSpPr>
        <p:spPr>
          <a:xfrm>
            <a:off x="7239000" y="7677150"/>
            <a:ext cx="204787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1,7 %</a:t>
            </a:r>
            <a:endParaRPr lang="es-CL" noProof="0"/>
          </a:p>
        </p:txBody>
      </p:sp>
      <p:sp>
        <p:nvSpPr>
          <p:cNvPr id="341" name="Google Shape;341;hc7cc306779174be_12_0"/>
          <p:cNvSpPr txBox="1"/>
          <p:nvPr/>
        </p:nvSpPr>
        <p:spPr>
          <a:xfrm>
            <a:off x="9239250" y="72294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</a:t>
            </a:r>
            <a:endParaRPr lang="es-CL" noProof="0"/>
          </a:p>
        </p:txBody>
      </p:sp>
      <p:sp>
        <p:nvSpPr>
          <p:cNvPr id="342" name="Google Shape;342;hc7cc306779174be_12_0"/>
          <p:cNvSpPr txBox="1"/>
          <p:nvPr/>
        </p:nvSpPr>
        <p:spPr>
          <a:xfrm>
            <a:off x="9239249" y="7610475"/>
            <a:ext cx="244147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≤ 1,0 %</a:t>
            </a:r>
            <a:endParaRPr lang="es-CL" noProof="0"/>
          </a:p>
        </p:txBody>
      </p:sp>
      <p:sp>
        <p:nvSpPr>
          <p:cNvPr id="343" name="Google Shape;343;hc7cc306779174be_12_0"/>
          <p:cNvSpPr/>
          <p:nvPr/>
        </p:nvSpPr>
        <p:spPr>
          <a:xfrm>
            <a:off x="12382500" y="6238875"/>
            <a:ext cx="4572000" cy="2476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9050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  <a:effectLst>
            <a:outerShdw blurRad="95250" dist="47625" dir="5400000" algn="ctr" rotWithShape="0">
              <a:srgbClr val="000000">
                <a:alpha val="2392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hc7cc306779174be_12_0"/>
          <p:cNvSpPr txBox="1"/>
          <p:nvPr/>
        </p:nvSpPr>
        <p:spPr>
          <a:xfrm>
            <a:off x="12573000" y="6457950"/>
            <a:ext cx="419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Diferencias de rendición</a:t>
            </a:r>
            <a:endParaRPr lang="es-CL" noProof="0"/>
          </a:p>
        </p:txBody>
      </p:sp>
      <p:sp>
        <p:nvSpPr>
          <p:cNvPr id="345" name="Google Shape;345;hc7cc306779174be_12_0"/>
          <p:cNvSpPr txBox="1"/>
          <p:nvPr/>
        </p:nvSpPr>
        <p:spPr>
          <a:xfrm>
            <a:off x="12763500" y="72294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HOY</a:t>
            </a:r>
            <a:endParaRPr lang="es-CL" noProof="0"/>
          </a:p>
        </p:txBody>
      </p:sp>
      <p:sp>
        <p:nvSpPr>
          <p:cNvPr id="346" name="Google Shape;346;hc7cc306779174be_12_0"/>
          <p:cNvSpPr txBox="1"/>
          <p:nvPr/>
        </p:nvSpPr>
        <p:spPr>
          <a:xfrm>
            <a:off x="12763500" y="7677150"/>
            <a:ext cx="204787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$4,2 M/mes</a:t>
            </a:r>
            <a:endParaRPr lang="es-CL" noProof="0"/>
          </a:p>
        </p:txBody>
      </p:sp>
      <p:sp>
        <p:nvSpPr>
          <p:cNvPr id="347" name="Google Shape;347;hc7cc306779174be_12_0"/>
          <p:cNvSpPr txBox="1"/>
          <p:nvPr/>
        </p:nvSpPr>
        <p:spPr>
          <a:xfrm>
            <a:off x="14763750" y="72294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</a:t>
            </a:r>
            <a:endParaRPr lang="es-CL" noProof="0"/>
          </a:p>
        </p:txBody>
      </p:sp>
      <p:sp>
        <p:nvSpPr>
          <p:cNvPr id="348" name="Google Shape;348;hc7cc306779174be_12_0"/>
          <p:cNvSpPr txBox="1"/>
          <p:nvPr/>
        </p:nvSpPr>
        <p:spPr>
          <a:xfrm>
            <a:off x="14950440" y="7738491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Mismo día</a:t>
            </a:r>
            <a:endParaRPr lang="es-CL" noProof="0"/>
          </a:p>
        </p:txBody>
      </p:sp>
      <p:sp>
        <p:nvSpPr>
          <p:cNvPr id="3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05</a:t>
            </a:r>
          </a:p>
        </p:txBody>
      </p:sp>
      <p:sp>
        <p:nvSpPr>
          <p:cNvPr id="3" name="!!deco_1438196a_2">
            <a:extLst>
              <a:ext uri="{FF2B5EF4-FFF2-40B4-BE49-F238E27FC236}">
                <a16:creationId xmlns:a16="http://schemas.microsoft.com/office/drawing/2014/main" id="{1F5A9D5F-5E01-33D5-5A47-F6AC01463359}"/>
              </a:ext>
            </a:extLst>
          </p:cNvPr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36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01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20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39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8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7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9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15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4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41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60350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Google Shape;1533;p24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Google Shape;1535;p24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Google Shape;1536;p24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Google Shape;1538;p24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Google Shape;1539;p24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Google Shape;1541;p2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Google Shape;1550;p24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Google Shape;1551;p24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Google Shape;1553;p24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  <p:sp>
        <p:nvSpPr>
          <p:cNvPr id="1631" name="!!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certificaciones, reversión y riesgos a la vista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Google Shape;1647;p26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6" name="Google Shape;1656;p26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Google Shape;1660;p26"/>
          <p:cNvSpPr txBox="1"/>
          <p:nvPr/>
        </p:nvSpPr>
        <p:spPr>
          <a:xfrm>
            <a:off x="632499" y="552619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B84A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</a:t>
            </a:r>
            <a:endParaRPr lang="es-CL" sz="1432" noProof="0"/>
          </a:p>
        </p:txBody>
      </p:sp>
      <p:sp>
        <p:nvSpPr>
          <p:cNvPr id="1661" name="!!gv_6"/>
          <p:cNvSpPr/>
          <p:nvPr/>
        </p:nvSpPr>
        <p:spPr>
          <a:xfrm>
            <a:off x="10690226" y="5619758"/>
            <a:ext cx="18288" cy="112200"/>
          </a:xfrm>
          <a:prstGeom prst="roundRect">
            <a:avLst>
              <a:gd name="adj" fmla="val 30000"/>
            </a:avLst>
          </a:prstGeom>
          <a:solidFill>
            <a:srgbClr val="F3C9A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2" name="!!gv_7"/>
          <p:cNvSpPr/>
          <p:nvPr/>
        </p:nvSpPr>
        <p:spPr>
          <a:xfrm>
            <a:off x="8398000" y="552619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3" name="!!gv_8"/>
          <p:cNvSpPr/>
          <p:nvPr/>
        </p:nvSpPr>
        <p:spPr>
          <a:xfrm>
            <a:off x="12409396" y="552619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1" name="Google Shape;1671;p26"/>
          <p:cNvSpPr txBox="1"/>
          <p:nvPr/>
        </p:nvSpPr>
        <p:spPr>
          <a:xfrm>
            <a:off x="632499" y="6705057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Cambios de software</a:t>
            </a:r>
            <a:endParaRPr lang="es-CL" sz="1432" noProof="0"/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sp>
        <p:nvSpPr>
          <p:cNvPr id="1673" name="Google Shape;1673;p26"/>
          <p:cNvSpPr txBox="1"/>
          <p:nvPr/>
        </p:nvSpPr>
        <p:spPr>
          <a:xfrm>
            <a:off x="632499" y="765937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p:transition spd="med" advTm="100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certificaciones, reversión y riesgos a la vista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Google Shape;1647;p26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Google Shape;1656;p26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Google Shape;1657;p26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Google Shape;1660;p26"/>
          <p:cNvSpPr txBox="1"/>
          <p:nvPr/>
        </p:nvSpPr>
        <p:spPr>
          <a:xfrm>
            <a:off x="632499" y="552619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B84A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</a:t>
            </a:r>
            <a:endParaRPr lang="es-CL" sz="1432" noProof="0"/>
          </a:p>
        </p:txBody>
      </p:sp>
      <p:sp>
        <p:nvSpPr>
          <p:cNvPr id="1661" name="!!gv_6"/>
          <p:cNvSpPr/>
          <p:nvPr/>
        </p:nvSpPr>
        <p:spPr>
          <a:xfrm>
            <a:off x="10690226" y="5619758"/>
            <a:ext cx="6876300" cy="112200"/>
          </a:xfrm>
          <a:prstGeom prst="roundRect">
            <a:avLst>
              <a:gd name="adj" fmla="val 30000"/>
            </a:avLst>
          </a:prstGeom>
          <a:solidFill>
            <a:srgbClr val="F3C9A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2" name="!!gv_7"/>
          <p:cNvSpPr/>
          <p:nvPr/>
        </p:nvSpPr>
        <p:spPr>
          <a:xfrm>
            <a:off x="8398000" y="5526198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3" name="!!gv_8"/>
          <p:cNvSpPr/>
          <p:nvPr/>
        </p:nvSpPr>
        <p:spPr>
          <a:xfrm>
            <a:off x="12409396" y="5526198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4" name="Google Shape;1664;p26"/>
          <p:cNvSpPr txBox="1"/>
          <p:nvPr/>
        </p:nvSpPr>
        <p:spPr>
          <a:xfrm>
            <a:off x="8397268" y="5574368"/>
            <a:ext cx="1146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Certif</a:t>
            </a: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lang="es-CL" sz="1432" noProof="0"/>
          </a:p>
        </p:txBody>
      </p:sp>
      <p:sp>
        <p:nvSpPr>
          <p:cNvPr id="1665" name="Google Shape;1665;p26"/>
          <p:cNvSpPr txBox="1"/>
          <p:nvPr/>
        </p:nvSpPr>
        <p:spPr>
          <a:xfrm>
            <a:off x="12409396" y="5526198"/>
            <a:ext cx="1146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Certif</a:t>
            </a: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lang="es-CL" sz="1432" noProof="0"/>
          </a:p>
        </p:txBody>
      </p:sp>
      <p:sp>
        <p:nvSpPr>
          <p:cNvPr id="1666" name="Google Shape;1666;p26"/>
          <p:cNvSpPr txBox="1"/>
          <p:nvPr/>
        </p:nvSpPr>
        <p:spPr>
          <a:xfrm>
            <a:off x="13555509" y="5526198"/>
            <a:ext cx="1432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B84A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restauración</a:t>
            </a:r>
            <a:endParaRPr lang="es-CL" sz="1432" noProof="0"/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Google Shape;1670;p26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1" name="Google Shape;1671;p26"/>
          <p:cNvSpPr txBox="1"/>
          <p:nvPr/>
        </p:nvSpPr>
        <p:spPr>
          <a:xfrm>
            <a:off x="632499" y="6705057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Cambios de software</a:t>
            </a:r>
            <a:endParaRPr lang="es-CL" sz="1432" noProof="0"/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sp>
        <p:nvSpPr>
          <p:cNvPr id="1673" name="Google Shape;1673;p26"/>
          <p:cNvSpPr txBox="1"/>
          <p:nvPr/>
        </p:nvSpPr>
        <p:spPr>
          <a:xfrm>
            <a:off x="632499" y="765937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699" name="Google Shape;1699;p26"/>
          <p:cNvSpPr/>
          <p:nvPr/>
        </p:nvSpPr>
        <p:spPr>
          <a:xfrm>
            <a:off x="9544113" y="6705057"/>
            <a:ext cx="1604700" cy="29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60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725" tIns="46750" rIns="187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↺ Reversión E1</a:t>
            </a:r>
            <a:endParaRPr lang="es-CL" sz="1432" noProof="0"/>
          </a:p>
        </p:txBody>
      </p:sp>
      <p:sp>
        <p:nvSpPr>
          <p:cNvPr id="1700" name="Google Shape;1700;p26"/>
          <p:cNvSpPr/>
          <p:nvPr/>
        </p:nvSpPr>
        <p:spPr>
          <a:xfrm>
            <a:off x="12982452" y="6705057"/>
            <a:ext cx="1604700" cy="29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60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725" tIns="46750" rIns="187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↺ Reversión E2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25" name="Google Shape;1725;p26"/>
          <p:cNvSpPr/>
          <p:nvPr/>
        </p:nvSpPr>
        <p:spPr>
          <a:xfrm>
            <a:off x="4523436" y="7668728"/>
            <a:ext cx="299700" cy="2997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6750" rIns="0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sz="1432" noProof="0"/>
          </a:p>
        </p:txBody>
      </p:sp>
      <p:sp>
        <p:nvSpPr>
          <p:cNvPr id="1726" name="Google Shape;1726;p26"/>
          <p:cNvSpPr/>
          <p:nvPr/>
        </p:nvSpPr>
        <p:spPr>
          <a:xfrm>
            <a:off x="5669549" y="7668728"/>
            <a:ext cx="299700" cy="2997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6750" rIns="0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sz="1432" noProof="0"/>
          </a:p>
        </p:txBody>
      </p:sp>
      <p:sp>
        <p:nvSpPr>
          <p:cNvPr id="1727" name="Google Shape;1727;p26"/>
          <p:cNvSpPr/>
          <p:nvPr/>
        </p:nvSpPr>
        <p:spPr>
          <a:xfrm>
            <a:off x="6815662" y="7668728"/>
            <a:ext cx="299700" cy="2997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6750" rIns="0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sz="1432" noProof="0"/>
          </a:p>
        </p:txBody>
      </p:sp>
      <p:sp>
        <p:nvSpPr>
          <p:cNvPr id="1728" name="Google Shape;1728;p26"/>
          <p:cNvSpPr/>
          <p:nvPr/>
        </p:nvSpPr>
        <p:spPr>
          <a:xfrm>
            <a:off x="7961775" y="7668728"/>
            <a:ext cx="299700" cy="2997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6750" rIns="0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sz="1432" noProof="0"/>
          </a:p>
        </p:txBody>
      </p:sp>
      <p:sp>
        <p:nvSpPr>
          <p:cNvPr id="1729" name="Google Shape;1729;p26"/>
          <p:cNvSpPr/>
          <p:nvPr/>
        </p:nvSpPr>
        <p:spPr>
          <a:xfrm>
            <a:off x="9680945" y="7668728"/>
            <a:ext cx="299700" cy="2997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6750" rIns="0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sz="1432" noProof="0"/>
          </a:p>
        </p:txBody>
      </p:sp>
      <p:sp>
        <p:nvSpPr>
          <p:cNvPr id="1730" name="Google Shape;1730;p26"/>
          <p:cNvSpPr/>
          <p:nvPr/>
        </p:nvSpPr>
        <p:spPr>
          <a:xfrm>
            <a:off x="10254001" y="7668728"/>
            <a:ext cx="299700" cy="2997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6750" rIns="0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sz="1432" noProof="0"/>
          </a:p>
        </p:txBody>
      </p:sp>
      <p:sp>
        <p:nvSpPr>
          <p:cNvPr id="1731" name="Google Shape;1731;p26"/>
          <p:cNvSpPr txBox="1"/>
          <p:nvPr/>
        </p:nvSpPr>
        <p:spPr>
          <a:xfrm>
            <a:off x="3813547" y="8426567"/>
            <a:ext cx="11040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Riesgos: m2 R-001 · m4 R-014 · m6 R-006 · m8 R-005, R-011 · m11 R-003, R-013, R-015, R-016 · m12 R-012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Oval 857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Oval 858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Oval 859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Oval 860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Oval 861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Oval 862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Oval 863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Oval 864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Oval 865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Oval 870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Oval 871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Oval 872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Oval 873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Oval 874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Oval 875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Oval 880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Oval 881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Oval 882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Oval 883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Oval 884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Oval 885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Oval 886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Oval 887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Oval 888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Oval 889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Oval 890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Oval 895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Oval 896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Oval 897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Oval 902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Oval 903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Oval 904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Oval 905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Oval 910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Oval 911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Oval 912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Oval 913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Oval 914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Oval 915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Oval 920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Oval 921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Oval 922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Oval 927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Oval 928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Oval 929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Oval 930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Oval 931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Oval 936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Oval 937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9" name="TextBox 938"/>
          <p:cNvSpPr txBox="1"/>
          <p:nvPr/>
        </p:nvSpPr>
        <p:spPr>
          <a:xfrm>
            <a:off x="822960" y="60350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una cuenta de control</a:t>
            </a:r>
          </a:p>
        </p:txBody>
      </p:sp>
      <p:sp>
        <p:nvSpPr>
          <p:cNvPr id="940" name="Rounded Rectangle 939"/>
          <p:cNvSpPr/>
          <p:nvPr/>
        </p:nvSpPr>
        <p:spPr>
          <a:xfrm>
            <a:off x="1371600" y="6812280"/>
            <a:ext cx="758952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200" b="1" noProof="0">
                <a:solidFill>
                  <a:srgbClr val="F29A5E"/>
                </a:solidFill>
                <a:latin typeface="Inter SemiBold"/>
              </a:rPr>
              <a:t>Fases 1 a 4</a:t>
            </a:r>
          </a:p>
          <a:p>
            <a:pPr algn="ctr"/>
            <a:r>
              <a:rPr lang="es-CL" sz="1600" b="0" noProof="0">
                <a:solidFill>
                  <a:srgbClr val="FFFFFF"/>
                </a:solidFill>
                <a:latin typeface="Inter"/>
              </a:rPr>
              <a:t>se repiten en cada etapa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9326880" y="6812280"/>
            <a:ext cx="7589520" cy="1463040"/>
          </a:xfrm>
          <a:prstGeom prst="roundRect">
            <a:avLst>
              <a:gd name="adj" fmla="val 1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200" b="1" noProof="0">
                <a:solidFill>
                  <a:srgbClr val="FFFFFF"/>
                </a:solidFill>
                <a:latin typeface="Inter SemiBold"/>
              </a:rPr>
              <a:t>Operación · 129.879 HH</a:t>
            </a:r>
          </a:p>
          <a:p>
            <a:pPr algn="ctr"/>
            <a:r>
              <a:rPr lang="es-CL" sz="1600" b="0" noProof="0">
                <a:solidFill>
                  <a:srgbClr val="FFFFFF"/>
                </a:solidFill>
                <a:latin typeface="Inter"/>
              </a:rPr>
              <a:t>36 meses de servicio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822960" y="873252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600" b="1" noProof="0">
                <a:solidFill>
                  <a:srgbClr val="3C3C3C"/>
                </a:solidFill>
                <a:latin typeface="Inter SemiBold"/>
              </a:rPr>
              <a:t>9 fases · 49 cuentas de control · 222 paquetes de trabajo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Rounded Rectangle 967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Rounded Rectangle 968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Rounded Rectangle 969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Rounded Rectangle 970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Rounded Rectangle 972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Rounded Rectangle 975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Rounded Rectangle 104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Rounded Rectangle 104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Rounded Rectangle 1046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Rounded Rectangle 1120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Rounded Rectangle 1121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Rounded Rectangle 1122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Rounded Rectangle 1123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Rounded Rectangle 1124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Rounded Rectangle 1125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Rounded Rectangle 1126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Rounded Rectangle 1127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Rounded Rectangle 1128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Rounded Rectangle 1129"/>
          <p:cNvSpPr/>
          <p:nvPr/>
        </p:nvSpPr>
        <p:spPr>
          <a:xfrm>
            <a:off x="921258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Rounded Rectangle 1130"/>
          <p:cNvSpPr/>
          <p:nvPr/>
        </p:nvSpPr>
        <p:spPr>
          <a:xfrm>
            <a:off x="1200912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Rounded Rectangle 1191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Rounded Rectangle 1192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Rounded Rectangle 1193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Rounded Rectangle 1263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Rounded Rectangle 1265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Rounded Rectangle 1266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Rounded Rectangle 1337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Rounded Rectangle 1338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Rounded Rectangle 1339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Rounded Rectangle 1340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Rounded Rectangle 1341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Rounded Rectangle 1342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Rounded Rectangle 1408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Rounded Rectangle 1409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Rounded Rectangle 1410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Rounded Rectangle 148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Rounded Rectangle 148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Rounded Rectangle 148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Rounded Rectangle 148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Rounded Rectangle 148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56 meses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Rounded Rectangle 1551"/>
          <p:cNvSpPr/>
          <p:nvPr/>
        </p:nvSpPr>
        <p:spPr>
          <a:xfrm>
            <a:off x="82296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Rounded Rectangle 1552"/>
          <p:cNvSpPr/>
          <p:nvPr/>
        </p:nvSpPr>
        <p:spPr>
          <a:xfrm>
            <a:off x="921258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aplicable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 → EVIDENCIA DE CUMPLIMIENTO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9164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4767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4767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58775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84378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84378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483864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3739896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3739896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379976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4636008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4636008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276088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5532120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5532120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617220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642823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642823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57" name="Google Shape;1857;hc7cc306779174be_4_255"/>
          <p:cNvSpPr/>
          <p:nvPr/>
        </p:nvSpPr>
        <p:spPr>
          <a:xfrm>
            <a:off x="731520" y="706831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Google Shape;1858;hc7cc306779174be_4_255"/>
          <p:cNvSpPr txBox="1"/>
          <p:nvPr/>
        </p:nvSpPr>
        <p:spPr>
          <a:xfrm>
            <a:off x="941712" y="732434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 9001</a:t>
            </a:r>
            <a:endParaRPr lang="es-CL" sz="1400" noProof="0"/>
          </a:p>
        </p:txBody>
      </p:sp>
      <p:sp>
        <p:nvSpPr>
          <p:cNvPr id="1859" name="Google Shape;1859;hc7cc306779174be_4_255"/>
          <p:cNvSpPr txBox="1"/>
          <p:nvPr/>
        </p:nvSpPr>
        <p:spPr>
          <a:xfrm>
            <a:off x="3684912" y="732434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Gestión de calidad y auditoría</a:t>
            </a:r>
            <a:endParaRPr lang="es-CL" sz="1800"/>
          </a:p>
        </p:txBody>
      </p:sp>
      <p:sp>
        <p:nvSpPr>
          <p:cNvPr id="1860" name="Google Shape;1860;hc7cc306779174be_4_255"/>
          <p:cNvSpPr/>
          <p:nvPr/>
        </p:nvSpPr>
        <p:spPr>
          <a:xfrm>
            <a:off x="731520" y="7964423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1" name="Google Shape;1861;hc7cc306779174be_4_255"/>
          <p:cNvSpPr txBox="1"/>
          <p:nvPr/>
        </p:nvSpPr>
        <p:spPr>
          <a:xfrm>
            <a:off x="941712" y="8220455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CMMI-DEV N3</a:t>
            </a:r>
            <a:endParaRPr lang="es-CL" sz="1400" noProof="0"/>
          </a:p>
        </p:txBody>
      </p:sp>
      <p:sp>
        <p:nvSpPr>
          <p:cNvPr id="1862" name="Google Shape;1862;hc7cc306779174be_4_255"/>
          <p:cNvSpPr txBox="1"/>
          <p:nvPr/>
        </p:nvSpPr>
        <p:spPr>
          <a:xfrm>
            <a:off x="3684912" y="8220455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de madurez del proceso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5760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OBLIGACIONES APLICABLES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0690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Sanidad alimentaria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4348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Controles y registros de la operación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49834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Documentación tributaria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3492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Documentos electrónicos y recepción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58978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Jornada de conductores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62636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Restricciones consideradas en el ruteo</a:t>
            </a:r>
            <a:endParaRPr lang="es-CL" sz="1600"/>
          </a:p>
        </p:txBody>
      </p:sp>
      <p:sp>
        <p:nvSpPr>
          <p:cNvPr id="1870" name="Google Shape;1870;hc7cc306779174be_4_255"/>
          <p:cNvSpPr txBox="1"/>
          <p:nvPr/>
        </p:nvSpPr>
        <p:spPr>
          <a:xfrm>
            <a:off x="9390888" y="68122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Protección de datos</a:t>
            </a:r>
            <a:endParaRPr lang="es-CL" sz="1800"/>
          </a:p>
        </p:txBody>
      </p:sp>
      <p:sp>
        <p:nvSpPr>
          <p:cNvPr id="1871" name="Google Shape;1871;hc7cc306779174be_4_255"/>
          <p:cNvSpPr txBox="1"/>
          <p:nvPr/>
        </p:nvSpPr>
        <p:spPr>
          <a:xfrm>
            <a:off x="9390888" y="71780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Acceso, resguardo y tratamiento</a:t>
            </a:r>
            <a:endParaRPr lang="es-CL" sz="1600"/>
          </a:p>
        </p:txBody>
      </p:sp>
      <p:sp>
        <p:nvSpPr>
          <p:cNvPr id="1872" name="Google Shape;1872;hc7cc306779174be_4_255"/>
          <p:cNvSpPr txBox="1"/>
          <p:nvPr/>
        </p:nvSpPr>
        <p:spPr>
          <a:xfrm>
            <a:off x="9390888" y="7726679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ESTÁNDARES DE INTERCAMBIO</a:t>
            </a:r>
            <a:endParaRPr lang="es-CL" sz="1500"/>
          </a:p>
        </p:txBody>
      </p:sp>
      <p:sp>
        <p:nvSpPr>
          <p:cNvPr id="1873" name="Google Shape;1873;hc7cc306779174be_4_255"/>
          <p:cNvSpPr txBox="1"/>
          <p:nvPr/>
        </p:nvSpPr>
        <p:spPr>
          <a:xfrm>
            <a:off x="9390888" y="80924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GS1: identificación · EDI: documentos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3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4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5" name="Google Shape;1885;hc7cc306779174be_4_489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4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160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4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16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4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16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4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16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400" noProof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16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4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16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400" noProof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16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4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16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 · CONDICIONES CONJUNTAS</a:t>
            </a:r>
            <a:endParaRPr lang="es-CL" sz="160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9144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646920" y="10515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G0</a:t>
            </a:r>
            <a:endParaRPr lang="es-CL" noProof="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561320" y="9875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Compromiso local</a:t>
            </a:r>
            <a:endParaRPr lang="es-CL" noProof="0"/>
          </a:p>
        </p:txBody>
      </p:sp>
      <p:sp>
        <p:nvSpPr>
          <p:cNvPr id="1943" name="Google Shape;1943;p31"/>
          <p:cNvSpPr txBox="1"/>
          <p:nvPr/>
        </p:nvSpPr>
        <p:spPr>
          <a:xfrm>
            <a:off x="10561320" y="14173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Formato y pruebas</a:t>
            </a:r>
            <a:endParaRPr lang="es-CL" sz="1600"/>
          </a:p>
        </p:txBody>
      </p:sp>
      <p:sp>
        <p:nvSpPr>
          <p:cNvPr id="1944" name="Google Shape;1944;p31"/>
          <p:cNvSpPr/>
          <p:nvPr/>
        </p:nvSpPr>
        <p:spPr>
          <a:xfrm>
            <a:off x="9509760" y="201168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5" name="Google Shape;1945;p31"/>
          <p:cNvSpPr/>
          <p:nvPr/>
        </p:nvSpPr>
        <p:spPr>
          <a:xfrm>
            <a:off x="9646920" y="21488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G1</a:t>
            </a:r>
            <a:endParaRPr lang="es-CL" noProof="0"/>
          </a:p>
        </p:txBody>
      </p:sp>
      <p:sp>
        <p:nvSpPr>
          <p:cNvPr id="1946" name="Google Shape;1946;p31"/>
          <p:cNvSpPr txBox="1"/>
          <p:nvPr/>
        </p:nvSpPr>
        <p:spPr>
          <a:xfrm>
            <a:off x="10561320" y="208483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Solicitud de fusión</a:t>
            </a:r>
            <a:endParaRPr lang="es-CL" noProof="0"/>
          </a:p>
        </p:txBody>
      </p:sp>
      <p:sp>
        <p:nvSpPr>
          <p:cNvPr id="1947" name="Google Shape;1947;p31"/>
          <p:cNvSpPr txBox="1"/>
          <p:nvPr/>
        </p:nvSpPr>
        <p:spPr>
          <a:xfrm>
            <a:off x="10561320" y="25146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Revisión por pares</a:t>
            </a:r>
            <a:endParaRPr lang="es-CL" sz="1600"/>
          </a:p>
        </p:txBody>
      </p:sp>
      <p:sp>
        <p:nvSpPr>
          <p:cNvPr id="1948" name="Google Shape;1948;p31"/>
          <p:cNvSpPr/>
          <p:nvPr/>
        </p:nvSpPr>
        <p:spPr>
          <a:xfrm>
            <a:off x="9509760" y="310896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9" name="Google Shape;1949;p31"/>
          <p:cNvSpPr/>
          <p:nvPr/>
        </p:nvSpPr>
        <p:spPr>
          <a:xfrm>
            <a:off x="9646920" y="3246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G2</a:t>
            </a:r>
            <a:endParaRPr lang="es-CL" noProof="0"/>
          </a:p>
        </p:txBody>
      </p:sp>
      <p:sp>
        <p:nvSpPr>
          <p:cNvPr id="1950" name="Google Shape;1950;p31"/>
          <p:cNvSpPr txBox="1"/>
          <p:nvPr/>
        </p:nvSpPr>
        <p:spPr>
          <a:xfrm>
            <a:off x="10561320" y="318211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continua</a:t>
            </a:r>
            <a:endParaRPr lang="es-CL" noProof="0"/>
          </a:p>
        </p:txBody>
      </p:sp>
      <p:sp>
        <p:nvSpPr>
          <p:cNvPr id="1951" name="Google Shape;1951;p31"/>
          <p:cNvSpPr txBox="1"/>
          <p:nvPr/>
        </p:nvSpPr>
        <p:spPr>
          <a:xfrm>
            <a:off x="10561320" y="36118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Cobertura · calidad de código · contratos</a:t>
            </a:r>
            <a:endParaRPr lang="es-CL" sz="1600"/>
          </a:p>
        </p:txBody>
      </p:sp>
      <p:sp>
        <p:nvSpPr>
          <p:cNvPr id="1952" name="Google Shape;1952;p31"/>
          <p:cNvSpPr/>
          <p:nvPr/>
        </p:nvSpPr>
        <p:spPr>
          <a:xfrm>
            <a:off x="9509760" y="420624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3" name="Google Shape;1953;p31"/>
          <p:cNvSpPr/>
          <p:nvPr/>
        </p:nvSpPr>
        <p:spPr>
          <a:xfrm>
            <a:off x="9646920" y="43434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G3</a:t>
            </a:r>
            <a:endParaRPr lang="es-CL" noProof="0"/>
          </a:p>
        </p:txBody>
      </p:sp>
      <p:sp>
        <p:nvSpPr>
          <p:cNvPr id="1954" name="Google Shape;1954;p31"/>
          <p:cNvSpPr txBox="1"/>
          <p:nvPr/>
        </p:nvSpPr>
        <p:spPr>
          <a:xfrm>
            <a:off x="10561320" y="427939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Promoción a QA</a:t>
            </a:r>
            <a:endParaRPr lang="es-CL" noProof="0"/>
          </a:p>
        </p:txBody>
      </p:sp>
      <p:sp>
        <p:nvSpPr>
          <p:cNvPr id="1955" name="Google Shape;1955;p31"/>
          <p:cNvSpPr txBox="1"/>
          <p:nvPr/>
        </p:nvSpPr>
        <p:spPr>
          <a:xfrm>
            <a:off x="10561320" y="4709159"/>
            <a:ext cx="6675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Sin vulnerabilidades críticas o altas</a:t>
            </a:r>
            <a:endParaRPr lang="es-CL" sz="160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530352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646920" y="54406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G4</a:t>
            </a:r>
            <a:endParaRPr lang="es-CL" noProof="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561320" y="537667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noProof="0"/>
          </a:p>
        </p:txBody>
      </p:sp>
      <p:sp>
        <p:nvSpPr>
          <p:cNvPr id="1959" name="Google Shape;1959;p31"/>
          <p:cNvSpPr txBox="1"/>
          <p:nvPr/>
        </p:nvSpPr>
        <p:spPr>
          <a:xfrm>
            <a:off x="10561320" y="58064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Regresión · seguridad · accesibilidad</a:t>
            </a:r>
            <a:endParaRPr lang="es-CL" sz="1600"/>
          </a:p>
        </p:txBody>
      </p:sp>
      <p:sp>
        <p:nvSpPr>
          <p:cNvPr id="1960" name="Google Shape;1960;p31"/>
          <p:cNvSpPr/>
          <p:nvPr/>
        </p:nvSpPr>
        <p:spPr>
          <a:xfrm>
            <a:off x="9509760" y="64008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1" name="Google Shape;1961;p31"/>
          <p:cNvSpPr/>
          <p:nvPr/>
        </p:nvSpPr>
        <p:spPr>
          <a:xfrm>
            <a:off x="9646920" y="65379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G5</a:t>
            </a:r>
            <a:endParaRPr lang="es-CL" noProof="0"/>
          </a:p>
        </p:txBody>
      </p:sp>
      <p:sp>
        <p:nvSpPr>
          <p:cNvPr id="1962" name="Google Shape;1962;p31"/>
          <p:cNvSpPr txBox="1"/>
          <p:nvPr/>
        </p:nvSpPr>
        <p:spPr>
          <a:xfrm>
            <a:off x="10561320" y="64739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Entrada a Producción</a:t>
            </a:r>
            <a:endParaRPr lang="es-CL" noProof="0"/>
          </a:p>
        </p:txBody>
      </p:sp>
      <p:sp>
        <p:nvSpPr>
          <p:cNvPr id="1963" name="Google Shape;1963;p31"/>
          <p:cNvSpPr txBox="1"/>
          <p:nvPr/>
        </p:nvSpPr>
        <p:spPr>
          <a:xfrm>
            <a:off x="10561320" y="69037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Pruebas · certificación · reversión</a:t>
            </a:r>
            <a:endParaRPr lang="es-CL" sz="160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7498079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646920" y="76352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G6</a:t>
            </a:r>
            <a:endParaRPr lang="es-CL" noProof="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561320" y="7571231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Producción supervisada</a:t>
            </a:r>
            <a:endParaRPr lang="es-CL" noProof="0"/>
          </a:p>
        </p:txBody>
      </p:sp>
      <p:sp>
        <p:nvSpPr>
          <p:cNvPr id="1967" name="Google Shape;1967;p31"/>
          <p:cNvSpPr txBox="1"/>
          <p:nvPr/>
        </p:nvSpPr>
        <p:spPr>
          <a:xfrm>
            <a:off x="10561320" y="80010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Seguimiento · reversión ante desvíos</a:t>
            </a:r>
            <a:endParaRPr lang="es-CL" sz="160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Pruebas: del código al terreno</a:t>
            </a:r>
            <a:endParaRPr lang="es-CL" sz="1400" noProof="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7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8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9" name="Google Shape;1979;hc7cc306779174be_4_957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</a:t>
            </a:r>
            <a:endParaRPr lang="es-CL" sz="1400" noProof="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Unitarias y componente</a:t>
            </a:r>
            <a:endParaRPr lang="es-CL" sz="1400" noProof="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de API</a:t>
            </a:r>
            <a:endParaRPr lang="es-CL" sz="1400" noProof="0"/>
          </a:p>
        </p:txBody>
      </p:sp>
      <p:cxnSp>
        <p:nvCxnSpPr>
          <p:cNvPr id="1984" name="Google Shape;1984;hc7cc306779174be_4_957"/>
          <p:cNvCxnSpPr/>
          <p:nvPr/>
        </p:nvCxnSpPr>
        <p:spPr>
          <a:xfrm>
            <a:off x="4069080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85" name="Google Shape;1985;hc7cc306779174be_4_957"/>
          <p:cNvSpPr/>
          <p:nvPr/>
        </p:nvSpPr>
        <p:spPr>
          <a:xfrm>
            <a:off x="4242816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QA</a:t>
            </a:r>
            <a:endParaRPr lang="es-CL" sz="1400" noProof="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4242816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Integraciones</a:t>
            </a:r>
            <a:endParaRPr lang="es-CL" sz="1600"/>
          </a:p>
        </p:txBody>
      </p:sp>
      <p:sp>
        <p:nvSpPr>
          <p:cNvPr id="1987" name="Google Shape;1987;hc7cc306779174be_4_957"/>
          <p:cNvSpPr/>
          <p:nvPr/>
        </p:nvSpPr>
        <p:spPr>
          <a:xfrm>
            <a:off x="4242816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 y regresión</a:t>
            </a:r>
            <a:endParaRPr lang="es-CL" sz="1400" noProof="0"/>
          </a:p>
        </p:txBody>
      </p:sp>
      <p:sp>
        <p:nvSpPr>
          <p:cNvPr id="1988" name="Google Shape;1988;hc7cc306779174be_4_957"/>
          <p:cNvSpPr/>
          <p:nvPr/>
        </p:nvSpPr>
        <p:spPr>
          <a:xfrm>
            <a:off x="4242816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600"/>
          </a:p>
        </p:txBody>
      </p:sp>
      <p:cxnSp>
        <p:nvCxnSpPr>
          <p:cNvPr id="1989" name="Google Shape;1989;hc7cc306779174be_4_957"/>
          <p:cNvCxnSpPr/>
          <p:nvPr/>
        </p:nvCxnSpPr>
        <p:spPr>
          <a:xfrm>
            <a:off x="7397496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0" name="Google Shape;1990;hc7cc306779174be_4_957"/>
          <p:cNvSpPr/>
          <p:nvPr/>
        </p:nvSpPr>
        <p:spPr>
          <a:xfrm>
            <a:off x="7571232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sz="1400" noProof="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7571232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</a:t>
            </a:r>
            <a:endParaRPr lang="es-CL" sz="1400" noProof="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7571232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y estrés</a:t>
            </a:r>
            <a:endParaRPr lang="es-CL" sz="16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7571232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Fallas y conectividad</a:t>
            </a:r>
            <a:endParaRPr lang="es-CL" sz="1600"/>
          </a:p>
        </p:txBody>
      </p:sp>
      <p:sp>
        <p:nvSpPr>
          <p:cNvPr id="1994" name="Google Shape;1994;hc7cc306779174be_4_957"/>
          <p:cNvSpPr/>
          <p:nvPr/>
        </p:nvSpPr>
        <p:spPr>
          <a:xfrm>
            <a:off x="7571232" y="585215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y reversión</a:t>
            </a:r>
            <a:endParaRPr lang="es-CL" sz="1600"/>
          </a:p>
        </p:txBody>
      </p:sp>
      <p:sp>
        <p:nvSpPr>
          <p:cNvPr id="1995" name="Google Shape;1995;hc7cc306779174be_4_957"/>
          <p:cNvSpPr/>
          <p:nvPr/>
        </p:nvSpPr>
        <p:spPr>
          <a:xfrm>
            <a:off x="7571232" y="649224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Intrusión por un tercero</a:t>
            </a:r>
            <a:endParaRPr lang="es-CL" sz="1400" noProof="0"/>
          </a:p>
        </p:txBody>
      </p:sp>
      <p:cxnSp>
        <p:nvCxnSpPr>
          <p:cNvPr id="1996" name="Google Shape;1996;hc7cc306779174be_4_957"/>
          <p:cNvCxnSpPr/>
          <p:nvPr/>
        </p:nvCxnSpPr>
        <p:spPr>
          <a:xfrm>
            <a:off x="10725912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7" name="Google Shape;1997;hc7cc306779174be_4_957"/>
          <p:cNvSpPr/>
          <p:nvPr/>
        </p:nvSpPr>
        <p:spPr>
          <a:xfrm>
            <a:off x="10899648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</a:t>
            </a:r>
            <a:endParaRPr lang="es-CL" sz="1400" noProof="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0899648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</a:t>
            </a:r>
            <a:endParaRPr lang="es-CL" sz="16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0899648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</a:t>
            </a:r>
            <a:endParaRPr lang="es-CL" sz="16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0899648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Lluvia · calor · una mano</a:t>
            </a:r>
            <a:endParaRPr lang="es-CL" sz="1600"/>
          </a:p>
        </p:txBody>
      </p:sp>
      <p:cxnSp>
        <p:nvCxnSpPr>
          <p:cNvPr id="2001" name="Google Shape;2001;hc7cc306779174be_4_957"/>
          <p:cNvCxnSpPr/>
          <p:nvPr/>
        </p:nvCxnSpPr>
        <p:spPr>
          <a:xfrm>
            <a:off x="14054328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02" name="Google Shape;2002;hc7cc306779174be_4_957"/>
          <p:cNvSpPr/>
          <p:nvPr/>
        </p:nvSpPr>
        <p:spPr>
          <a:xfrm>
            <a:off x="14228064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sz="1800"/>
          </a:p>
        </p:txBody>
      </p:sp>
      <p:sp>
        <p:nvSpPr>
          <p:cNvPr id="2003" name="Google Shape;2003;hc7cc306779174be_4_957"/>
          <p:cNvSpPr/>
          <p:nvPr/>
        </p:nvSpPr>
        <p:spPr>
          <a:xfrm>
            <a:off x="14228064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Ejercicios de recuperación</a:t>
            </a:r>
            <a:endParaRPr lang="es-CL" sz="1600"/>
          </a:p>
        </p:txBody>
      </p:sp>
      <p:sp>
        <p:nvSpPr>
          <p:cNvPr id="2004" name="Google Shape;2004;hc7cc306779174be_4_957"/>
          <p:cNvSpPr/>
          <p:nvPr/>
        </p:nvSpPr>
        <p:spPr>
          <a:xfrm>
            <a:off x="14228064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16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para pruebas repetibles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507492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trazable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al dimensionamiento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923544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por caso y ambiente</a:t>
            </a:r>
            <a:endParaRPr lang="es-CL" sz="1600"/>
          </a:p>
        </p:txBody>
      </p:sp>
      <p:sp>
        <p:nvSpPr>
          <p:cNvPr id="2008" name="Google Shape;2008;hc7cc306779174be_4_957"/>
          <p:cNvSpPr/>
          <p:nvPr/>
        </p:nvSpPr>
        <p:spPr>
          <a:xfrm>
            <a:off x="13395959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protegidos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 anonimización verificada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5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6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7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8" name="!!title"/>
          <p:cNvSpPr txBox="1"/>
          <p:nvPr/>
        </p:nvSpPr>
        <p:spPr>
          <a:xfrm>
            <a:off x="1435608" y="274320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y mejora</a:t>
            </a:r>
            <a:endParaRPr lang="es-CL" sz="1400" noProof="0"/>
          </a:p>
        </p:txBody>
      </p:sp>
      <p:sp>
        <p:nvSpPr>
          <p:cNvPr id="2019" name="Google Shape;2019;hc7cc306779174be_4_1072"/>
          <p:cNvSpPr txBox="1"/>
          <p:nvPr/>
        </p:nvSpPr>
        <p:spPr>
          <a:xfrm>
            <a:off x="9418320" y="457200"/>
            <a:ext cx="813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· IDENTIFICAR CLIENTES AFECTADOS EN &lt; 2 H</a:t>
            </a:r>
            <a:endParaRPr lang="es-CL" sz="1300"/>
          </a:p>
        </p:txBody>
      </p:sp>
      <p:sp>
        <p:nvSpPr>
          <p:cNvPr id="2020" name="Google Shape;2020;hc7cc306779174be_4_1072"/>
          <p:cNvSpPr/>
          <p:nvPr/>
        </p:nvSpPr>
        <p:spPr>
          <a:xfrm>
            <a:off x="9418320" y="86868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Origen</a:t>
            </a:r>
            <a:endParaRPr lang="es-CL" sz="1400" noProof="0"/>
          </a:p>
        </p:txBody>
      </p:sp>
      <p:sp>
        <p:nvSpPr>
          <p:cNvPr id="2021" name="Google Shape;2021;hc7cc306779174be_4_1072"/>
          <p:cNvSpPr/>
          <p:nvPr/>
        </p:nvSpPr>
        <p:spPr>
          <a:xfrm>
            <a:off x="11932920" y="86868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Identificar clientes afectados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un lote en &lt; 2 h</a:t>
            </a:r>
            <a:endParaRPr lang="es-CL" sz="1800"/>
          </a:p>
        </p:txBody>
      </p:sp>
      <p:cxnSp>
        <p:nvCxnSpPr>
          <p:cNvPr id="2022" name="Google Shape;2022;hc7cc306779174be_4_1072"/>
          <p:cNvCxnSpPr/>
          <p:nvPr/>
        </p:nvCxnSpPr>
        <p:spPr>
          <a:xfrm>
            <a:off x="10607040" y="161848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3" name="Google Shape;2023;hc7cc306779174be_4_1072"/>
          <p:cNvSpPr/>
          <p:nvPr/>
        </p:nvSpPr>
        <p:spPr>
          <a:xfrm>
            <a:off x="9418320" y="185623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1400" noProof="0"/>
          </a:p>
        </p:txBody>
      </p:sp>
      <p:sp>
        <p:nvSpPr>
          <p:cNvPr id="2024" name="Google Shape;2024;hc7cc306779174be_4_1072"/>
          <p:cNvSpPr/>
          <p:nvPr/>
        </p:nvSpPr>
        <p:spPr>
          <a:xfrm>
            <a:off x="11932920" y="185623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RF-09.01 trazabilidad</a:t>
            </a:r>
            <a:endParaRPr lang="es-CL" sz="1400" noProof="0"/>
          </a:p>
        </p:txBody>
      </p:sp>
      <p:cxnSp>
        <p:nvCxnSpPr>
          <p:cNvPr id="2025" name="Google Shape;2025;hc7cc306779174be_4_1072"/>
          <p:cNvCxnSpPr/>
          <p:nvPr/>
        </p:nvCxnSpPr>
        <p:spPr>
          <a:xfrm>
            <a:off x="10607040" y="260604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6" name="Google Shape;2026;hc7cc306779174be_4_1072"/>
          <p:cNvSpPr/>
          <p:nvPr/>
        </p:nvSpPr>
        <p:spPr>
          <a:xfrm>
            <a:off x="9418320" y="284378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Componente</a:t>
            </a:r>
            <a:endParaRPr lang="es-CL" sz="1400" noProof="0"/>
          </a:p>
        </p:txBody>
      </p:sp>
      <p:sp>
        <p:nvSpPr>
          <p:cNvPr id="2027" name="Google Shape;2027;hc7cc306779174be_4_1072"/>
          <p:cNvSpPr/>
          <p:nvPr/>
        </p:nvSpPr>
        <p:spPr>
          <a:xfrm>
            <a:off x="11932920" y="284378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 Calidad y trazabilidad</a:t>
            </a:r>
            <a:endParaRPr lang="es-CL" sz="1400" noProof="0"/>
          </a:p>
        </p:txBody>
      </p:sp>
      <p:cxnSp>
        <p:nvCxnSpPr>
          <p:cNvPr id="2028" name="Google Shape;2028;hc7cc306779174be_4_1072"/>
          <p:cNvCxnSpPr/>
          <p:nvPr/>
        </p:nvCxnSpPr>
        <p:spPr>
          <a:xfrm>
            <a:off x="10607040" y="3593592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9" name="Google Shape;2029;hc7cc306779174be_4_1072"/>
          <p:cNvSpPr/>
          <p:nvPr/>
        </p:nvSpPr>
        <p:spPr>
          <a:xfrm>
            <a:off x="9418320" y="3831336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Paquete EDT</a:t>
            </a:r>
            <a:endParaRPr lang="es-CL" sz="1400" noProof="0"/>
          </a:p>
        </p:txBody>
      </p:sp>
      <p:sp>
        <p:nvSpPr>
          <p:cNvPr id="2030" name="Google Shape;2030;hc7cc306779174be_4_1072"/>
          <p:cNvSpPr/>
          <p:nvPr/>
        </p:nvSpPr>
        <p:spPr>
          <a:xfrm>
            <a:off x="11932920" y="3831336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3.4.4 Cadena de frío y retiro</a:t>
            </a:r>
            <a:endParaRPr lang="es-CL" sz="1400" noProof="0"/>
          </a:p>
        </p:txBody>
      </p:sp>
      <p:cxnSp>
        <p:nvCxnSpPr>
          <p:cNvPr id="2031" name="Google Shape;2031;hc7cc306779174be_4_1072"/>
          <p:cNvCxnSpPr/>
          <p:nvPr/>
        </p:nvCxnSpPr>
        <p:spPr>
          <a:xfrm>
            <a:off x="10607040" y="4581144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2" name="Google Shape;2032;hc7cc306779174be_4_1072"/>
          <p:cNvSpPr/>
          <p:nvPr/>
        </p:nvSpPr>
        <p:spPr>
          <a:xfrm>
            <a:off x="9418320" y="4818888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1400" noProof="0"/>
          </a:p>
        </p:txBody>
      </p:sp>
      <p:sp>
        <p:nvSpPr>
          <p:cNvPr id="2033" name="Google Shape;2033;hc7cc306779174be_4_1072"/>
          <p:cNvSpPr/>
          <p:nvPr/>
        </p:nvSpPr>
        <p:spPr>
          <a:xfrm>
            <a:off x="11932920" y="4818888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Simulacro de retiro</a:t>
            </a:r>
            <a:endParaRPr lang="es-CL" sz="1400" noProof="0"/>
          </a:p>
        </p:txBody>
      </p:sp>
      <p:cxnSp>
        <p:nvCxnSpPr>
          <p:cNvPr id="2034" name="Google Shape;2034;hc7cc306779174be_4_1072"/>
          <p:cNvCxnSpPr/>
          <p:nvPr/>
        </p:nvCxnSpPr>
        <p:spPr>
          <a:xfrm>
            <a:off x="10607040" y="5568696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5" name="Google Shape;2035;hc7cc306779174be_4_1072"/>
          <p:cNvSpPr/>
          <p:nvPr/>
        </p:nvSpPr>
        <p:spPr>
          <a:xfrm>
            <a:off x="9418320" y="580644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</a:t>
            </a:r>
            <a:endParaRPr lang="es-CL" sz="1400" noProof="0"/>
          </a:p>
        </p:txBody>
      </p:sp>
      <p:sp>
        <p:nvSpPr>
          <p:cNvPr id="2036" name="Google Shape;2036;hc7cc306779174be_4_1072"/>
          <p:cNvSpPr/>
          <p:nvPr/>
        </p:nvSpPr>
        <p:spPr>
          <a:xfrm>
            <a:off x="11932920" y="580644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Fusión con el ID del requisito</a:t>
            </a:r>
            <a:endParaRPr lang="es-CL" sz="1400" noProof="0"/>
          </a:p>
        </p:txBody>
      </p:sp>
      <p:cxnSp>
        <p:nvCxnSpPr>
          <p:cNvPr id="2037" name="Google Shape;2037;hc7cc306779174be_4_1072"/>
          <p:cNvCxnSpPr/>
          <p:nvPr/>
        </p:nvCxnSpPr>
        <p:spPr>
          <a:xfrm>
            <a:off x="10607040" y="655624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8" name="Google Shape;2038;hc7cc306779174be_4_1072"/>
          <p:cNvSpPr/>
          <p:nvPr/>
        </p:nvSpPr>
        <p:spPr>
          <a:xfrm>
            <a:off x="9418320" y="679399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Despliegue</a:t>
            </a:r>
            <a:endParaRPr lang="es-CL" sz="1400" noProof="0"/>
          </a:p>
        </p:txBody>
      </p:sp>
      <p:sp>
        <p:nvSpPr>
          <p:cNvPr id="2039" name="Google Shape;2039;hc7cc306779174be_4_1072"/>
          <p:cNvSpPr/>
          <p:nvPr/>
        </p:nvSpPr>
        <p:spPr>
          <a:xfrm>
            <a:off x="11932920" y="679399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Digest</a:t>
            </a: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la imagen firmada</a:t>
            </a:r>
            <a:endParaRPr lang="es-CL" sz="1400" noProof="0"/>
          </a:p>
        </p:txBody>
      </p:sp>
      <p:cxnSp>
        <p:nvCxnSpPr>
          <p:cNvPr id="2040" name="Google Shape;2040;hc7cc306779174be_4_1072"/>
          <p:cNvCxnSpPr/>
          <p:nvPr/>
        </p:nvCxnSpPr>
        <p:spPr>
          <a:xfrm>
            <a:off x="10607040" y="754380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41" name="Google Shape;2041;hc7cc306779174be_4_1072"/>
          <p:cNvSpPr/>
          <p:nvPr/>
        </p:nvSpPr>
        <p:spPr>
          <a:xfrm>
            <a:off x="9418320" y="778154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1400" noProof="0"/>
          </a:p>
        </p:txBody>
      </p:sp>
      <p:sp>
        <p:nvSpPr>
          <p:cNvPr id="2042" name="Google Shape;2042;hc7cc306779174be_4_1072"/>
          <p:cNvSpPr/>
          <p:nvPr/>
        </p:nvSpPr>
        <p:spPr>
          <a:xfrm>
            <a:off x="11932920" y="778154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Acta del H7</a:t>
            </a:r>
            <a:endParaRPr lang="es-CL" sz="1400" noProof="0"/>
          </a:p>
        </p:txBody>
      </p:sp>
      <p:sp>
        <p:nvSpPr>
          <p:cNvPr id="2043" name="Google Shape;2043;hc7cc306779174be_4_1072"/>
          <p:cNvSpPr txBox="1"/>
          <p:nvPr/>
        </p:nvSpPr>
        <p:spPr>
          <a:xfrm>
            <a:off x="1435608" y="4572000"/>
            <a:ext cx="758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 · PDCA</a:t>
            </a:r>
            <a:endParaRPr lang="es-CL" sz="1400" noProof="0"/>
          </a:p>
        </p:txBody>
      </p:sp>
      <p:sp>
        <p:nvSpPr>
          <p:cNvPr id="2044" name="Google Shape;2044;hc7cc306779174be_4_1072"/>
          <p:cNvSpPr/>
          <p:nvPr/>
        </p:nvSpPr>
        <p:spPr>
          <a:xfrm>
            <a:off x="143560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causa raíz y dueño</a:t>
            </a:r>
            <a:endParaRPr lang="es-CL" sz="1400" noProof="0"/>
          </a:p>
        </p:txBody>
      </p:sp>
      <p:sp>
        <p:nvSpPr>
          <p:cNvPr id="2045" name="Google Shape;2045;hc7cc306779174be_4_1072"/>
          <p:cNvSpPr/>
          <p:nvPr/>
        </p:nvSpPr>
        <p:spPr>
          <a:xfrm>
            <a:off x="358444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Hacer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corregir proceso</a:t>
            </a:r>
            <a:endParaRPr lang="es-CL" sz="1400" noProof="0"/>
          </a:p>
        </p:txBody>
      </p:sp>
      <p:sp>
        <p:nvSpPr>
          <p:cNvPr id="2046" name="Google Shape;2046;hc7cc306779174be_4_1072"/>
          <p:cNvSpPr/>
          <p:nvPr/>
        </p:nvSpPr>
        <p:spPr>
          <a:xfrm>
            <a:off x="143560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cerrar o escalar</a:t>
            </a:r>
            <a:endParaRPr lang="es-CL" sz="1400" noProof="0"/>
          </a:p>
        </p:txBody>
      </p:sp>
      <p:sp>
        <p:nvSpPr>
          <p:cNvPr id="2047" name="Google Shape;2047;hc7cc306779174be_4_1072"/>
          <p:cNvSpPr/>
          <p:nvPr/>
        </p:nvSpPr>
        <p:spPr>
          <a:xfrm>
            <a:off x="358444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mismo criterio</a:t>
            </a:r>
            <a:endParaRPr lang="es-CL" sz="1400" noProof="0"/>
          </a:p>
        </p:txBody>
      </p:sp>
      <p:sp>
        <p:nvSpPr>
          <p:cNvPr id="2048" name="Google Shape;2048;hc7cc306779174be_4_1072"/>
          <p:cNvSpPr txBox="1"/>
          <p:nvPr/>
        </p:nvSpPr>
        <p:spPr>
          <a:xfrm>
            <a:off x="1435608" y="7086600"/>
            <a:ext cx="420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Diagramas de control · Pareto · causa raíz</a:t>
            </a:r>
            <a:endParaRPr lang="es-CL" sz="1400" noProof="0"/>
          </a:p>
        </p:txBody>
      </p:sp>
      <p:sp>
        <p:nvSpPr>
          <p:cNvPr id="2049" name="Google Shape;2049;hc7cc306779174be_4_1072"/>
          <p:cNvSpPr txBox="1"/>
          <p:nvPr/>
        </p:nvSpPr>
        <p:spPr>
          <a:xfrm>
            <a:off x="5943600" y="4506873"/>
            <a:ext cx="3109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DE CALIDAD</a:t>
            </a:r>
            <a:endParaRPr lang="es-CL" sz="1500"/>
          </a:p>
        </p:txBody>
      </p:sp>
      <p:sp>
        <p:nvSpPr>
          <p:cNvPr id="2050" name="Google Shape;2050;hc7cc306779174be_4_1072"/>
          <p:cNvSpPr txBox="1"/>
          <p:nvPr/>
        </p:nvSpPr>
        <p:spPr>
          <a:xfrm>
            <a:off x="5943600" y="50165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Prevención</a:t>
            </a:r>
            <a:endParaRPr lang="es-CL" sz="2300"/>
          </a:p>
        </p:txBody>
      </p:sp>
      <p:sp>
        <p:nvSpPr>
          <p:cNvPr id="2051" name="Google Shape;2051;hc7cc306779174be_4_1072"/>
          <p:cNvSpPr txBox="1"/>
          <p:nvPr/>
        </p:nvSpPr>
        <p:spPr>
          <a:xfrm>
            <a:off x="5943600" y="55626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Preparar procesos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y controles</a:t>
            </a:r>
            <a:endParaRPr lang="es-CL" sz="1800"/>
          </a:p>
        </p:txBody>
      </p:sp>
      <p:sp>
        <p:nvSpPr>
          <p:cNvPr id="2054" name="Google Shape;2054;hc7cc306779174be_4_1072"/>
          <p:cNvSpPr txBox="1"/>
          <p:nvPr/>
        </p:nvSpPr>
        <p:spPr>
          <a:xfrm>
            <a:off x="5943600" y="64770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0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Evaluación</a:t>
            </a:r>
            <a:endParaRPr lang="es-CL" sz="2300"/>
          </a:p>
        </p:txBody>
      </p:sp>
      <p:sp>
        <p:nvSpPr>
          <p:cNvPr id="2055" name="Google Shape;2055;hc7cc306779174be_4_1072"/>
          <p:cNvSpPr txBox="1"/>
          <p:nvPr/>
        </p:nvSpPr>
        <p:spPr>
          <a:xfrm>
            <a:off x="5943600" y="70231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Revisar, probar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y documentar</a:t>
            </a:r>
            <a:endParaRPr lang="es-CL" sz="1800"/>
          </a:p>
        </p:txBody>
      </p:sp>
      <p:sp>
        <p:nvSpPr>
          <p:cNvPr id="20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5" name="!!deco_78f3c294_1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6" name="!!deco_78f3c294_2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7" name="Google Shape;2067;p32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1430000" y="86868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1430000" y="246888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1430000" y="406908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1430000" y="566928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1430000" y="726948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50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51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7141</Words>
  <Application>Microsoft Office PowerPoint</Application>
  <PresentationFormat>Personalizado</PresentationFormat>
  <Paragraphs>1589</Paragraphs>
  <Slides>52</Slides>
  <Notes>52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52</vt:i4>
      </vt:variant>
    </vt:vector>
  </HeadingPairs>
  <TitlesOfParts>
    <vt:vector size="59" baseType="lpstr">
      <vt:lpstr>Inter</vt:lpstr>
      <vt:lpstr>Inter Light</vt:lpstr>
      <vt:lpstr>Arial</vt:lpstr>
      <vt:lpstr>Inter SemiBold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1</cp:revision>
  <dcterms:created xsi:type="dcterms:W3CDTF">2006-08-16T00:00:00Z</dcterms:created>
  <dcterms:modified xsi:type="dcterms:W3CDTF">2026-10-22T01:00:31Z</dcterms:modified>
</cp:coreProperties>
</file>