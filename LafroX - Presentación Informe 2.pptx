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5" r:id="rId15"/>
    <p:sldId id="257" r:id="rId7"/>
    <p:sldId id="262" r:id="rId12"/>
    <p:sldId id="260" r:id="rId10"/>
    <p:sldId id="258" r:id="rId8"/>
    <p:sldId id="259" r:id="rId9"/>
    <p:sldId id="266" r:id="rId22"/>
    <p:sldId id="261" r:id="rId11"/>
    <p:sldId id="263" r:id="rId13"/>
    <p:sldId id="267" r:id="rId23"/>
    <p:sldId id="268" r:id="rId24"/>
    <p:sldId id="269" r:id="rId25"/>
    <p:sldId id="270" r:id="rId26"/>
    <p:sldId id="271" r:id="rId27"/>
    <p:sldId id="272" r:id="rId28"/>
    <p:sldId id="264" r:id="rId14"/>
    <p:sldId id="273" r:id="rId29"/>
    <p:sldId id="274" r:id="rId30"/>
  </p:sldIdLst>
  <p:sldSz cx="18288000" cy="10287000"/>
  <p:notesSz cx="6858000" cy="9144000"/>
  <p:embeddedFontLst>
    <p:embeddedFont>
      <p:font typeface="Telegraf" charset="1" panose="00000500000000000000"/>
      <p:regular r:id="rId16"/>
    </p:embeddedFont>
    <p:embeddedFont>
      <p:font typeface="Telegraf Heavy" charset="1" panose="00000A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  <p:embeddedFont>
      <p:font typeface="Telegraf Bold" charset="1" panose="00000800000000000000"/>
      <p:regular r:id="rId20"/>
    </p:embeddedFont>
    <p:embeddedFont>
      <p:font typeface="Telegraf Extra-Light" charset="1" panose="000003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5.xml"/><Relationship Id="rId11" Type="http://schemas.openxmlformats.org/officeDocument/2006/relationships/slide" Target="slides/slide9.xml"/><Relationship Id="rId12" Type="http://schemas.openxmlformats.org/officeDocument/2006/relationships/slide" Target="slides/slide4.xml"/><Relationship Id="rId13" Type="http://schemas.openxmlformats.org/officeDocument/2006/relationships/slide" Target="slides/slide10.xml"/><Relationship Id="rId14" Type="http://schemas.openxmlformats.org/officeDocument/2006/relationships/slide" Target="slides/slide17.xml"/><Relationship Id="rId15" Type="http://schemas.openxmlformats.org/officeDocument/2006/relationships/slide" Target="slides/slide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slide" Target="slides/slide8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Riesgos</c:v>
                </c:pt>
              </c:strCache>
            </c:strRef>
          </c:tx>
          <c:spPr>
            <a:solidFill>
              <a:srgbClr val="E8641B"/>
            </a:solidFill>
          </c:spPr>
          <c:cat>
            <c:strRef>
              <c:f>Sheet1!$A$2:$A$8</c:f>
              <c:strCache>
                <c:ptCount val="7"/>
                <c:pt idx="0">
                  <c:v>Regulatorio y externo</c:v>
                </c:pt>
                <c:pt idx="1">
                  <c:v>Empresa proveedora</c:v>
                </c:pt>
                <c:pt idx="2">
                  <c:v>Contrato y licitación</c:v>
                </c:pt>
                <c:pt idx="3">
                  <c:v>Personas y adopción</c:v>
                </c:pt>
                <c:pt idx="4">
                  <c:v>Integración y legado</c:v>
                </c:pt>
                <c:pt idx="5">
                  <c:v>Operación del cliente</c:v>
                </c:pt>
                <c:pt idx="6">
                  <c:v>Solución y tecnología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  <c:pt idx="4">
                  <c:v>7</c:v>
                </c:pt>
                <c:pt idx="5">
                  <c:v>8</c:v>
                </c:pt>
                <c:pt idx="6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E864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Somos LafroX SpA y presentamos nuestra Propuesta Técnica para la Licitación TFEP-01/2026 de Distribuidora Puelche: el Sistema Integral de Gestión Logística Puelche. En 20 minutos vamos a mostrar el problema, la solución, cómo la construimos y cómo aseguramos que funcione.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Marzo de 2026. Un retiro sanitario. Puelche tardó nueve días en saber a qué clientes había llegado el producto. El resultado: 4.800 kilos retirados y el proveedor de lácteos suspendió a Puelche por seis meses, un proveedor que representa el 6 % de las ventas. Recuerden este número: nueve días. Volveremos a él al final. (Fuente: 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diagnóstico. Puelche tiene tres problemas que parecen distintos: la habilitación sanitaria está comprometida, el servicio pierde competitividad con un OTIF de 82,4 %, y nadie conoce el costo de servir, que se calcula con un prorrateo de 2016. Pero los tres tienen la misma causa: el dato no se registra donde ocurre el hecho. Sin captura no hay trazabilidad; sin trazabilidad no se mide el servicio; sin eso no se conoce el costo. (SD2)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son los números con los que nos van a medir. Hoy el OTIF es 82,4 % y la meta es sobre 95 %. Las reentregas bajan de 4,2 % a menos de 1 %. Ninguna recepción sin lote. La merma por vencimiento baja de 1,7 % a 1 %. La rendición cuadra el mismo día. Y el retiro sanitario: de nueve días a menos de dos horas. (SD2, Tabla 2.1)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¿Por qué LafroX? Porque ya resolvimos este problema a mayor escala. LogiNacional opera 420 camiones y 22.000 entregas diarias; Puelche tiene 96 camiones y unas 1.400 entregas. Somos 124 especialistas, operamos un NOC 24×7 desde Valparaíso y mantenemos ISO 9001, 27001, 20000-1 y CMMI nivel 3. (SD1 y Formulario T-6)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alcance tiene dos etapas. La Etapa 1 captura el dato donde nace: preventa, recepción con lote, bodega con FEFO, rutas, frío, entrega y efectivo; entra a producción en el mes 16. La Etapa 2 lo explota: portal, canal moderno con EDI y costo de servir; producción en el mes 21. El ERP no se reemplaza: sigue emitiendo los documentos tributarios. (SD3)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solución es el Sistema Integral de Gestión Logística Puelche: doce módulos de negocio, de la recepción a la telemetría, sobre una base común de identidad, integración, registro auditable, operación sin conexión y observabilidad. Destacamos M9, Calidad y trazabilidad, porque es el que cierra el problema del retiro. (SD3 y SD4)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arquitectura es híbrida. El núcleo corre en AWS São Paulo con dos zonas de disponibilidad y recuperación en Virginia. Cada centro de distribución y cada cross-docking tiene cómputo local, así que si se corta el enlace la bodega sigue operando y se reconcilia al volver. Tres caminos: fibra, LTE y Starlink. Elegimos un monolito modular en Laravel para que el equipo de TI de Puelche, de cuatro personas, pueda sostenerlo. RTO de 4 horas, RPO de 15 minutos. (SD4)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terreno no siempre hay señal: hay rutas de hasta 240 km con dos horas sin cobertura, y la fibra se corta cuatro veces al año. Por eso la preventa y el reparto funcionan 14 horas sin señal y sincronizan en 10 minutos. El centro de distribución opera 24 horas sin enlace. Y lo probamos en la aceptación: 14 horas sin señal, cero pérdidas y cero duplicados. (SD3, 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 la trazabilidad funcione, cada dato tiene una sola fuente que puede escribirlo. El lote se sigue de punta a punta con el estándar EPCIS 2.0: recepción, lote con su historia térmica, unidad logística, ruta y entrega con evidencia. La decisión sanitaria la toma Calidad, no el sensor. Migramos 32 GB con cero diferencias sin explicar, de noche, sin tocar el despacho. (SD5)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Gestionamos con PMBOK adaptado a un contrato de 56 meses, midiendo el avance con valor ganado: si el SPI o el CPI baja de 0,90, se activa una alerta. Desarrollamos con RUP en iteraciones de dos semanas y DevSecOps: el pipeline bloquea cualquier cambio que no pase las pruebas. Y respetamos los congelamientos de Puelche: nada se despliega en septiembre ni en diciembre. (SD6)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plan dura 56 meses. La Etapa 1 se desarrolla en 12 meses, tiene tres meses de marcha blanca y entra a producción en el mes 16. La Etapa 2 parte en el mes 13, solapada, y entra en el mes 21, cuando comienzan 36 meses de operación. Son 217.543 horas, con un peak de 69 personas en el mes 15. La Etapa 1 entra en tres olas, para no detener nunca la venta, la bodega ni el reparto. (SD7)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Identificamos 45 riesgos en siete ramas, con ISO 31000. Dos son críticos: R-012, un retiro sanitario sin trazabilidad completa, y R-015, una recuperación que supere el RTO o el RPO. Su valor esperado da una contingencia de 2.058 horas, más 1.600 de reserva de gestión. El registro se revisa cada quince días, y a diario durante la marcha blanca. (SD8, Formulario T-16)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calidad no se inspecciona al final: se previene. Hay siete puertas, de G0 a G6, desde el computador del desarrollador hasta la operación. Ninguna tiene a alguien que pueda levantar el bloqueo: se corrige o no se avanza. Los objetivos: cero defectos críticos o altos, cero minutos de caída en la ventana de despacho, 1.316 casos de prueba con 80 % automatizados, y pruebas en cámara a −22 °C con guantes. (SD9)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innovaciones, una por cada tipo que piden las Bases, y cada una nace de un problema documentado del caso. Seguimos el vencimiento después de la entrega; reproducimos los incidentes de terreno; estimamos la vida útil con la historia térmica del lote; ligamos parte del pago al costo de servir; y entregamos al almacenero una hoja de negocio que funciona sin internet. Ninguna agrega hardware ni usa modelos de IA aprendidos. (SD13)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equipo lo dirige Alex Aravena, Jefe de Proyecto e interlocutor único con Puelche. Siete líderes de dominio cubren arquitectura e integración, seguridad, datos, desarrollo, calidad, operación e implantación: ocho personas para los diez roles mínimos de las Bases. En el peak, el proyecto suma 69 personas. (SD1, Tabla 1.6)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 Volvamos al número del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nueve días a menos de dos horas. Eso es lo que entrega el Sistema Integral de Gestión Logística Puelche: el dato capturado donde ocurre el hecho, trazable de punta a punta, aun sin señal. Gracias.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lafrox_iso_naranja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chart" Target="../charts/chart1.xml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091994" y="-6797913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7574342" y="898768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28123" y="2520990"/>
            <a:ext cx="12946574" cy="193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0"/>
              </a:lnSpc>
            </a:pPr>
            <a:r>
              <a:rPr lang="en-US" sz="106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123" y="3820932"/>
            <a:ext cx="12950077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6"/>
              </a:lnSpc>
            </a:pPr>
            <a:r>
              <a:rPr lang="en-US" sz="10494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123" y="6162459"/>
            <a:ext cx="8734851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</a:p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5324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761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pic>
        <p:nvPicPr>
          <p:cNvPr id="13" name="!!logo" descr="Isotipo Lafro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9A5E"/>
                </a:solidFill>
                <a:latin typeface="Inter SemiBold"/>
              </a:rPr>
              <a:t>MARZO 2026 · RETIRO SANITARIO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4.800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producto retirado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6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suspensión del proveedor lácteo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las ventas dependen de ese proveedor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Tres problemas encadenados, una sola causa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/>
            <a:r>
              <a:rPr sz="1600" b="1">
                <a:solidFill>
                  <a:srgbClr val="F29A5E"/>
                </a:solidFill>
                <a:latin typeface="Inter SemiBold"/>
              </a:rPr>
              <a:t>CAUSA RAÍZ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Inter SemiBold"/>
              </a:rPr>
              <a:t>El dato no se registra donde ocurre el hecho.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173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45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96596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Habilitación sanitaria comprometida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43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Recepciones sin lote: 41 %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0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retiro</a:t>
            </a:r>
          </a:p>
        </p:txBody>
      </p:sp>
      <p:sp>
        <p:nvSpPr>
          <p:cNvPr id="20" name="!!reloj"/>
          <p:cNvSpPr txBox="1"/>
          <p:nvPr/>
        </p:nvSpPr>
        <p:spPr>
          <a:xfrm>
            <a:off x="12984480" y="20574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9 días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787384" y="2331720"/>
            <a:ext cx="722376" cy="315468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356616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37947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4114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Servicio que pierde competitividad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892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Reentregas: 4,2 % (≈59 al día)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0" y="38862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OTIF</a:t>
            </a:r>
          </a:p>
        </p:txBody>
      </p:sp>
      <p:sp>
        <p:nvSpPr>
          <p:cNvPr id="27" name="!!otif"/>
          <p:cNvSpPr txBox="1"/>
          <p:nvPr/>
        </p:nvSpPr>
        <p:spPr>
          <a:xfrm>
            <a:off x="12984480" y="42062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82,4 %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787384" y="4480560"/>
            <a:ext cx="722376" cy="100584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5715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59436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62636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Costo de servir desconocido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70408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Diferencias de rendición: $4,2 M/mes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0" y="6035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prorrateo de</a:t>
            </a:r>
          </a:p>
        </p:txBody>
      </p:sp>
      <p:sp>
        <p:nvSpPr>
          <p:cNvPr id="34" name="!!costo"/>
          <p:cNvSpPr txBox="1"/>
          <p:nvPr/>
        </p:nvSpPr>
        <p:spPr>
          <a:xfrm>
            <a:off x="12984480" y="6355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2016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87384" y="5486400"/>
            <a:ext cx="722376" cy="114300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280160"/>
            <a:ext cx="6643896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Clave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384048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606060"/>
                </a:solidFill>
                <a:latin typeface="Inter"/>
              </a:rPr>
              <a:t>Lo que mide Puelche hoy y la meta que comprometemos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4864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Inter"/>
              </a:rPr>
              <a:t>Fuente: Subdocumento 2, Tabla 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Tiempo para identificar un retiro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17" name="!!reloj"/>
          <p:cNvSpPr txBox="1"/>
          <p:nvPr/>
        </p:nvSpPr>
        <p:spPr>
          <a:xfrm>
            <a:off x="795528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9 días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8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5528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&lt; 2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OTIF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24" name="!!otif"/>
          <p:cNvSpPr txBox="1"/>
          <p:nvPr/>
        </p:nvSpPr>
        <p:spPr>
          <a:xfrm>
            <a:off x="1124712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82,4 %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4712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4712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&gt; 95 %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6464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3896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Recepciones sin lote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6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41 %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53896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53896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3896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0 %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Reentregas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4,2 %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5528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95528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&lt; 1 %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Merma por vencimiento (inventario/año)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1,7 %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24712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4712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≤ 1,0 %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6464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53896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Diferencias de rendición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3896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52" name="!!costo2"/>
          <p:cNvSpPr txBox="1"/>
          <p:nvPr/>
        </p:nvSpPr>
        <p:spPr>
          <a:xfrm>
            <a:off x="1453896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$4,2 M/mes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453896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453896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53896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Mismo día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280160"/>
            <a:ext cx="54864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Quiénes somos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420624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427939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especialistas · desde 2012 en Santiago y Valparaíso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5532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560527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NOC, SOC y Mesa de Servicios propios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8580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93115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certificaciones: ISO 9001 · ISO/IEC 27001 · ISO/IEC 20000-1 · CMMI-DEV N3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5544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Inter SemiBold"/>
              </a:rPr>
              <a:t>Ya operamos a mayor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488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Puelche frente a nuestros proyectos de referencia (Formulario T-6)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Camiones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033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420 · LogiNacional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60"/>
            <a:ext cx="1672045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3605" y="42793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96 · Puelche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Entregas diarias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321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22.000 · LogiNacional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080760"/>
            <a:ext cx="465512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7072" y="61081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≈1.400 · Puelche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580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Preventistas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73609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280 · Lácteos del Sur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7909560"/>
            <a:ext cx="1619794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1354" y="79369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62 · Puelche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5509" y="-8090895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24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656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619980"/>
            <a:ext cx="5153525" cy="5344669"/>
            <a:chOff x="0" y="0"/>
            <a:chExt cx="1357307" cy="1407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70156" y="7182945"/>
            <a:ext cx="7547688" cy="20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115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5775" y="1619980"/>
            <a:ext cx="5153525" cy="5344669"/>
            <a:chOff x="0" y="0"/>
            <a:chExt cx="1357307" cy="1407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E8641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01050" y="2894964"/>
            <a:ext cx="4285901" cy="325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200" b="1">
                <a:solidFill>
                  <a:srgbClr val="000000"/>
                </a:solidFill>
                <a:latin typeface="Inter SemiBold"/>
                <a:ea typeface="Inter"/>
                <a:cs typeface="Inter"/>
                <a:sym typeface="Inter"/>
              </a:rPr>
              <a:t>Primero capturamos, después explotamos.</a:t>
            </a:r>
          </a:p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ERP sigue siendo el único emisor tributario: la solución captura la evidencia (firma, foto o QR) y el ERP registra el acuse.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3067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0143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640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Capturar el dato en origen: preventa, recepción con lote, bodega FEFO, cross-docking, rutas, frío, entrega y efectivo.</a:t>
            </a:r>
          </a:p>
          <a:p>
            <a:pPr algn="l">
              <a:lnSpc>
                <a:spcPts val="2856"/>
              </a:lnSpc>
            </a:pPr>
            <a:r>
              <a:rPr lang="en-US" sz="1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8715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Explotar el dato: portal de clientes, canal moderno con EDI y costo de servir por entrega.</a:t>
            </a:r>
          </a:p>
          <a:p>
            <a:pPr algn="l">
              <a:lnSpc>
                <a:spcPts val="2856"/>
              </a:lnSpc>
            </a:pPr>
            <a:r>
              <a:rPr lang="en-US" sz="1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21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2322398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508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11480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641B"/>
                </a:solidFill>
                <a:latin typeface="Inter SemiBold"/>
              </a:rPr>
              <a:t>Sistema Integral de Gestión Logística Puelche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25780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3C3C"/>
                </a:solidFill>
                <a:latin typeface="Inter"/>
              </a:rPr>
              <a:t>12 módulos de negocio sobre una base común. Un solo sistema, del pedido del preventista a la decisión de Calidad.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9144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M1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Recepción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75720" y="9144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M2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Inventario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533120" y="9144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M3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Preventa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90520" y="9144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M4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Rutas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7432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M5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Preparación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75720" y="27432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M6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Reparto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533120" y="27432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M7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Cobranza y rendición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90520" y="27432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M8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Devoluciones y envases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45720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FFFFFF"/>
                </a:solidFill>
                <a:latin typeface="Inter SemiBold"/>
              </a:rPr>
              <a:t>M9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Calidad y trazabilidad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75720" y="45720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M10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Analítica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33120" y="45720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M11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Canal moderno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90520" y="4572000"/>
            <a:ext cx="187451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M12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Telemetría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6492240"/>
            <a:ext cx="8046720" cy="11887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400" b="1">
                <a:solidFill>
                  <a:srgbClr val="F29A5E"/>
                </a:solidFill>
                <a:latin typeface="Inter SemiBold"/>
              </a:rPr>
              <a:t>BASE COMÚN  </a:t>
            </a:r>
            <a:r>
              <a:rPr sz="1600" b="0">
                <a:solidFill>
                  <a:srgbClr val="FFFFFF"/>
                </a:solidFill>
                <a:latin typeface="Inter"/>
              </a:rPr>
              <a:t>identidad · integración · registro auditable · operación sin conexión · observabilidad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híbrida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C3C3C"/>
                </a:solidFill>
                <a:latin typeface="Inter"/>
              </a:rPr>
              <a:t>La nube coordina; cada bodega sigue operando sola y se reconcilia al reconectar.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RTO ≤ 4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RPO ≤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≥ 99,9 %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9144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AWS sa-east-1 · São Paulo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Núcleo de la solución · 2 zonas de disponibilidad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59000" y="9144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DR us-east-1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activo-pasivo en caliente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8136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Fibra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53312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234440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LTE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53312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18488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4996159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Starlink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18488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976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 b="1">
                <a:solidFill>
                  <a:srgbClr val="FFFFFF"/>
                </a:solidFill>
                <a:latin typeface="Inter SemiBold"/>
              </a:rPr>
              <a:t>CD Talca</a:t>
            </a:r>
          </a:p>
          <a:p>
            <a:pPr algn="l"/>
            <a:r>
              <a:rPr sz="1300" b="0">
                <a:solidFill>
                  <a:srgbClr val="C7C7C7"/>
                </a:solidFill>
                <a:latin typeface="Inter"/>
              </a:rPr>
              <a:t>Clúster Proxmox/Ceph · 3 nodos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67028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 b="1">
                <a:solidFill>
                  <a:srgbClr val="FFFFFF"/>
                </a:solidFill>
                <a:latin typeface="Inter SemiBold"/>
              </a:rPr>
              <a:t>CD Concepción</a:t>
            </a:r>
          </a:p>
          <a:p>
            <a:pPr algn="l"/>
            <a:r>
              <a:rPr sz="1300" b="0">
                <a:solidFill>
                  <a:srgbClr val="C7C7C7"/>
                </a:solidFill>
                <a:latin typeface="Inter"/>
              </a:rPr>
              <a:t>2 servidores · activo y en espera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Curicó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9868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Chillán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Los Ángeles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777240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caminos de comunicación: fibra, LTE y Starlink · monolito modular Laravel 13 · 8 capas · 22 decisiones de arquitectura (ADR)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192" y="-1969519"/>
            <a:ext cx="7495547" cy="5996438"/>
          </a:xfrm>
          <a:custGeom>
            <a:avLst/>
            <a:gdLst/>
            <a:ahLst/>
            <a:cxnLst/>
            <a:rect r="r" b="b" t="t" l="l"/>
            <a:pathLst>
              <a:path h="5996438" w="7495547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318360"/>
            <a:ext cx="8326675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 sin señal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3864" y="82491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2365909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2213227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274" y="8926358"/>
            <a:ext cx="15727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78638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06060"/>
                </a:solidFill>
                <a:latin typeface="Inter"/>
              </a:rPr>
              <a:t>Operación desconectada con límites claros y medibles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28016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8641B"/>
                </a:solidFill>
                <a:latin typeface="Inter SemiBold"/>
              </a:rPr>
              <a:t>14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0" y="1417319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Preventa y reparto sin señal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0" y="19659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Al recuperar cobertura, sincroniza en ≤ 10 min.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886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8641B"/>
                </a:solidFill>
                <a:latin typeface="Inter SemiBold"/>
              </a:rPr>
              <a:t>24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0" y="40233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Centro de distribución sin enlace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0" y="45720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Al volver la conexión, consolida en ≤ 2 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922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8641B"/>
                </a:solidFill>
                <a:latin typeface="Inter SemiBol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0" y="66294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Pérdidas y duplicados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0" y="717804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Prueba de aceptación: 14 h sin señal. Cada registro lleva un UUID: reenviarlo no lo duplica.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1131" y="5377797"/>
            <a:ext cx="1975674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6339" y="5230464"/>
            <a:ext cx="294667" cy="2946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24391" y="5211414"/>
            <a:ext cx="294667" cy="2946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02443" y="5192364"/>
            <a:ext cx="294667" cy="2946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8287" y="5230464"/>
            <a:ext cx="294667" cy="2946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0235" y="5230464"/>
            <a:ext cx="294667" cy="2946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9989" y="5829931"/>
            <a:ext cx="2719575" cy="2347765"/>
            <a:chOff x="0" y="0"/>
            <a:chExt cx="716267" cy="6183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28825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registra el lote y su vencimiento al ingresar.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5575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Historia térmica del sensor; Calidad decide.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8268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Pallet o canastillo vinculado a su lote.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4632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Viaje, paradas y temperatura en tránsito.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31484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Firma, foto o QR; el ERP registra el acuse.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11937" y="5811682"/>
            <a:ext cx="2719575" cy="2347765"/>
            <a:chOff x="0" y="0"/>
            <a:chExt cx="716267" cy="6183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33885" y="5793433"/>
            <a:ext cx="2719575" cy="2347765"/>
            <a:chOff x="0" y="0"/>
            <a:chExt cx="716267" cy="6183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55833" y="5775184"/>
            <a:ext cx="2719575" cy="2347765"/>
            <a:chOff x="0" y="0"/>
            <a:chExt cx="716267" cy="6183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77781" y="5756936"/>
            <a:ext cx="2719575" cy="2347765"/>
            <a:chOff x="0" y="0"/>
            <a:chExt cx="716267" cy="6183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con una sola verdad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8788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60736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82684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Unidad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04632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26580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Entrega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 dominios · cada dato tiene una sola fuente que puede escribirlo · cadena de custodia EPCIS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836676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3C3C3C"/>
                </a:solidFill>
                <a:latin typeface="Inter"/>
              </a:rPr>
              <a:t>Migración: 32,11 GB · 0 diferencias sin explicar · ventana 22:00–06:00 que protege el despacho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PMBOK adaptado + RUP iterativo + DevSecOps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840480"/>
            <a:ext cx="7315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Avance medido con valor ganado: alerta si SPI o CPI cae bajo 0,90.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Iteraciones de construcción de 2 semanas; Kanban ordena el día a día.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Compuertas que bloquean: pruebas, análisis estático, contratos y cobertura 70/80 %.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Sin despliegues en septiembre, diciembre ni los 3 primeros días hábiles del 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Ritmo de gobierno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41480" y="18288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Seguimiento del proyecto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92608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41480" y="29260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 de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02336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41480" y="40233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Comités Ejecutivo y de Arquitectura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12064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41480" y="51206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 de Operación mensual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400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6060"/>
                </a:solidFill>
                <a:latin typeface="Inter SemiBold"/>
              </a:rPr>
              <a:t>Fases RUP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9760" y="6812280"/>
            <a:ext cx="2194560" cy="82296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26" name="Chevron 25"/>
          <p:cNvSpPr/>
          <p:nvPr/>
        </p:nvSpPr>
        <p:spPr>
          <a:xfrm>
            <a:off x="11475720" y="6812280"/>
            <a:ext cx="2194560" cy="822960"/>
          </a:xfrm>
          <a:prstGeom prst="chevron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27" name="Chevron 26"/>
          <p:cNvSpPr/>
          <p:nvPr/>
        </p:nvSpPr>
        <p:spPr>
          <a:xfrm>
            <a:off x="13441680" y="6812280"/>
            <a:ext cx="2194560" cy="822960"/>
          </a:xfrm>
          <a:prstGeom prst="chevron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28" name="Chevron 27"/>
          <p:cNvSpPr/>
          <p:nvPr/>
        </p:nvSpPr>
        <p:spPr>
          <a:xfrm>
            <a:off x="15407640" y="6812280"/>
            <a:ext cx="2194560" cy="822960"/>
          </a:xfrm>
          <a:prstGeom prst="chevron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trabajo: 56 meses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Dos etapas que se solapan, entrada por olas y marcha blanca medida cada día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3611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Etapa 1</a:t>
            </a:r>
          </a:p>
        </p:txBody>
      </p:sp>
      <p:sp>
        <p:nvSpPr>
          <p:cNvPr id="52" name="!!g_e1d"/>
          <p:cNvSpPr/>
          <p:nvPr/>
        </p:nvSpPr>
        <p:spPr>
          <a:xfrm>
            <a:off x="3749039" y="3611880"/>
            <a:ext cx="18288" cy="502920"/>
          </a:xfrm>
          <a:prstGeom prst="roundRect">
            <a:avLst>
              <a:gd name="adj" fmla="val 25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3" name="!!g_e1m"/>
          <p:cNvSpPr/>
          <p:nvPr/>
        </p:nvSpPr>
        <p:spPr>
          <a:xfrm>
            <a:off x="6570617" y="3611880"/>
            <a:ext cx="18288" cy="502920"/>
          </a:xfrm>
          <a:prstGeom prst="roundRect">
            <a:avLst>
              <a:gd name="adj" fmla="val 25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8720" y="4297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Etapa 2</a:t>
            </a:r>
          </a:p>
        </p:txBody>
      </p:sp>
      <p:sp>
        <p:nvSpPr>
          <p:cNvPr id="55" name="!!g_e2d"/>
          <p:cNvSpPr/>
          <p:nvPr/>
        </p:nvSpPr>
        <p:spPr>
          <a:xfrm>
            <a:off x="6570617" y="4297680"/>
            <a:ext cx="18288" cy="502920"/>
          </a:xfrm>
          <a:prstGeom prst="roundRect">
            <a:avLst>
              <a:gd name="adj" fmla="val 25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6" name="!!g_e2m"/>
          <p:cNvSpPr/>
          <p:nvPr/>
        </p:nvSpPr>
        <p:spPr>
          <a:xfrm>
            <a:off x="7981405" y="4297680"/>
            <a:ext cx="18288" cy="502920"/>
          </a:xfrm>
          <a:prstGeom prst="roundRect">
            <a:avLst>
              <a:gd name="adj" fmla="val 25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" y="49834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Operación</a:t>
            </a:r>
          </a:p>
        </p:txBody>
      </p:sp>
      <p:sp>
        <p:nvSpPr>
          <p:cNvPr id="58" name="!!g_op"/>
          <p:cNvSpPr/>
          <p:nvPr/>
        </p:nvSpPr>
        <p:spPr>
          <a:xfrm>
            <a:off x="8451668" y="4983480"/>
            <a:ext cx="18288" cy="502920"/>
          </a:xfrm>
          <a:prstGeom prst="roundRect">
            <a:avLst>
              <a:gd name="adj" fmla="val 25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749039" y="6537960"/>
            <a:ext cx="13167361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17965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4411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25988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7565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69142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250194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715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</p:spTree>
  </p:cSld>
  <p:clrMapOvr>
    <a:masterClrMapping/>
  </p:clrMapOvr>
  <p:transition spd="med" advTm="100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trabajo: 56 meses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Dos etapas que se solapan, entrada por olas y marcha blanca medida cada día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3611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Etapa 1</a:t>
            </a:r>
          </a:p>
        </p:txBody>
      </p:sp>
      <p:sp>
        <p:nvSpPr>
          <p:cNvPr id="52" name="!!g_e1d"/>
          <p:cNvSpPr/>
          <p:nvPr/>
        </p:nvSpPr>
        <p:spPr>
          <a:xfrm>
            <a:off x="3749039" y="3611880"/>
            <a:ext cx="2821577" cy="502920"/>
          </a:xfrm>
          <a:prstGeom prst="roundRect">
            <a:avLst>
              <a:gd name="adj" fmla="val 25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Desarrollo</a:t>
            </a:r>
          </a:p>
        </p:txBody>
      </p:sp>
      <p:sp>
        <p:nvSpPr>
          <p:cNvPr id="53" name="!!g_e1m"/>
          <p:cNvSpPr/>
          <p:nvPr/>
        </p:nvSpPr>
        <p:spPr>
          <a:xfrm>
            <a:off x="6570617" y="3611880"/>
            <a:ext cx="705394" cy="502920"/>
          </a:xfrm>
          <a:prstGeom prst="roundRect">
            <a:avLst>
              <a:gd name="adj" fmla="val 25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8720" y="4297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Etapa 2</a:t>
            </a:r>
          </a:p>
        </p:txBody>
      </p:sp>
      <p:sp>
        <p:nvSpPr>
          <p:cNvPr id="55" name="!!g_e2d"/>
          <p:cNvSpPr/>
          <p:nvPr/>
        </p:nvSpPr>
        <p:spPr>
          <a:xfrm>
            <a:off x="6570617" y="4297680"/>
            <a:ext cx="1410788" cy="502920"/>
          </a:xfrm>
          <a:prstGeom prst="roundRect">
            <a:avLst>
              <a:gd name="adj" fmla="val 25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Desarrollo</a:t>
            </a:r>
          </a:p>
        </p:txBody>
      </p:sp>
      <p:sp>
        <p:nvSpPr>
          <p:cNvPr id="56" name="!!g_e2m"/>
          <p:cNvSpPr/>
          <p:nvPr/>
        </p:nvSpPr>
        <p:spPr>
          <a:xfrm>
            <a:off x="7981405" y="4297680"/>
            <a:ext cx="470262" cy="502920"/>
          </a:xfrm>
          <a:prstGeom prst="roundRect">
            <a:avLst>
              <a:gd name="adj" fmla="val 25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" y="49834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Operación</a:t>
            </a:r>
          </a:p>
        </p:txBody>
      </p:sp>
      <p:sp>
        <p:nvSpPr>
          <p:cNvPr id="58" name="!!g_op"/>
          <p:cNvSpPr/>
          <p:nvPr/>
        </p:nvSpPr>
        <p:spPr>
          <a:xfrm>
            <a:off x="8451668" y="4983480"/>
            <a:ext cx="8464731" cy="502920"/>
          </a:xfrm>
          <a:prstGeom prst="roundRect">
            <a:avLst>
              <a:gd name="adj" fmla="val 25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Operación 24×7 · 36 meses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49039" y="6537960"/>
            <a:ext cx="13167361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17965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4411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25988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7565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69142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250194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Inter"/>
              </a:rPr>
              <a:t>Mes 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715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67" name="Diamond 66"/>
          <p:cNvSpPr/>
          <p:nvPr/>
        </p:nvSpPr>
        <p:spPr>
          <a:xfrm>
            <a:off x="3973721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81697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H1</a:t>
            </a:r>
          </a:p>
        </p:txBody>
      </p:sp>
      <p:sp>
        <p:nvSpPr>
          <p:cNvPr id="69" name="Diamond 68"/>
          <p:cNvSpPr/>
          <p:nvPr/>
        </p:nvSpPr>
        <p:spPr>
          <a:xfrm>
            <a:off x="4443984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51960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H2</a:t>
            </a:r>
          </a:p>
        </p:txBody>
      </p:sp>
      <p:sp>
        <p:nvSpPr>
          <p:cNvPr id="71" name="Diamond 70"/>
          <p:cNvSpPr/>
          <p:nvPr/>
        </p:nvSpPr>
        <p:spPr>
          <a:xfrm>
            <a:off x="4914246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22222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H3</a:t>
            </a:r>
          </a:p>
        </p:txBody>
      </p:sp>
      <p:sp>
        <p:nvSpPr>
          <p:cNvPr id="73" name="Diamond 72"/>
          <p:cNvSpPr/>
          <p:nvPr/>
        </p:nvSpPr>
        <p:spPr>
          <a:xfrm>
            <a:off x="5854772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2748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H4</a:t>
            </a:r>
          </a:p>
        </p:txBody>
      </p:sp>
      <p:sp>
        <p:nvSpPr>
          <p:cNvPr id="75" name="Diamond 74"/>
          <p:cNvSpPr/>
          <p:nvPr/>
        </p:nvSpPr>
        <p:spPr>
          <a:xfrm>
            <a:off x="6325035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3011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H5</a:t>
            </a:r>
          </a:p>
        </p:txBody>
      </p:sp>
      <p:sp>
        <p:nvSpPr>
          <p:cNvPr id="77" name="Diamond 76"/>
          <p:cNvSpPr/>
          <p:nvPr/>
        </p:nvSpPr>
        <p:spPr>
          <a:xfrm>
            <a:off x="6560166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68142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H6</a:t>
            </a:r>
          </a:p>
        </p:txBody>
      </p:sp>
      <p:sp>
        <p:nvSpPr>
          <p:cNvPr id="79" name="Diamond 78"/>
          <p:cNvSpPr/>
          <p:nvPr/>
        </p:nvSpPr>
        <p:spPr>
          <a:xfrm>
            <a:off x="6795298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03274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H8</a:t>
            </a:r>
          </a:p>
        </p:txBody>
      </p:sp>
      <p:sp>
        <p:nvSpPr>
          <p:cNvPr id="81" name="Diamond 80"/>
          <p:cNvSpPr/>
          <p:nvPr/>
        </p:nvSpPr>
        <p:spPr>
          <a:xfrm>
            <a:off x="7265561" y="5833872"/>
            <a:ext cx="256032" cy="256032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73537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8641B"/>
                </a:solidFill>
                <a:latin typeface="Inter SemiBold"/>
              </a:rPr>
              <a:t>H7</a:t>
            </a:r>
          </a:p>
        </p:txBody>
      </p:sp>
      <p:sp>
        <p:nvSpPr>
          <p:cNvPr id="83" name="Diamond 82"/>
          <p:cNvSpPr/>
          <p:nvPr/>
        </p:nvSpPr>
        <p:spPr>
          <a:xfrm>
            <a:off x="7500692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08668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H9</a:t>
            </a:r>
          </a:p>
        </p:txBody>
      </p:sp>
      <p:sp>
        <p:nvSpPr>
          <p:cNvPr id="85" name="Diamond 84"/>
          <p:cNvSpPr/>
          <p:nvPr/>
        </p:nvSpPr>
        <p:spPr>
          <a:xfrm>
            <a:off x="7735823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43800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H10</a:t>
            </a:r>
          </a:p>
        </p:txBody>
      </p:sp>
      <p:sp>
        <p:nvSpPr>
          <p:cNvPr id="87" name="Diamond 86"/>
          <p:cNvSpPr/>
          <p:nvPr/>
        </p:nvSpPr>
        <p:spPr>
          <a:xfrm>
            <a:off x="7970955" y="5833872"/>
            <a:ext cx="256032" cy="256032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78931" y="55046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C3C3C"/>
                </a:solidFill>
                <a:latin typeface="Inter SemiBold"/>
              </a:rPr>
              <a:t>H11</a:t>
            </a:r>
          </a:p>
        </p:txBody>
      </p:sp>
      <p:sp>
        <p:nvSpPr>
          <p:cNvPr id="89" name="Diamond 88"/>
          <p:cNvSpPr/>
          <p:nvPr/>
        </p:nvSpPr>
        <p:spPr>
          <a:xfrm>
            <a:off x="8441218" y="5833872"/>
            <a:ext cx="256032" cy="256032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49194" y="61447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8641B"/>
                </a:solidFill>
                <a:latin typeface="Inter SemiBold"/>
              </a:rPr>
              <a:t>H12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158445" y="3429000"/>
            <a:ext cx="0" cy="3063240"/>
          </a:xfrm>
          <a:prstGeom prst="line">
            <a:avLst/>
          </a:prstGeom>
          <a:ln w="15875">
            <a:solidFill>
              <a:srgbClr val="E864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249885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Peak: 69 personas (mes 15)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1521440" y="3246120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Desarrollo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3441680" y="3246120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80744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Marcha blanca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5361920" y="3246120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72768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Operación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49039" y="71780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217.543 HH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49039" y="77724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programadas, incluida una reserva protegida de 3.072 HH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71780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3 olas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77724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Etapa 1: recepción → inventario y preparación → preventa, rutas y reparto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710160" y="71780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H7 · H12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710160" y="77724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Producción de la Etapa 1 (mes 16) y de la Etapa 2 (mes 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463040"/>
            <a:ext cx="6118286" cy="156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4"/>
              </a:lnSpc>
            </a:pPr>
            <a:r>
              <a:rPr lang="en-US" sz="846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3291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45 riesgos · 7 ramas · ISO 31000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0888" y="3977639"/>
            <a:ext cx="23571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26600" y="3977639"/>
            <a:ext cx="2710688" cy="5029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37287" y="3977639"/>
            <a:ext cx="2239264" cy="5029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576551" y="3977639"/>
            <a:ext cx="117856" cy="502920"/>
          </a:xfrm>
          <a:prstGeom prst="rect">
            <a:avLst/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4572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3C3C"/>
                </a:solidFill>
                <a:latin typeface="Inter"/>
              </a:rPr>
              <a:t>2 críticos · 23 altos · 19 medios · 1 bajo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0888" y="516636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400" b="1">
                <a:solidFill>
                  <a:srgbClr val="F29A5E"/>
                </a:solidFill>
                <a:latin typeface="Inter SemiBold"/>
              </a:rPr>
              <a:t>EXPOSICIÓN MÁXIMA · 0,40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R-012  Retiro sanitario sin trazabilidad completa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R-015  Recuperación fuera de RTO/RPO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7178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2.058 HH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7772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 contingencia (valor esperado)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34088" y="7178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1.600 HH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34088" y="7772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 reserva de gestión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4173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Riesgos por rama</a:t>
            </a:r>
          </a:p>
        </p:txBody>
      </p:sp>
      <p:graphicFrame>
        <p:nvGraphicFramePr>
          <p:cNvPr id="25" name="Riesgos por rama"/>
          <p:cNvGraphicFramePr>
            <a:graphicFrameLocks noGrp="1"/>
          </p:cNvGraphicFramePr>
          <p:nvPr/>
        </p:nvGraphicFramePr>
        <p:xfrm>
          <a:off x="731520" y="2011680"/>
          <a:ext cx="8229600" cy="694944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p:transition spd="med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que bloquea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C3C3C"/>
                </a:solidFill>
                <a:latin typeface="Inter"/>
              </a:rPr>
              <a:t>7 puertas de control, de G0 a G6. Ninguna admite excepciones: se corrige o no se avanza.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62636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" y="62636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62636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defectos críticos o altos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62636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8" y="62636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62636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de caída entre 05:30 y 07:00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5608" y="73152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" y="73152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1.316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73152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casos de prueba, 80 % automatizados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6088" y="73152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73152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−22 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73152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pruebas de terreno con guantes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91440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6920" y="1051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100584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Compromiso 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38988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Formato y pruebas del módulo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01168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10312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48716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Revisión por pares · detección de secretos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310896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6920" y="3246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20040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584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Cobertura, complejidad, SAST/SCA y contratos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20624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46920" y="4343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29767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681727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Sin vulnerabilidades altas ni regresión de desempeño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530352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46920" y="5440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39495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Promoción a Preproducción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77900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Regresión · DAST · accesibilidad WCAG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640080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46920" y="6537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Entrada a Producción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87628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Pruebas T-13 · reversión ensayada · datos conciliados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7498079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46920" y="76352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758951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Producción supervisada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7973567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Canario · presupuesto de error</a:t>
            </a:r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192" y="-1969519"/>
            <a:ext cx="7495547" cy="5996438"/>
          </a:xfrm>
          <a:custGeom>
            <a:avLst/>
            <a:gdLst/>
            <a:ahLst/>
            <a:cxnLst/>
            <a:rect r="r" b="b" t="t" l="l"/>
            <a:pathLst>
              <a:path h="5996438" w="7495547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318360"/>
            <a:ext cx="8326675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innovaciones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3864" y="82491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2365909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2213227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274" y="8926358"/>
            <a:ext cx="15727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67208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Sin hardware nuevo · sin modelos de IA aprendidos · madurez TRL 2 → 4 →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8686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11430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Vencimiento después de la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16002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Avisos en el local antes de vencer. Meta: −25 % de vencido. Mes 16.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7432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Reproducción de incidentes de terreno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004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Evidencia que reproduce la falla. Meta: −30 % en horas de diagnóstico.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40690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TECNOLÓGICA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43434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Vida útil según la historia térmica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48006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EPCIS 2.0 + Arrhenius/Q10. Meta: ±15 % en ≥80 % de los casos.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6692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MODELO DE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59436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Pago ligado al costo de servir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Tramo variable de la Operación. Meta: ≥5 % menos costo con OTIF ≥95 %.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72694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IMPACTO SOCIAL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75438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Hoja de negocio del almacenero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80010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Sin internet: en pantalla o impresa en la cabina. Mes 21.</a:t>
            </a: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1956" y="761746"/>
            <a:ext cx="8752087" cy="8752087"/>
          </a:xfrm>
          <a:custGeom>
            <a:avLst/>
            <a:gdLst/>
            <a:ahLst/>
            <a:cxnLst/>
            <a:rect r="r" b="b" t="t" l="l"/>
            <a:pathLst>
              <a:path h="8752087" w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1420" y="4072951"/>
            <a:ext cx="7960220" cy="163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78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2876576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0">
            <a:off x="-413735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072477">
            <a:off x="118443" y="76628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31420" y="5657978"/>
            <a:ext cx="6865981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 personas cubren los 10 roles mínimos de las Bases. Siete líderes de dominio reportan al Jefe de Proyecto.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 SemiBold"/>
              </a:rPr>
              <a:t>AA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11887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 SemiBold"/>
              </a:rPr>
              <a:t>Alex Aravena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7C7C7"/>
                </a:solidFill>
                <a:latin typeface="Inter"/>
              </a:rPr>
              <a:t>Jefe de Proyecto · interlocutor único con Puelche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953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Bastián Trejo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3832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Arquitectura e Integración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ÁC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67560" y="2953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Álvaro Catalán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67560" y="33832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Seguridad de la Información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507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Leandro Chamorro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937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Datos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767560" y="4507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Tomás Pérez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67560" y="4937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Desarrollo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MM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60624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Maximiliano Miño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492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Calidad y Pruebas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GC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767560" y="60624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Guillermo Castillo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767560" y="6492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Operación / SRE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PH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761695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Patricio Henríquez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80467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Funcional e Implantación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57884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61720" y="736092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69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859000" y="7360920"/>
            <a:ext cx="23774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personas en el peak del proyecto (mes 15)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069298" y="7296286"/>
            <a:ext cx="387808" cy="387810"/>
          </a:xfrm>
          <a:custGeom>
            <a:avLst/>
            <a:gdLst/>
            <a:ahLst/>
            <a:cxnLst/>
            <a:rect r="r" b="b" t="t" l="l"/>
            <a:pathLst>
              <a:path h="387810" w="387808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747919" y="6690083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69298" y="6732646"/>
            <a:ext cx="325031" cy="325031"/>
          </a:xfrm>
          <a:custGeom>
            <a:avLst/>
            <a:gdLst/>
            <a:ahLst/>
            <a:cxnLst/>
            <a:rect r="r" b="b" t="t" l="l"/>
            <a:pathLst>
              <a:path h="325031" w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00" r="0" b="-80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5052380" y="7208371"/>
            <a:ext cx="308824" cy="441177"/>
          </a:xfrm>
          <a:custGeom>
            <a:avLst/>
            <a:gdLst/>
            <a:ahLst/>
            <a:cxnLst/>
            <a:rect r="r" b="b" t="t" l="l"/>
            <a:pathLst>
              <a:path h="441177" w="308824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747919" y="7268144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6647" y="7329375"/>
            <a:ext cx="282306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985939" y="6693491"/>
            <a:ext cx="441707" cy="314817"/>
          </a:xfrm>
          <a:custGeom>
            <a:avLst/>
            <a:gdLst/>
            <a:ahLst/>
            <a:cxnLst/>
            <a:rect r="r" b="b" t="t" l="l"/>
            <a:pathLst>
              <a:path h="314817" w="44170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758453" y="6734346"/>
            <a:ext cx="2801256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3200" y="8850630"/>
            <a:ext cx="128016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Propuesta Técnica · 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Inter Light"/>
              </a:rPr>
              <a:t>De 9 días a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0" b="1">
                <a:solidFill>
                  <a:srgbClr val="E8641B"/>
                </a:solidFill>
                <a:latin typeface="Inter SemiBold"/>
              </a:rPr>
              <a:t>&lt; 2 horas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Inter Light"/>
              </a:rPr>
              <a:t>para identificar a los clientes afectados por un retiro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ysClr val="window" lastClr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LafroX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DAHYeykrAKU</dc:identifier>
  <dcterms:modified xsi:type="dcterms:W3CDTF">2011-08-01T06:04:30Z</dcterms:modified>
  <cp:revision>1</cp:revision>
  <dc:title>LafroX - Plantilla de Presentación</dc:title>
</cp:coreProperties>
</file>